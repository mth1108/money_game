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소개" id="{3977a3f8-2c49-5dda-72b5-ce816dcf664f}">
          <p14:sldIdLst>
            <p14:sldId id="256"/>
            <p14:sldId id="257"/>
          </p14:sldIdLst>
        </p14:section>
        <p14:section name="게임 규칙" id="{697e8cd7-4c03-2bdc-8482-def6869dee13}">
          <p14:sldIdLst>
            <p14:sldId id="258"/>
            <p14:sldId id="259"/>
            <p14:sldId id="260"/>
            <p14:sldId id="261"/>
            <p14:sldId id="262"/>
          </p14:sldIdLst>
        </p14:section>
        <p14:section name="규칙 검증" id="{6cc44d5d-12e2-e2d9-f520-81490dce7b8c}">
          <p14:sldIdLst>
            <p14:sldId id="263"/>
            <p14:sldId id="264"/>
            <p14:sldId id="265"/>
          </p14:sldIdLst>
        </p14:section>
        <p14:section name="서버" id="{499f6553-acc6-fec4-39bc-1bf9d62fca6e}">
          <p14:sldIdLst>
            <p14:sldId id="266"/>
            <p14:sldId id="267"/>
            <p14:sldId id="268"/>
          </p14:sldIdLst>
        </p14:section>
        <p14:section name="정리" id="{b85650db-3867-4dc3-cae4-0c7ab77e9567}">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머니게임은 여러 명이 같은 방에서 실제 과거 시세를 빠르게 재생하며 거래하고, 끝날 때 남은 자산으로 순위를 가리는 웹게임입니다. 오늘은 배율과 청산을 포함한 게임 규칙을 어떻게 설계했는지, 그리고 여러 명이 동시에 플레이해도 결과가 정확하고 공정하도록 서버를 어떻게 구성하고 검증했는지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머니게임은 실제 과거 시세를 빠르게 재생하고, 배율을 걸어 거래하고, 끝날 때 남은 자산으로 순위를 가리는 게임입니다. 시세 데이터와 게임에 쓸 구간은 이미 준비되어 있습니다. 서버를 만들면서 세 가지를 목표로 삼았습니다. 첫째, 금액 계산에 오차가 없을 것. 둘째, 모든 참가자가 같은 시세를 같은 순서로 받을 것. 셋째, 팔지 말지 고민하는 게임의 핵심이 규칙 때문에 사라지지 않을 것입니다. 이후 슬라이드는 이 세 가지를 어떻게 지켰는지에 대한 내용입니다.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주문 하나가 어떻게 계산되는지 예시로 보여드리겠습니다. 증거금을 1,000만 원까지 쓰겠다고 하고 배율 3으로 79,700원짜리 종목을 사면, 수량은 소수점을 버려 376주가 됩니다. 실제로 빠지는 증거금은 입력한 1,000만 원이 아니라 376주를 기준으로 거꾸로 계산한 998만 9천 원 정도입니다. 이렇게 하면 증거금에 배율을 곱한 값이 포지션 금액과 정확히 같아져서 청산가 계산에 오차가 생기지 않습니다. 남는 돈을 돌려주는 방식은 이 등식이 깨져서 쓰지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청산가는 진입가에 1 빼기 1/배율을 곱한 값입니다. 배율 3이면 진입가에서 33% 떨어진 지점이고, 현재가가 청산가와 같거나 낮으면 강제로 청산됩니다. 청산되면 그 포지션에 건 증거금만 사라지고 나머지 현금은 그대로 남습니다. 경계값은 배율 3으로 테스트합니다. 3분의 1은 무한소수라 반올림 오차가 생기는데, 배율 2로만 테스트하면 이런 문제를 발견할 수 없기 때문입니다. 청산가보다 0.0001 높으면 생존, 같거나 낮으면 청산되는 것을 확인했습니다.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금액은 모두 소수 오차가 없는 십진 계산으로 처리하고, 반올림은 마지막 단계에서 한 번만 합니다. 대상마다 방향을 정해 두었습니다. 청산가는 내림해서 청산이 조금이라도 늦게 일어나게 했고, 수수료는 올림해서 잔고가 음수로 새지 않게 했습니다. 원칙은 애매하면 플레이어에게 유리하게, 단 잔고는 보수적으로입니다. 다만 이 원칙은 반올림처럼 플레이어가 통제할 수 없는 오차에만 적용합니다. 게임 규칙에 적용하면 특정 플레이 방식에 보너스를 주게 되기 때문입니다.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수수료는 들어갈 때 한 번, 나올 때 한 번입니다. 직접 팔든, 강제로 청산되든, 판이 끝나서 정리되든 똑같이 부과합니다. 처음에는 판 종료 정리만 면제하는 안도 있었는데, 그러면 끝나기 직전에 파는 사람이 오히려 수수료를 더 내게 됩니다. 그러면 합리적인 플레이어는 손절을 하지 않게 되고, 배율과 청산을 넣어 팔지 말지 고민하게 만든다는 목적이 사라집니다. 그래서 면제 구간을 두지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현금은 어떤 경우에도 0 아래로 내려가지 않습니다. 수수료는 남은 현금 한도까지만 부과합니다. 현금을 전부 걸었다가 바로 청산되는 극단적인 경우에도 현금은 0원에서 멈춥니다. 이유는 네 가지입니다. 증거금이 전부 사라지는 것 자체가 이미 최대 페널티이고, 자산이 음수가 되면 순위표에 마이너스 107% 같은 값이 떠서 버그처럼 보입니다. 또 청산돼도 남은 현금으로 다시 도전할 수 있어야 하고, 청산 수수료는 비싼 종목일수록 커서 플레이어가 통제할 수 없는 차이를 만듭니다. 이건 플레이어 특혜가 아니라 없는 돈을 빼지 않는다는 원칙입니다.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규칙이 실제 시세에서 어떻게 동작하는지, 에코프로비엠이 1년 동안 최대 65% 빠진 구간으로 직접 돌려 봤습니다. 네 명이 같은 시드에서 증거금 상한 50만 원으로 같은 종목을 샀습니다. 배율 3은 86틱에서, 배율 2는 163틱에서 청산됐고 배율 1은 끝까지 버텼습니다. 그런데 최종 순위를 보면 배율 3이 배율 2보다 덜 잃었습니다. 수량이 정수라 배율 3은 4주, 배율 2는 3주를 사게 되는데, 그 결과 실제로 건 증거금이 배율 2 쪽이 더 컸기 때문입니다. 이 결과가 다음 장의 시드머니 결정으로 이어졌습니다.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수량이 정수라서 주가에 비해 시드가 작으면 문제가 생깁니다. SK하이닉스는 1주에 150만 원이 넘어서 시드가 100만 원이면 배율 1로는 아예 살 수 없습니다. 또 앞 장처럼 몇 주 단위로만 움직이면 배율보다 수량 반올림이 결과를 결정해 버립니다. 시드를 1억 원으로 하면 가장 비싼 종목도 30주 이상 살 수 있어서 반올림 영향이 1에서 3% 수준으로 줄어듭니다. 종목별로 가격을 정규화하거나 소수 수량을 허용하는 방법도 검토했지만, 실제 가격 감각이 사라지거나 계산 규칙 전체를 바꿔야 해서 시드를 키우는 쪽을 택했습니다.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순위는 판이 끝나고 남은 포지션을 모두 정리한 뒤의 자산으로 매깁니다. 자산이 같으면 공동 순위입니다. 아무 거래도 하지 않은 참가자끼리는 시드 그대로라 동점이 실제로 나옵니다. 주문이 거부되는 경우는 다섯 가지입니다. 현금이 모자라거나, 증거금이 1주 값에 못 미치거나, 허용되지 않은 배율이거나, 같은 종목을 이미 갖고 있거나, 시간이 끝난 경우입니다. 종목당 포지션을 하나로 제한한 것은 평단가와 부분 청산 계산을 피하기 위해서입니다.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여러 명이 동시에 주문해도 결과가 공정하려면 처리 순서가 섞이면 안 됩니다. 그래서 방마다 처리 줄을 하나씩 두고, 틱과 주문과 입장을 모두 그 줄에서 도착한 순서대로 처리합니다. 한 줄로만 처리하니 잠금 같은 장치가 필요 없고, 방끼리는 서로 독립이라 다른 방을 기다리지 않습니다. 또 게임 중에는 데이터베이스에 쓰지 않습니다. 시작할 때 시세를 한 번 읽고, 끝날 때 결과를 한 번에 저장합니다. 저장에 실패하더라도 게임 자체는 정상적으로 끝납니다. 방 두 개를 동시에 돌려 서로 간섭하지 않는 것을 확인했습니다.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실시간으로 무엇을 누구에게 언제 보내는지 정리한 표입니다. 시세는 1초마다 모두에게 같이 보내고, 내 현금과 포지션, 주문 결과는 본인에게만 보냅니다. 순위는 5초마다 보내는데, 여기에는 다른 사람의 포지션과 배율도 들어갑니다. 누가 크게 걸었는지 보여야 역전의 긴장감이 생기기 때문에 의도적으로 공개했습니다. 반대로 게임 중 캔들에는 날짜를 넣지 않습니다. 날짜와 가격이 같이 있으면 종목을 바로 알아낼 수 있기 때문입니다. 연결이 끊겨도 다시 들어오면 지금 상태를 순서대로 다시 받아 이어서 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검증은 화면보다 테스트를 먼저 했습니다. 게임 엔진은 화면 없이 테스트 안에서 시작부터 240틱, 종료와 순위까지 돌아가는 것을 먼저 확인했습니다. 이 단계가 안 되면 일정이 아니라 설계를 다시 봐야 한다고 정해 두었습니다. 엔진과 청산 규칙에 대한 테스트가 50여 개 있고, 실제 시세 구간 다섯 개로도 재생해 봤습니다. 그 다음 브라우저 두 개로 같은 방에 들어가서 두 쪽이 받은 틱 240개가 모두 같은 것, 124틱에서 배율 3 청산이 두 화면에 동시에 알려지는 것을 확인했습니다.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정리하겠습니다. 정확성은 정수 수량과 증거금 역산, 대상별 반올림 방향, 배율 3 경계값 테스트로 지켰습니다. 공정성은 방마다 한 줄 처리와 게임 중 외부 호출을 없애는 것으로 지켰습니다. 그리고 수수료 면제를 두지 않고 잔고가 음수가 되지 않게 해서, 팔지 말지 고민하는 게임의 핵심이 남도록 했습니다. 수수료율과 시드, 배율 상한은 실제 플레이 결과를 보고 다시 검토할 예정입니다.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2172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1234440"/>
            <a:ext cx="5669280" cy="365760"/>
          </a:xfrm>
          <a:prstGeom prst="rect">
            <a:avLst/>
          </a:prstGeom>
          <a:noFill/>
          <a:ln/>
        </p:spPr>
        <p:txBody>
          <a:bodyPr wrap="square" rtlCol="0"/>
          <a:lstStyle>
            <a:lvl1pPr algn="l" indent="0" marL="0">
              <a:buNone/>
              <a:defRPr lang="en-US" sz="1400" b="1" dirty="0">
                <a:solidFill>
                  <a:schemeClr val="accent1"/>
                </a:solidFill>
              </a:defRPr>
            </a:lvl1pPr>
          </a:lstStyle>
          <a:p>
            <a:pPr algn="l" indent="0" marL="0">
              <a:buNone/>
            </a:pPr>
            <a:endParaRPr lang="en-US" sz="1400" dirty="0"/>
          </a:p>
        </p:txBody>
      </p:sp>
      <p:sp>
        <p:nvSpPr>
          <p:cNvPr id="3" name="Text 0"/>
          <p:cNvSpPr/>
          <p:nvPr>
            <p:ph idx="101" type="title" hasCustomPrompt="1"/>
          </p:nvPr>
        </p:nvSpPr>
        <p:spPr>
          <a:xfrm>
            <a:off x="457200" y="1645920"/>
            <a:ext cx="5852160" cy="13716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457200" y="3154680"/>
            <a:ext cx="5669280" cy="822960"/>
          </a:xfrm>
          <a:prstGeom prst="rect">
            <a:avLst/>
          </a:prstGeom>
          <a:noFill/>
          <a:ln/>
        </p:spPr>
        <p:txBody>
          <a:bodyPr wrap="square" rtlCol="0"/>
          <a:lstStyle>
            <a:lvl1pPr algn="l" indent="0" marL="0">
              <a:buNone/>
              <a:defRPr lang="en-US" sz="1600" dirty="0">
                <a:solidFill>
                  <a:schemeClr val="bg2"/>
                </a:solidFill>
              </a:defRPr>
            </a:lvl1pPr>
          </a:lstStyle>
          <a:p>
            <a:pPr algn="l" indent="0" marL="0">
              <a:buNone/>
            </a:pPr>
            <a:endParaRPr lang="en-US" sz="1600" dirty="0"/>
          </a:p>
        </p:txBody>
      </p:sp>
      <p:sp>
        <p:nvSpPr>
          <p:cNvPr id="5" name="Text 0"/>
          <p:cNvSpPr/>
          <p:nvPr>
            <p:ph idx="103" type="body" hasCustomPrompt="1"/>
          </p:nvPr>
        </p:nvSpPr>
        <p:spPr>
          <a:xfrm>
            <a:off x="457200" y="4160520"/>
            <a:ext cx="3657600" cy="365760"/>
          </a:xfrm>
          <a:prstGeom prst="rect">
            <a:avLst/>
          </a:prstGeom>
          <a:noFill/>
          <a:ln/>
        </p:spPr>
        <p:txBody>
          <a:bodyPr wrap="square" rtlCol="0"/>
          <a:lstStyle>
            <a:lvl1pPr algn="l" indent="0" marL="0">
              <a:buNone/>
              <a:defRPr lang="en-US" sz="1500" b="1" dirty="0">
                <a:solidFill>
                  <a:schemeClr val="bg1"/>
                </a:solidFill>
              </a:defRPr>
            </a:lvl1pPr>
          </a:lstStyle>
          <a:p>
            <a:pPr algn="l" indent="0" marL="0">
              <a:buNone/>
            </a:pPr>
            <a:r>
              <a:rPr lang="en-US" sz="1500" b="1" dirty="0">
                <a:solidFill>
                  <a:schemeClr val="bg1"/>
                </a:solidFill>
              </a:rPr>
              <a:t>발표자 이름</a:t>
            </a:r>
            <a:endParaRPr lang="en-US" sz="15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_TOP">
    <p:bg>
      <p:bgPr>
        <a:solidFill>
          <a:srgbClr val="12172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5486400" cy="320040"/>
          </a:xfrm>
          <a:prstGeom prst="rect">
            <a:avLst/>
          </a:prstGeom>
          <a:noFill/>
          <a:ln/>
        </p:spPr>
        <p:txBody>
          <a:bodyPr wrap="square" rtlCol="0"/>
          <a:lstStyle>
            <a:lvl1pPr algn="l" indent="0" marL="0">
              <a:buNone/>
              <a:defRPr lang="en-US" sz="1400" b="1" dirty="0">
                <a:solidFill>
                  <a:schemeClr val="accent1"/>
                </a:solidFill>
              </a:defRPr>
            </a:lvl1pPr>
          </a:lstStyle>
          <a:p>
            <a:pPr algn="l" indent="0" marL="0">
              <a:buNone/>
            </a:pPr>
            <a:endParaRPr lang="en-US" sz="1400" dirty="0"/>
          </a:p>
        </p:txBody>
      </p:sp>
      <p:sp>
        <p:nvSpPr>
          <p:cNvPr id="3" name="Text 0"/>
          <p:cNvSpPr/>
          <p:nvPr>
            <p:ph idx="101" type="title" hasCustomPrompt="1"/>
          </p:nvPr>
        </p:nvSpPr>
        <p:spPr>
          <a:xfrm>
            <a:off x="457200" y="749808"/>
            <a:ext cx="5486400" cy="68580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566928"/>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ph idx="101" type="body" hasCustomPrompt="1"/>
          </p:nvPr>
        </p:nvSpPr>
        <p:spPr>
          <a:xfrm>
            <a:off x="457200" y="859536"/>
            <a:ext cx="8229600" cy="329184"/>
          </a:xfrm>
          <a:prstGeom prst="rect">
            <a:avLst/>
          </a:prstGeom>
          <a:noFill/>
          <a:ln/>
        </p:spPr>
        <p:txBody>
          <a:bodyPr wrap="square" rtlCol="0"/>
          <a:lstStyle>
            <a:lvl1pPr algn="l" indent="0" marL="0">
              <a:buNone/>
              <a:defRPr lang="en-US" sz="1400" dirty="0">
                <a:solidFill>
                  <a:schemeClr val="accent6"/>
                </a:solidFill>
              </a:defRPr>
            </a:lvl1pPr>
          </a:lstStyle>
          <a:p>
            <a:pPr algn="l" indent="0" marL="0">
              <a:buNone/>
            </a:pPr>
            <a:endParaRPr lang="en-US" sz="1400" dirty="0"/>
          </a:p>
        </p:txBody>
      </p:sp>
      <p:sp>
        <p:nvSpPr>
          <p:cNvPr id="4" name="Text 0"/>
          <p:cNvSpPr/>
          <p:nvPr/>
        </p:nvSpPr>
        <p:spPr>
          <a:xfrm>
            <a:off x="457200" y="4800600"/>
            <a:ext cx="4572000" cy="201168"/>
          </a:xfrm>
          <a:prstGeom prst="rect">
            <a:avLst/>
          </a:prstGeom>
          <a:noFill/>
          <a:ln/>
        </p:spPr>
        <p:txBody>
          <a:bodyPr wrap="square" lIns="0" tIns="0" rIns="0" bIns="0" rtlCol="0" anchor="ctr"/>
          <a:lstStyle/>
          <a:p>
            <a:pPr indent="0" marL="0">
              <a:buNone/>
            </a:pPr>
            <a:r>
              <a:rPr lang="en-US" sz="900" dirty="0">
                <a:solidFill>
                  <a:schemeClr val="accent6"/>
                </a:solidFill>
              </a:rPr>
              <a:t>머니게임 | 정확하고 공정한 게임 서버</a:t>
            </a:r>
            <a:endParaRPr lang="en-US" sz="900" dirty="0"/>
          </a:p>
        </p:txBody>
      </p:sp>
      <p:sp>
        <p:nvSpPr>
          <p:cNvPr id="25" name="Slide Number Placeholder 0"/>
          <p:cNvSpPr>
            <a:spLocks noGrp="1"/>
          </p:cNvSpPr>
          <p:nvPr>
            <p:ph type="sldNum" sz="quarter" idx="4294967295"/>
          </p:nvPr>
        </p:nvSpPr>
        <p:spPr>
          <a:xfrm>
            <a:off x="8138160" y="48006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38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8006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38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4.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1234440"/>
            <a:ext cx="5669280" cy="365760"/>
          </a:xfrm>
          <a:prstGeom prst="rect">
            <a:avLst/>
          </a:prstGeom>
          <a:noFill/>
          <a:ln/>
        </p:spPr>
        <p:txBody>
          <a:bodyPr wrap="square" lIns="0" tIns="0" rIns="0" bIns="0" rtlCol="0"/>
          <a:lstStyle/>
          <a:p>
            <a:pPr algn="l" indent="0" marL="0">
              <a:buNone/>
            </a:pPr>
            <a:r>
              <a:rPr lang="en-US" sz="1400" b="1" dirty="0">
                <a:solidFill>
                  <a:schemeClr val="accent1"/>
                </a:solidFill>
              </a:rPr>
              <a:t>머니게임 | 중간 점검</a:t>
            </a:r>
            <a:endParaRPr lang="en-US" sz="1400" dirty="0"/>
          </a:p>
        </p:txBody>
      </p:sp>
      <p:sp>
        <p:nvSpPr>
          <p:cNvPr id="3" name="Text 0"/>
          <p:cNvSpPr/>
          <p:nvPr>
            <p:ph idx="101" type="title" hasCustomPrompt="1"/>
          </p:nvPr>
        </p:nvSpPr>
        <p:spPr>
          <a:xfrm>
            <a:off x="457200" y="1645920"/>
            <a:ext cx="5852160" cy="1371600"/>
          </a:xfrm>
          <a:prstGeom prst="rect">
            <a:avLst/>
          </a:prstGeom>
          <a:noFill/>
          <a:ln/>
        </p:spPr>
        <p:txBody>
          <a:bodyPr wrap="square" lIns="0" tIns="0" rIns="0" bIns="0" rtlCol="0" anchor="t"/>
          <a:lstStyle/>
          <a:p>
            <a:pPr algn="l" indent="0" marL="0">
              <a:buNone/>
            </a:pPr>
            <a:r>
              <a:rPr lang="en-US" sz="4000" b="1" dirty="0">
                <a:solidFill>
                  <a:schemeClr val="bg1"/>
                </a:solidFill>
              </a:rPr>
              <a:t>정확하고 공정한</a:t>
            </a:r>
            <a:endParaRPr lang="en-US" sz="4000" dirty="0"/>
          </a:p>
          <a:p>
            <a:pPr algn="l" indent="0" marL="0">
              <a:buNone/>
            </a:pPr>
            <a:r>
              <a:rPr lang="en-US" sz="4000" b="1" dirty="0">
                <a:solidFill>
                  <a:schemeClr val="bg1"/>
                </a:solidFill>
              </a:rPr>
              <a:t>게임 서버 만들기</a:t>
            </a:r>
            <a:endParaRPr lang="en-US" sz="4000" dirty="0"/>
          </a:p>
        </p:txBody>
      </p:sp>
      <p:sp>
        <p:nvSpPr>
          <p:cNvPr id="4" name="Text 0"/>
          <p:cNvSpPr/>
          <p:nvPr>
            <p:ph idx="102" type="body" hasCustomPrompt="1"/>
          </p:nvPr>
        </p:nvSpPr>
        <p:spPr>
          <a:xfrm>
            <a:off x="457200" y="3154680"/>
            <a:ext cx="5669280" cy="822960"/>
          </a:xfrm>
          <a:prstGeom prst="rect">
            <a:avLst/>
          </a:prstGeom>
          <a:noFill/>
          <a:ln/>
        </p:spPr>
        <p:txBody>
          <a:bodyPr wrap="square" lIns="0" tIns="0" rIns="0" bIns="0" rtlCol="0" anchor="t"/>
          <a:lstStyle/>
          <a:p>
            <a:pPr algn="l" indent="0" marL="0">
              <a:buNone/>
            </a:pPr>
            <a:r>
              <a:rPr lang="en-US" sz="1600" dirty="0">
                <a:solidFill>
                  <a:schemeClr val="bg2"/>
                </a:solidFill>
              </a:rPr>
              <a:t>배율과 청산 규칙 설계</a:t>
            </a:r>
            <a:endParaRPr lang="en-US" sz="1600" dirty="0"/>
          </a:p>
          <a:p>
            <a:pPr algn="l" indent="0" marL="0">
              <a:buNone/>
            </a:pPr>
            <a:r>
              <a:rPr lang="en-US" sz="1600" dirty="0">
                <a:solidFill>
                  <a:schemeClr val="bg2"/>
                </a:solidFill>
              </a:rPr>
              <a:t>여러 명이 함께하는 실시간 진행</a:t>
            </a:r>
            <a:endParaRPr lang="en-US" sz="1600" dirty="0"/>
          </a:p>
        </p:txBody>
      </p:sp>
      <p:sp>
        <p:nvSpPr>
          <p:cNvPr id="5" name="Text 0"/>
          <p:cNvSpPr/>
          <p:nvPr>
            <p:ph idx="103" type="body" hasCustomPrompt="1"/>
          </p:nvPr>
        </p:nvSpPr>
        <p:spPr>
          <a:xfrm>
            <a:off x="457200" y="4160520"/>
            <a:ext cx="3657600" cy="365760"/>
          </a:xfrm>
          <a:prstGeom prst="rect">
            <a:avLst/>
          </a:prstGeom>
          <a:noFill/>
          <a:ln/>
        </p:spPr>
        <p:txBody>
          <a:bodyPr wrap="square" lIns="0" tIns="0" rIns="0" bIns="0" rtlCol="0" anchor="ctr"/>
          <a:lstStyle/>
          <a:p>
            <a:pPr algn="l" indent="0" marL="0">
              <a:buNone/>
            </a:pPr>
            <a:endParaRPr lang="en-US" sz="1500" dirty="0"/>
          </a:p>
        </p:txBody>
      </p:sp>
      <p:sp>
        <p:nvSpPr>
          <p:cNvPr id="6" name="Shape 4"/>
          <p:cNvSpPr/>
          <p:nvPr/>
        </p:nvSpPr>
        <p:spPr>
          <a:xfrm>
            <a:off x="6460236" y="1371600"/>
            <a:ext cx="18288" cy="411480"/>
          </a:xfrm>
          <a:prstGeom prst="rect">
            <a:avLst/>
          </a:prstGeom>
          <a:solidFill>
            <a:schemeClr val="accent3"/>
          </a:solidFill>
          <a:ln/>
        </p:spPr>
      </p:sp>
      <p:sp>
        <p:nvSpPr>
          <p:cNvPr id="7" name="Shape 5"/>
          <p:cNvSpPr/>
          <p:nvPr/>
        </p:nvSpPr>
        <p:spPr>
          <a:xfrm>
            <a:off x="6400800" y="1463040"/>
            <a:ext cx="137160" cy="228600"/>
          </a:xfrm>
          <a:prstGeom prst="rect">
            <a:avLst/>
          </a:prstGeom>
          <a:solidFill>
            <a:schemeClr val="accent3"/>
          </a:solidFill>
          <a:ln/>
        </p:spPr>
      </p:sp>
      <p:sp>
        <p:nvSpPr>
          <p:cNvPr id="8" name="Shape 6"/>
          <p:cNvSpPr/>
          <p:nvPr/>
        </p:nvSpPr>
        <p:spPr>
          <a:xfrm>
            <a:off x="6661404" y="1463040"/>
            <a:ext cx="18288" cy="320040"/>
          </a:xfrm>
          <a:prstGeom prst="rect">
            <a:avLst/>
          </a:prstGeom>
          <a:solidFill>
            <a:schemeClr val="accent2"/>
          </a:solidFill>
          <a:ln/>
        </p:spPr>
      </p:sp>
      <p:sp>
        <p:nvSpPr>
          <p:cNvPr id="9" name="Shape 7"/>
          <p:cNvSpPr/>
          <p:nvPr/>
        </p:nvSpPr>
        <p:spPr>
          <a:xfrm>
            <a:off x="6601968" y="1554480"/>
            <a:ext cx="137160" cy="137160"/>
          </a:xfrm>
          <a:prstGeom prst="rect">
            <a:avLst/>
          </a:prstGeom>
          <a:solidFill>
            <a:schemeClr val="accent2"/>
          </a:solidFill>
          <a:ln/>
        </p:spPr>
      </p:sp>
      <p:sp>
        <p:nvSpPr>
          <p:cNvPr id="10" name="Shape 8"/>
          <p:cNvSpPr/>
          <p:nvPr/>
        </p:nvSpPr>
        <p:spPr>
          <a:xfrm>
            <a:off x="6862572" y="1508760"/>
            <a:ext cx="18288" cy="457200"/>
          </a:xfrm>
          <a:prstGeom prst="rect">
            <a:avLst/>
          </a:prstGeom>
          <a:solidFill>
            <a:schemeClr val="accent3"/>
          </a:solidFill>
          <a:ln/>
        </p:spPr>
      </p:sp>
      <p:sp>
        <p:nvSpPr>
          <p:cNvPr id="11" name="Shape 9"/>
          <p:cNvSpPr/>
          <p:nvPr/>
        </p:nvSpPr>
        <p:spPr>
          <a:xfrm>
            <a:off x="6803136" y="1554480"/>
            <a:ext cx="137160" cy="320040"/>
          </a:xfrm>
          <a:prstGeom prst="rect">
            <a:avLst/>
          </a:prstGeom>
          <a:solidFill>
            <a:schemeClr val="accent3"/>
          </a:solidFill>
          <a:ln/>
        </p:spPr>
      </p:sp>
      <p:sp>
        <p:nvSpPr>
          <p:cNvPr id="12" name="Shape 10"/>
          <p:cNvSpPr/>
          <p:nvPr/>
        </p:nvSpPr>
        <p:spPr>
          <a:xfrm>
            <a:off x="7063740" y="1783080"/>
            <a:ext cx="18288" cy="411480"/>
          </a:xfrm>
          <a:prstGeom prst="rect">
            <a:avLst/>
          </a:prstGeom>
          <a:solidFill>
            <a:schemeClr val="accent3"/>
          </a:solidFill>
          <a:ln/>
        </p:spPr>
      </p:sp>
      <p:sp>
        <p:nvSpPr>
          <p:cNvPr id="13" name="Shape 11"/>
          <p:cNvSpPr/>
          <p:nvPr/>
        </p:nvSpPr>
        <p:spPr>
          <a:xfrm>
            <a:off x="7004304" y="1874520"/>
            <a:ext cx="137160" cy="228600"/>
          </a:xfrm>
          <a:prstGeom prst="rect">
            <a:avLst/>
          </a:prstGeom>
          <a:solidFill>
            <a:schemeClr val="accent3"/>
          </a:solidFill>
          <a:ln/>
        </p:spPr>
      </p:sp>
      <p:sp>
        <p:nvSpPr>
          <p:cNvPr id="14" name="Shape 12"/>
          <p:cNvSpPr/>
          <p:nvPr/>
        </p:nvSpPr>
        <p:spPr>
          <a:xfrm>
            <a:off x="7264908" y="1874520"/>
            <a:ext cx="18288" cy="320040"/>
          </a:xfrm>
          <a:prstGeom prst="rect">
            <a:avLst/>
          </a:prstGeom>
          <a:solidFill>
            <a:schemeClr val="accent2"/>
          </a:solidFill>
          <a:ln/>
        </p:spPr>
      </p:sp>
      <p:sp>
        <p:nvSpPr>
          <p:cNvPr id="15" name="Shape 13"/>
          <p:cNvSpPr/>
          <p:nvPr/>
        </p:nvSpPr>
        <p:spPr>
          <a:xfrm>
            <a:off x="7205472" y="1965960"/>
            <a:ext cx="137160" cy="137160"/>
          </a:xfrm>
          <a:prstGeom prst="rect">
            <a:avLst/>
          </a:prstGeom>
          <a:solidFill>
            <a:schemeClr val="accent2"/>
          </a:solidFill>
          <a:ln/>
        </p:spPr>
      </p:sp>
      <p:sp>
        <p:nvSpPr>
          <p:cNvPr id="16" name="Shape 14"/>
          <p:cNvSpPr/>
          <p:nvPr/>
        </p:nvSpPr>
        <p:spPr>
          <a:xfrm>
            <a:off x="7466076" y="1920240"/>
            <a:ext cx="18288" cy="502920"/>
          </a:xfrm>
          <a:prstGeom prst="rect">
            <a:avLst/>
          </a:prstGeom>
          <a:solidFill>
            <a:schemeClr val="accent3"/>
          </a:solidFill>
          <a:ln/>
        </p:spPr>
      </p:sp>
      <p:sp>
        <p:nvSpPr>
          <p:cNvPr id="17" name="Shape 15"/>
          <p:cNvSpPr/>
          <p:nvPr/>
        </p:nvSpPr>
        <p:spPr>
          <a:xfrm>
            <a:off x="7406640" y="1965960"/>
            <a:ext cx="137160" cy="365760"/>
          </a:xfrm>
          <a:prstGeom prst="rect">
            <a:avLst/>
          </a:prstGeom>
          <a:solidFill>
            <a:schemeClr val="accent3"/>
          </a:solidFill>
          <a:ln/>
        </p:spPr>
      </p:sp>
      <p:sp>
        <p:nvSpPr>
          <p:cNvPr id="18" name="Shape 16"/>
          <p:cNvSpPr/>
          <p:nvPr/>
        </p:nvSpPr>
        <p:spPr>
          <a:xfrm>
            <a:off x="7667244" y="2240280"/>
            <a:ext cx="18288" cy="411480"/>
          </a:xfrm>
          <a:prstGeom prst="rect">
            <a:avLst/>
          </a:prstGeom>
          <a:solidFill>
            <a:schemeClr val="accent3"/>
          </a:solidFill>
          <a:ln/>
        </p:spPr>
      </p:sp>
      <p:sp>
        <p:nvSpPr>
          <p:cNvPr id="19" name="Shape 17"/>
          <p:cNvSpPr/>
          <p:nvPr/>
        </p:nvSpPr>
        <p:spPr>
          <a:xfrm>
            <a:off x="7607808" y="2331720"/>
            <a:ext cx="137160" cy="228600"/>
          </a:xfrm>
          <a:prstGeom prst="rect">
            <a:avLst/>
          </a:prstGeom>
          <a:solidFill>
            <a:schemeClr val="accent3"/>
          </a:solidFill>
          <a:ln/>
        </p:spPr>
      </p:sp>
      <p:sp>
        <p:nvSpPr>
          <p:cNvPr id="20" name="Shape 18"/>
          <p:cNvSpPr/>
          <p:nvPr/>
        </p:nvSpPr>
        <p:spPr>
          <a:xfrm>
            <a:off x="7868412" y="2331720"/>
            <a:ext cx="18288" cy="320040"/>
          </a:xfrm>
          <a:prstGeom prst="rect">
            <a:avLst/>
          </a:prstGeom>
          <a:solidFill>
            <a:schemeClr val="accent2"/>
          </a:solidFill>
          <a:ln/>
        </p:spPr>
      </p:sp>
      <p:sp>
        <p:nvSpPr>
          <p:cNvPr id="21" name="Shape 19"/>
          <p:cNvSpPr/>
          <p:nvPr/>
        </p:nvSpPr>
        <p:spPr>
          <a:xfrm>
            <a:off x="7808976" y="2423160"/>
            <a:ext cx="137160" cy="137160"/>
          </a:xfrm>
          <a:prstGeom prst="rect">
            <a:avLst/>
          </a:prstGeom>
          <a:solidFill>
            <a:schemeClr val="accent2"/>
          </a:solidFill>
          <a:ln/>
        </p:spPr>
      </p:sp>
      <p:sp>
        <p:nvSpPr>
          <p:cNvPr id="22" name="Shape 20"/>
          <p:cNvSpPr/>
          <p:nvPr/>
        </p:nvSpPr>
        <p:spPr>
          <a:xfrm>
            <a:off x="8069580" y="2377440"/>
            <a:ext cx="18288" cy="502920"/>
          </a:xfrm>
          <a:prstGeom prst="rect">
            <a:avLst/>
          </a:prstGeom>
          <a:solidFill>
            <a:schemeClr val="accent3"/>
          </a:solidFill>
          <a:ln/>
        </p:spPr>
      </p:sp>
      <p:sp>
        <p:nvSpPr>
          <p:cNvPr id="23" name="Shape 21"/>
          <p:cNvSpPr/>
          <p:nvPr/>
        </p:nvSpPr>
        <p:spPr>
          <a:xfrm>
            <a:off x="8010144" y="2423160"/>
            <a:ext cx="137160" cy="365760"/>
          </a:xfrm>
          <a:prstGeom prst="rect">
            <a:avLst/>
          </a:prstGeom>
          <a:solidFill>
            <a:schemeClr val="accent3"/>
          </a:solidFill>
          <a:ln/>
        </p:spPr>
      </p:sp>
      <p:sp>
        <p:nvSpPr>
          <p:cNvPr id="24" name="Shape 22"/>
          <p:cNvSpPr/>
          <p:nvPr/>
        </p:nvSpPr>
        <p:spPr>
          <a:xfrm>
            <a:off x="8270748" y="2697480"/>
            <a:ext cx="18288" cy="502920"/>
          </a:xfrm>
          <a:prstGeom prst="rect">
            <a:avLst/>
          </a:prstGeom>
          <a:solidFill>
            <a:schemeClr val="accent3"/>
          </a:solidFill>
          <a:ln/>
        </p:spPr>
      </p:sp>
      <p:sp>
        <p:nvSpPr>
          <p:cNvPr id="25" name="Shape 23"/>
          <p:cNvSpPr/>
          <p:nvPr/>
        </p:nvSpPr>
        <p:spPr>
          <a:xfrm>
            <a:off x="8211312" y="2788920"/>
            <a:ext cx="137160" cy="274320"/>
          </a:xfrm>
          <a:prstGeom prst="rect">
            <a:avLst/>
          </a:prstGeom>
          <a:solidFill>
            <a:schemeClr val="accent3"/>
          </a:solidFill>
          <a:ln/>
        </p:spPr>
      </p:sp>
      <p:sp>
        <p:nvSpPr>
          <p:cNvPr id="26" name="Shape 24"/>
          <p:cNvSpPr/>
          <p:nvPr/>
        </p:nvSpPr>
        <p:spPr>
          <a:xfrm>
            <a:off x="8471916" y="2971800"/>
            <a:ext cx="18288" cy="457200"/>
          </a:xfrm>
          <a:prstGeom prst="rect">
            <a:avLst/>
          </a:prstGeom>
          <a:solidFill>
            <a:schemeClr val="accent3"/>
          </a:solidFill>
          <a:ln/>
        </p:spPr>
      </p:sp>
      <p:sp>
        <p:nvSpPr>
          <p:cNvPr id="27" name="Shape 25"/>
          <p:cNvSpPr/>
          <p:nvPr/>
        </p:nvSpPr>
        <p:spPr>
          <a:xfrm>
            <a:off x="8412480" y="3063240"/>
            <a:ext cx="137160" cy="228600"/>
          </a:xfrm>
          <a:prstGeom prst="rect">
            <a:avLst/>
          </a:prstGeom>
          <a:solidFill>
            <a:schemeClr val="accent3"/>
          </a:solidFill>
          <a:ln/>
        </p:spPr>
      </p:sp>
      <p:sp>
        <p:nvSpPr>
          <p:cNvPr id="28" name="Shape 26"/>
          <p:cNvSpPr/>
          <p:nvPr/>
        </p:nvSpPr>
        <p:spPr>
          <a:xfrm>
            <a:off x="6263640" y="3246120"/>
            <a:ext cx="2423160" cy="0"/>
          </a:xfrm>
          <a:prstGeom prst="line">
            <a:avLst/>
          </a:prstGeom>
          <a:noFill/>
          <a:ln w="19050">
            <a:solidFill>
              <a:schemeClr val="accent4"/>
            </a:solidFill>
            <a:prstDash val="dash"/>
          </a:ln>
        </p:spPr>
      </p:sp>
      <p:sp>
        <p:nvSpPr>
          <p:cNvPr id="29" name="Text 27"/>
          <p:cNvSpPr txBox="1"/>
          <p:nvPr/>
        </p:nvSpPr>
        <p:spPr>
          <a:xfrm>
            <a:off x="8001000" y="3291840"/>
            <a:ext cx="685800" cy="228600"/>
          </a:xfrm>
          <a:prstGeom prst="rect">
            <a:avLst/>
          </a:prstGeom>
          <a:noFill/>
          <a:ln/>
        </p:spPr>
        <p:txBody>
          <a:bodyPr wrap="square" lIns="0" tIns="0" rIns="0" bIns="0" rtlCol="0" anchor="t"/>
          <a:lstStyle/>
          <a:p>
            <a:pPr algn="r" indent="0" marL="0">
              <a:buNone/>
            </a:pPr>
            <a:r>
              <a:rPr lang="en-US" sz="1000" b="1" dirty="0">
                <a:solidFill>
                  <a:schemeClr val="accent4"/>
                </a:solidFill>
              </a:rPr>
              <a:t>청산선</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566928"/>
          </a:xfrm>
          <a:prstGeom prst="rect">
            <a:avLst/>
          </a:prstGeom>
          <a:noFill/>
          <a:ln/>
        </p:spPr>
        <p:txBody>
          <a:bodyPr wrap="square" lIns="0" tIns="0" rIns="0" bIns="0" rtlCol="0" anchor="ctr"/>
          <a:lstStyle/>
          <a:p>
            <a:pPr algn="l" indent="0" marL="0">
              <a:buNone/>
            </a:pPr>
            <a:r>
              <a:rPr lang="en-US" sz="3000" b="1" dirty="0">
                <a:solidFill>
                  <a:schemeClr val="tx1"/>
                </a:solidFill>
              </a:rPr>
              <a:t>개요와 설계 목표 3가지</a:t>
            </a:r>
            <a:endParaRPr lang="en-US" sz="3000" dirty="0"/>
          </a:p>
        </p:txBody>
      </p:sp>
      <p:sp>
        <p:nvSpPr>
          <p:cNvPr id="3" name="Text 0"/>
          <p:cNvSpPr/>
          <p:nvPr>
            <p:ph idx="101" type="body" hasCustomPrompt="1"/>
          </p:nvPr>
        </p:nvSpPr>
        <p:spPr>
          <a:xfrm>
            <a:off x="457200" y="859536"/>
            <a:ext cx="8229600" cy="329184"/>
          </a:xfrm>
          <a:prstGeom prst="rect">
            <a:avLst/>
          </a:prstGeom>
          <a:noFill/>
          <a:ln/>
        </p:spPr>
        <p:txBody>
          <a:bodyPr wrap="square" lIns="0" tIns="0" rIns="0" bIns="0" rtlCol="0" anchor="t"/>
          <a:lstStyle/>
          <a:p>
            <a:pPr algn="l" indent="0" marL="0">
              <a:buNone/>
            </a:pPr>
            <a:r>
              <a:rPr lang="en-US" sz="1400" dirty="0">
                <a:solidFill>
                  <a:schemeClr val="accent6"/>
                </a:solidFill>
              </a:rPr>
              <a:t>과거 시세 압축 재생, 배율 거래, 남은 자산으로 순위 결정. 실제 시세 데이터와 게임 구간 선정은 완료</a:t>
            </a:r>
            <a:endParaRPr lang="en-US" sz="1400" dirty="0"/>
          </a:p>
        </p:txBody>
      </p:sp>
      <p:sp>
        <p:nvSpPr>
          <p:cNvPr id="4" name="flow-1"/>
          <p:cNvSpPr/>
          <p:nvPr/>
        </p:nvSpPr>
        <p:spPr>
          <a:xfrm>
            <a:off x="457200" y="1371600"/>
            <a:ext cx="1874520" cy="685800"/>
          </a:xfrm>
          <a:prstGeom prst="roundRect">
            <a:avLst>
              <a:gd name="adj" fmla="val 10667"/>
            </a:avLst>
          </a:prstGeom>
          <a:solidFill>
            <a:schemeClr val="bg2"/>
          </a:solidFill>
          <a:ln/>
        </p:spPr>
      </p:sp>
      <p:sp>
        <p:nvSpPr>
          <p:cNvPr id="5" name="Shape 3"/>
          <p:cNvSpPr/>
          <p:nvPr/>
        </p:nvSpPr>
        <p:spPr>
          <a:xfrm>
            <a:off x="594360" y="1481328"/>
            <a:ext cx="457200" cy="457200"/>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708660" y="1595628"/>
            <a:ext cx="228600" cy="228600"/>
          </a:xfrm>
          <a:prstGeom prst="rect">
            <a:avLst/>
          </a:prstGeom>
        </p:spPr>
      </p:pic>
      <p:sp>
        <p:nvSpPr>
          <p:cNvPr id="7" name="Text 4"/>
          <p:cNvSpPr txBox="1"/>
          <p:nvPr/>
        </p:nvSpPr>
        <p:spPr>
          <a:xfrm>
            <a:off x="1143000" y="1371600"/>
            <a:ext cx="1097280" cy="685800"/>
          </a:xfrm>
          <a:prstGeom prst="rect">
            <a:avLst/>
          </a:prstGeom>
          <a:noFill/>
          <a:ln/>
        </p:spPr>
        <p:txBody>
          <a:bodyPr wrap="square" lIns="0" tIns="0" rIns="0" bIns="0" rtlCol="0" anchor="ctr"/>
          <a:lstStyle/>
          <a:p>
            <a:pPr indent="0" marL="0">
              <a:buNone/>
            </a:pPr>
            <a:r>
              <a:rPr lang="en-US" sz="1300" b="1" dirty="0">
                <a:solidFill>
                  <a:schemeClr val="tx1"/>
                </a:solidFill>
              </a:rPr>
              <a:t>1. 방 입장</a:t>
            </a:r>
            <a:endParaRPr lang="en-US" sz="1300" dirty="0"/>
          </a:p>
        </p:txBody>
      </p:sp>
      <p:sp>
        <p:nvSpPr>
          <p:cNvPr id="8" name="Shape 5"/>
          <p:cNvSpPr/>
          <p:nvPr/>
        </p:nvSpPr>
        <p:spPr>
          <a:xfrm>
            <a:off x="2359152" y="1714500"/>
            <a:ext cx="189281" cy="914"/>
          </a:xfrm>
          <a:prstGeom prst="line">
            <a:avLst/>
          </a:prstGeom>
          <a:noFill/>
          <a:ln w="19050">
            <a:solidFill>
              <a:schemeClr val="accent6"/>
            </a:solidFill>
            <a:prstDash val="solid"/>
            <a:tailEnd type="triangle"/>
          </a:ln>
        </p:spPr>
      </p:sp>
      <p:sp>
        <p:nvSpPr>
          <p:cNvPr id="9" name="flow-2"/>
          <p:cNvSpPr/>
          <p:nvPr/>
        </p:nvSpPr>
        <p:spPr>
          <a:xfrm>
            <a:off x="2575865" y="1371600"/>
            <a:ext cx="1874520" cy="685800"/>
          </a:xfrm>
          <a:prstGeom prst="roundRect">
            <a:avLst>
              <a:gd name="adj" fmla="val 10667"/>
            </a:avLst>
          </a:prstGeom>
          <a:solidFill>
            <a:schemeClr val="bg2"/>
          </a:solidFill>
          <a:ln/>
        </p:spPr>
      </p:sp>
      <p:sp>
        <p:nvSpPr>
          <p:cNvPr id="10" name="Shape 7"/>
          <p:cNvSpPr/>
          <p:nvPr/>
        </p:nvSpPr>
        <p:spPr>
          <a:xfrm>
            <a:off x="2713025" y="1481328"/>
            <a:ext cx="457200" cy="457200"/>
          </a:xfrm>
          <a:prstGeom prst="ellipse">
            <a:avLst/>
          </a:prstGeom>
          <a:solidFill>
            <a:schemeClr val="accent1"/>
          </a:solidFill>
          <a:ln/>
        </p:spPr>
      </p:sp>
      <p:pic>
        <p:nvPicPr>
          <p:cNvPr id="11" name="Image 1" descr="preencoded.png">    </p:cNvPr>
          <p:cNvPicPr>
            <a:picLocks noChangeAspect="1"/>
          </p:cNvPicPr>
          <p:nvPr/>
        </p:nvPicPr>
        <p:blipFill>
          <a:blip r:embed="rId2"/>
          <a:stretch>
            <a:fillRect/>
          </a:stretch>
        </p:blipFill>
        <p:spPr>
          <a:xfrm>
            <a:off x="2827325" y="1595628"/>
            <a:ext cx="228600" cy="228600"/>
          </a:xfrm>
          <a:prstGeom prst="rect">
            <a:avLst/>
          </a:prstGeom>
        </p:spPr>
      </p:pic>
      <p:sp>
        <p:nvSpPr>
          <p:cNvPr id="12" name="Text 8"/>
          <p:cNvSpPr txBox="1"/>
          <p:nvPr/>
        </p:nvSpPr>
        <p:spPr>
          <a:xfrm>
            <a:off x="3261665" y="1371600"/>
            <a:ext cx="1097280" cy="685800"/>
          </a:xfrm>
          <a:prstGeom prst="rect">
            <a:avLst/>
          </a:prstGeom>
          <a:noFill/>
          <a:ln/>
        </p:spPr>
        <p:txBody>
          <a:bodyPr wrap="square" lIns="0" tIns="0" rIns="0" bIns="0" rtlCol="0" anchor="ctr"/>
          <a:lstStyle/>
          <a:p>
            <a:pPr indent="0" marL="0">
              <a:buNone/>
            </a:pPr>
            <a:r>
              <a:rPr lang="en-US" sz="1300" b="1" dirty="0">
                <a:solidFill>
                  <a:schemeClr val="tx1"/>
                </a:solidFill>
              </a:rPr>
              <a:t>2. 시세 재생</a:t>
            </a:r>
            <a:endParaRPr lang="en-US" sz="1300" dirty="0"/>
          </a:p>
        </p:txBody>
      </p:sp>
      <p:sp>
        <p:nvSpPr>
          <p:cNvPr id="13" name="Shape 9"/>
          <p:cNvSpPr/>
          <p:nvPr/>
        </p:nvSpPr>
        <p:spPr>
          <a:xfrm>
            <a:off x="4477817" y="1714500"/>
            <a:ext cx="189281" cy="914"/>
          </a:xfrm>
          <a:prstGeom prst="line">
            <a:avLst/>
          </a:prstGeom>
          <a:noFill/>
          <a:ln w="19050">
            <a:solidFill>
              <a:schemeClr val="accent6"/>
            </a:solidFill>
            <a:prstDash val="solid"/>
            <a:tailEnd type="triangle"/>
          </a:ln>
        </p:spPr>
      </p:sp>
      <p:sp>
        <p:nvSpPr>
          <p:cNvPr id="14" name="flow-3"/>
          <p:cNvSpPr/>
          <p:nvPr/>
        </p:nvSpPr>
        <p:spPr>
          <a:xfrm>
            <a:off x="4694530" y="1371600"/>
            <a:ext cx="1874520" cy="685800"/>
          </a:xfrm>
          <a:prstGeom prst="roundRect">
            <a:avLst>
              <a:gd name="adj" fmla="val 10667"/>
            </a:avLst>
          </a:prstGeom>
          <a:solidFill>
            <a:schemeClr val="bg2"/>
          </a:solidFill>
          <a:ln/>
        </p:spPr>
      </p:sp>
      <p:sp>
        <p:nvSpPr>
          <p:cNvPr id="15" name="Shape 11"/>
          <p:cNvSpPr/>
          <p:nvPr/>
        </p:nvSpPr>
        <p:spPr>
          <a:xfrm>
            <a:off x="4831690" y="1481328"/>
            <a:ext cx="457200" cy="457200"/>
          </a:xfrm>
          <a:prstGeom prst="ellipse">
            <a:avLst/>
          </a:prstGeom>
          <a:solidFill>
            <a:schemeClr val="accent1"/>
          </a:solidFill>
          <a:ln/>
        </p:spPr>
      </p:sp>
      <p:pic>
        <p:nvPicPr>
          <p:cNvPr id="16" name="Image 2" descr="preencoded.png">    </p:cNvPr>
          <p:cNvPicPr>
            <a:picLocks noChangeAspect="1"/>
          </p:cNvPicPr>
          <p:nvPr/>
        </p:nvPicPr>
        <p:blipFill>
          <a:blip r:embed="rId3"/>
          <a:stretch>
            <a:fillRect/>
          </a:stretch>
        </p:blipFill>
        <p:spPr>
          <a:xfrm>
            <a:off x="4945990" y="1595628"/>
            <a:ext cx="228600" cy="228600"/>
          </a:xfrm>
          <a:prstGeom prst="rect">
            <a:avLst/>
          </a:prstGeom>
        </p:spPr>
      </p:pic>
      <p:sp>
        <p:nvSpPr>
          <p:cNvPr id="17" name="Text 12"/>
          <p:cNvSpPr txBox="1"/>
          <p:nvPr/>
        </p:nvSpPr>
        <p:spPr>
          <a:xfrm>
            <a:off x="5380330" y="1371600"/>
            <a:ext cx="1097280" cy="685800"/>
          </a:xfrm>
          <a:prstGeom prst="rect">
            <a:avLst/>
          </a:prstGeom>
          <a:noFill/>
          <a:ln/>
        </p:spPr>
        <p:txBody>
          <a:bodyPr wrap="square" lIns="0" tIns="0" rIns="0" bIns="0" rtlCol="0" anchor="ctr"/>
          <a:lstStyle/>
          <a:p>
            <a:pPr indent="0" marL="0">
              <a:buNone/>
            </a:pPr>
            <a:r>
              <a:rPr lang="en-US" sz="1300" b="1" dirty="0">
                <a:solidFill>
                  <a:schemeClr val="tx1"/>
                </a:solidFill>
              </a:rPr>
              <a:t>3. 배율 거래</a:t>
            </a:r>
            <a:endParaRPr lang="en-US" sz="1300" dirty="0"/>
          </a:p>
        </p:txBody>
      </p:sp>
      <p:sp>
        <p:nvSpPr>
          <p:cNvPr id="18" name="Shape 13"/>
          <p:cNvSpPr/>
          <p:nvPr/>
        </p:nvSpPr>
        <p:spPr>
          <a:xfrm>
            <a:off x="6596482" y="1714500"/>
            <a:ext cx="189281" cy="914"/>
          </a:xfrm>
          <a:prstGeom prst="line">
            <a:avLst/>
          </a:prstGeom>
          <a:noFill/>
          <a:ln w="19050">
            <a:solidFill>
              <a:schemeClr val="accent6"/>
            </a:solidFill>
            <a:prstDash val="solid"/>
            <a:tailEnd type="triangle"/>
          </a:ln>
        </p:spPr>
      </p:sp>
      <p:sp>
        <p:nvSpPr>
          <p:cNvPr id="19" name="flow-4"/>
          <p:cNvSpPr/>
          <p:nvPr/>
        </p:nvSpPr>
        <p:spPr>
          <a:xfrm>
            <a:off x="6813194" y="1371600"/>
            <a:ext cx="1874520" cy="685800"/>
          </a:xfrm>
          <a:prstGeom prst="roundRect">
            <a:avLst>
              <a:gd name="adj" fmla="val 10667"/>
            </a:avLst>
          </a:prstGeom>
          <a:solidFill>
            <a:schemeClr val="bg2"/>
          </a:solidFill>
          <a:ln/>
        </p:spPr>
      </p:sp>
      <p:sp>
        <p:nvSpPr>
          <p:cNvPr id="20" name="Shape 15"/>
          <p:cNvSpPr/>
          <p:nvPr/>
        </p:nvSpPr>
        <p:spPr>
          <a:xfrm>
            <a:off x="6950354" y="1481328"/>
            <a:ext cx="457200" cy="457200"/>
          </a:xfrm>
          <a:prstGeom prst="ellipse">
            <a:avLst/>
          </a:prstGeom>
          <a:solidFill>
            <a:schemeClr val="accent1"/>
          </a:solidFill>
          <a:ln/>
        </p:spPr>
      </p:sp>
      <p:pic>
        <p:nvPicPr>
          <p:cNvPr id="21" name="Image 3" descr="preencoded.png">    </p:cNvPr>
          <p:cNvPicPr>
            <a:picLocks noChangeAspect="1"/>
          </p:cNvPicPr>
          <p:nvPr/>
        </p:nvPicPr>
        <p:blipFill>
          <a:blip r:embed="rId4"/>
          <a:stretch>
            <a:fillRect/>
          </a:stretch>
        </p:blipFill>
        <p:spPr>
          <a:xfrm>
            <a:off x="7064654" y="1595628"/>
            <a:ext cx="228600" cy="228600"/>
          </a:xfrm>
          <a:prstGeom prst="rect">
            <a:avLst/>
          </a:prstGeom>
        </p:spPr>
      </p:pic>
      <p:sp>
        <p:nvSpPr>
          <p:cNvPr id="22" name="Text 16"/>
          <p:cNvSpPr txBox="1"/>
          <p:nvPr/>
        </p:nvSpPr>
        <p:spPr>
          <a:xfrm>
            <a:off x="7498994" y="1371600"/>
            <a:ext cx="1097280" cy="685800"/>
          </a:xfrm>
          <a:prstGeom prst="rect">
            <a:avLst/>
          </a:prstGeom>
          <a:noFill/>
          <a:ln/>
        </p:spPr>
        <p:txBody>
          <a:bodyPr wrap="square" lIns="0" tIns="0" rIns="0" bIns="0" rtlCol="0" anchor="ctr"/>
          <a:lstStyle/>
          <a:p>
            <a:pPr indent="0" marL="0">
              <a:buNone/>
            </a:pPr>
            <a:r>
              <a:rPr lang="en-US" sz="1300" b="1" dirty="0">
                <a:solidFill>
                  <a:schemeClr val="tx1"/>
                </a:solidFill>
              </a:rPr>
              <a:t>4. 자산 순위</a:t>
            </a:r>
            <a:endParaRPr lang="en-US" sz="1300" dirty="0"/>
          </a:p>
        </p:txBody>
      </p:sp>
      <p:sp>
        <p:nvSpPr>
          <p:cNvPr id="23" name="goal-1"/>
          <p:cNvSpPr/>
          <p:nvPr/>
        </p:nvSpPr>
        <p:spPr>
          <a:xfrm>
            <a:off x="457200" y="2286000"/>
            <a:ext cx="2606040" cy="2286000"/>
          </a:xfrm>
          <a:prstGeom prst="roundRect">
            <a:avLst>
              <a:gd name="adj" fmla="val 3200"/>
            </a:avLst>
          </a:prstGeom>
          <a:solidFill>
            <a:schemeClr val="bg2"/>
          </a:solidFill>
          <a:ln/>
        </p:spPr>
      </p:sp>
      <p:sp>
        <p:nvSpPr>
          <p:cNvPr id="24" name="Shape 18"/>
          <p:cNvSpPr/>
          <p:nvPr/>
        </p:nvSpPr>
        <p:spPr>
          <a:xfrm>
            <a:off x="658368" y="2468880"/>
            <a:ext cx="502920" cy="502920"/>
          </a:xfrm>
          <a:prstGeom prst="ellipse">
            <a:avLst/>
          </a:prstGeom>
          <a:solidFill>
            <a:schemeClr val="accent1"/>
          </a:solidFill>
          <a:ln/>
        </p:spPr>
      </p:sp>
      <p:pic>
        <p:nvPicPr>
          <p:cNvPr id="25" name="Image 4" descr="preencoded.png">    </p:cNvPr>
          <p:cNvPicPr>
            <a:picLocks noChangeAspect="1"/>
          </p:cNvPicPr>
          <p:nvPr/>
        </p:nvPicPr>
        <p:blipFill>
          <a:blip r:embed="rId5"/>
          <a:stretch>
            <a:fillRect/>
          </a:stretch>
        </p:blipFill>
        <p:spPr>
          <a:xfrm>
            <a:off x="784098" y="2594610"/>
            <a:ext cx="251460" cy="251460"/>
          </a:xfrm>
          <a:prstGeom prst="rect">
            <a:avLst/>
          </a:prstGeom>
        </p:spPr>
      </p:pic>
      <p:sp>
        <p:nvSpPr>
          <p:cNvPr id="26" name="Text 19"/>
          <p:cNvSpPr txBox="1"/>
          <p:nvPr/>
        </p:nvSpPr>
        <p:spPr>
          <a:xfrm>
            <a:off x="1280160" y="2468880"/>
            <a:ext cx="1600200" cy="274320"/>
          </a:xfrm>
          <a:prstGeom prst="rect">
            <a:avLst/>
          </a:prstGeom>
          <a:noFill/>
          <a:ln/>
        </p:spPr>
        <p:txBody>
          <a:bodyPr wrap="square" lIns="0" tIns="0" rIns="0" bIns="0" rtlCol="0" anchor="t"/>
          <a:lstStyle/>
          <a:p>
            <a:pPr indent="0" marL="0">
              <a:buNone/>
            </a:pPr>
            <a:r>
              <a:rPr lang="en-US" sz="1800" b="1" dirty="0">
                <a:solidFill>
                  <a:schemeClr val="accent1"/>
                </a:solidFill>
              </a:rPr>
              <a:t>정확</a:t>
            </a:r>
            <a:endParaRPr lang="en-US" sz="1800" dirty="0"/>
          </a:p>
        </p:txBody>
      </p:sp>
      <p:sp>
        <p:nvSpPr>
          <p:cNvPr id="27" name="Text 20"/>
          <p:cNvSpPr txBox="1"/>
          <p:nvPr/>
        </p:nvSpPr>
        <p:spPr>
          <a:xfrm>
            <a:off x="1280160" y="2743200"/>
            <a:ext cx="1600200" cy="256032"/>
          </a:xfrm>
          <a:prstGeom prst="rect">
            <a:avLst/>
          </a:prstGeom>
          <a:noFill/>
          <a:ln/>
        </p:spPr>
        <p:txBody>
          <a:bodyPr wrap="square" lIns="0" tIns="0" rIns="0" bIns="0" rtlCol="0" anchor="t"/>
          <a:lstStyle/>
          <a:p>
            <a:pPr indent="0" marL="0">
              <a:buNone/>
            </a:pPr>
            <a:r>
              <a:rPr lang="en-US" sz="1200" b="1" dirty="0">
                <a:solidFill>
                  <a:schemeClr val="tx1"/>
                </a:solidFill>
              </a:rPr>
              <a:t>금액 오차 0원</a:t>
            </a:r>
            <a:endParaRPr lang="en-US" sz="1200" dirty="0"/>
          </a:p>
        </p:txBody>
      </p:sp>
      <p:sp>
        <p:nvSpPr>
          <p:cNvPr id="28" name="Text 21"/>
          <p:cNvSpPr txBox="1"/>
          <p:nvPr/>
        </p:nvSpPr>
        <p:spPr>
          <a:xfrm>
            <a:off x="658368" y="3200400"/>
            <a:ext cx="2203704" cy="1234440"/>
          </a:xfrm>
          <a:prstGeom prst="rect">
            <a:avLst/>
          </a:prstGeom>
          <a:noFill/>
          <a:ln/>
        </p:spPr>
        <p:txBody>
          <a:bodyPr wrap="square" lIns="0" tIns="0" rIns="0" bIns="0" rtlCol="0" anchor="t"/>
          <a:lstStyle/>
          <a:p>
            <a:pPr indent="0" marL="0">
              <a:spcAft>
                <a:spcPts val="400"/>
              </a:spcAft>
              <a:buNone/>
            </a:pPr>
            <a:r>
              <a:rPr lang="en-US" sz="1200" dirty="0">
                <a:solidFill>
                  <a:schemeClr val="accent6"/>
                </a:solidFill>
              </a:rPr>
              <a:t>소수 오차 없는 십진 계산</a:t>
            </a:r>
            <a:endParaRPr lang="en-US" sz="1200" dirty="0"/>
          </a:p>
          <a:p>
            <a:pPr indent="0" marL="0">
              <a:spcAft>
                <a:spcPts val="400"/>
              </a:spcAft>
              <a:buNone/>
            </a:pPr>
            <a:r>
              <a:rPr lang="en-US" sz="1200" dirty="0">
                <a:solidFill>
                  <a:schemeClr val="accent6"/>
                </a:solidFill>
              </a:rPr>
              <a:t>반올림 방향을 대상별로 명시</a:t>
            </a:r>
            <a:endParaRPr lang="en-US" sz="1200" dirty="0"/>
          </a:p>
          <a:p>
            <a:pPr indent="0" marL="0">
              <a:spcAft>
                <a:spcPts val="400"/>
              </a:spcAft>
              <a:buNone/>
            </a:pPr>
            <a:r>
              <a:rPr lang="en-US" sz="1200" dirty="0">
                <a:solidFill>
                  <a:schemeClr val="accent6"/>
                </a:solidFill>
              </a:rPr>
              <a:t>경계값을 테스트로 고정</a:t>
            </a:r>
            <a:endParaRPr lang="en-US" sz="1200" dirty="0"/>
          </a:p>
        </p:txBody>
      </p:sp>
      <p:sp>
        <p:nvSpPr>
          <p:cNvPr id="29" name="goal-2"/>
          <p:cNvSpPr/>
          <p:nvPr/>
        </p:nvSpPr>
        <p:spPr>
          <a:xfrm>
            <a:off x="3268980" y="2286000"/>
            <a:ext cx="2606040" cy="2286000"/>
          </a:xfrm>
          <a:prstGeom prst="roundRect">
            <a:avLst>
              <a:gd name="adj" fmla="val 3200"/>
            </a:avLst>
          </a:prstGeom>
          <a:solidFill>
            <a:schemeClr val="bg2"/>
          </a:solidFill>
          <a:ln/>
        </p:spPr>
      </p:sp>
      <p:sp>
        <p:nvSpPr>
          <p:cNvPr id="30" name="Shape 23"/>
          <p:cNvSpPr/>
          <p:nvPr/>
        </p:nvSpPr>
        <p:spPr>
          <a:xfrm>
            <a:off x="3470148" y="2468880"/>
            <a:ext cx="502920" cy="502920"/>
          </a:xfrm>
          <a:prstGeom prst="ellipse">
            <a:avLst/>
          </a:prstGeom>
          <a:solidFill>
            <a:schemeClr val="accent1"/>
          </a:solidFill>
          <a:ln/>
        </p:spPr>
      </p:sp>
      <p:pic>
        <p:nvPicPr>
          <p:cNvPr id="31" name="Image 5" descr="preencoded.png">    </p:cNvPr>
          <p:cNvPicPr>
            <a:picLocks noChangeAspect="1"/>
          </p:cNvPicPr>
          <p:nvPr/>
        </p:nvPicPr>
        <p:blipFill>
          <a:blip r:embed="rId6"/>
          <a:stretch>
            <a:fillRect/>
          </a:stretch>
        </p:blipFill>
        <p:spPr>
          <a:xfrm>
            <a:off x="3595878" y="2594610"/>
            <a:ext cx="251460" cy="251460"/>
          </a:xfrm>
          <a:prstGeom prst="rect">
            <a:avLst/>
          </a:prstGeom>
        </p:spPr>
      </p:pic>
      <p:sp>
        <p:nvSpPr>
          <p:cNvPr id="32" name="Text 24"/>
          <p:cNvSpPr txBox="1"/>
          <p:nvPr/>
        </p:nvSpPr>
        <p:spPr>
          <a:xfrm>
            <a:off x="4091940" y="2468880"/>
            <a:ext cx="1600200" cy="274320"/>
          </a:xfrm>
          <a:prstGeom prst="rect">
            <a:avLst/>
          </a:prstGeom>
          <a:noFill/>
          <a:ln/>
        </p:spPr>
        <p:txBody>
          <a:bodyPr wrap="square" lIns="0" tIns="0" rIns="0" bIns="0" rtlCol="0" anchor="t"/>
          <a:lstStyle/>
          <a:p>
            <a:pPr indent="0" marL="0">
              <a:buNone/>
            </a:pPr>
            <a:r>
              <a:rPr lang="en-US" sz="1800" b="1" dirty="0">
                <a:solidFill>
                  <a:schemeClr val="accent1"/>
                </a:solidFill>
              </a:rPr>
              <a:t>공정</a:t>
            </a:r>
            <a:endParaRPr lang="en-US" sz="1800" dirty="0"/>
          </a:p>
        </p:txBody>
      </p:sp>
      <p:sp>
        <p:nvSpPr>
          <p:cNvPr id="33" name="Text 25"/>
          <p:cNvSpPr txBox="1"/>
          <p:nvPr/>
        </p:nvSpPr>
        <p:spPr>
          <a:xfrm>
            <a:off x="4091940" y="2743200"/>
            <a:ext cx="1600200" cy="256032"/>
          </a:xfrm>
          <a:prstGeom prst="rect">
            <a:avLst/>
          </a:prstGeom>
          <a:noFill/>
          <a:ln/>
        </p:spPr>
        <p:txBody>
          <a:bodyPr wrap="square" lIns="0" tIns="0" rIns="0" bIns="0" rtlCol="0" anchor="t"/>
          <a:lstStyle/>
          <a:p>
            <a:pPr indent="0" marL="0">
              <a:buNone/>
            </a:pPr>
            <a:r>
              <a:rPr lang="en-US" sz="1200" b="1" dirty="0">
                <a:solidFill>
                  <a:schemeClr val="tx1"/>
                </a:solidFill>
              </a:rPr>
              <a:t>같은 시세, 같은 순서</a:t>
            </a:r>
            <a:endParaRPr lang="en-US" sz="1200" dirty="0"/>
          </a:p>
        </p:txBody>
      </p:sp>
      <p:sp>
        <p:nvSpPr>
          <p:cNvPr id="34" name="Text 26"/>
          <p:cNvSpPr txBox="1"/>
          <p:nvPr/>
        </p:nvSpPr>
        <p:spPr>
          <a:xfrm>
            <a:off x="3470148" y="3200400"/>
            <a:ext cx="2203704" cy="1234440"/>
          </a:xfrm>
          <a:prstGeom prst="rect">
            <a:avLst/>
          </a:prstGeom>
          <a:noFill/>
          <a:ln/>
        </p:spPr>
        <p:txBody>
          <a:bodyPr wrap="square" lIns="0" tIns="0" rIns="0" bIns="0" rtlCol="0" anchor="t"/>
          <a:lstStyle/>
          <a:p>
            <a:pPr indent="0" marL="0">
              <a:spcAft>
                <a:spcPts val="400"/>
              </a:spcAft>
              <a:buNone/>
            </a:pPr>
            <a:r>
              <a:rPr lang="en-US" sz="1200" dirty="0">
                <a:solidFill>
                  <a:schemeClr val="accent6"/>
                </a:solidFill>
              </a:rPr>
              <a:t>방마다 한 줄 처리로 순서 보장</a:t>
            </a:r>
            <a:endParaRPr lang="en-US" sz="1200" dirty="0"/>
          </a:p>
          <a:p>
            <a:pPr indent="0" marL="0">
              <a:spcAft>
                <a:spcPts val="400"/>
              </a:spcAft>
              <a:buNone/>
            </a:pPr>
            <a:r>
              <a:rPr lang="en-US" sz="1200" dirty="0">
                <a:solidFill>
                  <a:schemeClr val="accent6"/>
                </a:solidFill>
              </a:rPr>
              <a:t>게임 중 외부 호출 없음</a:t>
            </a:r>
            <a:endParaRPr lang="en-US" sz="1200" dirty="0"/>
          </a:p>
          <a:p>
            <a:pPr indent="0" marL="0">
              <a:spcAft>
                <a:spcPts val="400"/>
              </a:spcAft>
              <a:buNone/>
            </a:pPr>
            <a:r>
              <a:rPr lang="en-US" sz="1200" dirty="0">
                <a:solidFill>
                  <a:schemeClr val="accent6"/>
                </a:solidFill>
              </a:rPr>
              <a:t>모두에게 같은 틱을 동시에 전달</a:t>
            </a:r>
            <a:endParaRPr lang="en-US" sz="1200" dirty="0"/>
          </a:p>
        </p:txBody>
      </p:sp>
      <p:sp>
        <p:nvSpPr>
          <p:cNvPr id="35" name="goal-3"/>
          <p:cNvSpPr/>
          <p:nvPr/>
        </p:nvSpPr>
        <p:spPr>
          <a:xfrm>
            <a:off x="6080760" y="2286000"/>
            <a:ext cx="2606040" cy="2286000"/>
          </a:xfrm>
          <a:prstGeom prst="roundRect">
            <a:avLst>
              <a:gd name="adj" fmla="val 3200"/>
            </a:avLst>
          </a:prstGeom>
          <a:solidFill>
            <a:schemeClr val="bg2"/>
          </a:solidFill>
          <a:ln/>
        </p:spPr>
      </p:sp>
      <p:sp>
        <p:nvSpPr>
          <p:cNvPr id="36" name="Shape 28"/>
          <p:cNvSpPr/>
          <p:nvPr/>
        </p:nvSpPr>
        <p:spPr>
          <a:xfrm>
            <a:off x="6281928" y="2468880"/>
            <a:ext cx="502920" cy="502920"/>
          </a:xfrm>
          <a:prstGeom prst="ellipse">
            <a:avLst/>
          </a:prstGeom>
          <a:solidFill>
            <a:schemeClr val="accent1"/>
          </a:solidFill>
          <a:ln/>
        </p:spPr>
      </p:sp>
      <p:pic>
        <p:nvPicPr>
          <p:cNvPr id="37" name="Image 6" descr="preencoded.png">    </p:cNvPr>
          <p:cNvPicPr>
            <a:picLocks noChangeAspect="1"/>
          </p:cNvPicPr>
          <p:nvPr/>
        </p:nvPicPr>
        <p:blipFill>
          <a:blip r:embed="rId7"/>
          <a:stretch>
            <a:fillRect/>
          </a:stretch>
        </p:blipFill>
        <p:spPr>
          <a:xfrm>
            <a:off x="6407658" y="2594610"/>
            <a:ext cx="251460" cy="251460"/>
          </a:xfrm>
          <a:prstGeom prst="rect">
            <a:avLst/>
          </a:prstGeom>
        </p:spPr>
      </p:pic>
      <p:sp>
        <p:nvSpPr>
          <p:cNvPr id="38" name="Text 29"/>
          <p:cNvSpPr txBox="1"/>
          <p:nvPr/>
        </p:nvSpPr>
        <p:spPr>
          <a:xfrm>
            <a:off x="6903720" y="2468880"/>
            <a:ext cx="1600200" cy="274320"/>
          </a:xfrm>
          <a:prstGeom prst="rect">
            <a:avLst/>
          </a:prstGeom>
          <a:noFill/>
          <a:ln/>
        </p:spPr>
        <p:txBody>
          <a:bodyPr wrap="square" lIns="0" tIns="0" rIns="0" bIns="0" rtlCol="0" anchor="t"/>
          <a:lstStyle/>
          <a:p>
            <a:pPr indent="0" marL="0">
              <a:buNone/>
            </a:pPr>
            <a:r>
              <a:rPr lang="en-US" sz="1800" b="1" dirty="0">
                <a:solidFill>
                  <a:schemeClr val="accent1"/>
                </a:solidFill>
              </a:rPr>
              <a:t>고민 유지</a:t>
            </a:r>
            <a:endParaRPr lang="en-US" sz="1800" dirty="0"/>
          </a:p>
        </p:txBody>
      </p:sp>
      <p:sp>
        <p:nvSpPr>
          <p:cNvPr id="39" name="Text 30"/>
          <p:cNvSpPr txBox="1"/>
          <p:nvPr/>
        </p:nvSpPr>
        <p:spPr>
          <a:xfrm>
            <a:off x="6903720" y="2743200"/>
            <a:ext cx="1600200" cy="256032"/>
          </a:xfrm>
          <a:prstGeom prst="rect">
            <a:avLst/>
          </a:prstGeom>
          <a:noFill/>
          <a:ln/>
        </p:spPr>
        <p:txBody>
          <a:bodyPr wrap="square" lIns="0" tIns="0" rIns="0" bIns="0" rtlCol="0" anchor="t"/>
          <a:lstStyle/>
          <a:p>
            <a:pPr indent="0" marL="0">
              <a:buNone/>
            </a:pPr>
            <a:r>
              <a:rPr lang="en-US" sz="1200" b="1" dirty="0">
                <a:solidFill>
                  <a:schemeClr val="tx1"/>
                </a:solidFill>
              </a:rPr>
              <a:t>고민이 남는 규칙</a:t>
            </a:r>
            <a:endParaRPr lang="en-US" sz="1200" dirty="0"/>
          </a:p>
        </p:txBody>
      </p:sp>
      <p:sp>
        <p:nvSpPr>
          <p:cNvPr id="40" name="Text 31"/>
          <p:cNvSpPr txBox="1"/>
          <p:nvPr/>
        </p:nvSpPr>
        <p:spPr>
          <a:xfrm>
            <a:off x="6281928" y="3200400"/>
            <a:ext cx="2203704" cy="1234440"/>
          </a:xfrm>
          <a:prstGeom prst="rect">
            <a:avLst/>
          </a:prstGeom>
          <a:noFill/>
          <a:ln/>
        </p:spPr>
        <p:txBody>
          <a:bodyPr wrap="square" lIns="0" tIns="0" rIns="0" bIns="0" rtlCol="0" anchor="t"/>
          <a:lstStyle/>
          <a:p>
            <a:pPr indent="0" marL="0">
              <a:spcAft>
                <a:spcPts val="400"/>
              </a:spcAft>
              <a:buNone/>
            </a:pPr>
            <a:r>
              <a:rPr lang="en-US" sz="1200" dirty="0">
                <a:solidFill>
                  <a:schemeClr val="accent6"/>
                </a:solidFill>
              </a:rPr>
              <a:t>수수료 면제 구간 없음</a:t>
            </a:r>
            <a:endParaRPr lang="en-US" sz="1200" dirty="0"/>
          </a:p>
          <a:p>
            <a:pPr indent="0" marL="0">
              <a:spcAft>
                <a:spcPts val="400"/>
              </a:spcAft>
              <a:buNone/>
            </a:pPr>
            <a:r>
              <a:rPr lang="en-US" sz="1200" dirty="0">
                <a:solidFill>
                  <a:schemeClr val="accent6"/>
                </a:solidFill>
              </a:rPr>
              <a:t>청산돼도 남은 현금으로 재기</a:t>
            </a:r>
            <a:endParaRPr lang="en-US" sz="1200" dirty="0"/>
          </a:p>
          <a:p>
            <a:pPr indent="0" marL="0">
              <a:spcAft>
                <a:spcPts val="400"/>
              </a:spcAft>
              <a:buNone/>
            </a:pPr>
            <a:r>
              <a:rPr lang="en-US" sz="1200" dirty="0">
                <a:solidFill>
                  <a:schemeClr val="accent6"/>
                </a:solidFill>
              </a:rPr>
              <a:t>남의 포지션과 배율 공개</a:t>
            </a:r>
            <a:endParaRPr lang="en-US" sz="1200" dirty="0"/>
          </a:p>
        </p:txBody>
      </p:sp>
      <p:sp>
        <p:nvSpPr>
          <p:cNvPr id="25" name="Slide Number Placeholder 0"/>
          <p:cNvSpPr>
            <a:spLocks noGrp="1"/>
          </p:cNvSpPr>
          <p:nvPr>
            <p:ph type="sldNum" sz="quarter" idx="4294967295"/>
          </p:nvPr>
        </p:nvSpPr>
        <p:spPr>
          <a:xfrm>
            <a:off x="8138160" y="48006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38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566928"/>
          </a:xfrm>
          <a:prstGeom prst="rect">
            <a:avLst/>
          </a:prstGeom>
          <a:noFill/>
          <a:ln/>
        </p:spPr>
        <p:txBody>
          <a:bodyPr wrap="square" lIns="0" tIns="0" rIns="0" bIns="0" rtlCol="0" anchor="ctr"/>
          <a:lstStyle/>
          <a:p>
            <a:pPr algn="l" indent="0" marL="0">
              <a:buNone/>
            </a:pPr>
            <a:r>
              <a:rPr lang="en-US" sz="3000" b="1" dirty="0">
                <a:solidFill>
                  <a:schemeClr val="tx1"/>
                </a:solidFill>
              </a:rPr>
              <a:t>주문 계산: 정수 수량과 증거금 역산</a:t>
            </a:r>
            <a:endParaRPr lang="en-US" sz="3000" dirty="0"/>
          </a:p>
        </p:txBody>
      </p:sp>
      <p:sp>
        <p:nvSpPr>
          <p:cNvPr id="3" name="Text 0"/>
          <p:cNvSpPr/>
          <p:nvPr>
            <p:ph idx="101" type="body" hasCustomPrompt="1"/>
          </p:nvPr>
        </p:nvSpPr>
        <p:spPr>
          <a:xfrm>
            <a:off x="457200" y="859536"/>
            <a:ext cx="8229600" cy="329184"/>
          </a:xfrm>
          <a:prstGeom prst="rect">
            <a:avLst/>
          </a:prstGeom>
          <a:noFill/>
          <a:ln/>
        </p:spPr>
        <p:txBody>
          <a:bodyPr wrap="square" lIns="0" tIns="0" rIns="0" bIns="0" rtlCol="0" anchor="t"/>
          <a:lstStyle/>
          <a:p>
            <a:pPr algn="l" indent="0" marL="0">
              <a:buNone/>
            </a:pPr>
            <a:r>
              <a:rPr lang="en-US" sz="1400" dirty="0">
                <a:solidFill>
                  <a:schemeClr val="accent6"/>
                </a:solidFill>
              </a:rPr>
              <a:t>입력한 증거금은 상한, 실제 차감액은 체결 수량에서 역산</a:t>
            </a:r>
            <a:endParaRPr lang="en-US" sz="1400" dirty="0"/>
          </a:p>
        </p:txBody>
      </p:sp>
      <p:sp>
        <p:nvSpPr>
          <p:cNvPr id="4" name="input"/>
          <p:cNvSpPr/>
          <p:nvPr/>
        </p:nvSpPr>
        <p:spPr>
          <a:xfrm>
            <a:off x="457200" y="1371600"/>
            <a:ext cx="4846320" cy="566928"/>
          </a:xfrm>
          <a:prstGeom prst="roundRect">
            <a:avLst>
              <a:gd name="adj" fmla="val 12903"/>
            </a:avLst>
          </a:prstGeom>
          <a:solidFill>
            <a:schemeClr val="bg2"/>
          </a:solidFill>
          <a:ln/>
        </p:spPr>
      </p:sp>
      <p:sp>
        <p:nvSpPr>
          <p:cNvPr id="5" name="Text 3"/>
          <p:cNvSpPr txBox="1"/>
          <p:nvPr/>
        </p:nvSpPr>
        <p:spPr>
          <a:xfrm>
            <a:off x="640080" y="1371600"/>
            <a:ext cx="4572000" cy="566928"/>
          </a:xfrm>
          <a:prstGeom prst="rect">
            <a:avLst/>
          </a:prstGeom>
          <a:noFill/>
          <a:ln/>
        </p:spPr>
        <p:txBody>
          <a:bodyPr wrap="square" lIns="0" tIns="0" rIns="0" bIns="0" rtlCol="0" anchor="ctr"/>
          <a:lstStyle/>
          <a:p>
            <a:pPr indent="0" marL="0">
              <a:buNone/>
            </a:pPr>
            <a:r>
              <a:rPr lang="en-US" sz="1200" b="1" dirty="0">
                <a:solidFill>
                  <a:schemeClr val="accent1"/>
                </a:solidFill>
              </a:rPr>
              <a:t>입력  </a:t>
            </a:r>
            <a:pPr indent="0" marL="0">
              <a:buNone/>
            </a:pPr>
            <a:r>
              <a:rPr lang="en-US" sz="1200" dirty="0">
                <a:solidFill>
                  <a:schemeClr val="tx1"/>
                </a:solidFill>
              </a:rPr>
              <a:t>증거금 상한 1,000만 원, 배율 ×3, 진입가 79,700원, 시드 1억 원</a:t>
            </a:r>
            <a:endParaRPr lang="en-US" sz="1200" dirty="0"/>
          </a:p>
        </p:txBody>
      </p:sp>
      <p:sp>
        <p:nvSpPr>
          <p:cNvPr id="6" name="Shape 4"/>
          <p:cNvSpPr/>
          <p:nvPr/>
        </p:nvSpPr>
        <p:spPr>
          <a:xfrm>
            <a:off x="457200" y="2176272"/>
            <a:ext cx="365760" cy="365760"/>
          </a:xfrm>
          <a:prstGeom prst="ellipse">
            <a:avLst/>
          </a:prstGeom>
          <a:solidFill>
            <a:schemeClr val="accent1"/>
          </a:solidFill>
          <a:ln/>
        </p:spPr>
      </p:sp>
      <p:sp>
        <p:nvSpPr>
          <p:cNvPr id="7" name="Text 5"/>
          <p:cNvSpPr txBox="1"/>
          <p:nvPr/>
        </p:nvSpPr>
        <p:spPr>
          <a:xfrm>
            <a:off x="457200" y="2176272"/>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Text 6"/>
          <p:cNvSpPr txBox="1"/>
          <p:nvPr/>
        </p:nvSpPr>
        <p:spPr>
          <a:xfrm>
            <a:off x="960120" y="2103120"/>
            <a:ext cx="1188720" cy="512064"/>
          </a:xfrm>
          <a:prstGeom prst="rect">
            <a:avLst/>
          </a:prstGeom>
          <a:noFill/>
          <a:ln/>
        </p:spPr>
        <p:txBody>
          <a:bodyPr wrap="square" lIns="0" tIns="0" rIns="0" bIns="0" rtlCol="0" anchor="ctr"/>
          <a:lstStyle/>
          <a:p>
            <a:pPr indent="0" marL="0">
              <a:buNone/>
            </a:pPr>
            <a:r>
              <a:rPr lang="en-US" sz="1300" b="1" dirty="0">
                <a:solidFill>
                  <a:schemeClr val="tx1"/>
                </a:solidFill>
              </a:rPr>
              <a:t>수량</a:t>
            </a:r>
            <a:endParaRPr lang="en-US" sz="1300" dirty="0"/>
          </a:p>
        </p:txBody>
      </p:sp>
      <p:sp>
        <p:nvSpPr>
          <p:cNvPr id="9" name="Text 7"/>
          <p:cNvSpPr txBox="1"/>
          <p:nvPr/>
        </p:nvSpPr>
        <p:spPr>
          <a:xfrm>
            <a:off x="2148840" y="2103120"/>
            <a:ext cx="1920240" cy="512064"/>
          </a:xfrm>
          <a:prstGeom prst="rect">
            <a:avLst/>
          </a:prstGeom>
          <a:noFill/>
          <a:ln/>
        </p:spPr>
        <p:txBody>
          <a:bodyPr wrap="square" lIns="0" tIns="0" rIns="0" bIns="0" rtlCol="0" anchor="ctr"/>
          <a:lstStyle/>
          <a:p>
            <a:pPr indent="0" marL="0">
              <a:buNone/>
            </a:pPr>
            <a:r>
              <a:rPr lang="en-US" sz="1100" dirty="0">
                <a:solidFill>
                  <a:schemeClr val="accent6"/>
                </a:solidFill>
              </a:rPr>
              <a:t>내림(1,000만 × 3 ÷ 79,700)</a:t>
            </a:r>
            <a:endParaRPr lang="en-US" sz="1100" dirty="0"/>
          </a:p>
        </p:txBody>
      </p:sp>
      <p:sp>
        <p:nvSpPr>
          <p:cNvPr id="10" name="Text 8"/>
          <p:cNvSpPr txBox="1"/>
          <p:nvPr/>
        </p:nvSpPr>
        <p:spPr>
          <a:xfrm>
            <a:off x="3977640" y="2103120"/>
            <a:ext cx="1325880" cy="512064"/>
          </a:xfrm>
          <a:prstGeom prst="rect">
            <a:avLst/>
          </a:prstGeom>
          <a:noFill/>
          <a:ln/>
        </p:spPr>
        <p:txBody>
          <a:bodyPr wrap="square" lIns="0" tIns="0" rIns="0" bIns="0" rtlCol="0" anchor="ctr"/>
          <a:lstStyle/>
          <a:p>
            <a:pPr algn="r" indent="0" marL="0">
              <a:buNone/>
            </a:pPr>
            <a:r>
              <a:rPr lang="en-US" sz="1300" b="1" dirty="0">
                <a:solidFill>
                  <a:schemeClr val="accent1"/>
                </a:solidFill>
              </a:rPr>
              <a:t>376주</a:t>
            </a:r>
            <a:endParaRPr lang="en-US" sz="1300" dirty="0"/>
          </a:p>
        </p:txBody>
      </p:sp>
      <p:sp>
        <p:nvSpPr>
          <p:cNvPr id="11" name="Shape 9"/>
          <p:cNvSpPr/>
          <p:nvPr/>
        </p:nvSpPr>
        <p:spPr>
          <a:xfrm>
            <a:off x="960120" y="2670048"/>
            <a:ext cx="4343400" cy="0"/>
          </a:xfrm>
          <a:prstGeom prst="line">
            <a:avLst/>
          </a:prstGeom>
          <a:noFill/>
          <a:ln w="9525">
            <a:solidFill>
              <a:schemeClr val="bg2"/>
            </a:solidFill>
            <a:prstDash val="solid"/>
          </a:ln>
        </p:spPr>
      </p:sp>
      <p:sp>
        <p:nvSpPr>
          <p:cNvPr id="12" name="Shape 10"/>
          <p:cNvSpPr/>
          <p:nvPr/>
        </p:nvSpPr>
        <p:spPr>
          <a:xfrm>
            <a:off x="457200" y="2798064"/>
            <a:ext cx="365760" cy="365760"/>
          </a:xfrm>
          <a:prstGeom prst="ellipse">
            <a:avLst/>
          </a:prstGeom>
          <a:solidFill>
            <a:schemeClr val="accent1"/>
          </a:solidFill>
          <a:ln/>
        </p:spPr>
      </p:sp>
      <p:sp>
        <p:nvSpPr>
          <p:cNvPr id="13" name="Text 11"/>
          <p:cNvSpPr txBox="1"/>
          <p:nvPr/>
        </p:nvSpPr>
        <p:spPr>
          <a:xfrm>
            <a:off x="457200" y="2798064"/>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4" name="Text 12"/>
          <p:cNvSpPr txBox="1"/>
          <p:nvPr/>
        </p:nvSpPr>
        <p:spPr>
          <a:xfrm>
            <a:off x="960120" y="2724912"/>
            <a:ext cx="1188720" cy="512064"/>
          </a:xfrm>
          <a:prstGeom prst="rect">
            <a:avLst/>
          </a:prstGeom>
          <a:noFill/>
          <a:ln/>
        </p:spPr>
        <p:txBody>
          <a:bodyPr wrap="square" lIns="0" tIns="0" rIns="0" bIns="0" rtlCol="0" anchor="ctr"/>
          <a:lstStyle/>
          <a:p>
            <a:pPr indent="0" marL="0">
              <a:buNone/>
            </a:pPr>
            <a:r>
              <a:rPr lang="en-US" sz="1300" b="1" dirty="0">
                <a:solidFill>
                  <a:schemeClr val="tx1"/>
                </a:solidFill>
              </a:rPr>
              <a:t>실제 증거금</a:t>
            </a:r>
            <a:endParaRPr lang="en-US" sz="1300" dirty="0"/>
          </a:p>
        </p:txBody>
      </p:sp>
      <p:sp>
        <p:nvSpPr>
          <p:cNvPr id="15" name="Text 13"/>
          <p:cNvSpPr txBox="1"/>
          <p:nvPr/>
        </p:nvSpPr>
        <p:spPr>
          <a:xfrm>
            <a:off x="2148840" y="2724912"/>
            <a:ext cx="1920240" cy="512064"/>
          </a:xfrm>
          <a:prstGeom prst="rect">
            <a:avLst/>
          </a:prstGeom>
          <a:noFill/>
          <a:ln/>
        </p:spPr>
        <p:txBody>
          <a:bodyPr wrap="square" lIns="0" tIns="0" rIns="0" bIns="0" rtlCol="0" anchor="ctr"/>
          <a:lstStyle/>
          <a:p>
            <a:pPr indent="0" marL="0">
              <a:buNone/>
            </a:pPr>
            <a:r>
              <a:rPr lang="en-US" sz="1100" dirty="0">
                <a:solidFill>
                  <a:schemeClr val="accent6"/>
                </a:solidFill>
              </a:rPr>
              <a:t>376 × 79,700 ÷ 3</a:t>
            </a:r>
            <a:endParaRPr lang="en-US" sz="1100" dirty="0"/>
          </a:p>
        </p:txBody>
      </p:sp>
      <p:sp>
        <p:nvSpPr>
          <p:cNvPr id="16" name="Text 14"/>
          <p:cNvSpPr txBox="1"/>
          <p:nvPr/>
        </p:nvSpPr>
        <p:spPr>
          <a:xfrm>
            <a:off x="3977640" y="2724912"/>
            <a:ext cx="1325880" cy="512064"/>
          </a:xfrm>
          <a:prstGeom prst="rect">
            <a:avLst/>
          </a:prstGeom>
          <a:noFill/>
          <a:ln/>
        </p:spPr>
        <p:txBody>
          <a:bodyPr wrap="square" lIns="0" tIns="0" rIns="0" bIns="0" rtlCol="0" anchor="ctr"/>
          <a:lstStyle/>
          <a:p>
            <a:pPr algn="r" indent="0" marL="0">
              <a:buNone/>
            </a:pPr>
            <a:r>
              <a:rPr lang="en-US" sz="1300" b="1" dirty="0">
                <a:solidFill>
                  <a:schemeClr val="accent1"/>
                </a:solidFill>
              </a:rPr>
              <a:t>9,989,066.67원</a:t>
            </a:r>
            <a:endParaRPr lang="en-US" sz="1300" dirty="0"/>
          </a:p>
        </p:txBody>
      </p:sp>
      <p:sp>
        <p:nvSpPr>
          <p:cNvPr id="17" name="Shape 15"/>
          <p:cNvSpPr/>
          <p:nvPr/>
        </p:nvSpPr>
        <p:spPr>
          <a:xfrm>
            <a:off x="960120" y="3291840"/>
            <a:ext cx="4343400" cy="0"/>
          </a:xfrm>
          <a:prstGeom prst="line">
            <a:avLst/>
          </a:prstGeom>
          <a:noFill/>
          <a:ln w="9525">
            <a:solidFill>
              <a:schemeClr val="bg2"/>
            </a:solidFill>
            <a:prstDash val="solid"/>
          </a:ln>
        </p:spPr>
      </p:sp>
      <p:sp>
        <p:nvSpPr>
          <p:cNvPr id="18" name="Shape 16"/>
          <p:cNvSpPr/>
          <p:nvPr/>
        </p:nvSpPr>
        <p:spPr>
          <a:xfrm>
            <a:off x="457200" y="3419856"/>
            <a:ext cx="365760" cy="365760"/>
          </a:xfrm>
          <a:prstGeom prst="ellipse">
            <a:avLst/>
          </a:prstGeom>
          <a:solidFill>
            <a:schemeClr val="accent1"/>
          </a:solidFill>
          <a:ln/>
        </p:spPr>
      </p:sp>
      <p:sp>
        <p:nvSpPr>
          <p:cNvPr id="19" name="Text 17"/>
          <p:cNvSpPr txBox="1"/>
          <p:nvPr/>
        </p:nvSpPr>
        <p:spPr>
          <a:xfrm>
            <a:off x="457200" y="3419856"/>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0" name="Text 18"/>
          <p:cNvSpPr txBox="1"/>
          <p:nvPr/>
        </p:nvSpPr>
        <p:spPr>
          <a:xfrm>
            <a:off x="960120" y="3346704"/>
            <a:ext cx="1188720" cy="512064"/>
          </a:xfrm>
          <a:prstGeom prst="rect">
            <a:avLst/>
          </a:prstGeom>
          <a:noFill/>
          <a:ln/>
        </p:spPr>
        <p:txBody>
          <a:bodyPr wrap="square" lIns="0" tIns="0" rIns="0" bIns="0" rtlCol="0" anchor="ctr"/>
          <a:lstStyle/>
          <a:p>
            <a:pPr indent="0" marL="0">
              <a:buNone/>
            </a:pPr>
            <a:r>
              <a:rPr lang="en-US" sz="1300" b="1" dirty="0">
                <a:solidFill>
                  <a:schemeClr val="tx1"/>
                </a:solidFill>
              </a:rPr>
              <a:t>수수료</a:t>
            </a:r>
            <a:endParaRPr lang="en-US" sz="1300" dirty="0"/>
          </a:p>
        </p:txBody>
      </p:sp>
      <p:sp>
        <p:nvSpPr>
          <p:cNvPr id="21" name="Text 19"/>
          <p:cNvSpPr txBox="1"/>
          <p:nvPr/>
        </p:nvSpPr>
        <p:spPr>
          <a:xfrm>
            <a:off x="2148840" y="3346704"/>
            <a:ext cx="1920240" cy="512064"/>
          </a:xfrm>
          <a:prstGeom prst="rect">
            <a:avLst/>
          </a:prstGeom>
          <a:noFill/>
          <a:ln/>
        </p:spPr>
        <p:txBody>
          <a:bodyPr wrap="square" lIns="0" tIns="0" rIns="0" bIns="0" rtlCol="0" anchor="ctr"/>
          <a:lstStyle/>
          <a:p>
            <a:pPr indent="0" marL="0">
              <a:buNone/>
            </a:pPr>
            <a:r>
              <a:rPr lang="en-US" sz="1100" dirty="0">
                <a:solidFill>
                  <a:schemeClr val="accent6"/>
                </a:solidFill>
              </a:rPr>
              <a:t>376 × 79,700 × 0.15%</a:t>
            </a:r>
            <a:endParaRPr lang="en-US" sz="1100" dirty="0"/>
          </a:p>
        </p:txBody>
      </p:sp>
      <p:sp>
        <p:nvSpPr>
          <p:cNvPr id="22" name="Text 20"/>
          <p:cNvSpPr txBox="1"/>
          <p:nvPr/>
        </p:nvSpPr>
        <p:spPr>
          <a:xfrm>
            <a:off x="3977640" y="3346704"/>
            <a:ext cx="1325880" cy="512064"/>
          </a:xfrm>
          <a:prstGeom prst="rect">
            <a:avLst/>
          </a:prstGeom>
          <a:noFill/>
          <a:ln/>
        </p:spPr>
        <p:txBody>
          <a:bodyPr wrap="square" lIns="0" tIns="0" rIns="0" bIns="0" rtlCol="0" anchor="ctr"/>
          <a:lstStyle/>
          <a:p>
            <a:pPr algn="r" indent="0" marL="0">
              <a:buNone/>
            </a:pPr>
            <a:r>
              <a:rPr lang="en-US" sz="1300" b="1" dirty="0">
                <a:solidFill>
                  <a:schemeClr val="accent1"/>
                </a:solidFill>
              </a:rPr>
              <a:t>44,950.80원</a:t>
            </a:r>
            <a:endParaRPr lang="en-US" sz="1300" dirty="0"/>
          </a:p>
        </p:txBody>
      </p:sp>
      <p:sp>
        <p:nvSpPr>
          <p:cNvPr id="23" name="Shape 21"/>
          <p:cNvSpPr/>
          <p:nvPr/>
        </p:nvSpPr>
        <p:spPr>
          <a:xfrm>
            <a:off x="960120" y="3913632"/>
            <a:ext cx="4343400" cy="0"/>
          </a:xfrm>
          <a:prstGeom prst="line">
            <a:avLst/>
          </a:prstGeom>
          <a:noFill/>
          <a:ln w="9525">
            <a:solidFill>
              <a:schemeClr val="bg2"/>
            </a:solidFill>
            <a:prstDash val="solid"/>
          </a:ln>
        </p:spPr>
      </p:sp>
      <p:sp>
        <p:nvSpPr>
          <p:cNvPr id="24" name="Shape 22"/>
          <p:cNvSpPr/>
          <p:nvPr/>
        </p:nvSpPr>
        <p:spPr>
          <a:xfrm>
            <a:off x="457200" y="4041648"/>
            <a:ext cx="365760" cy="365760"/>
          </a:xfrm>
          <a:prstGeom prst="ellipse">
            <a:avLst/>
          </a:prstGeom>
          <a:solidFill>
            <a:schemeClr val="accent1"/>
          </a:solidFill>
          <a:ln/>
        </p:spPr>
      </p:sp>
      <p:sp>
        <p:nvSpPr>
          <p:cNvPr id="25" name="Text 23"/>
          <p:cNvSpPr txBox="1"/>
          <p:nvPr/>
        </p:nvSpPr>
        <p:spPr>
          <a:xfrm>
            <a:off x="457200" y="404164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6" name="Text 24"/>
          <p:cNvSpPr txBox="1"/>
          <p:nvPr/>
        </p:nvSpPr>
        <p:spPr>
          <a:xfrm>
            <a:off x="960120" y="3968496"/>
            <a:ext cx="1188720" cy="512064"/>
          </a:xfrm>
          <a:prstGeom prst="rect">
            <a:avLst/>
          </a:prstGeom>
          <a:noFill/>
          <a:ln/>
        </p:spPr>
        <p:txBody>
          <a:bodyPr wrap="square" lIns="0" tIns="0" rIns="0" bIns="0" rtlCol="0" anchor="ctr"/>
          <a:lstStyle/>
          <a:p>
            <a:pPr indent="0" marL="0">
              <a:buNone/>
            </a:pPr>
            <a:r>
              <a:rPr lang="en-US" sz="1300" b="1" dirty="0">
                <a:solidFill>
                  <a:schemeClr val="tx1"/>
                </a:solidFill>
              </a:rPr>
              <a:t>남은 현금</a:t>
            </a:r>
            <a:endParaRPr lang="en-US" sz="1300" dirty="0"/>
          </a:p>
        </p:txBody>
      </p:sp>
      <p:sp>
        <p:nvSpPr>
          <p:cNvPr id="27" name="Text 25"/>
          <p:cNvSpPr txBox="1"/>
          <p:nvPr/>
        </p:nvSpPr>
        <p:spPr>
          <a:xfrm>
            <a:off x="2148840" y="3968496"/>
            <a:ext cx="1920240" cy="512064"/>
          </a:xfrm>
          <a:prstGeom prst="rect">
            <a:avLst/>
          </a:prstGeom>
          <a:noFill/>
          <a:ln/>
        </p:spPr>
        <p:txBody>
          <a:bodyPr wrap="square" lIns="0" tIns="0" rIns="0" bIns="0" rtlCol="0" anchor="ctr"/>
          <a:lstStyle/>
          <a:p>
            <a:pPr indent="0" marL="0">
              <a:buNone/>
            </a:pPr>
            <a:r>
              <a:rPr lang="en-US" sz="1100" dirty="0">
                <a:solidFill>
                  <a:schemeClr val="accent6"/>
                </a:solidFill>
              </a:rPr>
              <a:t>1억 − 실제 증거금 − 수수료</a:t>
            </a:r>
            <a:endParaRPr lang="en-US" sz="1100" dirty="0"/>
          </a:p>
        </p:txBody>
      </p:sp>
      <p:sp>
        <p:nvSpPr>
          <p:cNvPr id="28" name="Text 26"/>
          <p:cNvSpPr txBox="1"/>
          <p:nvPr/>
        </p:nvSpPr>
        <p:spPr>
          <a:xfrm>
            <a:off x="3977640" y="3968496"/>
            <a:ext cx="1325880" cy="512064"/>
          </a:xfrm>
          <a:prstGeom prst="rect">
            <a:avLst/>
          </a:prstGeom>
          <a:noFill/>
          <a:ln/>
        </p:spPr>
        <p:txBody>
          <a:bodyPr wrap="square" lIns="0" tIns="0" rIns="0" bIns="0" rtlCol="0" anchor="ctr"/>
          <a:lstStyle/>
          <a:p>
            <a:pPr algn="r" indent="0" marL="0">
              <a:buNone/>
            </a:pPr>
            <a:r>
              <a:rPr lang="en-US" sz="1300" b="1" dirty="0">
                <a:solidFill>
                  <a:schemeClr val="accent1"/>
                </a:solidFill>
              </a:rPr>
              <a:t>89,965,982.53원</a:t>
            </a:r>
            <a:endParaRPr lang="en-US" sz="1300" dirty="0"/>
          </a:p>
        </p:txBody>
      </p:sp>
      <p:sp>
        <p:nvSpPr>
          <p:cNvPr id="29" name="Text 27"/>
          <p:cNvSpPr txBox="1"/>
          <p:nvPr/>
        </p:nvSpPr>
        <p:spPr>
          <a:xfrm>
            <a:off x="5577840" y="1371600"/>
            <a:ext cx="3108960" cy="274320"/>
          </a:xfrm>
          <a:prstGeom prst="rect">
            <a:avLst/>
          </a:prstGeom>
          <a:noFill/>
          <a:ln/>
        </p:spPr>
        <p:txBody>
          <a:bodyPr wrap="square" lIns="0" tIns="0" rIns="0" bIns="0" rtlCol="0" anchor="t"/>
          <a:lstStyle/>
          <a:p>
            <a:pPr indent="0" marL="0">
              <a:buNone/>
            </a:pPr>
            <a:r>
              <a:rPr lang="en-US" sz="1400" b="1" dirty="0">
                <a:solidFill>
                  <a:schemeClr val="tx1"/>
                </a:solidFill>
              </a:rPr>
              <a:t>역산하는 이유</a:t>
            </a:r>
            <a:endParaRPr lang="en-US" sz="1400" dirty="0"/>
          </a:p>
        </p:txBody>
      </p:sp>
      <p:sp>
        <p:nvSpPr>
          <p:cNvPr id="30" name="why-1"/>
          <p:cNvSpPr/>
          <p:nvPr/>
        </p:nvSpPr>
        <p:spPr>
          <a:xfrm>
            <a:off x="5577840" y="1783080"/>
            <a:ext cx="3108960" cy="804672"/>
          </a:xfrm>
          <a:prstGeom prst="roundRect">
            <a:avLst>
              <a:gd name="adj" fmla="val 9091"/>
            </a:avLst>
          </a:prstGeom>
          <a:solidFill>
            <a:schemeClr val="bg2"/>
          </a:solidFill>
          <a:ln/>
        </p:spPr>
      </p:sp>
      <p:sp>
        <p:nvSpPr>
          <p:cNvPr id="31" name="Text 29"/>
          <p:cNvSpPr txBox="1"/>
          <p:nvPr/>
        </p:nvSpPr>
        <p:spPr>
          <a:xfrm>
            <a:off x="5760720" y="1874520"/>
            <a:ext cx="2743200" cy="274320"/>
          </a:xfrm>
          <a:prstGeom prst="rect">
            <a:avLst/>
          </a:prstGeom>
          <a:noFill/>
          <a:ln/>
        </p:spPr>
        <p:txBody>
          <a:bodyPr wrap="square" lIns="0" tIns="0" rIns="0" bIns="0" rtlCol="0" anchor="t"/>
          <a:lstStyle/>
          <a:p>
            <a:pPr indent="0" marL="0">
              <a:buNone/>
            </a:pPr>
            <a:r>
              <a:rPr lang="en-US" sz="1300" b="1" dirty="0">
                <a:solidFill>
                  <a:schemeClr val="tx1"/>
                </a:solidFill>
              </a:rPr>
              <a:t>증거금 × 배율 = 포지션 금액</a:t>
            </a:r>
            <a:endParaRPr lang="en-US" sz="1300" dirty="0"/>
          </a:p>
        </p:txBody>
      </p:sp>
      <p:sp>
        <p:nvSpPr>
          <p:cNvPr id="32" name="Text 30"/>
          <p:cNvSpPr txBox="1"/>
          <p:nvPr/>
        </p:nvSpPr>
        <p:spPr>
          <a:xfrm>
            <a:off x="5760720" y="2167128"/>
            <a:ext cx="2743200" cy="384048"/>
          </a:xfrm>
          <a:prstGeom prst="rect">
            <a:avLst/>
          </a:prstGeom>
          <a:noFill/>
          <a:ln/>
        </p:spPr>
        <p:txBody>
          <a:bodyPr wrap="square" lIns="0" tIns="0" rIns="0" bIns="0" rtlCol="0" anchor="t"/>
          <a:lstStyle/>
          <a:p>
            <a:pPr indent="0" marL="0">
              <a:buNone/>
            </a:pPr>
            <a:r>
              <a:rPr lang="en-US" sz="1100" dirty="0">
                <a:solidFill>
                  <a:schemeClr val="accent6"/>
                </a:solidFill>
              </a:rPr>
              <a:t>두 값이 정확히 일치, 청산가 계산 오차 없음</a:t>
            </a:r>
            <a:endParaRPr lang="en-US" sz="1100" dirty="0"/>
          </a:p>
        </p:txBody>
      </p:sp>
      <p:sp>
        <p:nvSpPr>
          <p:cNvPr id="33" name="why-2"/>
          <p:cNvSpPr/>
          <p:nvPr/>
        </p:nvSpPr>
        <p:spPr>
          <a:xfrm>
            <a:off x="5577840" y="2697480"/>
            <a:ext cx="3108960" cy="804672"/>
          </a:xfrm>
          <a:prstGeom prst="roundRect">
            <a:avLst>
              <a:gd name="adj" fmla="val 9091"/>
            </a:avLst>
          </a:prstGeom>
          <a:solidFill>
            <a:schemeClr val="bg2"/>
          </a:solidFill>
          <a:ln/>
        </p:spPr>
      </p:sp>
      <p:sp>
        <p:nvSpPr>
          <p:cNvPr id="34" name="Text 32"/>
          <p:cNvSpPr txBox="1"/>
          <p:nvPr/>
        </p:nvSpPr>
        <p:spPr>
          <a:xfrm>
            <a:off x="5760720" y="2788920"/>
            <a:ext cx="2743200" cy="274320"/>
          </a:xfrm>
          <a:prstGeom prst="rect">
            <a:avLst/>
          </a:prstGeom>
          <a:noFill/>
          <a:ln/>
        </p:spPr>
        <p:txBody>
          <a:bodyPr wrap="square" lIns="0" tIns="0" rIns="0" bIns="0" rtlCol="0" anchor="t"/>
          <a:lstStyle/>
          <a:p>
            <a:pPr indent="0" marL="0">
              <a:buNone/>
            </a:pPr>
            <a:r>
              <a:rPr lang="en-US" sz="1300" b="1" dirty="0">
                <a:solidFill>
                  <a:schemeClr val="tx1"/>
                </a:solidFill>
              </a:rPr>
              <a:t>잔돈 반환 방식은 기각</a:t>
            </a:r>
            <a:endParaRPr lang="en-US" sz="1300" dirty="0"/>
          </a:p>
        </p:txBody>
      </p:sp>
      <p:sp>
        <p:nvSpPr>
          <p:cNvPr id="35" name="Text 33"/>
          <p:cNvSpPr txBox="1"/>
          <p:nvPr/>
        </p:nvSpPr>
        <p:spPr>
          <a:xfrm>
            <a:off x="5760720" y="3081528"/>
            <a:ext cx="2743200" cy="384048"/>
          </a:xfrm>
          <a:prstGeom prst="rect">
            <a:avLst/>
          </a:prstGeom>
          <a:noFill/>
          <a:ln/>
        </p:spPr>
        <p:txBody>
          <a:bodyPr wrap="square" lIns="0" tIns="0" rIns="0" bIns="0" rtlCol="0" anchor="t"/>
          <a:lstStyle/>
          <a:p>
            <a:pPr indent="0" marL="0">
              <a:buNone/>
            </a:pPr>
            <a:r>
              <a:rPr lang="en-US" sz="1100" dirty="0">
                <a:solidFill>
                  <a:schemeClr val="accent6"/>
                </a:solidFill>
              </a:rPr>
              <a:t>증거금과 포지션 크기가 어긋난 채 남음</a:t>
            </a:r>
            <a:endParaRPr lang="en-US" sz="1100" dirty="0"/>
          </a:p>
          <a:p>
            <a:pPr indent="0" marL="0">
              <a:buNone/>
            </a:pPr>
            <a:r>
              <a:rPr lang="en-US" sz="1100" dirty="0">
                <a:solidFill>
                  <a:schemeClr val="accent6"/>
                </a:solidFill>
              </a:rPr>
              <a:t>청산 계산이 틀어짐</a:t>
            </a:r>
            <a:endParaRPr lang="en-US" sz="1100" dirty="0"/>
          </a:p>
        </p:txBody>
      </p:sp>
      <p:sp>
        <p:nvSpPr>
          <p:cNvPr id="36" name="why-3"/>
          <p:cNvSpPr/>
          <p:nvPr/>
        </p:nvSpPr>
        <p:spPr>
          <a:xfrm>
            <a:off x="5577840" y="3611880"/>
            <a:ext cx="3108960" cy="804672"/>
          </a:xfrm>
          <a:prstGeom prst="roundRect">
            <a:avLst>
              <a:gd name="adj" fmla="val 9091"/>
            </a:avLst>
          </a:prstGeom>
          <a:solidFill>
            <a:schemeClr val="bg2"/>
          </a:solidFill>
          <a:ln/>
        </p:spPr>
      </p:sp>
      <p:sp>
        <p:nvSpPr>
          <p:cNvPr id="37" name="Text 35"/>
          <p:cNvSpPr txBox="1"/>
          <p:nvPr/>
        </p:nvSpPr>
        <p:spPr>
          <a:xfrm>
            <a:off x="5760720" y="3703320"/>
            <a:ext cx="2743200" cy="274320"/>
          </a:xfrm>
          <a:prstGeom prst="rect">
            <a:avLst/>
          </a:prstGeom>
          <a:noFill/>
          <a:ln/>
        </p:spPr>
        <p:txBody>
          <a:bodyPr wrap="square" lIns="0" tIns="0" rIns="0" bIns="0" rtlCol="0" anchor="t"/>
          <a:lstStyle/>
          <a:p>
            <a:pPr indent="0" marL="0">
              <a:buNone/>
            </a:pPr>
            <a:r>
              <a:rPr lang="en-US" sz="1300" b="1" dirty="0">
                <a:solidFill>
                  <a:schemeClr val="tx1"/>
                </a:solidFill>
              </a:rPr>
              <a:t>수량이 0이면 주문 거부</a:t>
            </a:r>
            <a:endParaRPr lang="en-US" sz="1300" dirty="0"/>
          </a:p>
        </p:txBody>
      </p:sp>
      <p:sp>
        <p:nvSpPr>
          <p:cNvPr id="38" name="Text 36"/>
          <p:cNvSpPr txBox="1"/>
          <p:nvPr/>
        </p:nvSpPr>
        <p:spPr>
          <a:xfrm>
            <a:off x="5760720" y="3995928"/>
            <a:ext cx="2743200" cy="384048"/>
          </a:xfrm>
          <a:prstGeom prst="rect">
            <a:avLst/>
          </a:prstGeom>
          <a:noFill/>
          <a:ln/>
        </p:spPr>
        <p:txBody>
          <a:bodyPr wrap="square" lIns="0" tIns="0" rIns="0" bIns="0" rtlCol="0" anchor="t"/>
          <a:lstStyle/>
          <a:p>
            <a:pPr indent="0" marL="0">
              <a:buNone/>
            </a:pPr>
            <a:r>
              <a:rPr lang="en-US" sz="1100" dirty="0">
                <a:solidFill>
                  <a:schemeClr val="accent6"/>
                </a:solidFill>
              </a:rPr>
              <a:t>증거금이 1주 값에 못 미침, 사유는 증거금 부족</a:t>
            </a:r>
            <a:endParaRPr lang="en-US" sz="1100" dirty="0"/>
          </a:p>
        </p:txBody>
      </p:sp>
      <p:sp>
        <p:nvSpPr>
          <p:cNvPr id="25" name="Slide Number Placeholder 0"/>
          <p:cNvSpPr>
            <a:spLocks noGrp="1"/>
          </p:cNvSpPr>
          <p:nvPr>
            <p:ph type="sldNum" sz="quarter" idx="4294967295"/>
          </p:nvPr>
        </p:nvSpPr>
        <p:spPr>
          <a:xfrm>
            <a:off x="8138160" y="48006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38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566928"/>
          </a:xfrm>
          <a:prstGeom prst="rect">
            <a:avLst/>
          </a:prstGeom>
          <a:noFill/>
          <a:ln/>
        </p:spPr>
        <p:txBody>
          <a:bodyPr wrap="square" lIns="0" tIns="0" rIns="0" bIns="0" rtlCol="0" anchor="ctr"/>
          <a:lstStyle/>
          <a:p>
            <a:pPr algn="l" indent="0" marL="0">
              <a:buNone/>
            </a:pPr>
            <a:r>
              <a:rPr lang="en-US" sz="3000" b="1" dirty="0">
                <a:solidFill>
                  <a:schemeClr val="tx1"/>
                </a:solidFill>
              </a:rPr>
              <a:t>청산 판정: 등호 포함, 배율 3으로 경계값 검증</a:t>
            </a:r>
            <a:endParaRPr lang="en-US" sz="3000" dirty="0"/>
          </a:p>
        </p:txBody>
      </p:sp>
      <p:sp>
        <p:nvSpPr>
          <p:cNvPr id="3" name="Text 0"/>
          <p:cNvSpPr/>
          <p:nvPr>
            <p:ph idx="101" type="body" hasCustomPrompt="1"/>
          </p:nvPr>
        </p:nvSpPr>
        <p:spPr>
          <a:xfrm>
            <a:off x="457200" y="859536"/>
            <a:ext cx="8229600" cy="329184"/>
          </a:xfrm>
          <a:prstGeom prst="rect">
            <a:avLst/>
          </a:prstGeom>
          <a:noFill/>
          <a:ln/>
        </p:spPr>
        <p:txBody>
          <a:bodyPr wrap="square" lIns="0" tIns="0" rIns="0" bIns="0" rtlCol="0" anchor="t"/>
          <a:lstStyle/>
          <a:p>
            <a:pPr algn="l" indent="0" marL="0">
              <a:buNone/>
            </a:pPr>
            <a:r>
              <a:rPr lang="en-US" sz="1400" dirty="0">
                <a:solidFill>
                  <a:schemeClr val="accent6"/>
                </a:solidFill>
              </a:rPr>
              <a:t>청산가 = 진입가 × (1 − 1 ÷ 배율), 현재가가 청산가 이하이면 강제 청산</a:t>
            </a:r>
            <a:endParaRPr lang="en-US" sz="1400" dirty="0"/>
          </a:p>
        </p:txBody>
      </p:sp>
      <p:sp>
        <p:nvSpPr>
          <p:cNvPr id="4" name="Text 2"/>
          <p:cNvSpPr txBox="1"/>
          <p:nvPr/>
        </p:nvSpPr>
        <p:spPr>
          <a:xfrm>
            <a:off x="457200" y="1371600"/>
            <a:ext cx="4023360" cy="274320"/>
          </a:xfrm>
          <a:prstGeom prst="rect">
            <a:avLst/>
          </a:prstGeom>
          <a:noFill/>
          <a:ln/>
        </p:spPr>
        <p:txBody>
          <a:bodyPr wrap="square" lIns="0" tIns="0" rIns="0" bIns="0" rtlCol="0" anchor="t"/>
          <a:lstStyle/>
          <a:p>
            <a:pPr indent="0" marL="0">
              <a:buNone/>
            </a:pPr>
            <a:r>
              <a:rPr lang="en-US" sz="1300" b="1" dirty="0">
                <a:solidFill>
                  <a:schemeClr val="tx1"/>
                </a:solidFill>
              </a:rPr>
              <a:t>배율별 청산선 (진입가 대비)</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737360"/>
          <a:ext cx="4023360" cy="914400"/>
        </p:xfrm>
        <a:graphic>
          <a:graphicData uri="http://schemas.openxmlformats.org/drawingml/2006/table">
            <a:tbl>
              <a:tblPr/>
              <a:tblGrid>
                <a:gridCol w="1005840"/>
                <a:gridCol w="1463040"/>
                <a:gridCol w="1554480"/>
              </a:tblGrid>
              <a:tr h="310896">
                <a:tc>
                  <a:txBody>
                    <a:bodyPr/>
                    <a:lstStyle/>
                    <a:p>
                      <a:pPr algn="ctr" indent="0" marL="0">
                        <a:buNone/>
                      </a:pPr>
                      <a:r>
                        <a:rPr lang="en-US" sz="1200" b="1" dirty="0">
                          <a:solidFill>
                            <a:srgbClr val="FFFFFF"/>
                          </a:solidFill>
                        </a:rPr>
                        <a:t>배율</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7C5CFF"/>
                    </a:solidFill>
                  </a:tcPr>
                </a:tc>
                <a:tc>
                  <a:txBody>
                    <a:bodyPr/>
                    <a:lstStyle/>
                    <a:p>
                      <a:pPr algn="ctr" indent="0" marL="0">
                        <a:buNone/>
                      </a:pPr>
                      <a:r>
                        <a:rPr lang="en-US" sz="1200" b="1" dirty="0">
                          <a:solidFill>
                            <a:srgbClr val="FFFFFF"/>
                          </a:solidFill>
                        </a:rPr>
                        <a:t>청산선</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7C5CFF"/>
                    </a:solidFill>
                  </a:tcPr>
                </a:tc>
                <a:tc>
                  <a:txBody>
                    <a:bodyPr/>
                    <a:lstStyle/>
                    <a:p>
                      <a:pPr algn="ctr" indent="0" marL="0">
                        <a:buNone/>
                      </a:pPr>
                      <a:r>
                        <a:rPr lang="en-US" sz="1200" b="1" dirty="0">
                          <a:solidFill>
                            <a:srgbClr val="FFFFFF"/>
                          </a:solidFill>
                        </a:rPr>
                        <a:t>허용 모드</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7C5CFF"/>
                    </a:solidFill>
                  </a:tcPr>
                </a:tc>
              </a:tr>
              <a:tr h="310896">
                <a:tc>
                  <a:txBody>
                    <a:bodyPr/>
                    <a:lstStyle/>
                    <a:p>
                      <a:pPr algn="ctr" indent="0" marL="0">
                        <a:buNone/>
                      </a:pPr>
                      <a:r>
                        <a:rPr lang="en-US" sz="1200" dirty="0">
                          <a:solidFill>
                            <a:srgbClr val="0B0E14"/>
                          </a:solidFill>
                        </a:rPr>
                        <a:t>×1</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algn="ctr" indent="0" marL="0">
                        <a:buNone/>
                      </a:pPr>
                      <a:r>
                        <a:rPr lang="en-US" sz="1200" dirty="0">
                          <a:solidFill>
                            <a:srgbClr val="0B0E14"/>
                          </a:solidFill>
                        </a:rPr>
                        <a:t>없음</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algn="ctr" indent="0" marL="0">
                        <a:buNone/>
                      </a:pPr>
                      <a:r>
                        <a:rPr lang="en-US" sz="1200" dirty="0">
                          <a:solidFill>
                            <a:srgbClr val="0B0E14"/>
                          </a:solidFill>
                        </a:rPr>
                        <a:t>일봉, 분봉</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r>
              <a:tr h="310896">
                <a:tc>
                  <a:txBody>
                    <a:bodyPr/>
                    <a:lstStyle/>
                    <a:p>
                      <a:pPr algn="ctr" indent="0" marL="0">
                        <a:buNone/>
                      </a:pPr>
                      <a:r>
                        <a:rPr lang="en-US" sz="1200" dirty="0">
                          <a:solidFill>
                            <a:srgbClr val="0B0E14"/>
                          </a:solidFill>
                        </a:rPr>
                        <a:t>×2</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algn="ctr" indent="0" marL="0">
                        <a:buNone/>
                      </a:pPr>
                      <a:r>
                        <a:rPr lang="en-US" sz="1200" dirty="0">
                          <a:solidFill>
                            <a:srgbClr val="0B0E14"/>
                          </a:solidFill>
                        </a:rPr>
                        <a:t>−50%</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algn="ctr" indent="0" marL="0">
                        <a:buNone/>
                      </a:pPr>
                      <a:r>
                        <a:rPr lang="en-US" sz="1200" dirty="0">
                          <a:solidFill>
                            <a:srgbClr val="0B0E14"/>
                          </a:solidFill>
                        </a:rPr>
                        <a:t>일봉</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r>
              <a:tr h="310896">
                <a:tc>
                  <a:txBody>
                    <a:bodyPr/>
                    <a:lstStyle/>
                    <a:p>
                      <a:pPr algn="ctr" indent="0" marL="0">
                        <a:buNone/>
                      </a:pPr>
                      <a:r>
                        <a:rPr lang="en-US" sz="1200" dirty="0">
                          <a:solidFill>
                            <a:srgbClr val="0B0E14"/>
                          </a:solidFill>
                        </a:rPr>
                        <a:t>×3</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algn="ctr" indent="0" marL="0">
                        <a:buNone/>
                      </a:pPr>
                      <a:r>
                        <a:rPr lang="en-US" sz="1200" b="1" dirty="0">
                          <a:solidFill>
                            <a:srgbClr val="0B0E14"/>
                          </a:solidFill>
                        </a:rPr>
                        <a:t>−33.3%</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algn="ctr" indent="0" marL="0">
                        <a:buNone/>
                      </a:pPr>
                      <a:r>
                        <a:rPr lang="en-US" sz="1200" dirty="0">
                          <a:solidFill>
                            <a:srgbClr val="0B0E14"/>
                          </a:solidFill>
                        </a:rPr>
                        <a:t>일봉, 분봉</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r>
              <a:tr h="310896">
                <a:tc>
                  <a:txBody>
                    <a:bodyPr/>
                    <a:lstStyle/>
                    <a:p>
                      <a:pPr algn="ctr" indent="0" marL="0">
                        <a:buNone/>
                      </a:pPr>
                      <a:r>
                        <a:rPr lang="en-US" sz="1200" dirty="0">
                          <a:solidFill>
                            <a:srgbClr val="0B0E14"/>
                          </a:solidFill>
                        </a:rPr>
                        <a:t>×5</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algn="ctr" indent="0" marL="0">
                        <a:buNone/>
                      </a:pPr>
                      <a:r>
                        <a:rPr lang="en-US" sz="1200" dirty="0">
                          <a:solidFill>
                            <a:srgbClr val="0B0E14"/>
                          </a:solidFill>
                        </a:rPr>
                        <a:t>−20%</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algn="ctr" indent="0" marL="0">
                        <a:buNone/>
                      </a:pPr>
                      <a:r>
                        <a:rPr lang="en-US" sz="1200" dirty="0">
                          <a:solidFill>
                            <a:srgbClr val="0B0E14"/>
                          </a:solidFill>
                        </a:rPr>
                        <a:t>분봉</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r>
              <a:tr h="310896">
                <a:tc>
                  <a:txBody>
                    <a:bodyPr/>
                    <a:lstStyle/>
                    <a:p>
                      <a:pPr algn="ctr" indent="0" marL="0">
                        <a:buNone/>
                      </a:pPr>
                      <a:r>
                        <a:rPr lang="en-US" sz="1200" dirty="0">
                          <a:solidFill>
                            <a:srgbClr val="0B0E14"/>
                          </a:solidFill>
                        </a:rPr>
                        <a:t>×10</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algn="ctr" indent="0" marL="0">
                        <a:buNone/>
                      </a:pPr>
                      <a:r>
                        <a:rPr lang="en-US" sz="1200" dirty="0">
                          <a:solidFill>
                            <a:srgbClr val="0B0E14"/>
                          </a:solidFill>
                        </a:rPr>
                        <a:t>−10%</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algn="ctr" indent="0" marL="0">
                        <a:buNone/>
                      </a:pPr>
                      <a:r>
                        <a:rPr lang="en-US" sz="1200" dirty="0">
                          <a:solidFill>
                            <a:srgbClr val="0B0E14"/>
                          </a:solidFill>
                        </a:rPr>
                        <a:t>분봉</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r>
            </a:tbl>
          </a:graphicData>
        </a:graphic>
      </p:graphicFrame>
      <p:sp>
        <p:nvSpPr>
          <p:cNvPr id="6" name="Text 3"/>
          <p:cNvSpPr txBox="1"/>
          <p:nvPr/>
        </p:nvSpPr>
        <p:spPr>
          <a:xfrm>
            <a:off x="457200" y="3749040"/>
            <a:ext cx="4023360" cy="548640"/>
          </a:xfrm>
          <a:prstGeom prst="rect">
            <a:avLst/>
          </a:prstGeom>
          <a:noFill/>
          <a:ln/>
        </p:spPr>
        <p:txBody>
          <a:bodyPr wrap="square" lIns="0" tIns="0" rIns="0" bIns="0" rtlCol="0" anchor="t"/>
          <a:lstStyle/>
          <a:p>
            <a:pPr indent="0" marL="0">
              <a:buNone/>
            </a:pPr>
            <a:r>
              <a:rPr lang="en-US" sz="1100" dirty="0">
                <a:solidFill>
                  <a:schemeClr val="accent6"/>
                </a:solidFill>
              </a:rPr>
              <a:t>예: 진입가 79,700원, 배율 ×3이면 청산가 약 53,133원</a:t>
            </a:r>
            <a:endParaRPr lang="en-US" sz="1100" dirty="0"/>
          </a:p>
          <a:p>
            <a:pPr indent="0" marL="0">
              <a:buNone/>
            </a:pPr>
            <a:r>
              <a:rPr lang="en-US" sz="1100" dirty="0">
                <a:solidFill>
                  <a:schemeClr val="accent6"/>
                </a:solidFill>
              </a:rPr>
              <a:t>청산 시 그 포지션의 증거금만 소멸, 나머지 현금은 유지</a:t>
            </a:r>
            <a:endParaRPr lang="en-US" sz="1100" dirty="0"/>
          </a:p>
        </p:txBody>
      </p:sp>
      <p:sp>
        <p:nvSpPr>
          <p:cNvPr id="7" name="Text 4"/>
          <p:cNvSpPr txBox="1"/>
          <p:nvPr/>
        </p:nvSpPr>
        <p:spPr>
          <a:xfrm>
            <a:off x="4846320" y="1371600"/>
            <a:ext cx="3840480" cy="274320"/>
          </a:xfrm>
          <a:prstGeom prst="rect">
            <a:avLst/>
          </a:prstGeom>
          <a:noFill/>
          <a:ln/>
        </p:spPr>
        <p:txBody>
          <a:bodyPr wrap="square" lIns="0" tIns="0" rIns="0" bIns="0" rtlCol="0" anchor="t"/>
          <a:lstStyle/>
          <a:p>
            <a:pPr indent="0" marL="0">
              <a:buNone/>
            </a:pPr>
            <a:r>
              <a:rPr lang="en-US" sz="1300" b="1" dirty="0">
                <a:solidFill>
                  <a:schemeClr val="tx1"/>
                </a:solidFill>
              </a:rPr>
              <a:t>경계값 테스트 (배율 3)</a:t>
            </a:r>
            <a:endParaRPr lang="en-US" sz="1300" dirty="0"/>
          </a:p>
        </p:txBody>
      </p:sp>
      <p:sp>
        <p:nvSpPr>
          <p:cNvPr id="8" name="edge-1"/>
          <p:cNvSpPr/>
          <p:nvPr/>
        </p:nvSpPr>
        <p:spPr>
          <a:xfrm>
            <a:off x="4846320" y="1737360"/>
            <a:ext cx="3840480" cy="475488"/>
          </a:xfrm>
          <a:prstGeom prst="roundRect">
            <a:avLst>
              <a:gd name="adj" fmla="val 15385"/>
            </a:avLst>
          </a:prstGeom>
          <a:solidFill>
            <a:schemeClr val="bg2"/>
          </a:solidFill>
          <a:ln/>
        </p:spPr>
      </p:sp>
      <p:sp>
        <p:nvSpPr>
          <p:cNvPr id="9" name="Text 6"/>
          <p:cNvSpPr txBox="1"/>
          <p:nvPr/>
        </p:nvSpPr>
        <p:spPr>
          <a:xfrm>
            <a:off x="5029200" y="1737360"/>
            <a:ext cx="2194560" cy="475488"/>
          </a:xfrm>
          <a:prstGeom prst="rect">
            <a:avLst/>
          </a:prstGeom>
          <a:noFill/>
          <a:ln/>
        </p:spPr>
        <p:txBody>
          <a:bodyPr wrap="square" lIns="0" tIns="0" rIns="0" bIns="0" rtlCol="0" anchor="ctr"/>
          <a:lstStyle/>
          <a:p>
            <a:pPr indent="0" marL="0">
              <a:buNone/>
            </a:pPr>
            <a:r>
              <a:rPr lang="en-US" sz="1300" b="1" dirty="0">
                <a:solidFill>
                  <a:schemeClr val="tx1"/>
                </a:solidFill>
              </a:rPr>
              <a:t>청산가 + 0.0001</a:t>
            </a:r>
            <a:endParaRPr lang="en-US" sz="1300" dirty="0"/>
          </a:p>
        </p:txBody>
      </p:sp>
      <p:sp>
        <p:nvSpPr>
          <p:cNvPr id="10" name="Text 7"/>
          <p:cNvSpPr txBox="1"/>
          <p:nvPr/>
        </p:nvSpPr>
        <p:spPr>
          <a:xfrm>
            <a:off x="7589520" y="1737360"/>
            <a:ext cx="914400" cy="475488"/>
          </a:xfrm>
          <a:prstGeom prst="rect">
            <a:avLst/>
          </a:prstGeom>
          <a:noFill/>
          <a:ln/>
        </p:spPr>
        <p:txBody>
          <a:bodyPr wrap="square" lIns="0" tIns="0" rIns="0" bIns="0" rtlCol="0" anchor="ctr"/>
          <a:lstStyle/>
          <a:p>
            <a:pPr algn="r" indent="0" marL="0">
              <a:buNone/>
            </a:pPr>
            <a:r>
              <a:rPr lang="en-US" sz="1400" b="1" dirty="0">
                <a:solidFill>
                  <a:schemeClr val="accent5"/>
                </a:solidFill>
              </a:rPr>
              <a:t>생존</a:t>
            </a:r>
            <a:endParaRPr lang="en-US" sz="1400" dirty="0"/>
          </a:p>
        </p:txBody>
      </p:sp>
      <p:sp>
        <p:nvSpPr>
          <p:cNvPr id="11" name="edge-2"/>
          <p:cNvSpPr/>
          <p:nvPr/>
        </p:nvSpPr>
        <p:spPr>
          <a:xfrm>
            <a:off x="4846320" y="2304288"/>
            <a:ext cx="3840480" cy="475488"/>
          </a:xfrm>
          <a:prstGeom prst="roundRect">
            <a:avLst>
              <a:gd name="adj" fmla="val 15385"/>
            </a:avLst>
          </a:prstGeom>
          <a:solidFill>
            <a:schemeClr val="bg2"/>
          </a:solidFill>
          <a:ln/>
        </p:spPr>
      </p:sp>
      <p:sp>
        <p:nvSpPr>
          <p:cNvPr id="12" name="Text 9"/>
          <p:cNvSpPr txBox="1"/>
          <p:nvPr/>
        </p:nvSpPr>
        <p:spPr>
          <a:xfrm>
            <a:off x="5029200" y="2304288"/>
            <a:ext cx="2194560" cy="475488"/>
          </a:xfrm>
          <a:prstGeom prst="rect">
            <a:avLst/>
          </a:prstGeom>
          <a:noFill/>
          <a:ln/>
        </p:spPr>
        <p:txBody>
          <a:bodyPr wrap="square" lIns="0" tIns="0" rIns="0" bIns="0" rtlCol="0" anchor="ctr"/>
          <a:lstStyle/>
          <a:p>
            <a:pPr indent="0" marL="0">
              <a:buNone/>
            </a:pPr>
            <a:r>
              <a:rPr lang="en-US" sz="1300" b="1" dirty="0">
                <a:solidFill>
                  <a:schemeClr val="tx1"/>
                </a:solidFill>
              </a:rPr>
              <a:t>청산가와 같음</a:t>
            </a:r>
            <a:endParaRPr lang="en-US" sz="1300" dirty="0"/>
          </a:p>
        </p:txBody>
      </p:sp>
      <p:sp>
        <p:nvSpPr>
          <p:cNvPr id="13" name="Text 10"/>
          <p:cNvSpPr txBox="1"/>
          <p:nvPr/>
        </p:nvSpPr>
        <p:spPr>
          <a:xfrm>
            <a:off x="7589520" y="2304288"/>
            <a:ext cx="914400" cy="475488"/>
          </a:xfrm>
          <a:prstGeom prst="rect">
            <a:avLst/>
          </a:prstGeom>
          <a:noFill/>
          <a:ln/>
        </p:spPr>
        <p:txBody>
          <a:bodyPr wrap="square" lIns="0" tIns="0" rIns="0" bIns="0" rtlCol="0" anchor="ctr"/>
          <a:lstStyle/>
          <a:p>
            <a:pPr algn="r" indent="0" marL="0">
              <a:buNone/>
            </a:pPr>
            <a:r>
              <a:rPr lang="en-US" sz="1400" b="1" dirty="0">
                <a:solidFill>
                  <a:schemeClr val="accent2"/>
                </a:solidFill>
              </a:rPr>
              <a:t>청산</a:t>
            </a:r>
            <a:endParaRPr lang="en-US" sz="1400" dirty="0"/>
          </a:p>
        </p:txBody>
      </p:sp>
      <p:sp>
        <p:nvSpPr>
          <p:cNvPr id="14" name="edge-3"/>
          <p:cNvSpPr/>
          <p:nvPr/>
        </p:nvSpPr>
        <p:spPr>
          <a:xfrm>
            <a:off x="4846320" y="2871216"/>
            <a:ext cx="3840480" cy="475488"/>
          </a:xfrm>
          <a:prstGeom prst="roundRect">
            <a:avLst>
              <a:gd name="adj" fmla="val 15385"/>
            </a:avLst>
          </a:prstGeom>
          <a:solidFill>
            <a:schemeClr val="bg2"/>
          </a:solidFill>
          <a:ln/>
        </p:spPr>
      </p:sp>
      <p:sp>
        <p:nvSpPr>
          <p:cNvPr id="15" name="Text 12"/>
          <p:cNvSpPr txBox="1"/>
          <p:nvPr/>
        </p:nvSpPr>
        <p:spPr>
          <a:xfrm>
            <a:off x="5029200" y="2871216"/>
            <a:ext cx="2194560" cy="475488"/>
          </a:xfrm>
          <a:prstGeom prst="rect">
            <a:avLst/>
          </a:prstGeom>
          <a:noFill/>
          <a:ln/>
        </p:spPr>
        <p:txBody>
          <a:bodyPr wrap="square" lIns="0" tIns="0" rIns="0" bIns="0" rtlCol="0" anchor="ctr"/>
          <a:lstStyle/>
          <a:p>
            <a:pPr indent="0" marL="0">
              <a:buNone/>
            </a:pPr>
            <a:r>
              <a:rPr lang="en-US" sz="1300" b="1" dirty="0">
                <a:solidFill>
                  <a:schemeClr val="tx1"/>
                </a:solidFill>
              </a:rPr>
              <a:t>청산가 − 0.0001</a:t>
            </a:r>
            <a:endParaRPr lang="en-US" sz="1300" dirty="0"/>
          </a:p>
        </p:txBody>
      </p:sp>
      <p:sp>
        <p:nvSpPr>
          <p:cNvPr id="16" name="Text 13"/>
          <p:cNvSpPr txBox="1"/>
          <p:nvPr/>
        </p:nvSpPr>
        <p:spPr>
          <a:xfrm>
            <a:off x="7589520" y="2871216"/>
            <a:ext cx="914400" cy="475488"/>
          </a:xfrm>
          <a:prstGeom prst="rect">
            <a:avLst/>
          </a:prstGeom>
          <a:noFill/>
          <a:ln/>
        </p:spPr>
        <p:txBody>
          <a:bodyPr wrap="square" lIns="0" tIns="0" rIns="0" bIns="0" rtlCol="0" anchor="ctr"/>
          <a:lstStyle/>
          <a:p>
            <a:pPr algn="r" indent="0" marL="0">
              <a:buNone/>
            </a:pPr>
            <a:r>
              <a:rPr lang="en-US" sz="1400" b="1" dirty="0">
                <a:solidFill>
                  <a:schemeClr val="accent2"/>
                </a:solidFill>
              </a:rPr>
              <a:t>청산</a:t>
            </a:r>
            <a:endParaRPr lang="en-US" sz="1400" dirty="0"/>
          </a:p>
        </p:txBody>
      </p:sp>
      <p:sp>
        <p:nvSpPr>
          <p:cNvPr id="17" name="why3"/>
          <p:cNvSpPr/>
          <p:nvPr/>
        </p:nvSpPr>
        <p:spPr>
          <a:xfrm>
            <a:off x="4846320" y="3520440"/>
            <a:ext cx="3840480" cy="1051560"/>
          </a:xfrm>
          <a:prstGeom prst="roundRect">
            <a:avLst>
              <a:gd name="adj" fmla="val 6957"/>
            </a:avLst>
          </a:prstGeom>
          <a:solidFill>
            <a:schemeClr val="bg2"/>
          </a:solidFill>
          <a:ln/>
        </p:spPr>
      </p:sp>
      <p:sp>
        <p:nvSpPr>
          <p:cNvPr id="18" name="Text 15"/>
          <p:cNvSpPr txBox="1"/>
          <p:nvPr/>
        </p:nvSpPr>
        <p:spPr>
          <a:xfrm>
            <a:off x="5029200" y="3611880"/>
            <a:ext cx="3474720" cy="868680"/>
          </a:xfrm>
          <a:prstGeom prst="rect">
            <a:avLst/>
          </a:prstGeom>
          <a:noFill/>
          <a:ln/>
        </p:spPr>
        <p:txBody>
          <a:bodyPr wrap="square" lIns="0" tIns="0" rIns="0" bIns="0" rtlCol="0" anchor="t"/>
          <a:lstStyle/>
          <a:p>
            <a:pPr indent="0" marL="0">
              <a:buNone/>
            </a:pPr>
            <a:r>
              <a:rPr lang="en-US" sz="1300" b="1" dirty="0">
                <a:solidFill>
                  <a:schemeClr val="tx1"/>
                </a:solidFill>
              </a:rPr>
              <a:t>배율 3으로 검증하는 이유</a:t>
            </a:r>
            <a:endParaRPr lang="en-US" sz="1300" dirty="0"/>
          </a:p>
          <a:p>
            <a:pPr indent="0" marL="0">
              <a:buNone/>
            </a:pPr>
            <a:r>
              <a:rPr lang="en-US" sz="1100" dirty="0">
                <a:solidFill>
                  <a:schemeClr val="accent6"/>
                </a:solidFill>
              </a:rPr>
              <a:t>1 ÷ 3은 무한소수라 반올림 오차가 생김</a:t>
            </a:r>
            <a:endParaRPr lang="en-US" sz="1300" dirty="0"/>
          </a:p>
          <a:p>
            <a:pPr indent="0" marL="0">
              <a:buNone/>
            </a:pPr>
            <a:r>
              <a:rPr lang="en-US" sz="1100" dirty="0">
                <a:solidFill>
                  <a:schemeClr val="accent6"/>
                </a:solidFill>
              </a:rPr>
              <a:t>배율 2(1 ÷ 2 = 0.5)로만 테스트하면 이 문제를 못 잡음</a:t>
            </a:r>
            <a:endParaRPr lang="en-US" sz="1300" dirty="0"/>
          </a:p>
        </p:txBody>
      </p:sp>
      <p:sp>
        <p:nvSpPr>
          <p:cNvPr id="25" name="Slide Number Placeholder 0"/>
          <p:cNvSpPr>
            <a:spLocks noGrp="1"/>
          </p:cNvSpPr>
          <p:nvPr>
            <p:ph type="sldNum" sz="quarter" idx="4294967295"/>
          </p:nvPr>
        </p:nvSpPr>
        <p:spPr>
          <a:xfrm>
            <a:off x="8138160" y="48006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38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566928"/>
          </a:xfrm>
          <a:prstGeom prst="rect">
            <a:avLst/>
          </a:prstGeom>
          <a:noFill/>
          <a:ln/>
        </p:spPr>
        <p:txBody>
          <a:bodyPr wrap="square" lIns="0" tIns="0" rIns="0" bIns="0" rtlCol="0" anchor="ctr"/>
          <a:lstStyle/>
          <a:p>
            <a:pPr algn="l" indent="0" marL="0">
              <a:buNone/>
            </a:pPr>
            <a:r>
              <a:rPr lang="en-US" sz="3000" b="1" dirty="0">
                <a:solidFill>
                  <a:schemeClr val="tx1"/>
                </a:solidFill>
              </a:rPr>
              <a:t>반올림 방향: 계산 오차만 플레이어 유리</a:t>
            </a:r>
            <a:endParaRPr lang="en-US" sz="3000" dirty="0"/>
          </a:p>
        </p:txBody>
      </p:sp>
      <p:sp>
        <p:nvSpPr>
          <p:cNvPr id="3" name="Text 0"/>
          <p:cNvSpPr/>
          <p:nvPr>
            <p:ph idx="101" type="body" hasCustomPrompt="1"/>
          </p:nvPr>
        </p:nvSpPr>
        <p:spPr>
          <a:xfrm>
            <a:off x="457200" y="859536"/>
            <a:ext cx="8229600" cy="329184"/>
          </a:xfrm>
          <a:prstGeom prst="rect">
            <a:avLst/>
          </a:prstGeom>
          <a:noFill/>
          <a:ln/>
        </p:spPr>
        <p:txBody>
          <a:bodyPr wrap="square" lIns="0" tIns="0" rIns="0" bIns="0" rtlCol="0" anchor="t"/>
          <a:lstStyle/>
          <a:p>
            <a:pPr algn="l" indent="0" marL="0">
              <a:buNone/>
            </a:pPr>
            <a:r>
              <a:rPr lang="en-US" sz="1400" dirty="0">
                <a:solidFill>
                  <a:schemeClr val="accent6"/>
                </a:solidFill>
              </a:rPr>
              <a:t>모든 금액은 소수 오차 없는 십진 계산, 반올림은 마지막 단계에서 한 번만</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8229600" cy="914400"/>
        </p:xfrm>
        <a:graphic>
          <a:graphicData uri="http://schemas.openxmlformats.org/drawingml/2006/table">
            <a:tbl>
              <a:tblPr/>
              <a:tblGrid>
                <a:gridCol w="1645920"/>
                <a:gridCol w="1463040"/>
                <a:gridCol w="1280160"/>
                <a:gridCol w="3840480"/>
              </a:tblGrid>
              <a:tr h="384048">
                <a:tc>
                  <a:txBody>
                    <a:bodyPr/>
                    <a:lstStyle/>
                    <a:p>
                      <a:pPr algn="ctr" indent="0" marL="0">
                        <a:buNone/>
                      </a:pPr>
                      <a:r>
                        <a:rPr lang="en-US" sz="1300" b="1" dirty="0">
                          <a:solidFill>
                            <a:srgbClr val="FFFFFF"/>
                          </a:solidFill>
                        </a:rPr>
                        <a:t>대상</a:t>
                      </a:r>
                      <a:endParaRPr lang="en-US" sz="13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7C5CFF"/>
                    </a:solidFill>
                  </a:tcPr>
                </a:tc>
                <a:tc>
                  <a:txBody>
                    <a:bodyPr/>
                    <a:lstStyle/>
                    <a:p>
                      <a:pPr algn="ctr" indent="0" marL="0">
                        <a:buNone/>
                      </a:pPr>
                      <a:r>
                        <a:rPr lang="en-US" sz="1300" b="1" dirty="0">
                          <a:solidFill>
                            <a:srgbClr val="FFFFFF"/>
                          </a:solidFill>
                        </a:rPr>
                        <a:t>자릿수</a:t>
                      </a:r>
                      <a:endParaRPr lang="en-US" sz="13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7C5CFF"/>
                    </a:solidFill>
                  </a:tcPr>
                </a:tc>
                <a:tc>
                  <a:txBody>
                    <a:bodyPr/>
                    <a:lstStyle/>
                    <a:p>
                      <a:pPr algn="ctr" indent="0" marL="0">
                        <a:buNone/>
                      </a:pPr>
                      <a:r>
                        <a:rPr lang="en-US" sz="1300" b="1" dirty="0">
                          <a:solidFill>
                            <a:srgbClr val="FFFFFF"/>
                          </a:solidFill>
                        </a:rPr>
                        <a:t>방향</a:t>
                      </a:r>
                      <a:endParaRPr lang="en-US" sz="13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7C5CFF"/>
                    </a:solidFill>
                  </a:tcPr>
                </a:tc>
                <a:tc>
                  <a:txBody>
                    <a:bodyPr/>
                    <a:lstStyle/>
                    <a:p>
                      <a:pPr algn="ctr" indent="0" marL="0">
                        <a:buNone/>
                      </a:pPr>
                      <a:r>
                        <a:rPr lang="en-US" sz="1300" b="1" dirty="0">
                          <a:solidFill>
                            <a:srgbClr val="FFFFFF"/>
                          </a:solidFill>
                        </a:rPr>
                        <a:t>이유</a:t>
                      </a:r>
                      <a:endParaRPr lang="en-US" sz="13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7C5CFF"/>
                    </a:solidFill>
                  </a:tcPr>
                </a:tc>
              </a:tr>
              <a:tr h="384048">
                <a:tc>
                  <a:txBody>
                    <a:bodyPr/>
                    <a:lstStyle/>
                    <a:p>
                      <a:pPr algn="ctr" indent="0" marL="0">
                        <a:buNone/>
                      </a:pPr>
                      <a:r>
                        <a:rPr lang="en-US" sz="1300" dirty="0">
                          <a:solidFill>
                            <a:srgbClr val="0B0E14"/>
                          </a:solidFill>
                        </a:rPr>
                        <a:t>중간 계산</a:t>
                      </a:r>
                      <a:endParaRPr lang="en-US" sz="13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algn="ctr" indent="0" marL="0">
                        <a:buNone/>
                      </a:pPr>
                      <a:r>
                        <a:rPr lang="en-US" sz="1300" dirty="0">
                          <a:solidFill>
                            <a:srgbClr val="0B0E14"/>
                          </a:solidFill>
                        </a:rPr>
                        <a:t>소수 8자리</a:t>
                      </a:r>
                      <a:endParaRPr lang="en-US" sz="13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algn="ctr" indent="0" marL="0">
                        <a:buNone/>
                      </a:pPr>
                      <a:r>
                        <a:rPr lang="en-US" sz="1300" dirty="0">
                          <a:solidFill>
                            <a:srgbClr val="0B0E14"/>
                          </a:solidFill>
                        </a:rPr>
                        <a:t>반올림</a:t>
                      </a:r>
                      <a:endParaRPr lang="en-US" sz="13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algn="l" indent="0" marL="0">
                        <a:buNone/>
                      </a:pPr>
                      <a:r>
                        <a:rPr lang="en-US" sz="1300" dirty="0">
                          <a:solidFill>
                            <a:srgbClr val="0B0E14"/>
                          </a:solidFill>
                        </a:rPr>
                        <a:t>나눗셈마다 같은 규칙</a:t>
                      </a:r>
                      <a:endParaRPr lang="en-US" sz="13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r>
              <a:tr h="384048">
                <a:tc>
                  <a:txBody>
                    <a:bodyPr/>
                    <a:lstStyle/>
                    <a:p>
                      <a:pPr algn="ctr" indent="0" marL="0">
                        <a:buNone/>
                      </a:pPr>
                      <a:r>
                        <a:rPr lang="en-US" sz="1300" b="1" dirty="0">
                          <a:solidFill>
                            <a:srgbClr val="0B0E14"/>
                          </a:solidFill>
                        </a:rPr>
                        <a:t>청산가</a:t>
                      </a:r>
                      <a:endParaRPr lang="en-US" sz="13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algn="ctr" indent="0" marL="0">
                        <a:buNone/>
                      </a:pPr>
                      <a:r>
                        <a:rPr lang="en-US" sz="1300" dirty="0">
                          <a:solidFill>
                            <a:srgbClr val="0B0E14"/>
                          </a:solidFill>
                        </a:rPr>
                        <a:t>소수 4자리</a:t>
                      </a:r>
                      <a:endParaRPr lang="en-US" sz="13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algn="ctr" indent="0" marL="0">
                        <a:buNone/>
                      </a:pPr>
                      <a:r>
                        <a:rPr lang="en-US" sz="1300" b="1" dirty="0">
                          <a:solidFill>
                            <a:srgbClr val="7C5CFF"/>
                          </a:solidFill>
                        </a:rPr>
                        <a:t>내림</a:t>
                      </a:r>
                      <a:endParaRPr lang="en-US" sz="13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algn="l" indent="0" marL="0">
                        <a:buNone/>
                      </a:pPr>
                      <a:r>
                        <a:rPr lang="en-US" sz="1300" dirty="0">
                          <a:solidFill>
                            <a:srgbClr val="0B0E14"/>
                          </a:solidFill>
                        </a:rPr>
                        <a:t>늦게 청산, 플레이어에게 유리</a:t>
                      </a:r>
                      <a:endParaRPr lang="en-US" sz="13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r>
              <a:tr h="384048">
                <a:tc>
                  <a:txBody>
                    <a:bodyPr/>
                    <a:lstStyle/>
                    <a:p>
                      <a:pPr algn="ctr" indent="0" marL="0">
                        <a:buNone/>
                      </a:pPr>
                      <a:r>
                        <a:rPr lang="en-US" sz="1300" b="1" dirty="0">
                          <a:solidFill>
                            <a:srgbClr val="0B0E14"/>
                          </a:solidFill>
                        </a:rPr>
                        <a:t>수수료</a:t>
                      </a:r>
                      <a:endParaRPr lang="en-US" sz="13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algn="ctr" indent="0" marL="0">
                        <a:buNone/>
                      </a:pPr>
                      <a:r>
                        <a:rPr lang="en-US" sz="1300" dirty="0">
                          <a:solidFill>
                            <a:srgbClr val="0B0E14"/>
                          </a:solidFill>
                        </a:rPr>
                        <a:t>소수 4자리</a:t>
                      </a:r>
                      <a:endParaRPr lang="en-US" sz="13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algn="ctr" indent="0" marL="0">
                        <a:buNone/>
                      </a:pPr>
                      <a:r>
                        <a:rPr lang="en-US" sz="1300" b="1" dirty="0">
                          <a:solidFill>
                            <a:srgbClr val="7C5CFF"/>
                          </a:solidFill>
                        </a:rPr>
                        <a:t>올림</a:t>
                      </a:r>
                      <a:endParaRPr lang="en-US" sz="13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algn="l" indent="0" marL="0">
                        <a:buNone/>
                      </a:pPr>
                      <a:r>
                        <a:rPr lang="en-US" sz="1300" dirty="0">
                          <a:solidFill>
                            <a:srgbClr val="0B0E14"/>
                          </a:solidFill>
                        </a:rPr>
                        <a:t>잔고가 음수로 새는 것 방지</a:t>
                      </a:r>
                      <a:endParaRPr lang="en-US" sz="13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r>
            </a:tbl>
          </a:graphicData>
        </a:graphic>
      </p:graphicFrame>
      <p:sp>
        <p:nvSpPr>
          <p:cNvPr id="5" name="round-1"/>
          <p:cNvSpPr/>
          <p:nvPr/>
        </p:nvSpPr>
        <p:spPr>
          <a:xfrm>
            <a:off x="457200" y="3200400"/>
            <a:ext cx="2606040" cy="1371600"/>
          </a:xfrm>
          <a:prstGeom prst="roundRect">
            <a:avLst>
              <a:gd name="adj" fmla="val 5333"/>
            </a:avLst>
          </a:prstGeom>
          <a:solidFill>
            <a:schemeClr val="bg2"/>
          </a:solidFill>
          <a:ln/>
        </p:spPr>
      </p:sp>
      <p:sp>
        <p:nvSpPr>
          <p:cNvPr id="6" name="Text 3"/>
          <p:cNvSpPr txBox="1"/>
          <p:nvPr/>
        </p:nvSpPr>
        <p:spPr>
          <a:xfrm>
            <a:off x="658368" y="3337560"/>
            <a:ext cx="2203704" cy="274320"/>
          </a:xfrm>
          <a:prstGeom prst="rect">
            <a:avLst/>
          </a:prstGeom>
          <a:noFill/>
          <a:ln/>
        </p:spPr>
        <p:txBody>
          <a:bodyPr wrap="square" lIns="0" tIns="0" rIns="0" bIns="0" rtlCol="0" anchor="t"/>
          <a:lstStyle/>
          <a:p>
            <a:pPr indent="0" marL="0">
              <a:buNone/>
            </a:pPr>
            <a:r>
              <a:rPr lang="en-US" sz="1400" b="1" dirty="0">
                <a:solidFill>
                  <a:schemeClr val="accent1"/>
                </a:solidFill>
              </a:rPr>
              <a:t>원칙</a:t>
            </a:r>
            <a:endParaRPr lang="en-US" sz="1400" dirty="0"/>
          </a:p>
        </p:txBody>
      </p:sp>
      <p:sp>
        <p:nvSpPr>
          <p:cNvPr id="7" name="Text 4"/>
          <p:cNvSpPr txBox="1"/>
          <p:nvPr/>
        </p:nvSpPr>
        <p:spPr>
          <a:xfrm>
            <a:off x="658368" y="3657600"/>
            <a:ext cx="2203704" cy="822960"/>
          </a:xfrm>
          <a:prstGeom prst="rect">
            <a:avLst/>
          </a:prstGeom>
          <a:noFill/>
          <a:ln/>
        </p:spPr>
        <p:txBody>
          <a:bodyPr wrap="square" lIns="0" tIns="0" rIns="0" bIns="0" rtlCol="0" anchor="t"/>
          <a:lstStyle/>
          <a:p>
            <a:pPr indent="0" marL="0">
              <a:buNone/>
            </a:pPr>
            <a:r>
              <a:rPr lang="en-US" sz="1100" dirty="0">
                <a:solidFill>
                  <a:schemeClr val="accent6"/>
                </a:solidFill>
              </a:rPr>
              <a:t>애매하면 플레이어에게 유리하게</a:t>
            </a:r>
            <a:endParaRPr lang="en-US" sz="1100" dirty="0"/>
          </a:p>
          <a:p>
            <a:pPr indent="0" marL="0">
              <a:buNone/>
            </a:pPr>
            <a:r>
              <a:rPr lang="en-US" sz="1100" dirty="0">
                <a:solidFill>
                  <a:schemeClr val="accent6"/>
                </a:solidFill>
              </a:rPr>
              <a:t>단 잔고는 보수적으로</a:t>
            </a:r>
            <a:endParaRPr lang="en-US" sz="1100" dirty="0"/>
          </a:p>
        </p:txBody>
      </p:sp>
      <p:sp>
        <p:nvSpPr>
          <p:cNvPr id="8" name="round-2"/>
          <p:cNvSpPr/>
          <p:nvPr/>
        </p:nvSpPr>
        <p:spPr>
          <a:xfrm>
            <a:off x="3268980" y="3200400"/>
            <a:ext cx="2606040" cy="1371600"/>
          </a:xfrm>
          <a:prstGeom prst="roundRect">
            <a:avLst>
              <a:gd name="adj" fmla="val 5333"/>
            </a:avLst>
          </a:prstGeom>
          <a:solidFill>
            <a:schemeClr val="bg2"/>
          </a:solidFill>
          <a:ln/>
        </p:spPr>
      </p:sp>
      <p:sp>
        <p:nvSpPr>
          <p:cNvPr id="9" name="Text 6"/>
          <p:cNvSpPr txBox="1"/>
          <p:nvPr/>
        </p:nvSpPr>
        <p:spPr>
          <a:xfrm>
            <a:off x="3470148" y="3337560"/>
            <a:ext cx="2203704" cy="274320"/>
          </a:xfrm>
          <a:prstGeom prst="rect">
            <a:avLst/>
          </a:prstGeom>
          <a:noFill/>
          <a:ln/>
        </p:spPr>
        <p:txBody>
          <a:bodyPr wrap="square" lIns="0" tIns="0" rIns="0" bIns="0" rtlCol="0" anchor="t"/>
          <a:lstStyle/>
          <a:p>
            <a:pPr indent="0" marL="0">
              <a:buNone/>
            </a:pPr>
            <a:r>
              <a:rPr lang="en-US" sz="1400" b="1" dirty="0">
                <a:solidFill>
                  <a:schemeClr val="accent1"/>
                </a:solidFill>
              </a:rPr>
              <a:t>적용 범위</a:t>
            </a:r>
            <a:endParaRPr lang="en-US" sz="1400" dirty="0"/>
          </a:p>
        </p:txBody>
      </p:sp>
      <p:sp>
        <p:nvSpPr>
          <p:cNvPr id="10" name="Text 7"/>
          <p:cNvSpPr txBox="1"/>
          <p:nvPr/>
        </p:nvSpPr>
        <p:spPr>
          <a:xfrm>
            <a:off x="3470148" y="3657600"/>
            <a:ext cx="2203704" cy="822960"/>
          </a:xfrm>
          <a:prstGeom prst="rect">
            <a:avLst/>
          </a:prstGeom>
          <a:noFill/>
          <a:ln/>
        </p:spPr>
        <p:txBody>
          <a:bodyPr wrap="square" lIns="0" tIns="0" rIns="0" bIns="0" rtlCol="0" anchor="t"/>
          <a:lstStyle/>
          <a:p>
            <a:pPr indent="0" marL="0">
              <a:buNone/>
            </a:pPr>
            <a:r>
              <a:rPr lang="en-US" sz="1100" dirty="0">
                <a:solidFill>
                  <a:schemeClr val="accent6"/>
                </a:solidFill>
              </a:rPr>
              <a:t>반올림처럼 통제할 수 없는</a:t>
            </a:r>
            <a:endParaRPr lang="en-US" sz="1100" dirty="0"/>
          </a:p>
          <a:p>
            <a:pPr indent="0" marL="0">
              <a:buNone/>
            </a:pPr>
            <a:r>
              <a:rPr lang="en-US" sz="1100" dirty="0">
                <a:solidFill>
                  <a:schemeClr val="accent6"/>
                </a:solidFill>
              </a:rPr>
              <a:t>계산 오차에만 적용</a:t>
            </a:r>
            <a:endParaRPr lang="en-US" sz="1100" dirty="0"/>
          </a:p>
          <a:p>
            <a:pPr indent="0" marL="0">
              <a:buNone/>
            </a:pPr>
            <a:r>
              <a:rPr lang="en-US" sz="1100" dirty="0">
                <a:solidFill>
                  <a:schemeClr val="accent6"/>
                </a:solidFill>
              </a:rPr>
              <a:t>게임 규칙에는 미적용</a:t>
            </a:r>
            <a:endParaRPr lang="en-US" sz="1100" dirty="0"/>
          </a:p>
        </p:txBody>
      </p:sp>
      <p:sp>
        <p:nvSpPr>
          <p:cNvPr id="11" name="round-3"/>
          <p:cNvSpPr/>
          <p:nvPr/>
        </p:nvSpPr>
        <p:spPr>
          <a:xfrm>
            <a:off x="6080760" y="3200400"/>
            <a:ext cx="2606040" cy="1371600"/>
          </a:xfrm>
          <a:prstGeom prst="roundRect">
            <a:avLst>
              <a:gd name="adj" fmla="val 5333"/>
            </a:avLst>
          </a:prstGeom>
          <a:solidFill>
            <a:schemeClr val="bg2"/>
          </a:solidFill>
          <a:ln/>
        </p:spPr>
      </p:sp>
      <p:sp>
        <p:nvSpPr>
          <p:cNvPr id="12" name="Text 9"/>
          <p:cNvSpPr txBox="1"/>
          <p:nvPr/>
        </p:nvSpPr>
        <p:spPr>
          <a:xfrm>
            <a:off x="6281928" y="3337560"/>
            <a:ext cx="2203704" cy="274320"/>
          </a:xfrm>
          <a:prstGeom prst="rect">
            <a:avLst/>
          </a:prstGeom>
          <a:noFill/>
          <a:ln/>
        </p:spPr>
        <p:txBody>
          <a:bodyPr wrap="square" lIns="0" tIns="0" rIns="0" bIns="0" rtlCol="0" anchor="t"/>
          <a:lstStyle/>
          <a:p>
            <a:pPr indent="0" marL="0">
              <a:buNone/>
            </a:pPr>
            <a:r>
              <a:rPr lang="en-US" sz="1400" b="1" dirty="0">
                <a:solidFill>
                  <a:schemeClr val="accent1"/>
                </a:solidFill>
              </a:rPr>
              <a:t>규칙에 적용하면</a:t>
            </a:r>
            <a:endParaRPr lang="en-US" sz="1400" dirty="0"/>
          </a:p>
        </p:txBody>
      </p:sp>
      <p:sp>
        <p:nvSpPr>
          <p:cNvPr id="13" name="Text 10"/>
          <p:cNvSpPr txBox="1"/>
          <p:nvPr/>
        </p:nvSpPr>
        <p:spPr>
          <a:xfrm>
            <a:off x="6281928" y="3657600"/>
            <a:ext cx="2203704" cy="822960"/>
          </a:xfrm>
          <a:prstGeom prst="rect">
            <a:avLst/>
          </a:prstGeom>
          <a:noFill/>
          <a:ln/>
        </p:spPr>
        <p:txBody>
          <a:bodyPr wrap="square" lIns="0" tIns="0" rIns="0" bIns="0" rtlCol="0" anchor="t"/>
          <a:lstStyle/>
          <a:p>
            <a:pPr indent="0" marL="0">
              <a:buNone/>
            </a:pPr>
            <a:r>
              <a:rPr lang="en-US" sz="1100" dirty="0">
                <a:solidFill>
                  <a:schemeClr val="accent6"/>
                </a:solidFill>
              </a:rPr>
              <a:t>특정 플레이 방식에 보너스</a:t>
            </a:r>
            <a:endParaRPr lang="en-US" sz="1100" dirty="0"/>
          </a:p>
          <a:p>
            <a:pPr indent="0" marL="0">
              <a:buNone/>
            </a:pPr>
            <a:r>
              <a:rPr lang="en-US" sz="1100" dirty="0">
                <a:solidFill>
                  <a:schemeClr val="accent6"/>
                </a:solidFill>
              </a:rPr>
              <a:t>의사결정 자체가 사라짐</a:t>
            </a:r>
            <a:endParaRPr lang="en-US" sz="1100" dirty="0"/>
          </a:p>
        </p:txBody>
      </p:sp>
      <p:sp>
        <p:nvSpPr>
          <p:cNvPr id="25" name="Slide Number Placeholder 0"/>
          <p:cNvSpPr>
            <a:spLocks noGrp="1"/>
          </p:cNvSpPr>
          <p:nvPr>
            <p:ph type="sldNum" sz="quarter" idx="4294967295"/>
          </p:nvPr>
        </p:nvSpPr>
        <p:spPr>
          <a:xfrm>
            <a:off x="8138160" y="48006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38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566928"/>
          </a:xfrm>
          <a:prstGeom prst="rect">
            <a:avLst/>
          </a:prstGeom>
          <a:noFill/>
          <a:ln/>
        </p:spPr>
        <p:txBody>
          <a:bodyPr wrap="square" lIns="0" tIns="0" rIns="0" bIns="0" rtlCol="0" anchor="ctr"/>
          <a:lstStyle/>
          <a:p>
            <a:pPr algn="l" indent="0" marL="0">
              <a:buNone/>
            </a:pPr>
            <a:r>
              <a:rPr lang="en-US" sz="3000" b="1" dirty="0">
                <a:solidFill>
                  <a:schemeClr val="tx1"/>
                </a:solidFill>
              </a:rPr>
              <a:t>수수료: 진입 1회, 종료 1회, 면제 없음</a:t>
            </a:r>
            <a:endParaRPr lang="en-US" sz="3000" dirty="0"/>
          </a:p>
        </p:txBody>
      </p:sp>
      <p:sp>
        <p:nvSpPr>
          <p:cNvPr id="3" name="Text 0"/>
          <p:cNvSpPr/>
          <p:nvPr>
            <p:ph idx="101" type="body" hasCustomPrompt="1"/>
          </p:nvPr>
        </p:nvSpPr>
        <p:spPr>
          <a:xfrm>
            <a:off x="457200" y="859536"/>
            <a:ext cx="8229600" cy="329184"/>
          </a:xfrm>
          <a:prstGeom prst="rect">
            <a:avLst/>
          </a:prstGeom>
          <a:noFill/>
          <a:ln/>
        </p:spPr>
        <p:txBody>
          <a:bodyPr wrap="square" lIns="0" tIns="0" rIns="0" bIns="0" rtlCol="0" anchor="t"/>
          <a:lstStyle/>
          <a:p>
            <a:pPr algn="l" indent="0" marL="0">
              <a:buNone/>
            </a:pPr>
            <a:r>
              <a:rPr lang="en-US" sz="1400" dirty="0">
                <a:solidFill>
                  <a:schemeClr val="accent6"/>
                </a:solidFill>
              </a:rPr>
              <a:t>수수료율 0.15%, 종료 사유와 관계없이 같은 규칙</a:t>
            </a:r>
            <a:endParaRPr lang="en-US" sz="1400" dirty="0"/>
          </a:p>
        </p:txBody>
      </p:sp>
      <p:sp>
        <p:nvSpPr>
          <p:cNvPr id="4" name="Text 2"/>
          <p:cNvSpPr txBox="1"/>
          <p:nvPr/>
        </p:nvSpPr>
        <p:spPr>
          <a:xfrm>
            <a:off x="457200" y="1371600"/>
            <a:ext cx="4023360" cy="274320"/>
          </a:xfrm>
          <a:prstGeom prst="rect">
            <a:avLst/>
          </a:prstGeom>
          <a:noFill/>
          <a:ln/>
        </p:spPr>
        <p:txBody>
          <a:bodyPr wrap="square" lIns="0" tIns="0" rIns="0" bIns="0" rtlCol="0" anchor="t"/>
          <a:lstStyle/>
          <a:p>
            <a:pPr indent="0" marL="0">
              <a:buNone/>
            </a:pPr>
            <a:r>
              <a:rPr lang="en-US" sz="1300" b="1" dirty="0">
                <a:solidFill>
                  <a:schemeClr val="tx1"/>
                </a:solidFill>
              </a:rPr>
              <a:t>부과 시점과 기준가</a:t>
            </a:r>
            <a:endParaRPr lang="en-US" sz="1300" dirty="0"/>
          </a:p>
        </p:txBody>
      </p:sp>
      <p:sp>
        <p:nvSpPr>
          <p:cNvPr id="5" name="fee-1"/>
          <p:cNvSpPr/>
          <p:nvPr/>
        </p:nvSpPr>
        <p:spPr>
          <a:xfrm>
            <a:off x="457200" y="1737360"/>
            <a:ext cx="4023360" cy="566928"/>
          </a:xfrm>
          <a:prstGeom prst="roundRect">
            <a:avLst>
              <a:gd name="adj" fmla="val 12903"/>
            </a:avLst>
          </a:prstGeom>
          <a:solidFill>
            <a:schemeClr val="bg2"/>
          </a:solidFill>
          <a:ln/>
        </p:spPr>
      </p:sp>
      <p:sp>
        <p:nvSpPr>
          <p:cNvPr id="6" name="Text 4"/>
          <p:cNvSpPr txBox="1"/>
          <p:nvPr/>
        </p:nvSpPr>
        <p:spPr>
          <a:xfrm>
            <a:off x="640080" y="1737360"/>
            <a:ext cx="1737360" cy="566928"/>
          </a:xfrm>
          <a:prstGeom prst="rect">
            <a:avLst/>
          </a:prstGeom>
          <a:noFill/>
          <a:ln/>
        </p:spPr>
        <p:txBody>
          <a:bodyPr wrap="square" lIns="0" tIns="0" rIns="0" bIns="0" rtlCol="0" anchor="ctr"/>
          <a:lstStyle/>
          <a:p>
            <a:pPr indent="0" marL="0">
              <a:buNone/>
            </a:pPr>
            <a:r>
              <a:rPr lang="en-US" sz="1300" b="1" dirty="0">
                <a:solidFill>
                  <a:schemeClr val="tx1"/>
                </a:solidFill>
              </a:rPr>
              <a:t>진입 (매수)</a:t>
            </a:r>
            <a:endParaRPr lang="en-US" sz="1300" dirty="0"/>
          </a:p>
        </p:txBody>
      </p:sp>
      <p:sp>
        <p:nvSpPr>
          <p:cNvPr id="7" name="Text 5"/>
          <p:cNvSpPr txBox="1"/>
          <p:nvPr/>
        </p:nvSpPr>
        <p:spPr>
          <a:xfrm>
            <a:off x="2286000" y="1737360"/>
            <a:ext cx="1417320" cy="566928"/>
          </a:xfrm>
          <a:prstGeom prst="rect">
            <a:avLst/>
          </a:prstGeom>
          <a:noFill/>
          <a:ln/>
        </p:spPr>
        <p:txBody>
          <a:bodyPr wrap="square" lIns="0" tIns="0" rIns="0" bIns="0" rtlCol="0" anchor="ctr"/>
          <a:lstStyle/>
          <a:p>
            <a:pPr indent="0" marL="0">
              <a:buNone/>
            </a:pPr>
            <a:r>
              <a:rPr lang="en-US" sz="1100" dirty="0">
                <a:solidFill>
                  <a:schemeClr val="accent6"/>
                </a:solidFill>
              </a:rPr>
              <a:t>진입가</a:t>
            </a:r>
            <a:endParaRPr lang="en-US" sz="1100" dirty="0"/>
          </a:p>
        </p:txBody>
      </p:sp>
      <p:sp>
        <p:nvSpPr>
          <p:cNvPr id="8" name="Text 6"/>
          <p:cNvSpPr txBox="1"/>
          <p:nvPr/>
        </p:nvSpPr>
        <p:spPr>
          <a:xfrm>
            <a:off x="3749040" y="1737360"/>
            <a:ext cx="548640" cy="566928"/>
          </a:xfrm>
          <a:prstGeom prst="rect">
            <a:avLst/>
          </a:prstGeom>
          <a:noFill/>
          <a:ln/>
        </p:spPr>
        <p:txBody>
          <a:bodyPr wrap="square" lIns="0" tIns="0" rIns="0" bIns="0" rtlCol="0" anchor="ctr"/>
          <a:lstStyle/>
          <a:p>
            <a:pPr algn="r" indent="0" marL="0">
              <a:buNone/>
            </a:pPr>
            <a:r>
              <a:rPr lang="en-US" sz="1200" b="1" dirty="0">
                <a:solidFill>
                  <a:schemeClr val="accent1"/>
                </a:solidFill>
              </a:rPr>
              <a:t>부과</a:t>
            </a:r>
            <a:endParaRPr lang="en-US" sz="1200" dirty="0"/>
          </a:p>
        </p:txBody>
      </p:sp>
      <p:sp>
        <p:nvSpPr>
          <p:cNvPr id="9" name="fee-2"/>
          <p:cNvSpPr/>
          <p:nvPr/>
        </p:nvSpPr>
        <p:spPr>
          <a:xfrm>
            <a:off x="457200" y="2423160"/>
            <a:ext cx="4023360" cy="566928"/>
          </a:xfrm>
          <a:prstGeom prst="roundRect">
            <a:avLst>
              <a:gd name="adj" fmla="val 12903"/>
            </a:avLst>
          </a:prstGeom>
          <a:solidFill>
            <a:schemeClr val="bg2"/>
          </a:solidFill>
          <a:ln/>
        </p:spPr>
      </p:sp>
      <p:sp>
        <p:nvSpPr>
          <p:cNvPr id="10" name="Text 8"/>
          <p:cNvSpPr txBox="1"/>
          <p:nvPr/>
        </p:nvSpPr>
        <p:spPr>
          <a:xfrm>
            <a:off x="640080" y="2423160"/>
            <a:ext cx="1737360" cy="566928"/>
          </a:xfrm>
          <a:prstGeom prst="rect">
            <a:avLst/>
          </a:prstGeom>
          <a:noFill/>
          <a:ln/>
        </p:spPr>
        <p:txBody>
          <a:bodyPr wrap="square" lIns="0" tIns="0" rIns="0" bIns="0" rtlCol="0" anchor="ctr"/>
          <a:lstStyle/>
          <a:p>
            <a:pPr indent="0" marL="0">
              <a:buNone/>
            </a:pPr>
            <a:r>
              <a:rPr lang="en-US" sz="1300" b="1" dirty="0">
                <a:solidFill>
                  <a:schemeClr val="tx1"/>
                </a:solidFill>
              </a:rPr>
              <a:t>정상 매도</a:t>
            </a:r>
            <a:endParaRPr lang="en-US" sz="1300" dirty="0"/>
          </a:p>
        </p:txBody>
      </p:sp>
      <p:sp>
        <p:nvSpPr>
          <p:cNvPr id="11" name="Text 9"/>
          <p:cNvSpPr txBox="1"/>
          <p:nvPr/>
        </p:nvSpPr>
        <p:spPr>
          <a:xfrm>
            <a:off x="2286000" y="2423160"/>
            <a:ext cx="1417320" cy="566928"/>
          </a:xfrm>
          <a:prstGeom prst="rect">
            <a:avLst/>
          </a:prstGeom>
          <a:noFill/>
          <a:ln/>
        </p:spPr>
        <p:txBody>
          <a:bodyPr wrap="square" lIns="0" tIns="0" rIns="0" bIns="0" rtlCol="0" anchor="ctr"/>
          <a:lstStyle/>
          <a:p>
            <a:pPr indent="0" marL="0">
              <a:buNone/>
            </a:pPr>
            <a:r>
              <a:rPr lang="en-US" sz="1100" dirty="0">
                <a:solidFill>
                  <a:schemeClr val="accent6"/>
                </a:solidFill>
              </a:rPr>
              <a:t>매도 시점 현재가</a:t>
            </a:r>
            <a:endParaRPr lang="en-US" sz="1100" dirty="0"/>
          </a:p>
        </p:txBody>
      </p:sp>
      <p:sp>
        <p:nvSpPr>
          <p:cNvPr id="12" name="Text 10"/>
          <p:cNvSpPr txBox="1"/>
          <p:nvPr/>
        </p:nvSpPr>
        <p:spPr>
          <a:xfrm>
            <a:off x="3749040" y="2423160"/>
            <a:ext cx="548640" cy="566928"/>
          </a:xfrm>
          <a:prstGeom prst="rect">
            <a:avLst/>
          </a:prstGeom>
          <a:noFill/>
          <a:ln/>
        </p:spPr>
        <p:txBody>
          <a:bodyPr wrap="square" lIns="0" tIns="0" rIns="0" bIns="0" rtlCol="0" anchor="ctr"/>
          <a:lstStyle/>
          <a:p>
            <a:pPr algn="r" indent="0" marL="0">
              <a:buNone/>
            </a:pPr>
            <a:r>
              <a:rPr lang="en-US" sz="1200" b="1" dirty="0">
                <a:solidFill>
                  <a:schemeClr val="accent1"/>
                </a:solidFill>
              </a:rPr>
              <a:t>부과</a:t>
            </a:r>
            <a:endParaRPr lang="en-US" sz="1200" dirty="0"/>
          </a:p>
        </p:txBody>
      </p:sp>
      <p:sp>
        <p:nvSpPr>
          <p:cNvPr id="13" name="fee-3"/>
          <p:cNvSpPr/>
          <p:nvPr/>
        </p:nvSpPr>
        <p:spPr>
          <a:xfrm>
            <a:off x="457200" y="3108960"/>
            <a:ext cx="4023360" cy="566928"/>
          </a:xfrm>
          <a:prstGeom prst="roundRect">
            <a:avLst>
              <a:gd name="adj" fmla="val 12903"/>
            </a:avLst>
          </a:prstGeom>
          <a:solidFill>
            <a:schemeClr val="bg2"/>
          </a:solidFill>
          <a:ln/>
        </p:spPr>
      </p:sp>
      <p:sp>
        <p:nvSpPr>
          <p:cNvPr id="14" name="Text 12"/>
          <p:cNvSpPr txBox="1"/>
          <p:nvPr/>
        </p:nvSpPr>
        <p:spPr>
          <a:xfrm>
            <a:off x="640080" y="3108960"/>
            <a:ext cx="1737360" cy="566928"/>
          </a:xfrm>
          <a:prstGeom prst="rect">
            <a:avLst/>
          </a:prstGeom>
          <a:noFill/>
          <a:ln/>
        </p:spPr>
        <p:txBody>
          <a:bodyPr wrap="square" lIns="0" tIns="0" rIns="0" bIns="0" rtlCol="0" anchor="ctr"/>
          <a:lstStyle/>
          <a:p>
            <a:pPr indent="0" marL="0">
              <a:buNone/>
            </a:pPr>
            <a:r>
              <a:rPr lang="en-US" sz="1300" b="1" dirty="0">
                <a:solidFill>
                  <a:schemeClr val="tx1"/>
                </a:solidFill>
              </a:rPr>
              <a:t>강제 청산</a:t>
            </a:r>
            <a:endParaRPr lang="en-US" sz="1300" dirty="0"/>
          </a:p>
        </p:txBody>
      </p:sp>
      <p:sp>
        <p:nvSpPr>
          <p:cNvPr id="15" name="Text 13"/>
          <p:cNvSpPr txBox="1"/>
          <p:nvPr/>
        </p:nvSpPr>
        <p:spPr>
          <a:xfrm>
            <a:off x="2286000" y="3108960"/>
            <a:ext cx="1417320" cy="566928"/>
          </a:xfrm>
          <a:prstGeom prst="rect">
            <a:avLst/>
          </a:prstGeom>
          <a:noFill/>
          <a:ln/>
        </p:spPr>
        <p:txBody>
          <a:bodyPr wrap="square" lIns="0" tIns="0" rIns="0" bIns="0" rtlCol="0" anchor="ctr"/>
          <a:lstStyle/>
          <a:p>
            <a:pPr indent="0" marL="0">
              <a:buNone/>
            </a:pPr>
            <a:r>
              <a:rPr lang="en-US" sz="1100" dirty="0">
                <a:solidFill>
                  <a:schemeClr val="accent6"/>
                </a:solidFill>
              </a:rPr>
              <a:t>청산된 틱의 현재가</a:t>
            </a:r>
            <a:endParaRPr lang="en-US" sz="1100" dirty="0"/>
          </a:p>
        </p:txBody>
      </p:sp>
      <p:sp>
        <p:nvSpPr>
          <p:cNvPr id="16" name="Text 14"/>
          <p:cNvSpPr txBox="1"/>
          <p:nvPr/>
        </p:nvSpPr>
        <p:spPr>
          <a:xfrm>
            <a:off x="3749040" y="3108960"/>
            <a:ext cx="548640" cy="566928"/>
          </a:xfrm>
          <a:prstGeom prst="rect">
            <a:avLst/>
          </a:prstGeom>
          <a:noFill/>
          <a:ln/>
        </p:spPr>
        <p:txBody>
          <a:bodyPr wrap="square" lIns="0" tIns="0" rIns="0" bIns="0" rtlCol="0" anchor="ctr"/>
          <a:lstStyle/>
          <a:p>
            <a:pPr algn="r" indent="0" marL="0">
              <a:buNone/>
            </a:pPr>
            <a:r>
              <a:rPr lang="en-US" sz="1200" b="1" dirty="0">
                <a:solidFill>
                  <a:schemeClr val="accent1"/>
                </a:solidFill>
              </a:rPr>
              <a:t>부과</a:t>
            </a:r>
            <a:endParaRPr lang="en-US" sz="1200" dirty="0"/>
          </a:p>
        </p:txBody>
      </p:sp>
      <p:sp>
        <p:nvSpPr>
          <p:cNvPr id="17" name="fee-4"/>
          <p:cNvSpPr/>
          <p:nvPr/>
        </p:nvSpPr>
        <p:spPr>
          <a:xfrm>
            <a:off x="457200" y="3794760"/>
            <a:ext cx="4023360" cy="566928"/>
          </a:xfrm>
          <a:prstGeom prst="roundRect">
            <a:avLst>
              <a:gd name="adj" fmla="val 12903"/>
            </a:avLst>
          </a:prstGeom>
          <a:solidFill>
            <a:schemeClr val="bg2"/>
          </a:solidFill>
          <a:ln/>
        </p:spPr>
      </p:sp>
      <p:sp>
        <p:nvSpPr>
          <p:cNvPr id="18" name="Text 16"/>
          <p:cNvSpPr txBox="1"/>
          <p:nvPr/>
        </p:nvSpPr>
        <p:spPr>
          <a:xfrm>
            <a:off x="640080" y="3794760"/>
            <a:ext cx="1737360" cy="566928"/>
          </a:xfrm>
          <a:prstGeom prst="rect">
            <a:avLst/>
          </a:prstGeom>
          <a:noFill/>
          <a:ln/>
        </p:spPr>
        <p:txBody>
          <a:bodyPr wrap="square" lIns="0" tIns="0" rIns="0" bIns="0" rtlCol="0" anchor="ctr"/>
          <a:lstStyle/>
          <a:p>
            <a:pPr indent="0" marL="0">
              <a:buNone/>
            </a:pPr>
            <a:r>
              <a:rPr lang="en-US" sz="1300" b="1" dirty="0">
                <a:solidFill>
                  <a:schemeClr val="tx1"/>
                </a:solidFill>
              </a:rPr>
              <a:t>판 종료 시 정리</a:t>
            </a:r>
            <a:endParaRPr lang="en-US" sz="1300" dirty="0"/>
          </a:p>
        </p:txBody>
      </p:sp>
      <p:sp>
        <p:nvSpPr>
          <p:cNvPr id="19" name="Text 17"/>
          <p:cNvSpPr txBox="1"/>
          <p:nvPr/>
        </p:nvSpPr>
        <p:spPr>
          <a:xfrm>
            <a:off x="2286000" y="3794760"/>
            <a:ext cx="1417320" cy="566928"/>
          </a:xfrm>
          <a:prstGeom prst="rect">
            <a:avLst/>
          </a:prstGeom>
          <a:noFill/>
          <a:ln/>
        </p:spPr>
        <p:txBody>
          <a:bodyPr wrap="square" lIns="0" tIns="0" rIns="0" bIns="0" rtlCol="0" anchor="ctr"/>
          <a:lstStyle/>
          <a:p>
            <a:pPr indent="0" marL="0">
              <a:buNone/>
            </a:pPr>
            <a:r>
              <a:rPr lang="en-US" sz="1100" dirty="0">
                <a:solidFill>
                  <a:schemeClr val="accent6"/>
                </a:solidFill>
              </a:rPr>
              <a:t>마지막 틱의 현재가</a:t>
            </a:r>
            <a:endParaRPr lang="en-US" sz="1100" dirty="0"/>
          </a:p>
        </p:txBody>
      </p:sp>
      <p:sp>
        <p:nvSpPr>
          <p:cNvPr id="20" name="Text 18"/>
          <p:cNvSpPr txBox="1"/>
          <p:nvPr/>
        </p:nvSpPr>
        <p:spPr>
          <a:xfrm>
            <a:off x="3749040" y="3794760"/>
            <a:ext cx="548640" cy="566928"/>
          </a:xfrm>
          <a:prstGeom prst="rect">
            <a:avLst/>
          </a:prstGeom>
          <a:noFill/>
          <a:ln/>
        </p:spPr>
        <p:txBody>
          <a:bodyPr wrap="square" lIns="0" tIns="0" rIns="0" bIns="0" rtlCol="0" anchor="ctr"/>
          <a:lstStyle/>
          <a:p>
            <a:pPr algn="r" indent="0" marL="0">
              <a:buNone/>
            </a:pPr>
            <a:r>
              <a:rPr lang="en-US" sz="1200" b="1" dirty="0">
                <a:solidFill>
                  <a:schemeClr val="accent1"/>
                </a:solidFill>
              </a:rPr>
              <a:t>부과</a:t>
            </a:r>
            <a:endParaRPr lang="en-US" sz="1200" dirty="0"/>
          </a:p>
        </p:txBody>
      </p:sp>
      <p:sp>
        <p:nvSpPr>
          <p:cNvPr id="21" name="Text 19"/>
          <p:cNvSpPr txBox="1"/>
          <p:nvPr/>
        </p:nvSpPr>
        <p:spPr>
          <a:xfrm>
            <a:off x="4846320" y="1371600"/>
            <a:ext cx="3840480" cy="274320"/>
          </a:xfrm>
          <a:prstGeom prst="rect">
            <a:avLst/>
          </a:prstGeom>
          <a:noFill/>
          <a:ln/>
        </p:spPr>
        <p:txBody>
          <a:bodyPr wrap="square" lIns="0" tIns="0" rIns="0" bIns="0" rtlCol="0" anchor="t"/>
          <a:lstStyle/>
          <a:p>
            <a:pPr indent="0" marL="0">
              <a:buNone/>
            </a:pPr>
            <a:r>
              <a:rPr lang="en-US" sz="1300" b="1" dirty="0">
                <a:solidFill>
                  <a:schemeClr val="tx1"/>
                </a:solidFill>
              </a:rPr>
              <a:t>종료 정리만 면제하면</a:t>
            </a:r>
            <a:endParaRPr lang="en-US" sz="1300" dirty="0"/>
          </a:p>
        </p:txBody>
      </p:sp>
      <p:sp>
        <p:nvSpPr>
          <p:cNvPr id="22" name="Shape 20"/>
          <p:cNvSpPr/>
          <p:nvPr/>
        </p:nvSpPr>
        <p:spPr>
          <a:xfrm>
            <a:off x="4846320" y="1837944"/>
            <a:ext cx="365760" cy="365760"/>
          </a:xfrm>
          <a:prstGeom prst="ellipse">
            <a:avLst/>
          </a:prstGeom>
          <a:solidFill>
            <a:schemeClr val="accent1"/>
          </a:solidFill>
          <a:ln/>
        </p:spPr>
      </p:sp>
      <p:sp>
        <p:nvSpPr>
          <p:cNvPr id="23" name="Text 21"/>
          <p:cNvSpPr txBox="1"/>
          <p:nvPr/>
        </p:nvSpPr>
        <p:spPr>
          <a:xfrm>
            <a:off x="4846320" y="1837944"/>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24" name="Text 22"/>
          <p:cNvSpPr txBox="1"/>
          <p:nvPr/>
        </p:nvSpPr>
        <p:spPr>
          <a:xfrm>
            <a:off x="5349240" y="1737360"/>
            <a:ext cx="3337560" cy="566928"/>
          </a:xfrm>
          <a:prstGeom prst="rect">
            <a:avLst/>
          </a:prstGeom>
          <a:noFill/>
          <a:ln/>
        </p:spPr>
        <p:txBody>
          <a:bodyPr wrap="square" lIns="0" tIns="0" rIns="0" bIns="0" rtlCol="0" anchor="ctr"/>
          <a:lstStyle/>
          <a:p>
            <a:pPr indent="0" marL="0">
              <a:buNone/>
            </a:pPr>
            <a:r>
              <a:rPr lang="en-US" sz="1300" dirty="0">
                <a:solidFill>
                  <a:schemeClr val="tx1"/>
                </a:solidFill>
              </a:rPr>
              <a:t>마지막 직전에 파는 쪽이 수수료를 더 냄</a:t>
            </a:r>
            <a:endParaRPr lang="en-US" sz="1300" dirty="0"/>
          </a:p>
        </p:txBody>
      </p:sp>
      <p:sp>
        <p:nvSpPr>
          <p:cNvPr id="25" name="Shape 23"/>
          <p:cNvSpPr/>
          <p:nvPr/>
        </p:nvSpPr>
        <p:spPr>
          <a:xfrm>
            <a:off x="4846320" y="2523744"/>
            <a:ext cx="365760" cy="365760"/>
          </a:xfrm>
          <a:prstGeom prst="ellipse">
            <a:avLst/>
          </a:prstGeom>
          <a:solidFill>
            <a:schemeClr val="accent1"/>
          </a:solidFill>
          <a:ln/>
        </p:spPr>
      </p:sp>
      <p:sp>
        <p:nvSpPr>
          <p:cNvPr id="26" name="Text 24"/>
          <p:cNvSpPr txBox="1"/>
          <p:nvPr/>
        </p:nvSpPr>
        <p:spPr>
          <a:xfrm>
            <a:off x="4846320" y="2523744"/>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7" name="Text 25"/>
          <p:cNvSpPr txBox="1"/>
          <p:nvPr/>
        </p:nvSpPr>
        <p:spPr>
          <a:xfrm>
            <a:off x="5349240" y="2423160"/>
            <a:ext cx="3337560" cy="566928"/>
          </a:xfrm>
          <a:prstGeom prst="rect">
            <a:avLst/>
          </a:prstGeom>
          <a:noFill/>
          <a:ln/>
        </p:spPr>
        <p:txBody>
          <a:bodyPr wrap="square" lIns="0" tIns="0" rIns="0" bIns="0" rtlCol="0" anchor="ctr"/>
          <a:lstStyle/>
          <a:p>
            <a:pPr indent="0" marL="0">
              <a:buNone/>
            </a:pPr>
            <a:r>
              <a:rPr lang="en-US" sz="1300" dirty="0">
                <a:solidFill>
                  <a:schemeClr val="tx1"/>
                </a:solidFill>
              </a:rPr>
              <a:t>합리적인 플레이어는 손절하지 않게 됨</a:t>
            </a:r>
            <a:endParaRPr lang="en-US" sz="1300" dirty="0"/>
          </a:p>
        </p:txBody>
      </p:sp>
      <p:sp>
        <p:nvSpPr>
          <p:cNvPr id="28" name="Shape 26"/>
          <p:cNvSpPr/>
          <p:nvPr/>
        </p:nvSpPr>
        <p:spPr>
          <a:xfrm>
            <a:off x="4846320" y="3209544"/>
            <a:ext cx="365760" cy="365760"/>
          </a:xfrm>
          <a:prstGeom prst="ellipse">
            <a:avLst/>
          </a:prstGeom>
          <a:solidFill>
            <a:schemeClr val="accent1"/>
          </a:solidFill>
          <a:ln/>
        </p:spPr>
      </p:sp>
      <p:sp>
        <p:nvSpPr>
          <p:cNvPr id="29" name="Text 27"/>
          <p:cNvSpPr txBox="1"/>
          <p:nvPr/>
        </p:nvSpPr>
        <p:spPr>
          <a:xfrm>
            <a:off x="4846320" y="3209544"/>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30" name="Text 28"/>
          <p:cNvSpPr txBox="1"/>
          <p:nvPr/>
        </p:nvSpPr>
        <p:spPr>
          <a:xfrm>
            <a:off x="5349240" y="3108960"/>
            <a:ext cx="3337560" cy="566928"/>
          </a:xfrm>
          <a:prstGeom prst="rect">
            <a:avLst/>
          </a:prstGeom>
          <a:noFill/>
          <a:ln/>
        </p:spPr>
        <p:txBody>
          <a:bodyPr wrap="square" lIns="0" tIns="0" rIns="0" bIns="0" rtlCol="0" anchor="ctr"/>
          <a:lstStyle/>
          <a:p>
            <a:pPr indent="0" marL="0">
              <a:buNone/>
            </a:pPr>
            <a:r>
              <a:rPr lang="en-US" sz="1300" dirty="0">
                <a:solidFill>
                  <a:schemeClr val="tx1"/>
                </a:solidFill>
              </a:rPr>
              <a:t>팔지 말지 고민하게 만든다는 목적이 사라짐</a:t>
            </a:r>
            <a:endParaRPr lang="en-US" sz="1300" dirty="0"/>
          </a:p>
        </p:txBody>
      </p:sp>
      <p:sp>
        <p:nvSpPr>
          <p:cNvPr id="31" name="Shape 29"/>
          <p:cNvSpPr/>
          <p:nvPr/>
        </p:nvSpPr>
        <p:spPr>
          <a:xfrm>
            <a:off x="4846320" y="3895344"/>
            <a:ext cx="365760" cy="365760"/>
          </a:xfrm>
          <a:prstGeom prst="ellipse">
            <a:avLst/>
          </a:prstGeom>
          <a:solidFill>
            <a:schemeClr val="accent2"/>
          </a:solidFill>
          <a:ln/>
        </p:spPr>
      </p:sp>
      <p:sp>
        <p:nvSpPr>
          <p:cNvPr id="32" name="Text 30"/>
          <p:cNvSpPr txBox="1"/>
          <p:nvPr/>
        </p:nvSpPr>
        <p:spPr>
          <a:xfrm>
            <a:off x="4846320" y="3895344"/>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33" name="Text 31"/>
          <p:cNvSpPr txBox="1"/>
          <p:nvPr/>
        </p:nvSpPr>
        <p:spPr>
          <a:xfrm>
            <a:off x="5349240" y="3794760"/>
            <a:ext cx="3337560" cy="566928"/>
          </a:xfrm>
          <a:prstGeom prst="rect">
            <a:avLst/>
          </a:prstGeom>
          <a:noFill/>
          <a:ln/>
        </p:spPr>
        <p:txBody>
          <a:bodyPr wrap="square" lIns="0" tIns="0" rIns="0" bIns="0" rtlCol="0" anchor="ctr"/>
          <a:lstStyle/>
          <a:p>
            <a:pPr indent="0" marL="0">
              <a:buNone/>
            </a:pPr>
            <a:r>
              <a:rPr lang="en-US" sz="1300" dirty="0">
                <a:solidFill>
                  <a:schemeClr val="tx1"/>
                </a:solidFill>
              </a:rPr>
              <a:t>끝까지 들고 가는 전략만 구조적으로 유리</a:t>
            </a:r>
            <a:endParaRPr lang="en-US" sz="1300" dirty="0"/>
          </a:p>
        </p:txBody>
      </p:sp>
      <p:sp>
        <p:nvSpPr>
          <p:cNvPr id="34" name="Text 32"/>
          <p:cNvSpPr txBox="1"/>
          <p:nvPr/>
        </p:nvSpPr>
        <p:spPr>
          <a:xfrm>
            <a:off x="457200" y="4434840"/>
            <a:ext cx="8229600" cy="274320"/>
          </a:xfrm>
          <a:prstGeom prst="rect">
            <a:avLst/>
          </a:prstGeom>
          <a:noFill/>
          <a:ln/>
        </p:spPr>
        <p:txBody>
          <a:bodyPr wrap="square" lIns="0" tIns="0" rIns="0" bIns="0" rtlCol="0" anchor="t"/>
          <a:lstStyle/>
          <a:p>
            <a:pPr indent="0" marL="0">
              <a:buNone/>
            </a:pPr>
            <a:r>
              <a:rPr lang="en-US" sz="1300" b="1" dirty="0">
                <a:solidFill>
                  <a:schemeClr val="accent1"/>
                </a:solidFill>
              </a:rPr>
              <a:t>그래서 면제 구간 없이 진입 1회, 종료 1회</a:t>
            </a:r>
            <a:endParaRPr lang="en-US" sz="1300" dirty="0"/>
          </a:p>
        </p:txBody>
      </p:sp>
      <p:sp>
        <p:nvSpPr>
          <p:cNvPr id="25" name="Slide Number Placeholder 0"/>
          <p:cNvSpPr>
            <a:spLocks noGrp="1"/>
          </p:cNvSpPr>
          <p:nvPr>
            <p:ph type="sldNum" sz="quarter" idx="4294967295"/>
          </p:nvPr>
        </p:nvSpPr>
        <p:spPr>
          <a:xfrm>
            <a:off x="8138160" y="48006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38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566928"/>
          </a:xfrm>
          <a:prstGeom prst="rect">
            <a:avLst/>
          </a:prstGeom>
          <a:noFill/>
          <a:ln/>
        </p:spPr>
        <p:txBody>
          <a:bodyPr wrap="square" lIns="0" tIns="0" rIns="0" bIns="0" rtlCol="0" anchor="ctr"/>
          <a:lstStyle/>
          <a:p>
            <a:pPr algn="l" indent="0" marL="0">
              <a:buNone/>
            </a:pPr>
            <a:r>
              <a:rPr lang="en-US" sz="3000" b="1" dirty="0">
                <a:solidFill>
                  <a:schemeClr val="tx1"/>
                </a:solidFill>
              </a:rPr>
              <a:t>잔고 불변식: 현금은 항상 0 이상</a:t>
            </a:r>
            <a:endParaRPr lang="en-US" sz="3000" dirty="0"/>
          </a:p>
        </p:txBody>
      </p:sp>
      <p:sp>
        <p:nvSpPr>
          <p:cNvPr id="3" name="Text 0"/>
          <p:cNvSpPr/>
          <p:nvPr>
            <p:ph idx="101" type="body" hasCustomPrompt="1"/>
          </p:nvPr>
        </p:nvSpPr>
        <p:spPr>
          <a:xfrm>
            <a:off x="457200" y="859536"/>
            <a:ext cx="8229600" cy="329184"/>
          </a:xfrm>
          <a:prstGeom prst="rect">
            <a:avLst/>
          </a:prstGeom>
          <a:noFill/>
          <a:ln/>
        </p:spPr>
        <p:txBody>
          <a:bodyPr wrap="square" lIns="0" tIns="0" rIns="0" bIns="0" rtlCol="0" anchor="t"/>
          <a:lstStyle/>
          <a:p>
            <a:pPr algn="l" indent="0" marL="0">
              <a:buNone/>
            </a:pPr>
            <a:r>
              <a:rPr lang="en-US" sz="1400" dirty="0">
                <a:solidFill>
                  <a:schemeClr val="accent6"/>
                </a:solidFill>
              </a:rPr>
              <a:t>수수료는 남은 현금 한도까지만 부과, 매도와 청산과 종료 정리 모두 같은 규칙</a:t>
            </a:r>
            <a:endParaRPr lang="en-US" sz="1400" dirty="0"/>
          </a:p>
        </p:txBody>
      </p:sp>
      <p:sp>
        <p:nvSpPr>
          <p:cNvPr id="4" name="example"/>
          <p:cNvSpPr/>
          <p:nvPr/>
        </p:nvSpPr>
        <p:spPr>
          <a:xfrm>
            <a:off x="457200" y="1371600"/>
            <a:ext cx="3291840" cy="3200400"/>
          </a:xfrm>
          <a:prstGeom prst="roundRect">
            <a:avLst>
              <a:gd name="adj" fmla="val 2286"/>
            </a:avLst>
          </a:prstGeom>
          <a:solidFill>
            <a:schemeClr val="bg2"/>
          </a:solidFill>
          <a:ln/>
        </p:spPr>
      </p:sp>
      <p:sp>
        <p:nvSpPr>
          <p:cNvPr id="5" name="Shape 3"/>
          <p:cNvSpPr/>
          <p:nvPr/>
        </p:nvSpPr>
        <p:spPr>
          <a:xfrm>
            <a:off x="685800" y="1554480"/>
            <a:ext cx="502920" cy="502920"/>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811530" y="1680210"/>
            <a:ext cx="251460" cy="251460"/>
          </a:xfrm>
          <a:prstGeom prst="rect">
            <a:avLst/>
          </a:prstGeom>
        </p:spPr>
      </p:pic>
      <p:sp>
        <p:nvSpPr>
          <p:cNvPr id="7" name="Text 4"/>
          <p:cNvSpPr txBox="1"/>
          <p:nvPr/>
        </p:nvSpPr>
        <p:spPr>
          <a:xfrm>
            <a:off x="1325880" y="1554480"/>
            <a:ext cx="2194560" cy="502920"/>
          </a:xfrm>
          <a:prstGeom prst="rect">
            <a:avLst/>
          </a:prstGeom>
          <a:noFill/>
          <a:ln/>
        </p:spPr>
        <p:txBody>
          <a:bodyPr wrap="square" lIns="0" tIns="0" rIns="0" bIns="0" rtlCol="0" anchor="ctr"/>
          <a:lstStyle/>
          <a:p>
            <a:pPr indent="0" marL="0">
              <a:buNone/>
            </a:pPr>
            <a:r>
              <a:rPr lang="en-US" sz="1500" b="1" dirty="0">
                <a:solidFill>
                  <a:schemeClr val="tx1"/>
                </a:solidFill>
              </a:rPr>
              <a:t>극단적인 경우</a:t>
            </a:r>
            <a:endParaRPr lang="en-US" sz="1500" dirty="0"/>
          </a:p>
        </p:txBody>
      </p:sp>
      <p:sp>
        <p:nvSpPr>
          <p:cNvPr id="8" name="Text 5"/>
          <p:cNvSpPr txBox="1"/>
          <p:nvPr/>
        </p:nvSpPr>
        <p:spPr>
          <a:xfrm>
            <a:off x="685800" y="2286000"/>
            <a:ext cx="2834640" cy="2103120"/>
          </a:xfrm>
          <a:prstGeom prst="rect">
            <a:avLst/>
          </a:prstGeom>
          <a:noFill/>
          <a:ln/>
        </p:spPr>
        <p:txBody>
          <a:bodyPr wrap="square" lIns="0" tIns="0" rIns="0" bIns="0" rtlCol="0" anchor="t"/>
          <a:lstStyle/>
          <a:p>
            <a:pPr indent="0" marL="0">
              <a:buNone/>
            </a:pPr>
            <a:r>
              <a:rPr lang="en-US" sz="1200" b="1" dirty="0">
                <a:solidFill>
                  <a:schemeClr val="tx1"/>
                </a:solidFill>
              </a:rPr>
              <a:t>현금을 전부 걸고 바로 청산</a:t>
            </a:r>
            <a:endParaRPr lang="en-US" sz="1200" dirty="0"/>
          </a:p>
          <a:p>
            <a:pPr indent="0" marL="0">
              <a:buNone/>
            </a:pPr>
            <a:r>
              <a:rPr lang="en-US" sz="1200" dirty="0">
                <a:solidFill>
                  <a:schemeClr val="accent6"/>
                </a:solidFill>
              </a:rPr>
              <a:t>증거금 전액 소멸</a:t>
            </a:r>
            <a:endParaRPr lang="en-US" sz="1200" dirty="0"/>
          </a:p>
          <a:p>
            <a:pPr indent="0" marL="0">
              <a:buNone/>
            </a:pPr>
            <a:r>
              <a:rPr lang="en-US" sz="1200" dirty="0">
                <a:solidFill>
                  <a:schemeClr val="accent6"/>
                </a:solidFill>
              </a:rPr>
              <a:t>청산 수수료가 남은 현금보다 큼</a:t>
            </a:r>
            <a:endParaRPr lang="en-US" sz="1200" dirty="0"/>
          </a:p>
          <a:p>
            <a:pPr indent="0" marL="0">
              <a:buNone/>
            </a:pPr>
            <a:r>
              <a:rPr lang="en-US" sz="1200" dirty="0">
                <a:solidFill>
                  <a:schemeClr val="tx1"/>
                </a:solidFill>
              </a:rPr>
              <a:t> </a:t>
            </a:r>
            <a:endParaRPr lang="en-US" sz="1200" dirty="0"/>
          </a:p>
          <a:p>
            <a:pPr indent="0" marL="0">
              <a:buNone/>
            </a:pPr>
            <a:r>
              <a:rPr lang="en-US" sz="1200" b="1" dirty="0">
                <a:solidFill>
                  <a:schemeClr val="accent1"/>
                </a:solidFill>
              </a:rPr>
              <a:t>결과: 현금 0원</a:t>
            </a:r>
            <a:endParaRPr lang="en-US" sz="1200" dirty="0"/>
          </a:p>
          <a:p>
            <a:pPr indent="0" marL="0">
              <a:buNone/>
            </a:pPr>
            <a:r>
              <a:rPr lang="en-US" sz="1200" dirty="0">
                <a:solidFill>
                  <a:schemeClr val="accent6"/>
                </a:solidFill>
              </a:rPr>
              <a:t>음수로 내려가지 않음, 수익률 하한 −100%</a:t>
            </a:r>
            <a:endParaRPr lang="en-US" sz="1200" dirty="0"/>
          </a:p>
        </p:txBody>
      </p:sp>
      <p:sp>
        <p:nvSpPr>
          <p:cNvPr id="9" name="reason-1"/>
          <p:cNvSpPr/>
          <p:nvPr/>
        </p:nvSpPr>
        <p:spPr>
          <a:xfrm>
            <a:off x="4023360" y="1371600"/>
            <a:ext cx="4663440" cy="713232"/>
          </a:xfrm>
          <a:prstGeom prst="roundRect">
            <a:avLst>
              <a:gd name="adj" fmla="val 10256"/>
            </a:avLst>
          </a:prstGeom>
          <a:solidFill>
            <a:schemeClr val="bg2"/>
          </a:solidFill>
          <a:ln/>
        </p:spPr>
      </p:sp>
      <p:sp>
        <p:nvSpPr>
          <p:cNvPr id="10" name="Text 7"/>
          <p:cNvSpPr txBox="1"/>
          <p:nvPr/>
        </p:nvSpPr>
        <p:spPr>
          <a:xfrm>
            <a:off x="4206240" y="1444752"/>
            <a:ext cx="4297680" cy="274320"/>
          </a:xfrm>
          <a:prstGeom prst="rect">
            <a:avLst/>
          </a:prstGeom>
          <a:noFill/>
          <a:ln/>
        </p:spPr>
        <p:txBody>
          <a:bodyPr wrap="square" lIns="0" tIns="0" rIns="0" bIns="0" rtlCol="0" anchor="t"/>
          <a:lstStyle/>
          <a:p>
            <a:pPr indent="0" marL="0">
              <a:buNone/>
            </a:pPr>
            <a:r>
              <a:rPr lang="en-US" sz="1300" b="1" dirty="0">
                <a:solidFill>
                  <a:schemeClr val="tx1"/>
                </a:solidFill>
              </a:rPr>
              <a:t>증거금 전액 소멸이 이미 최대 페널티</a:t>
            </a:r>
            <a:endParaRPr lang="en-US" sz="1300" dirty="0"/>
          </a:p>
        </p:txBody>
      </p:sp>
      <p:sp>
        <p:nvSpPr>
          <p:cNvPr id="11" name="Text 8"/>
          <p:cNvSpPr txBox="1"/>
          <p:nvPr/>
        </p:nvSpPr>
        <p:spPr>
          <a:xfrm>
            <a:off x="4206240" y="1737360"/>
            <a:ext cx="4297680" cy="274320"/>
          </a:xfrm>
          <a:prstGeom prst="rect">
            <a:avLst/>
          </a:prstGeom>
          <a:noFill/>
          <a:ln/>
        </p:spPr>
        <p:txBody>
          <a:bodyPr wrap="square" lIns="0" tIns="0" rIns="0" bIns="0" rtlCol="0" anchor="t"/>
          <a:lstStyle/>
          <a:p>
            <a:pPr indent="0" marL="0">
              <a:buNone/>
            </a:pPr>
            <a:r>
              <a:rPr lang="en-US" sz="1100" dirty="0">
                <a:solidFill>
                  <a:schemeClr val="accent6"/>
                </a:solidFill>
              </a:rPr>
              <a:t>그 위에 더 빼는 것은 페널티 강화가 아니라 계산의 부산물</a:t>
            </a:r>
            <a:endParaRPr lang="en-US" sz="1100" dirty="0"/>
          </a:p>
        </p:txBody>
      </p:sp>
      <p:sp>
        <p:nvSpPr>
          <p:cNvPr id="12" name="reason-2"/>
          <p:cNvSpPr/>
          <p:nvPr/>
        </p:nvSpPr>
        <p:spPr>
          <a:xfrm>
            <a:off x="4023360" y="2185416"/>
            <a:ext cx="4663440" cy="713232"/>
          </a:xfrm>
          <a:prstGeom prst="roundRect">
            <a:avLst>
              <a:gd name="adj" fmla="val 10256"/>
            </a:avLst>
          </a:prstGeom>
          <a:solidFill>
            <a:schemeClr val="bg2"/>
          </a:solidFill>
          <a:ln/>
        </p:spPr>
      </p:sp>
      <p:sp>
        <p:nvSpPr>
          <p:cNvPr id="13" name="Text 10"/>
          <p:cNvSpPr txBox="1"/>
          <p:nvPr/>
        </p:nvSpPr>
        <p:spPr>
          <a:xfrm>
            <a:off x="4206240" y="2258568"/>
            <a:ext cx="4297680" cy="274320"/>
          </a:xfrm>
          <a:prstGeom prst="rect">
            <a:avLst/>
          </a:prstGeom>
          <a:noFill/>
          <a:ln/>
        </p:spPr>
        <p:txBody>
          <a:bodyPr wrap="square" lIns="0" tIns="0" rIns="0" bIns="0" rtlCol="0" anchor="t"/>
          <a:lstStyle/>
          <a:p>
            <a:pPr indent="0" marL="0">
              <a:buNone/>
            </a:pPr>
            <a:r>
              <a:rPr lang="en-US" sz="1300" b="1" dirty="0">
                <a:solidFill>
                  <a:schemeClr val="tx1"/>
                </a:solidFill>
              </a:rPr>
              <a:t>음수 자산은 버그처럼 보임</a:t>
            </a:r>
            <a:endParaRPr lang="en-US" sz="1300" dirty="0"/>
          </a:p>
        </p:txBody>
      </p:sp>
      <p:sp>
        <p:nvSpPr>
          <p:cNvPr id="14" name="Text 11"/>
          <p:cNvSpPr txBox="1"/>
          <p:nvPr/>
        </p:nvSpPr>
        <p:spPr>
          <a:xfrm>
            <a:off x="4206240" y="2551176"/>
            <a:ext cx="4297680" cy="274320"/>
          </a:xfrm>
          <a:prstGeom prst="rect">
            <a:avLst/>
          </a:prstGeom>
          <a:noFill/>
          <a:ln/>
        </p:spPr>
        <p:txBody>
          <a:bodyPr wrap="square" lIns="0" tIns="0" rIns="0" bIns="0" rtlCol="0" anchor="t"/>
          <a:lstStyle/>
          <a:p>
            <a:pPr indent="0" marL="0">
              <a:buNone/>
            </a:pPr>
            <a:r>
              <a:rPr lang="en-US" sz="1100" dirty="0">
                <a:solidFill>
                  <a:schemeClr val="accent6"/>
                </a:solidFill>
              </a:rPr>
              <a:t>순위표에 수익률 −107% 같은 값이 표시됨</a:t>
            </a:r>
            <a:endParaRPr lang="en-US" sz="1100" dirty="0"/>
          </a:p>
        </p:txBody>
      </p:sp>
      <p:sp>
        <p:nvSpPr>
          <p:cNvPr id="15" name="reason-3"/>
          <p:cNvSpPr/>
          <p:nvPr/>
        </p:nvSpPr>
        <p:spPr>
          <a:xfrm>
            <a:off x="4023360" y="2999232"/>
            <a:ext cx="4663440" cy="713232"/>
          </a:xfrm>
          <a:prstGeom prst="roundRect">
            <a:avLst>
              <a:gd name="adj" fmla="val 10256"/>
            </a:avLst>
          </a:prstGeom>
          <a:solidFill>
            <a:schemeClr val="bg2"/>
          </a:solidFill>
          <a:ln/>
        </p:spPr>
      </p:sp>
      <p:sp>
        <p:nvSpPr>
          <p:cNvPr id="16" name="Text 13"/>
          <p:cNvSpPr txBox="1"/>
          <p:nvPr/>
        </p:nvSpPr>
        <p:spPr>
          <a:xfrm>
            <a:off x="4206240" y="3072384"/>
            <a:ext cx="4297680" cy="274320"/>
          </a:xfrm>
          <a:prstGeom prst="rect">
            <a:avLst/>
          </a:prstGeom>
          <a:noFill/>
          <a:ln/>
        </p:spPr>
        <p:txBody>
          <a:bodyPr wrap="square" lIns="0" tIns="0" rIns="0" bIns="0" rtlCol="0" anchor="t"/>
          <a:lstStyle/>
          <a:p>
            <a:pPr indent="0" marL="0">
              <a:buNone/>
            </a:pPr>
            <a:r>
              <a:rPr lang="en-US" sz="1300" b="1" dirty="0">
                <a:solidFill>
                  <a:schemeClr val="tx1"/>
                </a:solidFill>
              </a:rPr>
              <a:t>청산돼도 재기 가능해야 함</a:t>
            </a:r>
            <a:endParaRPr lang="en-US" sz="1300" dirty="0"/>
          </a:p>
        </p:txBody>
      </p:sp>
      <p:sp>
        <p:nvSpPr>
          <p:cNvPr id="17" name="Text 14"/>
          <p:cNvSpPr txBox="1"/>
          <p:nvPr/>
        </p:nvSpPr>
        <p:spPr>
          <a:xfrm>
            <a:off x="4206240" y="3364992"/>
            <a:ext cx="4297680" cy="274320"/>
          </a:xfrm>
          <a:prstGeom prst="rect">
            <a:avLst/>
          </a:prstGeom>
          <a:noFill/>
          <a:ln/>
        </p:spPr>
        <p:txBody>
          <a:bodyPr wrap="square" lIns="0" tIns="0" rIns="0" bIns="0" rtlCol="0" anchor="t"/>
          <a:lstStyle/>
          <a:p>
            <a:pPr indent="0" marL="0">
              <a:buNone/>
            </a:pPr>
            <a:r>
              <a:rPr lang="en-US" sz="1100" dirty="0">
                <a:solidFill>
                  <a:schemeClr val="accent6"/>
                </a:solidFill>
              </a:rPr>
              <a:t>남은 시간이 관전이 되지 않도록 증거금 격리 유지</a:t>
            </a:r>
            <a:endParaRPr lang="en-US" sz="1100" dirty="0"/>
          </a:p>
        </p:txBody>
      </p:sp>
      <p:sp>
        <p:nvSpPr>
          <p:cNvPr id="18" name="reason-4"/>
          <p:cNvSpPr/>
          <p:nvPr/>
        </p:nvSpPr>
        <p:spPr>
          <a:xfrm>
            <a:off x="4023360" y="3813048"/>
            <a:ext cx="4663440" cy="713232"/>
          </a:xfrm>
          <a:prstGeom prst="roundRect">
            <a:avLst>
              <a:gd name="adj" fmla="val 10256"/>
            </a:avLst>
          </a:prstGeom>
          <a:solidFill>
            <a:schemeClr val="bg2"/>
          </a:solidFill>
          <a:ln/>
        </p:spPr>
      </p:sp>
      <p:sp>
        <p:nvSpPr>
          <p:cNvPr id="19" name="Text 16"/>
          <p:cNvSpPr txBox="1"/>
          <p:nvPr/>
        </p:nvSpPr>
        <p:spPr>
          <a:xfrm>
            <a:off x="4206240" y="3886200"/>
            <a:ext cx="4297680" cy="274320"/>
          </a:xfrm>
          <a:prstGeom prst="rect">
            <a:avLst/>
          </a:prstGeom>
          <a:noFill/>
          <a:ln/>
        </p:spPr>
        <p:txBody>
          <a:bodyPr wrap="square" lIns="0" tIns="0" rIns="0" bIns="0" rtlCol="0" anchor="t"/>
          <a:lstStyle/>
          <a:p>
            <a:pPr indent="0" marL="0">
              <a:buNone/>
            </a:pPr>
            <a:r>
              <a:rPr lang="en-US" sz="1300" b="1" dirty="0">
                <a:solidFill>
                  <a:schemeClr val="tx1"/>
                </a:solidFill>
              </a:rPr>
              <a:t>통제할 수 없는 차이 제거</a:t>
            </a:r>
            <a:endParaRPr lang="en-US" sz="1300" dirty="0"/>
          </a:p>
        </p:txBody>
      </p:sp>
      <p:sp>
        <p:nvSpPr>
          <p:cNvPr id="20" name="Text 17"/>
          <p:cNvSpPr txBox="1"/>
          <p:nvPr/>
        </p:nvSpPr>
        <p:spPr>
          <a:xfrm>
            <a:off x="4206240" y="4178808"/>
            <a:ext cx="4297680" cy="274320"/>
          </a:xfrm>
          <a:prstGeom prst="rect">
            <a:avLst/>
          </a:prstGeom>
          <a:noFill/>
          <a:ln/>
        </p:spPr>
        <p:txBody>
          <a:bodyPr wrap="square" lIns="0" tIns="0" rIns="0" bIns="0" rtlCol="0" anchor="t"/>
          <a:lstStyle/>
          <a:p>
            <a:pPr indent="0" marL="0">
              <a:buNone/>
            </a:pPr>
            <a:r>
              <a:rPr lang="en-US" sz="1100" dirty="0">
                <a:solidFill>
                  <a:schemeClr val="accent6"/>
                </a:solidFill>
              </a:rPr>
              <a:t>청산 수수료는 명목가치 기준이라 비싼 종목일수록 불리</a:t>
            </a:r>
            <a:endParaRPr lang="en-US" sz="1100" dirty="0"/>
          </a:p>
        </p:txBody>
      </p:sp>
      <p:sp>
        <p:nvSpPr>
          <p:cNvPr id="25" name="Slide Number Placeholder 0"/>
          <p:cNvSpPr>
            <a:spLocks noGrp="1"/>
          </p:cNvSpPr>
          <p:nvPr>
            <p:ph type="sldNum" sz="quarter" idx="4294967295"/>
          </p:nvPr>
        </p:nvSpPr>
        <p:spPr>
          <a:xfrm>
            <a:off x="8138160" y="48006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38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566928"/>
          </a:xfrm>
          <a:prstGeom prst="rect">
            <a:avLst/>
          </a:prstGeom>
          <a:noFill/>
          <a:ln/>
        </p:spPr>
        <p:txBody>
          <a:bodyPr wrap="square" lIns="0" tIns="0" rIns="0" bIns="0" rtlCol="0" anchor="ctr"/>
          <a:lstStyle/>
          <a:p>
            <a:pPr algn="l" indent="0" marL="0">
              <a:buNone/>
            </a:pPr>
            <a:r>
              <a:rPr lang="en-US" sz="3000" b="1" dirty="0">
                <a:solidFill>
                  <a:schemeClr val="tx1"/>
                </a:solidFill>
              </a:rPr>
              <a:t>실제 급락 구간 재생: 배율별 결과</a:t>
            </a:r>
            <a:endParaRPr lang="en-US" sz="3000" dirty="0"/>
          </a:p>
        </p:txBody>
      </p:sp>
      <p:sp>
        <p:nvSpPr>
          <p:cNvPr id="3" name="Text 0"/>
          <p:cNvSpPr/>
          <p:nvPr>
            <p:ph idx="101" type="body" hasCustomPrompt="1"/>
          </p:nvPr>
        </p:nvSpPr>
        <p:spPr>
          <a:xfrm>
            <a:off x="457200" y="859536"/>
            <a:ext cx="8229600" cy="329184"/>
          </a:xfrm>
          <a:prstGeom prst="rect">
            <a:avLst/>
          </a:prstGeom>
          <a:noFill/>
          <a:ln/>
        </p:spPr>
        <p:txBody>
          <a:bodyPr wrap="square" lIns="0" tIns="0" rIns="0" bIns="0" rtlCol="0" anchor="t"/>
          <a:lstStyle/>
          <a:p>
            <a:pPr algn="l" indent="0" marL="0">
              <a:buNone/>
            </a:pPr>
            <a:r>
              <a:rPr lang="en-US" sz="1400" dirty="0">
                <a:solidFill>
                  <a:schemeClr val="accent6"/>
                </a:solidFill>
              </a:rPr>
              <a:t>에코프로비엠 일봉 2024-01-11 ~ 2025-01-07 (시작 대비 최저 −65.5%), 시드 100만 원, 증거금 상한 50만 원 동일</a:t>
            </a:r>
            <a:endParaRPr lang="en-US" sz="1400" dirty="0"/>
          </a:p>
        </p:txBody>
      </p:sp>
      <p:sp>
        <p:nvSpPr>
          <p:cNvPr id="4" name="Text 2"/>
          <p:cNvSpPr txBox="1"/>
          <p:nvPr/>
        </p:nvSpPr>
        <p:spPr>
          <a:xfrm>
            <a:off x="457200" y="1600200"/>
            <a:ext cx="548640" cy="384048"/>
          </a:xfrm>
          <a:prstGeom prst="rect">
            <a:avLst/>
          </a:prstGeom>
          <a:noFill/>
          <a:ln/>
        </p:spPr>
        <p:txBody>
          <a:bodyPr wrap="square" lIns="0" tIns="0" rIns="0" bIns="0" rtlCol="0" anchor="ctr"/>
          <a:lstStyle/>
          <a:p>
            <a:pPr indent="0" marL="0">
              <a:buNone/>
            </a:pPr>
            <a:r>
              <a:rPr lang="en-US" sz="1500" b="1" dirty="0">
                <a:solidFill>
                  <a:schemeClr val="tx1"/>
                </a:solidFill>
              </a:rPr>
              <a:t>×3</a:t>
            </a:r>
            <a:endParaRPr lang="en-US" sz="1500" dirty="0"/>
          </a:p>
        </p:txBody>
      </p:sp>
      <p:sp>
        <p:nvSpPr>
          <p:cNvPr id="5" name="Shape 3"/>
          <p:cNvSpPr/>
          <p:nvPr/>
        </p:nvSpPr>
        <p:spPr>
          <a:xfrm>
            <a:off x="1143000" y="1682496"/>
            <a:ext cx="4160520" cy="219456"/>
          </a:xfrm>
          <a:prstGeom prst="rect">
            <a:avLst/>
          </a:prstGeom>
          <a:solidFill>
            <a:schemeClr val="bg2"/>
          </a:solidFill>
          <a:ln/>
        </p:spPr>
      </p:sp>
      <p:sp>
        <p:nvSpPr>
          <p:cNvPr id="6" name="Shape 4"/>
          <p:cNvSpPr/>
          <p:nvPr/>
        </p:nvSpPr>
        <p:spPr>
          <a:xfrm>
            <a:off x="1143000" y="1682496"/>
            <a:ext cx="1490853" cy="219456"/>
          </a:xfrm>
          <a:prstGeom prst="rect">
            <a:avLst/>
          </a:prstGeom>
          <a:solidFill>
            <a:schemeClr val="accent1"/>
          </a:solidFill>
          <a:ln/>
        </p:spPr>
      </p:sp>
      <p:sp>
        <p:nvSpPr>
          <p:cNvPr id="7" name="Shape 5"/>
          <p:cNvSpPr/>
          <p:nvPr/>
        </p:nvSpPr>
        <p:spPr>
          <a:xfrm>
            <a:off x="2514981" y="1673352"/>
            <a:ext cx="237744" cy="237744"/>
          </a:xfrm>
          <a:prstGeom prst="diamond">
            <a:avLst/>
          </a:prstGeom>
          <a:solidFill>
            <a:schemeClr val="accent4"/>
          </a:solidFill>
          <a:ln w="12700">
            <a:solidFill>
              <a:schemeClr val="bg1"/>
            </a:solidFill>
            <a:prstDash val="solid"/>
          </a:ln>
        </p:spPr>
      </p:sp>
      <p:sp>
        <p:nvSpPr>
          <p:cNvPr id="8" name="Text 6"/>
          <p:cNvSpPr txBox="1"/>
          <p:nvPr/>
        </p:nvSpPr>
        <p:spPr>
          <a:xfrm>
            <a:off x="2771013" y="1920240"/>
            <a:ext cx="1188720" cy="228600"/>
          </a:xfrm>
          <a:prstGeom prst="rect">
            <a:avLst/>
          </a:prstGeom>
          <a:noFill/>
          <a:ln/>
        </p:spPr>
        <p:txBody>
          <a:bodyPr wrap="square" lIns="0" tIns="0" rIns="0" bIns="0" rtlCol="0" anchor="t"/>
          <a:lstStyle/>
          <a:p>
            <a:pPr indent="0" marL="0">
              <a:buNone/>
            </a:pPr>
            <a:r>
              <a:rPr lang="en-US" sz="1000" b="1" dirty="0">
                <a:solidFill>
                  <a:schemeClr val="accent2"/>
                </a:solidFill>
              </a:rPr>
              <a:t>86틱 청산</a:t>
            </a:r>
            <a:endParaRPr lang="en-US" sz="1000" dirty="0"/>
          </a:p>
        </p:txBody>
      </p:sp>
      <p:sp>
        <p:nvSpPr>
          <p:cNvPr id="9" name="Text 7"/>
          <p:cNvSpPr txBox="1"/>
          <p:nvPr/>
        </p:nvSpPr>
        <p:spPr>
          <a:xfrm>
            <a:off x="457200" y="2286000"/>
            <a:ext cx="548640" cy="384048"/>
          </a:xfrm>
          <a:prstGeom prst="rect">
            <a:avLst/>
          </a:prstGeom>
          <a:noFill/>
          <a:ln/>
        </p:spPr>
        <p:txBody>
          <a:bodyPr wrap="square" lIns="0" tIns="0" rIns="0" bIns="0" rtlCol="0" anchor="ctr"/>
          <a:lstStyle/>
          <a:p>
            <a:pPr indent="0" marL="0">
              <a:buNone/>
            </a:pPr>
            <a:r>
              <a:rPr lang="en-US" sz="1500" b="1" dirty="0">
                <a:solidFill>
                  <a:schemeClr val="tx1"/>
                </a:solidFill>
              </a:rPr>
              <a:t>×2</a:t>
            </a:r>
            <a:endParaRPr lang="en-US" sz="1500" dirty="0"/>
          </a:p>
        </p:txBody>
      </p:sp>
      <p:sp>
        <p:nvSpPr>
          <p:cNvPr id="10" name="Shape 8"/>
          <p:cNvSpPr/>
          <p:nvPr/>
        </p:nvSpPr>
        <p:spPr>
          <a:xfrm>
            <a:off x="1143000" y="2368296"/>
            <a:ext cx="4160520" cy="219456"/>
          </a:xfrm>
          <a:prstGeom prst="rect">
            <a:avLst/>
          </a:prstGeom>
          <a:solidFill>
            <a:schemeClr val="bg2"/>
          </a:solidFill>
          <a:ln/>
        </p:spPr>
      </p:sp>
      <p:sp>
        <p:nvSpPr>
          <p:cNvPr id="11" name="Shape 9"/>
          <p:cNvSpPr/>
          <p:nvPr/>
        </p:nvSpPr>
        <p:spPr>
          <a:xfrm>
            <a:off x="1143000" y="2368296"/>
            <a:ext cx="2825686" cy="219456"/>
          </a:xfrm>
          <a:prstGeom prst="rect">
            <a:avLst/>
          </a:prstGeom>
          <a:solidFill>
            <a:schemeClr val="accent1"/>
          </a:solidFill>
          <a:ln/>
        </p:spPr>
      </p:sp>
      <p:sp>
        <p:nvSpPr>
          <p:cNvPr id="12" name="Shape 10"/>
          <p:cNvSpPr/>
          <p:nvPr/>
        </p:nvSpPr>
        <p:spPr>
          <a:xfrm>
            <a:off x="3849815" y="2359152"/>
            <a:ext cx="237744" cy="237744"/>
          </a:xfrm>
          <a:prstGeom prst="diamond">
            <a:avLst/>
          </a:prstGeom>
          <a:solidFill>
            <a:schemeClr val="accent4"/>
          </a:solidFill>
          <a:ln w="12700">
            <a:solidFill>
              <a:schemeClr val="bg1"/>
            </a:solidFill>
            <a:prstDash val="solid"/>
          </a:ln>
        </p:spPr>
      </p:sp>
      <p:sp>
        <p:nvSpPr>
          <p:cNvPr id="13" name="Text 11"/>
          <p:cNvSpPr txBox="1"/>
          <p:nvPr/>
        </p:nvSpPr>
        <p:spPr>
          <a:xfrm>
            <a:off x="4105847" y="2606040"/>
            <a:ext cx="1188720" cy="228600"/>
          </a:xfrm>
          <a:prstGeom prst="rect">
            <a:avLst/>
          </a:prstGeom>
          <a:noFill/>
          <a:ln/>
        </p:spPr>
        <p:txBody>
          <a:bodyPr wrap="square" lIns="0" tIns="0" rIns="0" bIns="0" rtlCol="0" anchor="t"/>
          <a:lstStyle/>
          <a:p>
            <a:pPr indent="0" marL="0">
              <a:buNone/>
            </a:pPr>
            <a:r>
              <a:rPr lang="en-US" sz="1000" b="1" dirty="0">
                <a:solidFill>
                  <a:schemeClr val="accent2"/>
                </a:solidFill>
              </a:rPr>
              <a:t>163틱 청산</a:t>
            </a:r>
            <a:endParaRPr lang="en-US" sz="1000" dirty="0"/>
          </a:p>
        </p:txBody>
      </p:sp>
      <p:sp>
        <p:nvSpPr>
          <p:cNvPr id="14" name="Text 12"/>
          <p:cNvSpPr txBox="1"/>
          <p:nvPr/>
        </p:nvSpPr>
        <p:spPr>
          <a:xfrm>
            <a:off x="457200" y="2971800"/>
            <a:ext cx="548640" cy="384048"/>
          </a:xfrm>
          <a:prstGeom prst="rect">
            <a:avLst/>
          </a:prstGeom>
          <a:noFill/>
          <a:ln/>
        </p:spPr>
        <p:txBody>
          <a:bodyPr wrap="square" lIns="0" tIns="0" rIns="0" bIns="0" rtlCol="0" anchor="ctr"/>
          <a:lstStyle/>
          <a:p>
            <a:pPr indent="0" marL="0">
              <a:buNone/>
            </a:pPr>
            <a:r>
              <a:rPr lang="en-US" sz="1500" b="1" dirty="0">
                <a:solidFill>
                  <a:schemeClr val="tx1"/>
                </a:solidFill>
              </a:rPr>
              <a:t>×1</a:t>
            </a:r>
            <a:endParaRPr lang="en-US" sz="1500" dirty="0"/>
          </a:p>
        </p:txBody>
      </p:sp>
      <p:sp>
        <p:nvSpPr>
          <p:cNvPr id="15" name="Shape 13"/>
          <p:cNvSpPr/>
          <p:nvPr/>
        </p:nvSpPr>
        <p:spPr>
          <a:xfrm>
            <a:off x="1143000" y="3054096"/>
            <a:ext cx="4160520" cy="219456"/>
          </a:xfrm>
          <a:prstGeom prst="rect">
            <a:avLst/>
          </a:prstGeom>
          <a:solidFill>
            <a:schemeClr val="bg2"/>
          </a:solidFill>
          <a:ln/>
        </p:spPr>
      </p:sp>
      <p:sp>
        <p:nvSpPr>
          <p:cNvPr id="16" name="Shape 14"/>
          <p:cNvSpPr/>
          <p:nvPr/>
        </p:nvSpPr>
        <p:spPr>
          <a:xfrm>
            <a:off x="1143000" y="3054096"/>
            <a:ext cx="4160520" cy="219456"/>
          </a:xfrm>
          <a:prstGeom prst="rect">
            <a:avLst/>
          </a:prstGeom>
          <a:solidFill>
            <a:schemeClr val="accent1"/>
          </a:solidFill>
          <a:ln/>
        </p:spPr>
      </p:sp>
      <p:sp>
        <p:nvSpPr>
          <p:cNvPr id="17" name="Text 15"/>
          <p:cNvSpPr txBox="1"/>
          <p:nvPr/>
        </p:nvSpPr>
        <p:spPr>
          <a:xfrm>
            <a:off x="4114800" y="3291840"/>
            <a:ext cx="1188720" cy="228600"/>
          </a:xfrm>
          <a:prstGeom prst="rect">
            <a:avLst/>
          </a:prstGeom>
          <a:noFill/>
          <a:ln/>
        </p:spPr>
        <p:txBody>
          <a:bodyPr wrap="square" lIns="0" tIns="0" rIns="0" bIns="0" rtlCol="0" anchor="t"/>
          <a:lstStyle/>
          <a:p>
            <a:pPr indent="0" marL="0">
              <a:buNone/>
            </a:pPr>
            <a:r>
              <a:rPr lang="en-US" sz="1000" b="1" dirty="0">
                <a:solidFill>
                  <a:schemeClr val="accent5"/>
                </a:solidFill>
              </a:rPr>
              <a:t>끝까지 생존</a:t>
            </a:r>
            <a:endParaRPr lang="en-US" sz="1000" dirty="0"/>
          </a:p>
        </p:txBody>
      </p:sp>
      <p:sp>
        <p:nvSpPr>
          <p:cNvPr id="18" name="Text 16"/>
          <p:cNvSpPr txBox="1"/>
          <p:nvPr/>
        </p:nvSpPr>
        <p:spPr>
          <a:xfrm>
            <a:off x="868680" y="3611880"/>
            <a:ext cx="548640" cy="201168"/>
          </a:xfrm>
          <a:prstGeom prst="rect">
            <a:avLst/>
          </a:prstGeom>
          <a:noFill/>
          <a:ln/>
        </p:spPr>
        <p:txBody>
          <a:bodyPr wrap="square" lIns="0" tIns="0" rIns="0" bIns="0" rtlCol="0" anchor="t"/>
          <a:lstStyle/>
          <a:p>
            <a:pPr algn="ctr" indent="0" marL="0">
              <a:buNone/>
            </a:pPr>
            <a:r>
              <a:rPr lang="en-US" sz="900" dirty="0">
                <a:solidFill>
                  <a:schemeClr val="accent6"/>
                </a:solidFill>
              </a:rPr>
              <a:t>0틱</a:t>
            </a:r>
            <a:endParaRPr lang="en-US" sz="900" dirty="0"/>
          </a:p>
        </p:txBody>
      </p:sp>
      <p:sp>
        <p:nvSpPr>
          <p:cNvPr id="19" name="Text 17"/>
          <p:cNvSpPr txBox="1"/>
          <p:nvPr/>
        </p:nvSpPr>
        <p:spPr>
          <a:xfrm>
            <a:off x="1908810" y="3611880"/>
            <a:ext cx="548640" cy="201168"/>
          </a:xfrm>
          <a:prstGeom prst="rect">
            <a:avLst/>
          </a:prstGeom>
          <a:noFill/>
          <a:ln/>
        </p:spPr>
        <p:txBody>
          <a:bodyPr wrap="square" lIns="0" tIns="0" rIns="0" bIns="0" rtlCol="0" anchor="t"/>
          <a:lstStyle/>
          <a:p>
            <a:pPr algn="ctr" indent="0" marL="0">
              <a:buNone/>
            </a:pPr>
            <a:r>
              <a:rPr lang="en-US" sz="900" dirty="0">
                <a:solidFill>
                  <a:schemeClr val="accent6"/>
                </a:solidFill>
              </a:rPr>
              <a:t>60틱</a:t>
            </a:r>
            <a:endParaRPr lang="en-US" sz="900" dirty="0"/>
          </a:p>
        </p:txBody>
      </p:sp>
      <p:sp>
        <p:nvSpPr>
          <p:cNvPr id="20" name="Text 18"/>
          <p:cNvSpPr txBox="1"/>
          <p:nvPr/>
        </p:nvSpPr>
        <p:spPr>
          <a:xfrm>
            <a:off x="2948940" y="3611880"/>
            <a:ext cx="548640" cy="201168"/>
          </a:xfrm>
          <a:prstGeom prst="rect">
            <a:avLst/>
          </a:prstGeom>
          <a:noFill/>
          <a:ln/>
        </p:spPr>
        <p:txBody>
          <a:bodyPr wrap="square" lIns="0" tIns="0" rIns="0" bIns="0" rtlCol="0" anchor="t"/>
          <a:lstStyle/>
          <a:p>
            <a:pPr algn="ctr" indent="0" marL="0">
              <a:buNone/>
            </a:pPr>
            <a:r>
              <a:rPr lang="en-US" sz="900" dirty="0">
                <a:solidFill>
                  <a:schemeClr val="accent6"/>
                </a:solidFill>
              </a:rPr>
              <a:t>120틱</a:t>
            </a:r>
            <a:endParaRPr lang="en-US" sz="900" dirty="0"/>
          </a:p>
        </p:txBody>
      </p:sp>
      <p:sp>
        <p:nvSpPr>
          <p:cNvPr id="21" name="Text 19"/>
          <p:cNvSpPr txBox="1"/>
          <p:nvPr/>
        </p:nvSpPr>
        <p:spPr>
          <a:xfrm>
            <a:off x="3989070" y="3611880"/>
            <a:ext cx="548640" cy="201168"/>
          </a:xfrm>
          <a:prstGeom prst="rect">
            <a:avLst/>
          </a:prstGeom>
          <a:noFill/>
          <a:ln/>
        </p:spPr>
        <p:txBody>
          <a:bodyPr wrap="square" lIns="0" tIns="0" rIns="0" bIns="0" rtlCol="0" anchor="t"/>
          <a:lstStyle/>
          <a:p>
            <a:pPr algn="ctr" indent="0" marL="0">
              <a:buNone/>
            </a:pPr>
            <a:r>
              <a:rPr lang="en-US" sz="900" dirty="0">
                <a:solidFill>
                  <a:schemeClr val="accent6"/>
                </a:solidFill>
              </a:rPr>
              <a:t>180틱</a:t>
            </a:r>
            <a:endParaRPr lang="en-US" sz="900" dirty="0"/>
          </a:p>
        </p:txBody>
      </p:sp>
      <p:sp>
        <p:nvSpPr>
          <p:cNvPr id="22" name="Text 20"/>
          <p:cNvSpPr txBox="1"/>
          <p:nvPr/>
        </p:nvSpPr>
        <p:spPr>
          <a:xfrm>
            <a:off x="5029200" y="3611880"/>
            <a:ext cx="548640" cy="201168"/>
          </a:xfrm>
          <a:prstGeom prst="rect">
            <a:avLst/>
          </a:prstGeom>
          <a:noFill/>
          <a:ln/>
        </p:spPr>
        <p:txBody>
          <a:bodyPr wrap="square" lIns="0" tIns="0" rIns="0" bIns="0" rtlCol="0" anchor="t"/>
          <a:lstStyle/>
          <a:p>
            <a:pPr algn="ctr" indent="0" marL="0">
              <a:buNone/>
            </a:pPr>
            <a:r>
              <a:rPr lang="en-US" sz="900" dirty="0">
                <a:solidFill>
                  <a:schemeClr val="accent6"/>
                </a:solidFill>
              </a:rPr>
              <a:t>240틱</a:t>
            </a:r>
            <a:endParaRPr lang="en-US" sz="900" dirty="0"/>
          </a:p>
        </p:txBody>
      </p:sp>
      <p:sp>
        <p:nvSpPr>
          <p:cNvPr id="23" name="insight"/>
          <p:cNvSpPr/>
          <p:nvPr/>
        </p:nvSpPr>
        <p:spPr>
          <a:xfrm>
            <a:off x="457200" y="3931920"/>
            <a:ext cx="4846320" cy="658368"/>
          </a:xfrm>
          <a:prstGeom prst="roundRect">
            <a:avLst>
              <a:gd name="adj" fmla="val 11111"/>
            </a:avLst>
          </a:prstGeom>
          <a:solidFill>
            <a:schemeClr val="bg2"/>
          </a:solidFill>
          <a:ln/>
        </p:spPr>
      </p:sp>
      <p:sp>
        <p:nvSpPr>
          <p:cNvPr id="24" name="Text 22"/>
          <p:cNvSpPr txBox="1"/>
          <p:nvPr/>
        </p:nvSpPr>
        <p:spPr>
          <a:xfrm>
            <a:off x="640080" y="3986784"/>
            <a:ext cx="4480560" cy="548640"/>
          </a:xfrm>
          <a:prstGeom prst="rect">
            <a:avLst/>
          </a:prstGeom>
          <a:noFill/>
          <a:ln/>
        </p:spPr>
        <p:txBody>
          <a:bodyPr wrap="square" lIns="0" tIns="0" rIns="0" bIns="0" rtlCol="0" anchor="t"/>
          <a:lstStyle/>
          <a:p>
            <a:pPr indent="0" marL="0">
              <a:buNone/>
            </a:pPr>
            <a:r>
              <a:rPr lang="en-US" sz="1300" b="1" dirty="0">
                <a:solidFill>
                  <a:schemeClr val="tx1"/>
                </a:solidFill>
              </a:rPr>
              <a:t>배율 3이 배율 2보다 덜 잃음</a:t>
            </a:r>
            <a:endParaRPr lang="en-US" sz="1300" dirty="0"/>
          </a:p>
          <a:p>
            <a:pPr indent="0" marL="0">
              <a:buNone/>
            </a:pPr>
            <a:r>
              <a:rPr lang="en-US" sz="1100" dirty="0">
                <a:solidFill>
                  <a:schemeClr val="accent6"/>
                </a:solidFill>
              </a:rPr>
              <a:t>정수 수량 때문에 배율 3은 4주(증거금 약 40만 원), 배율 2는 3주(약 45만 원)</a:t>
            </a:r>
            <a:endParaRPr lang="en-US" sz="1300" dirty="0"/>
          </a:p>
        </p:txBody>
      </p:sp>
      <p:sp>
        <p:nvSpPr>
          <p:cNvPr id="25" name="Text 23"/>
          <p:cNvSpPr txBox="1"/>
          <p:nvPr/>
        </p:nvSpPr>
        <p:spPr>
          <a:xfrm>
            <a:off x="5577840" y="1371600"/>
            <a:ext cx="3108960" cy="274320"/>
          </a:xfrm>
          <a:prstGeom prst="rect">
            <a:avLst/>
          </a:prstGeom>
          <a:noFill/>
          <a:ln/>
        </p:spPr>
        <p:txBody>
          <a:bodyPr wrap="square" lIns="0" tIns="0" rIns="0" bIns="0" rtlCol="0" anchor="t"/>
          <a:lstStyle/>
          <a:p>
            <a:pPr indent="0" marL="0">
              <a:buNone/>
            </a:pPr>
            <a:r>
              <a:rPr lang="en-US" sz="1300" b="1" dirty="0">
                <a:solidFill>
                  <a:schemeClr val="tx1"/>
                </a:solidFill>
              </a:rPr>
              <a:t>최종 순위</a:t>
            </a:r>
            <a:endParaRPr lang="en-US" sz="1300" dirty="0"/>
          </a:p>
        </p:txBody>
      </p:sp>
      <p:sp>
        <p:nvSpPr>
          <p:cNvPr id="26" name="rank-1"/>
          <p:cNvSpPr/>
          <p:nvPr/>
        </p:nvSpPr>
        <p:spPr>
          <a:xfrm>
            <a:off x="5577840" y="1737360"/>
            <a:ext cx="3108960" cy="603504"/>
          </a:xfrm>
          <a:prstGeom prst="roundRect">
            <a:avLst>
              <a:gd name="adj" fmla="val 12121"/>
            </a:avLst>
          </a:prstGeom>
          <a:solidFill>
            <a:schemeClr val="bg1"/>
          </a:solidFill>
          <a:ln w="15875">
            <a:solidFill>
              <a:schemeClr val="bg2"/>
            </a:solidFill>
            <a:prstDash val="solid"/>
          </a:ln>
        </p:spPr>
      </p:sp>
      <p:sp>
        <p:nvSpPr>
          <p:cNvPr id="27" name="Text 25"/>
          <p:cNvSpPr txBox="1"/>
          <p:nvPr/>
        </p:nvSpPr>
        <p:spPr>
          <a:xfrm>
            <a:off x="5715000" y="1737360"/>
            <a:ext cx="320040" cy="603504"/>
          </a:xfrm>
          <a:prstGeom prst="rect">
            <a:avLst/>
          </a:prstGeom>
          <a:noFill/>
          <a:ln/>
        </p:spPr>
        <p:txBody>
          <a:bodyPr wrap="square" lIns="0" tIns="0" rIns="0" bIns="0" rtlCol="0" anchor="ctr"/>
          <a:lstStyle/>
          <a:p>
            <a:pPr indent="0" marL="0">
              <a:buNone/>
            </a:pPr>
            <a:r>
              <a:rPr lang="en-US" sz="1600" b="1" dirty="0">
                <a:solidFill>
                  <a:schemeClr val="accent4"/>
                </a:solidFill>
              </a:rPr>
              <a:t>1</a:t>
            </a:r>
            <a:endParaRPr lang="en-US" sz="1600" dirty="0"/>
          </a:p>
        </p:txBody>
      </p:sp>
      <p:sp>
        <p:nvSpPr>
          <p:cNvPr id="28" name="Text 26"/>
          <p:cNvSpPr txBox="1"/>
          <p:nvPr/>
        </p:nvSpPr>
        <p:spPr>
          <a:xfrm>
            <a:off x="6035040" y="1737360"/>
            <a:ext cx="1508760" cy="603504"/>
          </a:xfrm>
          <a:prstGeom prst="rect">
            <a:avLst/>
          </a:prstGeom>
          <a:noFill/>
          <a:ln/>
        </p:spPr>
        <p:txBody>
          <a:bodyPr wrap="square" lIns="0" tIns="0" rIns="0" bIns="0" rtlCol="0" anchor="ctr"/>
          <a:lstStyle/>
          <a:p>
            <a:pPr indent="0" marL="0">
              <a:buNone/>
            </a:pPr>
            <a:r>
              <a:rPr lang="en-US" sz="1200" b="1" dirty="0">
                <a:solidFill>
                  <a:schemeClr val="tx1"/>
                </a:solidFill>
              </a:rPr>
              <a:t>관망 (매수 안 함)</a:t>
            </a:r>
            <a:endParaRPr lang="en-US" sz="1200" dirty="0"/>
          </a:p>
        </p:txBody>
      </p:sp>
      <p:sp>
        <p:nvSpPr>
          <p:cNvPr id="29" name="Text 27"/>
          <p:cNvSpPr txBox="1"/>
          <p:nvPr/>
        </p:nvSpPr>
        <p:spPr>
          <a:xfrm>
            <a:off x="7406640" y="1792224"/>
            <a:ext cx="1143000" cy="512064"/>
          </a:xfrm>
          <a:prstGeom prst="rect">
            <a:avLst/>
          </a:prstGeom>
          <a:noFill/>
          <a:ln/>
        </p:spPr>
        <p:txBody>
          <a:bodyPr wrap="square" lIns="0" tIns="0" rIns="0" bIns="0" rtlCol="0" anchor="ctr"/>
          <a:lstStyle/>
          <a:p>
            <a:pPr algn="r" indent="0" marL="0">
              <a:buNone/>
            </a:pPr>
            <a:r>
              <a:rPr lang="en-US" sz="1200" b="1" dirty="0">
                <a:solidFill>
                  <a:schemeClr val="tx1"/>
                </a:solidFill>
              </a:rPr>
              <a:t>1,000,000</a:t>
            </a:r>
            <a:endParaRPr lang="en-US" sz="1200" dirty="0"/>
          </a:p>
          <a:p>
            <a:pPr algn="r" indent="0" marL="0">
              <a:buNone/>
            </a:pPr>
            <a:r>
              <a:rPr lang="en-US" sz="1000" dirty="0">
                <a:solidFill>
                  <a:schemeClr val="accent6"/>
                </a:solidFill>
              </a:rPr>
              <a:t>0%</a:t>
            </a:r>
            <a:endParaRPr lang="en-US" sz="1200" dirty="0"/>
          </a:p>
        </p:txBody>
      </p:sp>
      <p:sp>
        <p:nvSpPr>
          <p:cNvPr id="30" name="rank-2"/>
          <p:cNvSpPr/>
          <p:nvPr/>
        </p:nvSpPr>
        <p:spPr>
          <a:xfrm>
            <a:off x="5577840" y="2450592"/>
            <a:ext cx="3108960" cy="603504"/>
          </a:xfrm>
          <a:prstGeom prst="roundRect">
            <a:avLst>
              <a:gd name="adj" fmla="val 12121"/>
            </a:avLst>
          </a:prstGeom>
          <a:solidFill>
            <a:schemeClr val="bg1"/>
          </a:solidFill>
          <a:ln w="15875">
            <a:solidFill>
              <a:schemeClr val="bg2"/>
            </a:solidFill>
            <a:prstDash val="solid"/>
          </a:ln>
        </p:spPr>
      </p:sp>
      <p:sp>
        <p:nvSpPr>
          <p:cNvPr id="31" name="Text 29"/>
          <p:cNvSpPr txBox="1"/>
          <p:nvPr/>
        </p:nvSpPr>
        <p:spPr>
          <a:xfrm>
            <a:off x="5715000" y="2450592"/>
            <a:ext cx="320040" cy="603504"/>
          </a:xfrm>
          <a:prstGeom prst="rect">
            <a:avLst/>
          </a:prstGeom>
          <a:noFill/>
          <a:ln/>
        </p:spPr>
        <p:txBody>
          <a:bodyPr wrap="square" lIns="0" tIns="0" rIns="0" bIns="0" rtlCol="0" anchor="ctr"/>
          <a:lstStyle/>
          <a:p>
            <a:pPr indent="0" marL="0">
              <a:buNone/>
            </a:pPr>
            <a:r>
              <a:rPr lang="en-US" sz="1600" b="1" dirty="0">
                <a:solidFill>
                  <a:schemeClr val="accent6"/>
                </a:solidFill>
              </a:rPr>
              <a:t>2</a:t>
            </a:r>
            <a:endParaRPr lang="en-US" sz="1600" dirty="0"/>
          </a:p>
        </p:txBody>
      </p:sp>
      <p:sp>
        <p:nvSpPr>
          <p:cNvPr id="32" name="Text 30"/>
          <p:cNvSpPr txBox="1"/>
          <p:nvPr/>
        </p:nvSpPr>
        <p:spPr>
          <a:xfrm>
            <a:off x="6035040" y="2450592"/>
            <a:ext cx="1508760" cy="603504"/>
          </a:xfrm>
          <a:prstGeom prst="rect">
            <a:avLst/>
          </a:prstGeom>
          <a:noFill/>
          <a:ln/>
        </p:spPr>
        <p:txBody>
          <a:bodyPr wrap="square" lIns="0" tIns="0" rIns="0" bIns="0" rtlCol="0" anchor="ctr"/>
          <a:lstStyle/>
          <a:p>
            <a:pPr indent="0" marL="0">
              <a:buNone/>
            </a:pPr>
            <a:r>
              <a:rPr lang="en-US" sz="1200" b="1" dirty="0">
                <a:solidFill>
                  <a:schemeClr val="tx1"/>
                </a:solidFill>
              </a:rPr>
              <a:t>배율 ×1</a:t>
            </a:r>
            <a:endParaRPr lang="en-US" sz="1200" dirty="0"/>
          </a:p>
        </p:txBody>
      </p:sp>
      <p:sp>
        <p:nvSpPr>
          <p:cNvPr id="33" name="Text 31"/>
          <p:cNvSpPr txBox="1"/>
          <p:nvPr/>
        </p:nvSpPr>
        <p:spPr>
          <a:xfrm>
            <a:off x="7406640" y="2505456"/>
            <a:ext cx="1143000" cy="512064"/>
          </a:xfrm>
          <a:prstGeom prst="rect">
            <a:avLst/>
          </a:prstGeom>
          <a:noFill/>
          <a:ln/>
        </p:spPr>
        <p:txBody>
          <a:bodyPr wrap="square" lIns="0" tIns="0" rIns="0" bIns="0" rtlCol="0" anchor="ctr"/>
          <a:lstStyle/>
          <a:p>
            <a:pPr algn="r" indent="0" marL="0">
              <a:buNone/>
            </a:pPr>
            <a:r>
              <a:rPr lang="en-US" sz="1200" b="1" dirty="0">
                <a:solidFill>
                  <a:schemeClr val="tx1"/>
                </a:solidFill>
              </a:rPr>
              <a:t>812,360</a:t>
            </a:r>
            <a:endParaRPr lang="en-US" sz="1200" dirty="0"/>
          </a:p>
          <a:p>
            <a:pPr algn="r" indent="0" marL="0">
              <a:buNone/>
            </a:pPr>
            <a:r>
              <a:rPr lang="en-US" sz="1000" dirty="0">
                <a:solidFill>
                  <a:schemeClr val="accent3"/>
                </a:solidFill>
              </a:rPr>
              <a:t>−18.8%</a:t>
            </a:r>
            <a:endParaRPr lang="en-US" sz="1200" dirty="0"/>
          </a:p>
        </p:txBody>
      </p:sp>
      <p:sp>
        <p:nvSpPr>
          <p:cNvPr id="34" name="rank-3"/>
          <p:cNvSpPr/>
          <p:nvPr/>
        </p:nvSpPr>
        <p:spPr>
          <a:xfrm>
            <a:off x="5577840" y="3163824"/>
            <a:ext cx="3108960" cy="603504"/>
          </a:xfrm>
          <a:prstGeom prst="roundRect">
            <a:avLst>
              <a:gd name="adj" fmla="val 12121"/>
            </a:avLst>
          </a:prstGeom>
          <a:solidFill>
            <a:schemeClr val="bg2"/>
          </a:solidFill>
          <a:ln/>
        </p:spPr>
      </p:sp>
      <p:sp>
        <p:nvSpPr>
          <p:cNvPr id="35" name="Text 33"/>
          <p:cNvSpPr txBox="1"/>
          <p:nvPr/>
        </p:nvSpPr>
        <p:spPr>
          <a:xfrm>
            <a:off x="5715000" y="3163824"/>
            <a:ext cx="320040" cy="603504"/>
          </a:xfrm>
          <a:prstGeom prst="rect">
            <a:avLst/>
          </a:prstGeom>
          <a:noFill/>
          <a:ln/>
        </p:spPr>
        <p:txBody>
          <a:bodyPr wrap="square" lIns="0" tIns="0" rIns="0" bIns="0" rtlCol="0" anchor="ctr"/>
          <a:lstStyle/>
          <a:p>
            <a:pPr indent="0" marL="0">
              <a:buNone/>
            </a:pPr>
            <a:r>
              <a:rPr lang="en-US" sz="1600" b="1" dirty="0">
                <a:solidFill>
                  <a:schemeClr val="accent6"/>
                </a:solidFill>
              </a:rPr>
              <a:t>3</a:t>
            </a:r>
            <a:endParaRPr lang="en-US" sz="1600" dirty="0"/>
          </a:p>
        </p:txBody>
      </p:sp>
      <p:sp>
        <p:nvSpPr>
          <p:cNvPr id="36" name="Text 34"/>
          <p:cNvSpPr txBox="1"/>
          <p:nvPr/>
        </p:nvSpPr>
        <p:spPr>
          <a:xfrm>
            <a:off x="6035040" y="3163824"/>
            <a:ext cx="1508760" cy="603504"/>
          </a:xfrm>
          <a:prstGeom prst="rect">
            <a:avLst/>
          </a:prstGeom>
          <a:noFill/>
          <a:ln/>
        </p:spPr>
        <p:txBody>
          <a:bodyPr wrap="square" lIns="0" tIns="0" rIns="0" bIns="0" rtlCol="0" anchor="ctr"/>
          <a:lstStyle/>
          <a:p>
            <a:pPr indent="0" marL="0">
              <a:buNone/>
            </a:pPr>
            <a:r>
              <a:rPr lang="en-US" sz="1200" b="1" dirty="0">
                <a:solidFill>
                  <a:schemeClr val="tx1"/>
                </a:solidFill>
              </a:rPr>
              <a:t>배율 ×3</a:t>
            </a:r>
            <a:endParaRPr lang="en-US" sz="1200" dirty="0"/>
          </a:p>
        </p:txBody>
      </p:sp>
      <p:sp>
        <p:nvSpPr>
          <p:cNvPr id="37" name="Text 35"/>
          <p:cNvSpPr txBox="1"/>
          <p:nvPr/>
        </p:nvSpPr>
        <p:spPr>
          <a:xfrm>
            <a:off x="7406640" y="3218688"/>
            <a:ext cx="1143000" cy="512064"/>
          </a:xfrm>
          <a:prstGeom prst="rect">
            <a:avLst/>
          </a:prstGeom>
          <a:noFill/>
          <a:ln/>
        </p:spPr>
        <p:txBody>
          <a:bodyPr wrap="square" lIns="0" tIns="0" rIns="0" bIns="0" rtlCol="0" anchor="ctr"/>
          <a:lstStyle/>
          <a:p>
            <a:pPr algn="r" indent="0" marL="0">
              <a:buNone/>
            </a:pPr>
            <a:r>
              <a:rPr lang="en-US" sz="1200" b="1" dirty="0">
                <a:solidFill>
                  <a:schemeClr val="tx1"/>
                </a:solidFill>
              </a:rPr>
              <a:t>595,396</a:t>
            </a:r>
            <a:endParaRPr lang="en-US" sz="1200" dirty="0"/>
          </a:p>
          <a:p>
            <a:pPr algn="r" indent="0" marL="0">
              <a:buNone/>
            </a:pPr>
            <a:r>
              <a:rPr lang="en-US" sz="1000" dirty="0">
                <a:solidFill>
                  <a:schemeClr val="accent3"/>
                </a:solidFill>
              </a:rPr>
              <a:t>−40.5%</a:t>
            </a:r>
            <a:endParaRPr lang="en-US" sz="1200" dirty="0"/>
          </a:p>
        </p:txBody>
      </p:sp>
      <p:sp>
        <p:nvSpPr>
          <p:cNvPr id="38" name="rank-4"/>
          <p:cNvSpPr/>
          <p:nvPr/>
        </p:nvSpPr>
        <p:spPr>
          <a:xfrm>
            <a:off x="5577840" y="3877056"/>
            <a:ext cx="3108960" cy="603504"/>
          </a:xfrm>
          <a:prstGeom prst="roundRect">
            <a:avLst>
              <a:gd name="adj" fmla="val 12121"/>
            </a:avLst>
          </a:prstGeom>
          <a:solidFill>
            <a:schemeClr val="bg2"/>
          </a:solidFill>
          <a:ln/>
        </p:spPr>
      </p:sp>
      <p:sp>
        <p:nvSpPr>
          <p:cNvPr id="39" name="Text 37"/>
          <p:cNvSpPr txBox="1"/>
          <p:nvPr/>
        </p:nvSpPr>
        <p:spPr>
          <a:xfrm>
            <a:off x="5715000" y="3877056"/>
            <a:ext cx="320040" cy="603504"/>
          </a:xfrm>
          <a:prstGeom prst="rect">
            <a:avLst/>
          </a:prstGeom>
          <a:noFill/>
          <a:ln/>
        </p:spPr>
        <p:txBody>
          <a:bodyPr wrap="square" lIns="0" tIns="0" rIns="0" bIns="0" rtlCol="0" anchor="ctr"/>
          <a:lstStyle/>
          <a:p>
            <a:pPr indent="0" marL="0">
              <a:buNone/>
            </a:pPr>
            <a:r>
              <a:rPr lang="en-US" sz="1600" b="1" dirty="0">
                <a:solidFill>
                  <a:schemeClr val="accent6"/>
                </a:solidFill>
              </a:rPr>
              <a:t>4</a:t>
            </a:r>
            <a:endParaRPr lang="en-US" sz="1600" dirty="0"/>
          </a:p>
        </p:txBody>
      </p:sp>
      <p:sp>
        <p:nvSpPr>
          <p:cNvPr id="40" name="Text 38"/>
          <p:cNvSpPr txBox="1"/>
          <p:nvPr/>
        </p:nvSpPr>
        <p:spPr>
          <a:xfrm>
            <a:off x="6035040" y="3877056"/>
            <a:ext cx="1508760" cy="603504"/>
          </a:xfrm>
          <a:prstGeom prst="rect">
            <a:avLst/>
          </a:prstGeom>
          <a:noFill/>
          <a:ln/>
        </p:spPr>
        <p:txBody>
          <a:bodyPr wrap="square" lIns="0" tIns="0" rIns="0" bIns="0" rtlCol="0" anchor="ctr"/>
          <a:lstStyle/>
          <a:p>
            <a:pPr indent="0" marL="0">
              <a:buNone/>
            </a:pPr>
            <a:r>
              <a:rPr lang="en-US" sz="1200" b="1" dirty="0">
                <a:solidFill>
                  <a:schemeClr val="tx1"/>
                </a:solidFill>
              </a:rPr>
              <a:t>배율 ×2</a:t>
            </a:r>
            <a:endParaRPr lang="en-US" sz="1200" dirty="0"/>
          </a:p>
        </p:txBody>
      </p:sp>
      <p:sp>
        <p:nvSpPr>
          <p:cNvPr id="41" name="Text 39"/>
          <p:cNvSpPr txBox="1"/>
          <p:nvPr/>
        </p:nvSpPr>
        <p:spPr>
          <a:xfrm>
            <a:off x="7406640" y="3931920"/>
            <a:ext cx="1143000" cy="512064"/>
          </a:xfrm>
          <a:prstGeom prst="rect">
            <a:avLst/>
          </a:prstGeom>
          <a:noFill/>
          <a:ln/>
        </p:spPr>
        <p:txBody>
          <a:bodyPr wrap="square" lIns="0" tIns="0" rIns="0" bIns="0" rtlCol="0" anchor="ctr"/>
          <a:lstStyle/>
          <a:p>
            <a:pPr algn="r" indent="0" marL="0">
              <a:buNone/>
            </a:pPr>
            <a:r>
              <a:rPr lang="en-US" sz="1200" b="1" dirty="0">
                <a:solidFill>
                  <a:schemeClr val="tx1"/>
                </a:solidFill>
              </a:rPr>
              <a:t>546,179</a:t>
            </a:r>
            <a:endParaRPr lang="en-US" sz="1200" dirty="0"/>
          </a:p>
          <a:p>
            <a:pPr algn="r" indent="0" marL="0">
              <a:buNone/>
            </a:pPr>
            <a:r>
              <a:rPr lang="en-US" sz="1000" dirty="0">
                <a:solidFill>
                  <a:schemeClr val="accent3"/>
                </a:solidFill>
              </a:rPr>
              <a:t>−45.4%</a:t>
            </a:r>
            <a:endParaRPr lang="en-US" sz="1200" dirty="0"/>
          </a:p>
        </p:txBody>
      </p:sp>
      <p:sp>
        <p:nvSpPr>
          <p:cNvPr id="25" name="Slide Number Placeholder 0"/>
          <p:cNvSpPr>
            <a:spLocks noGrp="1"/>
          </p:cNvSpPr>
          <p:nvPr>
            <p:ph type="sldNum" sz="quarter" idx="4294967295"/>
          </p:nvPr>
        </p:nvSpPr>
        <p:spPr>
          <a:xfrm>
            <a:off x="8138160" y="48006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38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566928"/>
          </a:xfrm>
          <a:prstGeom prst="rect">
            <a:avLst/>
          </a:prstGeom>
          <a:noFill/>
          <a:ln/>
        </p:spPr>
        <p:txBody>
          <a:bodyPr wrap="square" lIns="0" tIns="0" rIns="0" bIns="0" rtlCol="0" anchor="ctr"/>
          <a:lstStyle/>
          <a:p>
            <a:pPr algn="l" indent="0" marL="0">
              <a:buNone/>
            </a:pPr>
            <a:r>
              <a:rPr lang="en-US" sz="3000" b="1" dirty="0">
                <a:solidFill>
                  <a:schemeClr val="tx1"/>
                </a:solidFill>
              </a:rPr>
              <a:t>시드머니 1억 원의 근거</a:t>
            </a:r>
            <a:endParaRPr lang="en-US" sz="3000" dirty="0"/>
          </a:p>
        </p:txBody>
      </p:sp>
      <p:sp>
        <p:nvSpPr>
          <p:cNvPr id="3" name="Text 0"/>
          <p:cNvSpPr/>
          <p:nvPr>
            <p:ph idx="101" type="body" hasCustomPrompt="1"/>
          </p:nvPr>
        </p:nvSpPr>
        <p:spPr>
          <a:xfrm>
            <a:off x="457200" y="859536"/>
            <a:ext cx="8229600" cy="329184"/>
          </a:xfrm>
          <a:prstGeom prst="rect">
            <a:avLst/>
          </a:prstGeom>
          <a:noFill/>
          <a:ln/>
        </p:spPr>
        <p:txBody>
          <a:bodyPr wrap="square" lIns="0" tIns="0" rIns="0" bIns="0" rtlCol="0" anchor="t"/>
          <a:lstStyle/>
          <a:p>
            <a:pPr algn="l" indent="0" marL="0">
              <a:buNone/>
            </a:pPr>
            <a:r>
              <a:rPr lang="en-US" sz="1400" dirty="0">
                <a:solidFill>
                  <a:schemeClr val="accent6"/>
                </a:solidFill>
              </a:rPr>
              <a:t>수량은 정수, 시드가 작으면 결과가 수량 반올림에 좌우</a:t>
            </a:r>
            <a:endParaRPr lang="en-US" sz="1400" dirty="0"/>
          </a:p>
        </p:txBody>
      </p:sp>
      <p:sp>
        <p:nvSpPr>
          <p:cNvPr id="4" name="seed-1"/>
          <p:cNvSpPr/>
          <p:nvPr/>
        </p:nvSpPr>
        <p:spPr>
          <a:xfrm>
            <a:off x="457200" y="1371600"/>
            <a:ext cx="5120640" cy="960120"/>
          </a:xfrm>
          <a:prstGeom prst="roundRect">
            <a:avLst>
              <a:gd name="adj" fmla="val 7619"/>
            </a:avLst>
          </a:prstGeom>
          <a:solidFill>
            <a:schemeClr val="bg2"/>
          </a:solidFill>
          <a:ln/>
        </p:spPr>
      </p:sp>
      <p:sp>
        <p:nvSpPr>
          <p:cNvPr id="5" name="Text 3"/>
          <p:cNvSpPr txBox="1"/>
          <p:nvPr/>
        </p:nvSpPr>
        <p:spPr>
          <a:xfrm>
            <a:off x="685800" y="1371600"/>
            <a:ext cx="2331720" cy="960120"/>
          </a:xfrm>
          <a:prstGeom prst="rect">
            <a:avLst/>
          </a:prstGeom>
          <a:noFill/>
          <a:ln/>
        </p:spPr>
        <p:txBody>
          <a:bodyPr wrap="square" lIns="0" tIns="0" rIns="0" bIns="0" rtlCol="0" anchor="ctr"/>
          <a:lstStyle/>
          <a:p>
            <a:pPr indent="0" marL="0">
              <a:buNone/>
            </a:pPr>
            <a:r>
              <a:rPr lang="en-US" sz="2200" b="1" dirty="0">
                <a:solidFill>
                  <a:schemeClr val="tx1"/>
                </a:solidFill>
              </a:rPr>
              <a:t>156만 ~ 191만 원</a:t>
            </a:r>
            <a:endParaRPr lang="en-US" sz="2200" dirty="0"/>
          </a:p>
        </p:txBody>
      </p:sp>
      <p:sp>
        <p:nvSpPr>
          <p:cNvPr id="6" name="Text 4"/>
          <p:cNvSpPr txBox="1"/>
          <p:nvPr/>
        </p:nvSpPr>
        <p:spPr>
          <a:xfrm>
            <a:off x="3017520" y="1481328"/>
            <a:ext cx="2423160" cy="777240"/>
          </a:xfrm>
          <a:prstGeom prst="rect">
            <a:avLst/>
          </a:prstGeom>
          <a:noFill/>
          <a:ln/>
        </p:spPr>
        <p:txBody>
          <a:bodyPr wrap="square" lIns="0" tIns="0" rIns="0" bIns="0" rtlCol="0" anchor="ctr"/>
          <a:lstStyle/>
          <a:p>
            <a:pPr indent="0" marL="0">
              <a:buNone/>
            </a:pPr>
            <a:r>
              <a:rPr lang="en-US" sz="1200" b="1" dirty="0">
                <a:solidFill>
                  <a:schemeClr val="tx1"/>
                </a:solidFill>
              </a:rPr>
              <a:t>SK하이닉스 1주 가격 (분봉 구간)</a:t>
            </a:r>
            <a:endParaRPr lang="en-US" sz="1200" dirty="0"/>
          </a:p>
          <a:p>
            <a:pPr indent="0" marL="0">
              <a:buNone/>
            </a:pPr>
            <a:r>
              <a:rPr lang="en-US" sz="1100" dirty="0">
                <a:solidFill>
                  <a:schemeClr val="accent6"/>
                </a:solidFill>
              </a:rPr>
              <a:t>일봉 최고 296만 원</a:t>
            </a:r>
            <a:endParaRPr lang="en-US" sz="1200" dirty="0"/>
          </a:p>
          <a:p>
            <a:pPr indent="0" marL="0">
              <a:buNone/>
            </a:pPr>
            <a:r>
              <a:rPr lang="en-US" sz="1100" dirty="0">
                <a:solidFill>
                  <a:schemeClr val="accent6"/>
                </a:solidFill>
              </a:rPr>
              <a:t>시드 100만 원이면 배율 1로도 매수 불가</a:t>
            </a:r>
            <a:endParaRPr lang="en-US" sz="1200" dirty="0"/>
          </a:p>
        </p:txBody>
      </p:sp>
      <p:sp>
        <p:nvSpPr>
          <p:cNvPr id="7" name="seed-2"/>
          <p:cNvSpPr/>
          <p:nvPr/>
        </p:nvSpPr>
        <p:spPr>
          <a:xfrm>
            <a:off x="457200" y="2450592"/>
            <a:ext cx="5120640" cy="960120"/>
          </a:xfrm>
          <a:prstGeom prst="roundRect">
            <a:avLst>
              <a:gd name="adj" fmla="val 7619"/>
            </a:avLst>
          </a:prstGeom>
          <a:solidFill>
            <a:schemeClr val="bg2"/>
          </a:solidFill>
          <a:ln/>
        </p:spPr>
      </p:sp>
      <p:sp>
        <p:nvSpPr>
          <p:cNvPr id="8" name="Text 6"/>
          <p:cNvSpPr txBox="1"/>
          <p:nvPr/>
        </p:nvSpPr>
        <p:spPr>
          <a:xfrm>
            <a:off x="685800" y="2450592"/>
            <a:ext cx="2331720" cy="960120"/>
          </a:xfrm>
          <a:prstGeom prst="rect">
            <a:avLst/>
          </a:prstGeom>
          <a:noFill/>
          <a:ln/>
        </p:spPr>
        <p:txBody>
          <a:bodyPr wrap="square" lIns="0" tIns="0" rIns="0" bIns="0" rtlCol="0" anchor="ctr"/>
          <a:lstStyle/>
          <a:p>
            <a:pPr indent="0" marL="0">
              <a:buNone/>
            </a:pPr>
            <a:r>
              <a:rPr lang="en-US" sz="2200" b="1" dirty="0">
                <a:solidFill>
                  <a:schemeClr val="tx1"/>
                </a:solidFill>
              </a:rPr>
              <a:t>4주 vs 3주</a:t>
            </a:r>
            <a:endParaRPr lang="en-US" sz="2200" dirty="0"/>
          </a:p>
        </p:txBody>
      </p:sp>
      <p:sp>
        <p:nvSpPr>
          <p:cNvPr id="9" name="Text 7"/>
          <p:cNvSpPr txBox="1"/>
          <p:nvPr/>
        </p:nvSpPr>
        <p:spPr>
          <a:xfrm>
            <a:off x="3017520" y="2560320"/>
            <a:ext cx="2423160" cy="777240"/>
          </a:xfrm>
          <a:prstGeom prst="rect">
            <a:avLst/>
          </a:prstGeom>
          <a:noFill/>
          <a:ln/>
        </p:spPr>
        <p:txBody>
          <a:bodyPr wrap="square" lIns="0" tIns="0" rIns="0" bIns="0" rtlCol="0" anchor="ctr"/>
          <a:lstStyle/>
          <a:p>
            <a:pPr indent="0" marL="0">
              <a:buNone/>
            </a:pPr>
            <a:r>
              <a:rPr lang="en-US" sz="1200" b="1" dirty="0">
                <a:solidFill>
                  <a:schemeClr val="tx1"/>
                </a:solidFill>
              </a:rPr>
              <a:t>앞 장의 순위 역전</a:t>
            </a:r>
            <a:endParaRPr lang="en-US" sz="1200" dirty="0"/>
          </a:p>
          <a:p>
            <a:pPr indent="0" marL="0">
              <a:buNone/>
            </a:pPr>
            <a:r>
              <a:rPr lang="en-US" sz="1100" dirty="0">
                <a:solidFill>
                  <a:schemeClr val="accent6"/>
                </a:solidFill>
              </a:rPr>
              <a:t>배율보다 수량 반올림이 결과를 결정</a:t>
            </a:r>
            <a:endParaRPr lang="en-US" sz="1200" dirty="0"/>
          </a:p>
        </p:txBody>
      </p:sp>
      <p:sp>
        <p:nvSpPr>
          <p:cNvPr id="10" name="seed-3"/>
          <p:cNvSpPr/>
          <p:nvPr/>
        </p:nvSpPr>
        <p:spPr>
          <a:xfrm>
            <a:off x="457200" y="3529584"/>
            <a:ext cx="5120640" cy="960120"/>
          </a:xfrm>
          <a:prstGeom prst="roundRect">
            <a:avLst>
              <a:gd name="adj" fmla="val 7619"/>
            </a:avLst>
          </a:prstGeom>
          <a:solidFill>
            <a:schemeClr val="bg2"/>
          </a:solidFill>
          <a:ln/>
        </p:spPr>
      </p:sp>
      <p:sp>
        <p:nvSpPr>
          <p:cNvPr id="11" name="Text 9"/>
          <p:cNvSpPr txBox="1"/>
          <p:nvPr/>
        </p:nvSpPr>
        <p:spPr>
          <a:xfrm>
            <a:off x="685800" y="3529584"/>
            <a:ext cx="2331720" cy="960120"/>
          </a:xfrm>
          <a:prstGeom prst="rect">
            <a:avLst/>
          </a:prstGeom>
          <a:noFill/>
          <a:ln/>
        </p:spPr>
        <p:txBody>
          <a:bodyPr wrap="square" lIns="0" tIns="0" rIns="0" bIns="0" rtlCol="0" anchor="ctr"/>
          <a:lstStyle/>
          <a:p>
            <a:pPr indent="0" marL="0">
              <a:buNone/>
            </a:pPr>
            <a:r>
              <a:rPr lang="en-US" sz="2200" b="1" dirty="0">
                <a:solidFill>
                  <a:schemeClr val="accent1"/>
                </a:solidFill>
              </a:rPr>
              <a:t>30주 이상</a:t>
            </a:r>
            <a:endParaRPr lang="en-US" sz="2200" dirty="0"/>
          </a:p>
        </p:txBody>
      </p:sp>
      <p:sp>
        <p:nvSpPr>
          <p:cNvPr id="12" name="Text 10"/>
          <p:cNvSpPr txBox="1"/>
          <p:nvPr/>
        </p:nvSpPr>
        <p:spPr>
          <a:xfrm>
            <a:off x="3017520" y="3639312"/>
            <a:ext cx="2423160" cy="777240"/>
          </a:xfrm>
          <a:prstGeom prst="rect">
            <a:avLst/>
          </a:prstGeom>
          <a:noFill/>
          <a:ln/>
        </p:spPr>
        <p:txBody>
          <a:bodyPr wrap="square" lIns="0" tIns="0" rIns="0" bIns="0" rtlCol="0" anchor="ctr"/>
          <a:lstStyle/>
          <a:p>
            <a:pPr indent="0" marL="0">
              <a:buNone/>
            </a:pPr>
            <a:r>
              <a:rPr lang="en-US" sz="1200" b="1" dirty="0">
                <a:solidFill>
                  <a:schemeClr val="tx1"/>
                </a:solidFill>
              </a:rPr>
              <a:t>시드 1억 원일 때 가장 비싼 종목도</a:t>
            </a:r>
            <a:endParaRPr lang="en-US" sz="1200" dirty="0"/>
          </a:p>
          <a:p>
            <a:pPr indent="0" marL="0">
              <a:buNone/>
            </a:pPr>
            <a:r>
              <a:rPr lang="en-US" sz="1100" dirty="0">
                <a:solidFill>
                  <a:schemeClr val="accent6"/>
                </a:solidFill>
              </a:rPr>
              <a:t>수량 반올림 영향 1 ~ 3%로 축소</a:t>
            </a:r>
            <a:endParaRPr lang="en-US" sz="1200" dirty="0"/>
          </a:p>
        </p:txBody>
      </p:sp>
      <p:sp>
        <p:nvSpPr>
          <p:cNvPr id="13" name="rejected"/>
          <p:cNvSpPr/>
          <p:nvPr/>
        </p:nvSpPr>
        <p:spPr>
          <a:xfrm>
            <a:off x="5852160" y="1371600"/>
            <a:ext cx="2834640" cy="3200400"/>
          </a:xfrm>
          <a:prstGeom prst="roundRect">
            <a:avLst>
              <a:gd name="adj" fmla="val 2581"/>
            </a:avLst>
          </a:prstGeom>
          <a:solidFill>
            <a:schemeClr val="bg2"/>
          </a:solidFill>
          <a:ln/>
        </p:spPr>
      </p:sp>
      <p:sp>
        <p:nvSpPr>
          <p:cNvPr id="14" name="Text 12"/>
          <p:cNvSpPr txBox="1"/>
          <p:nvPr/>
        </p:nvSpPr>
        <p:spPr>
          <a:xfrm>
            <a:off x="6053328" y="1508760"/>
            <a:ext cx="2432304" cy="274320"/>
          </a:xfrm>
          <a:prstGeom prst="rect">
            <a:avLst/>
          </a:prstGeom>
          <a:noFill/>
          <a:ln/>
        </p:spPr>
        <p:txBody>
          <a:bodyPr wrap="square" lIns="0" tIns="0" rIns="0" bIns="0" rtlCol="0" anchor="t"/>
          <a:lstStyle/>
          <a:p>
            <a:pPr indent="0" marL="0">
              <a:buNone/>
            </a:pPr>
            <a:r>
              <a:rPr lang="en-US" sz="1300" b="1" dirty="0">
                <a:solidFill>
                  <a:schemeClr val="tx1"/>
                </a:solidFill>
              </a:rPr>
              <a:t>검토 후 기각한 대안</a:t>
            </a:r>
            <a:endParaRPr lang="en-US" sz="1300" dirty="0"/>
          </a:p>
        </p:txBody>
      </p:sp>
      <p:sp>
        <p:nvSpPr>
          <p:cNvPr id="15" name="Text 13"/>
          <p:cNvSpPr txBox="1"/>
          <p:nvPr/>
        </p:nvSpPr>
        <p:spPr>
          <a:xfrm>
            <a:off x="6053328" y="1874520"/>
            <a:ext cx="2432304" cy="2606040"/>
          </a:xfrm>
          <a:prstGeom prst="rect">
            <a:avLst/>
          </a:prstGeom>
          <a:noFill/>
          <a:ln/>
        </p:spPr>
        <p:txBody>
          <a:bodyPr wrap="square" lIns="0" tIns="0" rIns="0" bIns="0" rtlCol="0" anchor="t"/>
          <a:lstStyle/>
          <a:p>
            <a:pPr indent="0" marL="0">
              <a:buNone/>
            </a:pPr>
            <a:r>
              <a:rPr lang="en-US" sz="1300" b="1" dirty="0">
                <a:solidFill>
                  <a:schemeClr val="tx1"/>
                </a:solidFill>
              </a:rPr>
              <a:t>종목별 가격 정규화</a:t>
            </a:r>
            <a:endParaRPr lang="en-US" sz="1300" dirty="0"/>
          </a:p>
          <a:p>
            <a:pPr indent="0" marL="0">
              <a:buNone/>
            </a:pPr>
            <a:r>
              <a:rPr lang="en-US" sz="1100" dirty="0">
                <a:solidFill>
                  <a:schemeClr val="accent6"/>
                </a:solidFill>
              </a:rPr>
              <a:t>실제 가격 감각이 사라짐</a:t>
            </a:r>
            <a:endParaRPr lang="en-US" sz="1300" dirty="0"/>
          </a:p>
          <a:p>
            <a:pPr indent="0" marL="0">
              <a:buNone/>
            </a:pPr>
            <a:r>
              <a:rPr lang="en-US" sz="600" dirty="0">
                <a:solidFill>
                  <a:schemeClr val="tx1"/>
                </a:solidFill>
              </a:rPr>
              <a:t> </a:t>
            </a:r>
            <a:endParaRPr lang="en-US" sz="1300" dirty="0"/>
          </a:p>
          <a:p>
            <a:pPr indent="0" marL="0">
              <a:buNone/>
            </a:pPr>
            <a:r>
              <a:rPr lang="en-US" sz="1300" b="1" dirty="0">
                <a:solidFill>
                  <a:schemeClr val="tx1"/>
                </a:solidFill>
              </a:rPr>
              <a:t>소수 수량 허용</a:t>
            </a:r>
            <a:endParaRPr lang="en-US" sz="1300" dirty="0"/>
          </a:p>
          <a:p>
            <a:pPr indent="0" marL="0">
              <a:buNone/>
            </a:pPr>
            <a:r>
              <a:rPr lang="en-US" sz="1100" dirty="0">
                <a:solidFill>
                  <a:schemeClr val="accent6"/>
                </a:solidFill>
              </a:rPr>
              <a:t>정수 수량 원칙 변경 필요</a:t>
            </a:r>
            <a:endParaRPr lang="en-US" sz="1300" dirty="0"/>
          </a:p>
          <a:p>
            <a:pPr indent="0" marL="0">
              <a:buNone/>
            </a:pPr>
            <a:r>
              <a:rPr lang="en-US" sz="1100" dirty="0">
                <a:solidFill>
                  <a:schemeClr val="accent6"/>
                </a:solidFill>
              </a:rPr>
              <a:t>청산가 계산 규칙 전체 재검토</a:t>
            </a:r>
            <a:endParaRPr lang="en-US" sz="1300" dirty="0"/>
          </a:p>
          <a:p>
            <a:pPr indent="0" marL="0">
              <a:buNone/>
            </a:pPr>
            <a:r>
              <a:rPr lang="en-US" sz="600" dirty="0">
                <a:solidFill>
                  <a:schemeClr val="tx1"/>
                </a:solidFill>
              </a:rPr>
              <a:t> </a:t>
            </a:r>
            <a:endParaRPr lang="en-US" sz="1300" dirty="0"/>
          </a:p>
          <a:p>
            <a:pPr indent="0" marL="0">
              <a:buNone/>
            </a:pPr>
            <a:r>
              <a:rPr lang="en-US" sz="1300" b="1" dirty="0">
                <a:solidFill>
                  <a:schemeClr val="accent1"/>
                </a:solidFill>
              </a:rPr>
              <a:t>결정</a:t>
            </a:r>
            <a:endParaRPr lang="en-US" sz="1300" dirty="0"/>
          </a:p>
          <a:p>
            <a:pPr indent="0" marL="0">
              <a:buNone/>
            </a:pPr>
            <a:r>
              <a:rPr lang="en-US" sz="1100" dirty="0">
                <a:solidFill>
                  <a:schemeClr val="accent6"/>
                </a:solidFill>
              </a:rPr>
              <a:t>시드 1억 원, 방마다 변경 가능</a:t>
            </a:r>
            <a:endParaRPr lang="en-US" sz="1300" dirty="0"/>
          </a:p>
          <a:p>
            <a:pPr indent="0" marL="0">
              <a:buNone/>
            </a:pPr>
            <a:r>
              <a:rPr lang="en-US" sz="1100" dirty="0">
                <a:solidFill>
                  <a:schemeClr val="accent6"/>
                </a:solidFill>
              </a:rPr>
              <a:t>플레이하며 재검토</a:t>
            </a:r>
            <a:endParaRPr lang="en-US" sz="1300" dirty="0"/>
          </a:p>
        </p:txBody>
      </p:sp>
      <p:sp>
        <p:nvSpPr>
          <p:cNvPr id="25" name="Slide Number Placeholder 0"/>
          <p:cNvSpPr>
            <a:spLocks noGrp="1"/>
          </p:cNvSpPr>
          <p:nvPr>
            <p:ph type="sldNum" sz="quarter" idx="4294967295"/>
          </p:nvPr>
        </p:nvSpPr>
        <p:spPr>
          <a:xfrm>
            <a:off x="8138160" y="48006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38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566928"/>
          </a:xfrm>
          <a:prstGeom prst="rect">
            <a:avLst/>
          </a:prstGeom>
          <a:noFill/>
          <a:ln/>
        </p:spPr>
        <p:txBody>
          <a:bodyPr wrap="square" lIns="0" tIns="0" rIns="0" bIns="0" rtlCol="0" anchor="ctr"/>
          <a:lstStyle/>
          <a:p>
            <a:pPr algn="l" indent="0" marL="0">
              <a:buNone/>
            </a:pPr>
            <a:r>
              <a:rPr lang="en-US" sz="3000" b="1" dirty="0">
                <a:solidFill>
                  <a:schemeClr val="tx1"/>
                </a:solidFill>
              </a:rPr>
              <a:t>순위와 주문 거부 규칙</a:t>
            </a:r>
            <a:endParaRPr lang="en-US" sz="3000" dirty="0"/>
          </a:p>
        </p:txBody>
      </p:sp>
      <p:sp>
        <p:nvSpPr>
          <p:cNvPr id="3" name="Text 0"/>
          <p:cNvSpPr/>
          <p:nvPr>
            <p:ph idx="101" type="body" hasCustomPrompt="1"/>
          </p:nvPr>
        </p:nvSpPr>
        <p:spPr>
          <a:xfrm>
            <a:off x="457200" y="859536"/>
            <a:ext cx="8229600" cy="329184"/>
          </a:xfrm>
          <a:prstGeom prst="rect">
            <a:avLst/>
          </a:prstGeom>
          <a:noFill/>
          <a:ln/>
        </p:spPr>
        <p:txBody>
          <a:bodyPr wrap="square" lIns="0" tIns="0" rIns="0" bIns="0" rtlCol="0" anchor="t"/>
          <a:lstStyle/>
          <a:p>
            <a:pPr algn="l" indent="0" marL="0">
              <a:buNone/>
            </a:pPr>
            <a:r>
              <a:rPr lang="en-US" sz="1400" dirty="0">
                <a:solidFill>
                  <a:schemeClr val="accent6"/>
                </a:solidFill>
              </a:rPr>
              <a:t>한 판 240틱, 시세는 종목마다 241봉 (0번째 = 시작가)</a:t>
            </a:r>
            <a:endParaRPr lang="en-US" sz="1400" dirty="0"/>
          </a:p>
        </p:txBody>
      </p:sp>
      <p:sp>
        <p:nvSpPr>
          <p:cNvPr id="4" name="ranking"/>
          <p:cNvSpPr/>
          <p:nvPr/>
        </p:nvSpPr>
        <p:spPr>
          <a:xfrm>
            <a:off x="457200" y="1371600"/>
            <a:ext cx="3931920" cy="3200400"/>
          </a:xfrm>
          <a:prstGeom prst="roundRect">
            <a:avLst>
              <a:gd name="adj" fmla="val 2286"/>
            </a:avLst>
          </a:prstGeom>
          <a:solidFill>
            <a:schemeClr val="bg2"/>
          </a:solidFill>
          <a:ln/>
        </p:spPr>
      </p:sp>
      <p:sp>
        <p:nvSpPr>
          <p:cNvPr id="5" name="Shape 3"/>
          <p:cNvSpPr/>
          <p:nvPr/>
        </p:nvSpPr>
        <p:spPr>
          <a:xfrm>
            <a:off x="685800" y="1554480"/>
            <a:ext cx="502920" cy="502920"/>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811530" y="1680210"/>
            <a:ext cx="251460" cy="251460"/>
          </a:xfrm>
          <a:prstGeom prst="rect">
            <a:avLst/>
          </a:prstGeom>
        </p:spPr>
      </p:pic>
      <p:sp>
        <p:nvSpPr>
          <p:cNvPr id="7" name="Text 4"/>
          <p:cNvSpPr txBox="1"/>
          <p:nvPr/>
        </p:nvSpPr>
        <p:spPr>
          <a:xfrm>
            <a:off x="1325880" y="1554480"/>
            <a:ext cx="2286000" cy="502920"/>
          </a:xfrm>
          <a:prstGeom prst="rect">
            <a:avLst/>
          </a:prstGeom>
          <a:noFill/>
          <a:ln/>
        </p:spPr>
        <p:txBody>
          <a:bodyPr wrap="square" lIns="0" tIns="0" rIns="0" bIns="0" rtlCol="0" anchor="ctr"/>
          <a:lstStyle/>
          <a:p>
            <a:pPr indent="0" marL="0">
              <a:buNone/>
            </a:pPr>
            <a:r>
              <a:rPr lang="en-US" sz="1600" b="1" dirty="0">
                <a:solidFill>
                  <a:schemeClr val="tx1"/>
                </a:solidFill>
              </a:rPr>
              <a:t>순위</a:t>
            </a:r>
            <a:endParaRPr lang="en-US" sz="1600" dirty="0"/>
          </a:p>
        </p:txBody>
      </p:sp>
      <p:sp>
        <p:nvSpPr>
          <p:cNvPr id="8" name="Text 5"/>
          <p:cNvSpPr txBox="1"/>
          <p:nvPr/>
        </p:nvSpPr>
        <p:spPr>
          <a:xfrm>
            <a:off x="685800" y="2240280"/>
            <a:ext cx="3474720" cy="2194560"/>
          </a:xfrm>
          <a:prstGeom prst="rect">
            <a:avLst/>
          </a:prstGeom>
          <a:noFill/>
          <a:ln/>
        </p:spPr>
        <p:txBody>
          <a:bodyPr wrap="square" lIns="0" tIns="0" rIns="0" bIns="0" rtlCol="0" anchor="t"/>
          <a:lstStyle/>
          <a:p>
            <a:pPr indent="0" marL="0">
              <a:buNone/>
            </a:pPr>
            <a:r>
              <a:rPr lang="en-US" sz="1200" b="1" dirty="0">
                <a:solidFill>
                  <a:schemeClr val="tx1"/>
                </a:solidFill>
              </a:rPr>
              <a:t>기준</a:t>
            </a:r>
            <a:endParaRPr lang="en-US" sz="1200" dirty="0"/>
          </a:p>
          <a:p>
            <a:pPr indent="0" marL="0">
              <a:buNone/>
            </a:pPr>
            <a:r>
              <a:rPr lang="en-US" sz="1200" dirty="0">
                <a:solidFill>
                  <a:schemeClr val="accent6"/>
                </a:solidFill>
              </a:rPr>
              <a:t>종료 정리 후 총자산(= 현금) 내림차순</a:t>
            </a:r>
            <a:endParaRPr lang="en-US" sz="1200" dirty="0"/>
          </a:p>
          <a:p>
            <a:pPr indent="0" marL="0">
              <a:buNone/>
            </a:pPr>
            <a:r>
              <a:rPr lang="en-US" sz="600" dirty="0">
                <a:solidFill>
                  <a:schemeClr val="tx1"/>
                </a:solidFill>
              </a:rPr>
              <a:t> </a:t>
            </a:r>
            <a:endParaRPr lang="en-US" sz="1200" dirty="0"/>
          </a:p>
          <a:p>
            <a:pPr indent="0" marL="0">
              <a:buNone/>
            </a:pPr>
            <a:r>
              <a:rPr lang="en-US" sz="1200" b="1" dirty="0">
                <a:solidFill>
                  <a:schemeClr val="tx1"/>
                </a:solidFill>
              </a:rPr>
              <a:t>동점은 공동 순위</a:t>
            </a:r>
            <a:endParaRPr lang="en-US" sz="1200" dirty="0"/>
          </a:p>
          <a:p>
            <a:pPr indent="0" marL="0">
              <a:buNone/>
            </a:pPr>
            <a:r>
              <a:rPr lang="en-US" sz="1200" dirty="0">
                <a:solidFill>
                  <a:schemeClr val="accent6"/>
                </a:solidFill>
              </a:rPr>
              <a:t>1위, 1위, 3위 순으로 다음 순위를 건너뜀</a:t>
            </a:r>
            <a:endParaRPr lang="en-US" sz="1200" dirty="0"/>
          </a:p>
          <a:p>
            <a:pPr indent="0" marL="0">
              <a:buNone/>
            </a:pPr>
            <a:r>
              <a:rPr lang="en-US" sz="1200" dirty="0">
                <a:solidFill>
                  <a:schemeClr val="accent6"/>
                </a:solidFill>
              </a:rPr>
              <a:t>거래하지 않은 참가자끼리 시드 그대로 동점 실제 발생</a:t>
            </a:r>
            <a:endParaRPr lang="en-US" sz="1200" dirty="0"/>
          </a:p>
          <a:p>
            <a:pPr indent="0" marL="0">
              <a:buNone/>
            </a:pPr>
            <a:r>
              <a:rPr lang="en-US" sz="1200" dirty="0">
                <a:solidFill>
                  <a:schemeClr val="accent6"/>
                </a:solidFill>
              </a:rPr>
              <a:t>동점자는 입장 순서대로 나열</a:t>
            </a:r>
            <a:endParaRPr lang="en-US" sz="1200" dirty="0"/>
          </a:p>
        </p:txBody>
      </p:sp>
      <p:sp>
        <p:nvSpPr>
          <p:cNvPr id="9" name="Text 6"/>
          <p:cNvSpPr txBox="1"/>
          <p:nvPr/>
        </p:nvSpPr>
        <p:spPr>
          <a:xfrm>
            <a:off x="4663440" y="1371600"/>
            <a:ext cx="4023360" cy="274320"/>
          </a:xfrm>
          <a:prstGeom prst="rect">
            <a:avLst/>
          </a:prstGeom>
          <a:noFill/>
          <a:ln/>
        </p:spPr>
        <p:txBody>
          <a:bodyPr wrap="square" lIns="0" tIns="0" rIns="0" bIns="0" rtlCol="0" anchor="t"/>
          <a:lstStyle/>
          <a:p>
            <a:pPr indent="0" marL="0">
              <a:buNone/>
            </a:pPr>
            <a:r>
              <a:rPr lang="en-US" sz="1300" b="1" dirty="0">
                <a:solidFill>
                  <a:schemeClr val="tx1"/>
                </a:solidFill>
              </a:rPr>
              <a:t>주문 거부 조건</a:t>
            </a:r>
            <a:endParaRPr lang="en-US" sz="1300" dirty="0"/>
          </a:p>
        </p:txBody>
      </p:sp>
      <p:sp>
        <p:nvSpPr>
          <p:cNvPr id="10" name="reject-1"/>
          <p:cNvSpPr/>
          <p:nvPr/>
        </p:nvSpPr>
        <p:spPr>
          <a:xfrm>
            <a:off x="4663440" y="1737360"/>
            <a:ext cx="4023360" cy="493776"/>
          </a:xfrm>
          <a:prstGeom prst="roundRect">
            <a:avLst>
              <a:gd name="adj" fmla="val 14815"/>
            </a:avLst>
          </a:prstGeom>
          <a:solidFill>
            <a:schemeClr val="bg2"/>
          </a:solidFill>
          <a:ln/>
        </p:spPr>
      </p:sp>
      <p:sp>
        <p:nvSpPr>
          <p:cNvPr id="11" name="Text 8"/>
          <p:cNvSpPr txBox="1"/>
          <p:nvPr/>
        </p:nvSpPr>
        <p:spPr>
          <a:xfrm>
            <a:off x="4846320" y="1737360"/>
            <a:ext cx="1600200" cy="493776"/>
          </a:xfrm>
          <a:prstGeom prst="rect">
            <a:avLst/>
          </a:prstGeom>
          <a:noFill/>
          <a:ln/>
        </p:spPr>
        <p:txBody>
          <a:bodyPr wrap="square" lIns="0" tIns="0" rIns="0" bIns="0" rtlCol="0" anchor="ctr"/>
          <a:lstStyle/>
          <a:p>
            <a:pPr indent="0" marL="0">
              <a:buNone/>
            </a:pPr>
            <a:r>
              <a:rPr lang="en-US" sz="1200" b="1" dirty="0">
                <a:solidFill>
                  <a:schemeClr val="tx1"/>
                </a:solidFill>
              </a:rPr>
              <a:t>현금 부족</a:t>
            </a:r>
            <a:endParaRPr lang="en-US" sz="1200" dirty="0"/>
          </a:p>
        </p:txBody>
      </p:sp>
      <p:sp>
        <p:nvSpPr>
          <p:cNvPr id="12" name="Text 9"/>
          <p:cNvSpPr txBox="1"/>
          <p:nvPr/>
        </p:nvSpPr>
        <p:spPr>
          <a:xfrm>
            <a:off x="6446520" y="1737360"/>
            <a:ext cx="2103120" cy="493776"/>
          </a:xfrm>
          <a:prstGeom prst="rect">
            <a:avLst/>
          </a:prstGeom>
          <a:noFill/>
          <a:ln/>
        </p:spPr>
        <p:txBody>
          <a:bodyPr wrap="square" lIns="0" tIns="0" rIns="0" bIns="0" rtlCol="0" anchor="ctr"/>
          <a:lstStyle/>
          <a:p>
            <a:pPr indent="0" marL="0">
              <a:buNone/>
            </a:pPr>
            <a:r>
              <a:rPr lang="en-US" sz="1100" dirty="0">
                <a:solidFill>
                  <a:schemeClr val="accent6"/>
                </a:solidFill>
              </a:rPr>
              <a:t>실제 증거금 + 수수료가 현금보다 큼</a:t>
            </a:r>
            <a:endParaRPr lang="en-US" sz="1100" dirty="0"/>
          </a:p>
        </p:txBody>
      </p:sp>
      <p:sp>
        <p:nvSpPr>
          <p:cNvPr id="13" name="reject-2"/>
          <p:cNvSpPr/>
          <p:nvPr/>
        </p:nvSpPr>
        <p:spPr>
          <a:xfrm>
            <a:off x="4663440" y="2304288"/>
            <a:ext cx="4023360" cy="493776"/>
          </a:xfrm>
          <a:prstGeom prst="roundRect">
            <a:avLst>
              <a:gd name="adj" fmla="val 14815"/>
            </a:avLst>
          </a:prstGeom>
          <a:solidFill>
            <a:schemeClr val="bg2"/>
          </a:solidFill>
          <a:ln/>
        </p:spPr>
      </p:sp>
      <p:sp>
        <p:nvSpPr>
          <p:cNvPr id="14" name="Text 11"/>
          <p:cNvSpPr txBox="1"/>
          <p:nvPr/>
        </p:nvSpPr>
        <p:spPr>
          <a:xfrm>
            <a:off x="4846320" y="2304288"/>
            <a:ext cx="1600200" cy="493776"/>
          </a:xfrm>
          <a:prstGeom prst="rect">
            <a:avLst/>
          </a:prstGeom>
          <a:noFill/>
          <a:ln/>
        </p:spPr>
        <p:txBody>
          <a:bodyPr wrap="square" lIns="0" tIns="0" rIns="0" bIns="0" rtlCol="0" anchor="ctr"/>
          <a:lstStyle/>
          <a:p>
            <a:pPr indent="0" marL="0">
              <a:buNone/>
            </a:pPr>
            <a:r>
              <a:rPr lang="en-US" sz="1200" b="1" dirty="0">
                <a:solidFill>
                  <a:schemeClr val="tx1"/>
                </a:solidFill>
              </a:rPr>
              <a:t>증거금 부족</a:t>
            </a:r>
            <a:endParaRPr lang="en-US" sz="1200" dirty="0"/>
          </a:p>
        </p:txBody>
      </p:sp>
      <p:sp>
        <p:nvSpPr>
          <p:cNvPr id="15" name="Text 12"/>
          <p:cNvSpPr txBox="1"/>
          <p:nvPr/>
        </p:nvSpPr>
        <p:spPr>
          <a:xfrm>
            <a:off x="6446520" y="2304288"/>
            <a:ext cx="2103120" cy="493776"/>
          </a:xfrm>
          <a:prstGeom prst="rect">
            <a:avLst/>
          </a:prstGeom>
          <a:noFill/>
          <a:ln/>
        </p:spPr>
        <p:txBody>
          <a:bodyPr wrap="square" lIns="0" tIns="0" rIns="0" bIns="0" rtlCol="0" anchor="ctr"/>
          <a:lstStyle/>
          <a:p>
            <a:pPr indent="0" marL="0">
              <a:buNone/>
            </a:pPr>
            <a:r>
              <a:rPr lang="en-US" sz="1100" dirty="0">
                <a:solidFill>
                  <a:schemeClr val="accent6"/>
                </a:solidFill>
              </a:rPr>
              <a:t>체결 수량 0 (1주 값에 못 미침)</a:t>
            </a:r>
            <a:endParaRPr lang="en-US" sz="1100" dirty="0"/>
          </a:p>
        </p:txBody>
      </p:sp>
      <p:sp>
        <p:nvSpPr>
          <p:cNvPr id="16" name="reject-3"/>
          <p:cNvSpPr/>
          <p:nvPr/>
        </p:nvSpPr>
        <p:spPr>
          <a:xfrm>
            <a:off x="4663440" y="2871216"/>
            <a:ext cx="4023360" cy="493776"/>
          </a:xfrm>
          <a:prstGeom prst="roundRect">
            <a:avLst>
              <a:gd name="adj" fmla="val 14815"/>
            </a:avLst>
          </a:prstGeom>
          <a:solidFill>
            <a:schemeClr val="bg2"/>
          </a:solidFill>
          <a:ln/>
        </p:spPr>
      </p:sp>
      <p:sp>
        <p:nvSpPr>
          <p:cNvPr id="17" name="Text 14"/>
          <p:cNvSpPr txBox="1"/>
          <p:nvPr/>
        </p:nvSpPr>
        <p:spPr>
          <a:xfrm>
            <a:off x="4846320" y="2871216"/>
            <a:ext cx="1600200" cy="493776"/>
          </a:xfrm>
          <a:prstGeom prst="rect">
            <a:avLst/>
          </a:prstGeom>
          <a:noFill/>
          <a:ln/>
        </p:spPr>
        <p:txBody>
          <a:bodyPr wrap="square" lIns="0" tIns="0" rIns="0" bIns="0" rtlCol="0" anchor="ctr"/>
          <a:lstStyle/>
          <a:p>
            <a:pPr indent="0" marL="0">
              <a:buNone/>
            </a:pPr>
            <a:r>
              <a:rPr lang="en-US" sz="1200" b="1" dirty="0">
                <a:solidFill>
                  <a:schemeClr val="tx1"/>
                </a:solidFill>
              </a:rPr>
              <a:t>허용되지 않은 배율</a:t>
            </a:r>
            <a:endParaRPr lang="en-US" sz="1200" dirty="0"/>
          </a:p>
        </p:txBody>
      </p:sp>
      <p:sp>
        <p:nvSpPr>
          <p:cNvPr id="18" name="Text 15"/>
          <p:cNvSpPr txBox="1"/>
          <p:nvPr/>
        </p:nvSpPr>
        <p:spPr>
          <a:xfrm>
            <a:off x="6446520" y="2871216"/>
            <a:ext cx="2103120" cy="493776"/>
          </a:xfrm>
          <a:prstGeom prst="rect">
            <a:avLst/>
          </a:prstGeom>
          <a:noFill/>
          <a:ln/>
        </p:spPr>
        <p:txBody>
          <a:bodyPr wrap="square" lIns="0" tIns="0" rIns="0" bIns="0" rtlCol="0" anchor="ctr"/>
          <a:lstStyle/>
          <a:p>
            <a:pPr indent="0" marL="0">
              <a:buNone/>
            </a:pPr>
            <a:r>
              <a:rPr lang="en-US" sz="1100" dirty="0">
                <a:solidFill>
                  <a:schemeClr val="accent6"/>
                </a:solidFill>
              </a:rPr>
              <a:t>일봉 1, 2, 3과 분봉 1, 3, 5, 10 외</a:t>
            </a:r>
            <a:endParaRPr lang="en-US" sz="1100" dirty="0"/>
          </a:p>
        </p:txBody>
      </p:sp>
      <p:sp>
        <p:nvSpPr>
          <p:cNvPr id="19" name="reject-4"/>
          <p:cNvSpPr/>
          <p:nvPr/>
        </p:nvSpPr>
        <p:spPr>
          <a:xfrm>
            <a:off x="4663440" y="3438144"/>
            <a:ext cx="4023360" cy="493776"/>
          </a:xfrm>
          <a:prstGeom prst="roundRect">
            <a:avLst>
              <a:gd name="adj" fmla="val 14815"/>
            </a:avLst>
          </a:prstGeom>
          <a:solidFill>
            <a:schemeClr val="bg2"/>
          </a:solidFill>
          <a:ln/>
        </p:spPr>
      </p:sp>
      <p:sp>
        <p:nvSpPr>
          <p:cNvPr id="20" name="Text 17"/>
          <p:cNvSpPr txBox="1"/>
          <p:nvPr/>
        </p:nvSpPr>
        <p:spPr>
          <a:xfrm>
            <a:off x="4846320" y="3438144"/>
            <a:ext cx="1600200" cy="493776"/>
          </a:xfrm>
          <a:prstGeom prst="rect">
            <a:avLst/>
          </a:prstGeom>
          <a:noFill/>
          <a:ln/>
        </p:spPr>
        <p:txBody>
          <a:bodyPr wrap="square" lIns="0" tIns="0" rIns="0" bIns="0" rtlCol="0" anchor="ctr"/>
          <a:lstStyle/>
          <a:p>
            <a:pPr indent="0" marL="0">
              <a:buNone/>
            </a:pPr>
            <a:r>
              <a:rPr lang="en-US" sz="1200" b="1" dirty="0">
                <a:solidFill>
                  <a:schemeClr val="tx1"/>
                </a:solidFill>
              </a:rPr>
              <a:t>같은 종목 보유 중</a:t>
            </a:r>
            <a:endParaRPr lang="en-US" sz="1200" dirty="0"/>
          </a:p>
        </p:txBody>
      </p:sp>
      <p:sp>
        <p:nvSpPr>
          <p:cNvPr id="21" name="Text 18"/>
          <p:cNvSpPr txBox="1"/>
          <p:nvPr/>
        </p:nvSpPr>
        <p:spPr>
          <a:xfrm>
            <a:off x="6446520" y="3438144"/>
            <a:ext cx="2103120" cy="493776"/>
          </a:xfrm>
          <a:prstGeom prst="rect">
            <a:avLst/>
          </a:prstGeom>
          <a:noFill/>
          <a:ln/>
        </p:spPr>
        <p:txBody>
          <a:bodyPr wrap="square" lIns="0" tIns="0" rIns="0" bIns="0" rtlCol="0" anchor="ctr"/>
          <a:lstStyle/>
          <a:p>
            <a:pPr indent="0" marL="0">
              <a:buNone/>
            </a:pPr>
            <a:r>
              <a:rPr lang="en-US" sz="1100" dirty="0">
                <a:solidFill>
                  <a:schemeClr val="accent6"/>
                </a:solidFill>
              </a:rPr>
              <a:t>종목당 포지션 1개, 평단가 계산 회피</a:t>
            </a:r>
            <a:endParaRPr lang="en-US" sz="1100" dirty="0"/>
          </a:p>
        </p:txBody>
      </p:sp>
      <p:sp>
        <p:nvSpPr>
          <p:cNvPr id="22" name="reject-5"/>
          <p:cNvSpPr/>
          <p:nvPr/>
        </p:nvSpPr>
        <p:spPr>
          <a:xfrm>
            <a:off x="4663440" y="4005072"/>
            <a:ext cx="4023360" cy="493776"/>
          </a:xfrm>
          <a:prstGeom prst="roundRect">
            <a:avLst>
              <a:gd name="adj" fmla="val 14815"/>
            </a:avLst>
          </a:prstGeom>
          <a:solidFill>
            <a:schemeClr val="bg2"/>
          </a:solidFill>
          <a:ln/>
        </p:spPr>
      </p:sp>
      <p:sp>
        <p:nvSpPr>
          <p:cNvPr id="23" name="Text 20"/>
          <p:cNvSpPr txBox="1"/>
          <p:nvPr/>
        </p:nvSpPr>
        <p:spPr>
          <a:xfrm>
            <a:off x="4846320" y="4005072"/>
            <a:ext cx="1600200" cy="493776"/>
          </a:xfrm>
          <a:prstGeom prst="rect">
            <a:avLst/>
          </a:prstGeom>
          <a:noFill/>
          <a:ln/>
        </p:spPr>
        <p:txBody>
          <a:bodyPr wrap="square" lIns="0" tIns="0" rIns="0" bIns="0" rtlCol="0" anchor="ctr"/>
          <a:lstStyle/>
          <a:p>
            <a:pPr indent="0" marL="0">
              <a:buNone/>
            </a:pPr>
            <a:r>
              <a:rPr lang="en-US" sz="1200" b="1" dirty="0">
                <a:solidFill>
                  <a:schemeClr val="tx1"/>
                </a:solidFill>
              </a:rPr>
              <a:t>시간 종료</a:t>
            </a:r>
            <a:endParaRPr lang="en-US" sz="1200" dirty="0"/>
          </a:p>
        </p:txBody>
      </p:sp>
      <p:sp>
        <p:nvSpPr>
          <p:cNvPr id="24" name="Text 21"/>
          <p:cNvSpPr txBox="1"/>
          <p:nvPr/>
        </p:nvSpPr>
        <p:spPr>
          <a:xfrm>
            <a:off x="6446520" y="4005072"/>
            <a:ext cx="2103120" cy="493776"/>
          </a:xfrm>
          <a:prstGeom prst="rect">
            <a:avLst/>
          </a:prstGeom>
          <a:noFill/>
          <a:ln/>
        </p:spPr>
        <p:txBody>
          <a:bodyPr wrap="square" lIns="0" tIns="0" rIns="0" bIns="0" rtlCol="0" anchor="ctr"/>
          <a:lstStyle/>
          <a:p>
            <a:pPr indent="0" marL="0">
              <a:buNone/>
            </a:pPr>
            <a:r>
              <a:rPr lang="en-US" sz="1100" dirty="0">
                <a:solidFill>
                  <a:schemeClr val="accent6"/>
                </a:solidFill>
              </a:rPr>
              <a:t>마지막 틱 이후 주문은 종료 정리로만</a:t>
            </a:r>
            <a:endParaRPr lang="en-US" sz="1100" dirty="0"/>
          </a:p>
        </p:txBody>
      </p:sp>
      <p:sp>
        <p:nvSpPr>
          <p:cNvPr id="25" name="Slide Number Placeholder 0"/>
          <p:cNvSpPr>
            <a:spLocks noGrp="1"/>
          </p:cNvSpPr>
          <p:nvPr>
            <p:ph type="sldNum" sz="quarter" idx="4294967295"/>
          </p:nvPr>
        </p:nvSpPr>
        <p:spPr>
          <a:xfrm>
            <a:off x="8138160" y="48006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38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566928"/>
          </a:xfrm>
          <a:prstGeom prst="rect">
            <a:avLst/>
          </a:prstGeom>
          <a:noFill/>
          <a:ln/>
        </p:spPr>
        <p:txBody>
          <a:bodyPr wrap="square" lIns="0" tIns="0" rIns="0" bIns="0" rtlCol="0" anchor="ctr"/>
          <a:lstStyle/>
          <a:p>
            <a:pPr algn="l" indent="0" marL="0">
              <a:buNone/>
            </a:pPr>
            <a:r>
              <a:rPr lang="en-US" sz="3000" b="1" dirty="0">
                <a:solidFill>
                  <a:schemeClr val="tx1"/>
                </a:solidFill>
              </a:rPr>
              <a:t>동시 진행: 방마다 한 줄 처리</a:t>
            </a:r>
            <a:endParaRPr lang="en-US" sz="3000" dirty="0"/>
          </a:p>
        </p:txBody>
      </p:sp>
      <p:sp>
        <p:nvSpPr>
          <p:cNvPr id="3" name="Text 0"/>
          <p:cNvSpPr/>
          <p:nvPr>
            <p:ph idx="101" type="body" hasCustomPrompt="1"/>
          </p:nvPr>
        </p:nvSpPr>
        <p:spPr>
          <a:xfrm>
            <a:off x="457200" y="859536"/>
            <a:ext cx="8229600" cy="329184"/>
          </a:xfrm>
          <a:prstGeom prst="rect">
            <a:avLst/>
          </a:prstGeom>
          <a:noFill/>
          <a:ln/>
        </p:spPr>
        <p:txBody>
          <a:bodyPr wrap="square" lIns="0" tIns="0" rIns="0" bIns="0" rtlCol="0" anchor="t"/>
          <a:lstStyle/>
          <a:p>
            <a:pPr algn="l" indent="0" marL="0">
              <a:buNone/>
            </a:pPr>
            <a:r>
              <a:rPr lang="en-US" sz="1400" dirty="0">
                <a:solidFill>
                  <a:schemeClr val="accent6"/>
                </a:solidFill>
              </a:rPr>
              <a:t>틱, 주문, 입장, 준비를 방마다 하나의 줄에서 도착 순서대로 처리</a:t>
            </a:r>
            <a:endParaRPr lang="en-US" sz="1400" dirty="0"/>
          </a:p>
        </p:txBody>
      </p:sp>
      <p:sp>
        <p:nvSpPr>
          <p:cNvPr id="4" name="Text 2"/>
          <p:cNvSpPr txBox="1"/>
          <p:nvPr/>
        </p:nvSpPr>
        <p:spPr>
          <a:xfrm>
            <a:off x="457200" y="1463040"/>
            <a:ext cx="731520" cy="548640"/>
          </a:xfrm>
          <a:prstGeom prst="rect">
            <a:avLst/>
          </a:prstGeom>
          <a:noFill/>
          <a:ln/>
        </p:spPr>
        <p:txBody>
          <a:bodyPr wrap="square" lIns="0" tIns="0" rIns="0" bIns="0" rtlCol="0" anchor="ctr"/>
          <a:lstStyle/>
          <a:p>
            <a:pPr indent="0" marL="0">
              <a:buNone/>
            </a:pPr>
            <a:r>
              <a:rPr lang="en-US" sz="1400" b="1" dirty="0">
                <a:solidFill>
                  <a:schemeClr val="tx1"/>
                </a:solidFill>
              </a:rPr>
              <a:t>방 A</a:t>
            </a:r>
            <a:endParaRPr lang="en-US" sz="1400" dirty="0"/>
          </a:p>
        </p:txBody>
      </p:sp>
      <p:sp>
        <p:nvSpPr>
          <p:cNvPr id="5" name="q-0-0"/>
          <p:cNvSpPr/>
          <p:nvPr/>
        </p:nvSpPr>
        <p:spPr>
          <a:xfrm>
            <a:off x="1234440" y="1517904"/>
            <a:ext cx="658368" cy="438912"/>
          </a:xfrm>
          <a:prstGeom prst="roundRect">
            <a:avLst>
              <a:gd name="adj" fmla="val 16667"/>
            </a:avLst>
          </a:prstGeom>
          <a:solidFill>
            <a:schemeClr val="accent1"/>
          </a:solidFill>
          <a:ln/>
        </p:spPr>
      </p:sp>
      <p:sp>
        <p:nvSpPr>
          <p:cNvPr id="6" name="Text 4"/>
          <p:cNvSpPr txBox="1"/>
          <p:nvPr/>
        </p:nvSpPr>
        <p:spPr>
          <a:xfrm>
            <a:off x="1234440" y="1517904"/>
            <a:ext cx="658368" cy="438912"/>
          </a:xfrm>
          <a:prstGeom prst="rect">
            <a:avLst/>
          </a:prstGeom>
          <a:noFill/>
          <a:ln/>
        </p:spPr>
        <p:txBody>
          <a:bodyPr wrap="square" lIns="0" tIns="0" rIns="0" bIns="0" rtlCol="0" anchor="ctr"/>
          <a:lstStyle/>
          <a:p>
            <a:pPr algn="ctr" indent="0" marL="0">
              <a:buNone/>
            </a:pPr>
            <a:r>
              <a:rPr lang="en-US" sz="1000" b="1" dirty="0">
                <a:solidFill>
                  <a:schemeClr val="bg1"/>
                </a:solidFill>
              </a:rPr>
              <a:t>틱 15</a:t>
            </a:r>
            <a:endParaRPr lang="en-US" sz="1000" dirty="0"/>
          </a:p>
        </p:txBody>
      </p:sp>
      <p:sp>
        <p:nvSpPr>
          <p:cNvPr id="7" name="q-0-1"/>
          <p:cNvSpPr/>
          <p:nvPr/>
        </p:nvSpPr>
        <p:spPr>
          <a:xfrm>
            <a:off x="1984248" y="1517904"/>
            <a:ext cx="658368" cy="438912"/>
          </a:xfrm>
          <a:prstGeom prst="roundRect">
            <a:avLst>
              <a:gd name="adj" fmla="val 16667"/>
            </a:avLst>
          </a:prstGeom>
          <a:solidFill>
            <a:schemeClr val="bg2"/>
          </a:solidFill>
          <a:ln/>
        </p:spPr>
      </p:sp>
      <p:sp>
        <p:nvSpPr>
          <p:cNvPr id="8" name="Text 6"/>
          <p:cNvSpPr txBox="1"/>
          <p:nvPr/>
        </p:nvSpPr>
        <p:spPr>
          <a:xfrm>
            <a:off x="1984248" y="1517904"/>
            <a:ext cx="658368" cy="438912"/>
          </a:xfrm>
          <a:prstGeom prst="rect">
            <a:avLst/>
          </a:prstGeom>
          <a:noFill/>
          <a:ln/>
        </p:spPr>
        <p:txBody>
          <a:bodyPr wrap="square" lIns="0" tIns="0" rIns="0" bIns="0" rtlCol="0" anchor="ctr"/>
          <a:lstStyle/>
          <a:p>
            <a:pPr algn="ctr" indent="0" marL="0">
              <a:buNone/>
            </a:pPr>
            <a:r>
              <a:rPr lang="en-US" sz="1000" b="1" dirty="0">
                <a:solidFill>
                  <a:schemeClr val="tx1"/>
                </a:solidFill>
              </a:rPr>
              <a:t>주문</a:t>
            </a:r>
            <a:endParaRPr lang="en-US" sz="1000" dirty="0"/>
          </a:p>
        </p:txBody>
      </p:sp>
      <p:sp>
        <p:nvSpPr>
          <p:cNvPr id="9" name="q-0-2"/>
          <p:cNvSpPr/>
          <p:nvPr/>
        </p:nvSpPr>
        <p:spPr>
          <a:xfrm>
            <a:off x="2734056" y="1517904"/>
            <a:ext cx="658368" cy="438912"/>
          </a:xfrm>
          <a:prstGeom prst="roundRect">
            <a:avLst>
              <a:gd name="adj" fmla="val 16667"/>
            </a:avLst>
          </a:prstGeom>
          <a:solidFill>
            <a:schemeClr val="bg2"/>
          </a:solidFill>
          <a:ln/>
        </p:spPr>
      </p:sp>
      <p:sp>
        <p:nvSpPr>
          <p:cNvPr id="10" name="Text 8"/>
          <p:cNvSpPr txBox="1"/>
          <p:nvPr/>
        </p:nvSpPr>
        <p:spPr>
          <a:xfrm>
            <a:off x="2734056" y="1517904"/>
            <a:ext cx="658368" cy="438912"/>
          </a:xfrm>
          <a:prstGeom prst="rect">
            <a:avLst/>
          </a:prstGeom>
          <a:noFill/>
          <a:ln/>
        </p:spPr>
        <p:txBody>
          <a:bodyPr wrap="square" lIns="0" tIns="0" rIns="0" bIns="0" rtlCol="0" anchor="ctr"/>
          <a:lstStyle/>
          <a:p>
            <a:pPr algn="ctr" indent="0" marL="0">
              <a:buNone/>
            </a:pPr>
            <a:r>
              <a:rPr lang="en-US" sz="1000" b="1" dirty="0">
                <a:solidFill>
                  <a:schemeClr val="tx1"/>
                </a:solidFill>
              </a:rPr>
              <a:t>주문</a:t>
            </a:r>
            <a:endParaRPr lang="en-US" sz="1000" dirty="0"/>
          </a:p>
        </p:txBody>
      </p:sp>
      <p:sp>
        <p:nvSpPr>
          <p:cNvPr id="11" name="q-0-3"/>
          <p:cNvSpPr/>
          <p:nvPr/>
        </p:nvSpPr>
        <p:spPr>
          <a:xfrm>
            <a:off x="3483864" y="1517904"/>
            <a:ext cx="658368" cy="438912"/>
          </a:xfrm>
          <a:prstGeom prst="roundRect">
            <a:avLst>
              <a:gd name="adj" fmla="val 16667"/>
            </a:avLst>
          </a:prstGeom>
          <a:solidFill>
            <a:schemeClr val="accent1"/>
          </a:solidFill>
          <a:ln/>
        </p:spPr>
      </p:sp>
      <p:sp>
        <p:nvSpPr>
          <p:cNvPr id="12" name="Text 10"/>
          <p:cNvSpPr txBox="1"/>
          <p:nvPr/>
        </p:nvSpPr>
        <p:spPr>
          <a:xfrm>
            <a:off x="3483864" y="1517904"/>
            <a:ext cx="658368" cy="438912"/>
          </a:xfrm>
          <a:prstGeom prst="rect">
            <a:avLst/>
          </a:prstGeom>
          <a:noFill/>
          <a:ln/>
        </p:spPr>
        <p:txBody>
          <a:bodyPr wrap="square" lIns="0" tIns="0" rIns="0" bIns="0" rtlCol="0" anchor="ctr"/>
          <a:lstStyle/>
          <a:p>
            <a:pPr algn="ctr" indent="0" marL="0">
              <a:buNone/>
            </a:pPr>
            <a:r>
              <a:rPr lang="en-US" sz="1000" b="1" dirty="0">
                <a:solidFill>
                  <a:schemeClr val="bg1"/>
                </a:solidFill>
              </a:rPr>
              <a:t>틱 16</a:t>
            </a:r>
            <a:endParaRPr lang="en-US" sz="1000" dirty="0"/>
          </a:p>
        </p:txBody>
      </p:sp>
      <p:sp>
        <p:nvSpPr>
          <p:cNvPr id="13" name="q-0-4"/>
          <p:cNvSpPr/>
          <p:nvPr/>
        </p:nvSpPr>
        <p:spPr>
          <a:xfrm>
            <a:off x="4233672" y="1517904"/>
            <a:ext cx="658368" cy="438912"/>
          </a:xfrm>
          <a:prstGeom prst="roundRect">
            <a:avLst>
              <a:gd name="adj" fmla="val 16667"/>
            </a:avLst>
          </a:prstGeom>
          <a:solidFill>
            <a:schemeClr val="bg2"/>
          </a:solidFill>
          <a:ln/>
        </p:spPr>
      </p:sp>
      <p:sp>
        <p:nvSpPr>
          <p:cNvPr id="14" name="Text 12"/>
          <p:cNvSpPr txBox="1"/>
          <p:nvPr/>
        </p:nvSpPr>
        <p:spPr>
          <a:xfrm>
            <a:off x="4233672" y="1517904"/>
            <a:ext cx="658368" cy="438912"/>
          </a:xfrm>
          <a:prstGeom prst="rect">
            <a:avLst/>
          </a:prstGeom>
          <a:noFill/>
          <a:ln/>
        </p:spPr>
        <p:txBody>
          <a:bodyPr wrap="square" lIns="0" tIns="0" rIns="0" bIns="0" rtlCol="0" anchor="ctr"/>
          <a:lstStyle/>
          <a:p>
            <a:pPr algn="ctr" indent="0" marL="0">
              <a:buNone/>
            </a:pPr>
            <a:r>
              <a:rPr lang="en-US" sz="1000" b="1" dirty="0">
                <a:solidFill>
                  <a:schemeClr val="tx1"/>
                </a:solidFill>
              </a:rPr>
              <a:t>주문</a:t>
            </a:r>
            <a:endParaRPr lang="en-US" sz="1000" dirty="0"/>
          </a:p>
        </p:txBody>
      </p:sp>
      <p:sp>
        <p:nvSpPr>
          <p:cNvPr id="15" name="Shape 13"/>
          <p:cNvSpPr/>
          <p:nvPr/>
        </p:nvSpPr>
        <p:spPr>
          <a:xfrm>
            <a:off x="5001768" y="1737360"/>
            <a:ext cx="301752" cy="914"/>
          </a:xfrm>
          <a:prstGeom prst="line">
            <a:avLst/>
          </a:prstGeom>
          <a:noFill/>
          <a:ln w="19050">
            <a:solidFill>
              <a:schemeClr val="accent6"/>
            </a:solidFill>
            <a:prstDash val="solid"/>
            <a:tailEnd type="triangle"/>
          </a:ln>
        </p:spPr>
      </p:sp>
      <p:sp>
        <p:nvSpPr>
          <p:cNvPr id="16" name="worker-0"/>
          <p:cNvSpPr/>
          <p:nvPr/>
        </p:nvSpPr>
        <p:spPr>
          <a:xfrm>
            <a:off x="5349240" y="1481328"/>
            <a:ext cx="594360" cy="512064"/>
          </a:xfrm>
          <a:prstGeom prst="roundRect">
            <a:avLst>
              <a:gd name="adj" fmla="val 14286"/>
            </a:avLst>
          </a:prstGeom>
          <a:solidFill>
            <a:schemeClr val="tx1"/>
          </a:solidFill>
          <a:ln/>
        </p:spPr>
      </p:sp>
      <p:sp>
        <p:nvSpPr>
          <p:cNvPr id="17" name="Text 15"/>
          <p:cNvSpPr txBox="1"/>
          <p:nvPr/>
        </p:nvSpPr>
        <p:spPr>
          <a:xfrm>
            <a:off x="5349240" y="1481328"/>
            <a:ext cx="594360" cy="512064"/>
          </a:xfrm>
          <a:prstGeom prst="rect">
            <a:avLst/>
          </a:prstGeom>
          <a:noFill/>
          <a:ln/>
        </p:spPr>
        <p:txBody>
          <a:bodyPr wrap="square" lIns="0" tIns="0" rIns="0" bIns="0" rtlCol="0" anchor="ctr"/>
          <a:lstStyle/>
          <a:p>
            <a:pPr algn="ctr" indent="0" marL="0">
              <a:buNone/>
            </a:pPr>
            <a:r>
              <a:rPr lang="en-US" sz="1100" b="1" dirty="0">
                <a:solidFill>
                  <a:schemeClr val="bg1"/>
                </a:solidFill>
              </a:rPr>
              <a:t>처리</a:t>
            </a:r>
            <a:endParaRPr lang="en-US" sz="1100" dirty="0"/>
          </a:p>
        </p:txBody>
      </p:sp>
      <p:sp>
        <p:nvSpPr>
          <p:cNvPr id="18" name="Text 16"/>
          <p:cNvSpPr txBox="1"/>
          <p:nvPr/>
        </p:nvSpPr>
        <p:spPr>
          <a:xfrm>
            <a:off x="457200" y="2560320"/>
            <a:ext cx="731520" cy="548640"/>
          </a:xfrm>
          <a:prstGeom prst="rect">
            <a:avLst/>
          </a:prstGeom>
          <a:noFill/>
          <a:ln/>
        </p:spPr>
        <p:txBody>
          <a:bodyPr wrap="square" lIns="0" tIns="0" rIns="0" bIns="0" rtlCol="0" anchor="ctr"/>
          <a:lstStyle/>
          <a:p>
            <a:pPr indent="0" marL="0">
              <a:buNone/>
            </a:pPr>
            <a:r>
              <a:rPr lang="en-US" sz="1400" b="1" dirty="0">
                <a:solidFill>
                  <a:schemeClr val="tx1"/>
                </a:solidFill>
              </a:rPr>
              <a:t>방 B</a:t>
            </a:r>
            <a:endParaRPr lang="en-US" sz="1400" dirty="0"/>
          </a:p>
        </p:txBody>
      </p:sp>
      <p:sp>
        <p:nvSpPr>
          <p:cNvPr id="19" name="q-1-0"/>
          <p:cNvSpPr/>
          <p:nvPr/>
        </p:nvSpPr>
        <p:spPr>
          <a:xfrm>
            <a:off x="1234440" y="2615184"/>
            <a:ext cx="658368" cy="438912"/>
          </a:xfrm>
          <a:prstGeom prst="roundRect">
            <a:avLst>
              <a:gd name="adj" fmla="val 16667"/>
            </a:avLst>
          </a:prstGeom>
          <a:solidFill>
            <a:schemeClr val="bg2"/>
          </a:solidFill>
          <a:ln/>
        </p:spPr>
      </p:sp>
      <p:sp>
        <p:nvSpPr>
          <p:cNvPr id="20" name="Text 18"/>
          <p:cNvSpPr txBox="1"/>
          <p:nvPr/>
        </p:nvSpPr>
        <p:spPr>
          <a:xfrm>
            <a:off x="1234440" y="2615184"/>
            <a:ext cx="658368" cy="438912"/>
          </a:xfrm>
          <a:prstGeom prst="rect">
            <a:avLst/>
          </a:prstGeom>
          <a:noFill/>
          <a:ln/>
        </p:spPr>
        <p:txBody>
          <a:bodyPr wrap="square" lIns="0" tIns="0" rIns="0" bIns="0" rtlCol="0" anchor="ctr"/>
          <a:lstStyle/>
          <a:p>
            <a:pPr algn="ctr" indent="0" marL="0">
              <a:buNone/>
            </a:pPr>
            <a:r>
              <a:rPr lang="en-US" sz="1000" b="1" dirty="0">
                <a:solidFill>
                  <a:schemeClr val="tx1"/>
                </a:solidFill>
              </a:rPr>
              <a:t>입장</a:t>
            </a:r>
            <a:endParaRPr lang="en-US" sz="1000" dirty="0"/>
          </a:p>
        </p:txBody>
      </p:sp>
      <p:sp>
        <p:nvSpPr>
          <p:cNvPr id="21" name="q-1-1"/>
          <p:cNvSpPr/>
          <p:nvPr/>
        </p:nvSpPr>
        <p:spPr>
          <a:xfrm>
            <a:off x="1984248" y="2615184"/>
            <a:ext cx="658368" cy="438912"/>
          </a:xfrm>
          <a:prstGeom prst="roundRect">
            <a:avLst>
              <a:gd name="adj" fmla="val 16667"/>
            </a:avLst>
          </a:prstGeom>
          <a:solidFill>
            <a:schemeClr val="bg2"/>
          </a:solidFill>
          <a:ln/>
        </p:spPr>
      </p:sp>
      <p:sp>
        <p:nvSpPr>
          <p:cNvPr id="22" name="Text 20"/>
          <p:cNvSpPr txBox="1"/>
          <p:nvPr/>
        </p:nvSpPr>
        <p:spPr>
          <a:xfrm>
            <a:off x="1984248" y="2615184"/>
            <a:ext cx="658368" cy="438912"/>
          </a:xfrm>
          <a:prstGeom prst="rect">
            <a:avLst/>
          </a:prstGeom>
          <a:noFill/>
          <a:ln/>
        </p:spPr>
        <p:txBody>
          <a:bodyPr wrap="square" lIns="0" tIns="0" rIns="0" bIns="0" rtlCol="0" anchor="ctr"/>
          <a:lstStyle/>
          <a:p>
            <a:pPr algn="ctr" indent="0" marL="0">
              <a:buNone/>
            </a:pPr>
            <a:r>
              <a:rPr lang="en-US" sz="1000" b="1" dirty="0">
                <a:solidFill>
                  <a:schemeClr val="tx1"/>
                </a:solidFill>
              </a:rPr>
              <a:t>준비</a:t>
            </a:r>
            <a:endParaRPr lang="en-US" sz="1000" dirty="0"/>
          </a:p>
        </p:txBody>
      </p:sp>
      <p:sp>
        <p:nvSpPr>
          <p:cNvPr id="23" name="q-1-2"/>
          <p:cNvSpPr/>
          <p:nvPr/>
        </p:nvSpPr>
        <p:spPr>
          <a:xfrm>
            <a:off x="2734056" y="2615184"/>
            <a:ext cx="658368" cy="438912"/>
          </a:xfrm>
          <a:prstGeom prst="roundRect">
            <a:avLst>
              <a:gd name="adj" fmla="val 16667"/>
            </a:avLst>
          </a:prstGeom>
          <a:solidFill>
            <a:schemeClr val="accent1"/>
          </a:solidFill>
          <a:ln/>
        </p:spPr>
      </p:sp>
      <p:sp>
        <p:nvSpPr>
          <p:cNvPr id="24" name="Text 22"/>
          <p:cNvSpPr txBox="1"/>
          <p:nvPr/>
        </p:nvSpPr>
        <p:spPr>
          <a:xfrm>
            <a:off x="2734056" y="2615184"/>
            <a:ext cx="658368" cy="438912"/>
          </a:xfrm>
          <a:prstGeom prst="rect">
            <a:avLst/>
          </a:prstGeom>
          <a:noFill/>
          <a:ln/>
        </p:spPr>
        <p:txBody>
          <a:bodyPr wrap="square" lIns="0" tIns="0" rIns="0" bIns="0" rtlCol="0" anchor="ctr"/>
          <a:lstStyle/>
          <a:p>
            <a:pPr algn="ctr" indent="0" marL="0">
              <a:buNone/>
            </a:pPr>
            <a:r>
              <a:rPr lang="en-US" sz="1000" b="1" dirty="0">
                <a:solidFill>
                  <a:schemeClr val="bg1"/>
                </a:solidFill>
              </a:rPr>
              <a:t>틱 1</a:t>
            </a:r>
            <a:endParaRPr lang="en-US" sz="1000" dirty="0"/>
          </a:p>
        </p:txBody>
      </p:sp>
      <p:sp>
        <p:nvSpPr>
          <p:cNvPr id="25" name="q-1-3"/>
          <p:cNvSpPr/>
          <p:nvPr/>
        </p:nvSpPr>
        <p:spPr>
          <a:xfrm>
            <a:off x="3483864" y="2615184"/>
            <a:ext cx="658368" cy="438912"/>
          </a:xfrm>
          <a:prstGeom prst="roundRect">
            <a:avLst>
              <a:gd name="adj" fmla="val 16667"/>
            </a:avLst>
          </a:prstGeom>
          <a:solidFill>
            <a:schemeClr val="bg2"/>
          </a:solidFill>
          <a:ln/>
        </p:spPr>
      </p:sp>
      <p:sp>
        <p:nvSpPr>
          <p:cNvPr id="26" name="Text 24"/>
          <p:cNvSpPr txBox="1"/>
          <p:nvPr/>
        </p:nvSpPr>
        <p:spPr>
          <a:xfrm>
            <a:off x="3483864" y="2615184"/>
            <a:ext cx="658368" cy="438912"/>
          </a:xfrm>
          <a:prstGeom prst="rect">
            <a:avLst/>
          </a:prstGeom>
          <a:noFill/>
          <a:ln/>
        </p:spPr>
        <p:txBody>
          <a:bodyPr wrap="square" lIns="0" tIns="0" rIns="0" bIns="0" rtlCol="0" anchor="ctr"/>
          <a:lstStyle/>
          <a:p>
            <a:pPr algn="ctr" indent="0" marL="0">
              <a:buNone/>
            </a:pPr>
            <a:r>
              <a:rPr lang="en-US" sz="1000" b="1" dirty="0">
                <a:solidFill>
                  <a:schemeClr val="tx1"/>
                </a:solidFill>
              </a:rPr>
              <a:t>주문</a:t>
            </a:r>
            <a:endParaRPr lang="en-US" sz="1000" dirty="0"/>
          </a:p>
        </p:txBody>
      </p:sp>
      <p:sp>
        <p:nvSpPr>
          <p:cNvPr id="27" name="q-1-4"/>
          <p:cNvSpPr/>
          <p:nvPr/>
        </p:nvSpPr>
        <p:spPr>
          <a:xfrm>
            <a:off x="4233672" y="2615184"/>
            <a:ext cx="658368" cy="438912"/>
          </a:xfrm>
          <a:prstGeom prst="roundRect">
            <a:avLst>
              <a:gd name="adj" fmla="val 16667"/>
            </a:avLst>
          </a:prstGeom>
          <a:solidFill>
            <a:schemeClr val="accent1"/>
          </a:solidFill>
          <a:ln/>
        </p:spPr>
      </p:sp>
      <p:sp>
        <p:nvSpPr>
          <p:cNvPr id="28" name="Text 26"/>
          <p:cNvSpPr txBox="1"/>
          <p:nvPr/>
        </p:nvSpPr>
        <p:spPr>
          <a:xfrm>
            <a:off x="4233672" y="2615184"/>
            <a:ext cx="658368" cy="438912"/>
          </a:xfrm>
          <a:prstGeom prst="rect">
            <a:avLst/>
          </a:prstGeom>
          <a:noFill/>
          <a:ln/>
        </p:spPr>
        <p:txBody>
          <a:bodyPr wrap="square" lIns="0" tIns="0" rIns="0" bIns="0" rtlCol="0" anchor="ctr"/>
          <a:lstStyle/>
          <a:p>
            <a:pPr algn="ctr" indent="0" marL="0">
              <a:buNone/>
            </a:pPr>
            <a:r>
              <a:rPr lang="en-US" sz="1000" b="1" dirty="0">
                <a:solidFill>
                  <a:schemeClr val="bg1"/>
                </a:solidFill>
              </a:rPr>
              <a:t>틱 2</a:t>
            </a:r>
            <a:endParaRPr lang="en-US" sz="1000" dirty="0"/>
          </a:p>
        </p:txBody>
      </p:sp>
      <p:sp>
        <p:nvSpPr>
          <p:cNvPr id="29" name="Shape 27"/>
          <p:cNvSpPr/>
          <p:nvPr/>
        </p:nvSpPr>
        <p:spPr>
          <a:xfrm>
            <a:off x="5001768" y="2834640"/>
            <a:ext cx="301752" cy="914"/>
          </a:xfrm>
          <a:prstGeom prst="line">
            <a:avLst/>
          </a:prstGeom>
          <a:noFill/>
          <a:ln w="19050">
            <a:solidFill>
              <a:schemeClr val="accent6"/>
            </a:solidFill>
            <a:prstDash val="solid"/>
            <a:tailEnd type="triangle"/>
          </a:ln>
        </p:spPr>
      </p:sp>
      <p:sp>
        <p:nvSpPr>
          <p:cNvPr id="30" name="worker-1"/>
          <p:cNvSpPr/>
          <p:nvPr/>
        </p:nvSpPr>
        <p:spPr>
          <a:xfrm>
            <a:off x="5349240" y="2578608"/>
            <a:ext cx="594360" cy="512064"/>
          </a:xfrm>
          <a:prstGeom prst="roundRect">
            <a:avLst>
              <a:gd name="adj" fmla="val 14286"/>
            </a:avLst>
          </a:prstGeom>
          <a:solidFill>
            <a:schemeClr val="tx1"/>
          </a:solidFill>
          <a:ln/>
        </p:spPr>
      </p:sp>
      <p:sp>
        <p:nvSpPr>
          <p:cNvPr id="31" name="Text 29"/>
          <p:cNvSpPr txBox="1"/>
          <p:nvPr/>
        </p:nvSpPr>
        <p:spPr>
          <a:xfrm>
            <a:off x="5349240" y="2578608"/>
            <a:ext cx="594360" cy="512064"/>
          </a:xfrm>
          <a:prstGeom prst="rect">
            <a:avLst/>
          </a:prstGeom>
          <a:noFill/>
          <a:ln/>
        </p:spPr>
        <p:txBody>
          <a:bodyPr wrap="square" lIns="0" tIns="0" rIns="0" bIns="0" rtlCol="0" anchor="ctr"/>
          <a:lstStyle/>
          <a:p>
            <a:pPr algn="ctr" indent="0" marL="0">
              <a:buNone/>
            </a:pPr>
            <a:r>
              <a:rPr lang="en-US" sz="1100" b="1" dirty="0">
                <a:solidFill>
                  <a:schemeClr val="bg1"/>
                </a:solidFill>
              </a:rPr>
              <a:t>처리</a:t>
            </a:r>
            <a:endParaRPr lang="en-US" sz="1100" dirty="0"/>
          </a:p>
        </p:txBody>
      </p:sp>
      <p:sp>
        <p:nvSpPr>
          <p:cNvPr id="32" name="Text 30"/>
          <p:cNvSpPr txBox="1"/>
          <p:nvPr/>
        </p:nvSpPr>
        <p:spPr>
          <a:xfrm>
            <a:off x="457200" y="3611880"/>
            <a:ext cx="5486400" cy="274320"/>
          </a:xfrm>
          <a:prstGeom prst="rect">
            <a:avLst/>
          </a:prstGeom>
          <a:noFill/>
          <a:ln/>
        </p:spPr>
        <p:txBody>
          <a:bodyPr wrap="square" lIns="0" tIns="0" rIns="0" bIns="0" rtlCol="0" anchor="t"/>
          <a:lstStyle/>
          <a:p>
            <a:pPr indent="0" marL="0">
              <a:buNone/>
            </a:pPr>
            <a:r>
              <a:rPr lang="en-US" sz="1100" dirty="0">
                <a:solidFill>
                  <a:schemeClr val="accent6"/>
                </a:solidFill>
              </a:rPr>
              <a:t>방끼리는 독립, 서로 기다리지 않음</a:t>
            </a:r>
            <a:endParaRPr lang="en-US" sz="1100" dirty="0"/>
          </a:p>
        </p:txBody>
      </p:sp>
      <p:sp>
        <p:nvSpPr>
          <p:cNvPr id="33" name="server-1"/>
          <p:cNvSpPr/>
          <p:nvPr/>
        </p:nvSpPr>
        <p:spPr>
          <a:xfrm>
            <a:off x="6263640" y="1371600"/>
            <a:ext cx="2423160" cy="960120"/>
          </a:xfrm>
          <a:prstGeom prst="roundRect">
            <a:avLst>
              <a:gd name="adj" fmla="val 7619"/>
            </a:avLst>
          </a:prstGeom>
          <a:solidFill>
            <a:schemeClr val="bg2"/>
          </a:solidFill>
          <a:ln/>
        </p:spPr>
      </p:sp>
      <p:sp>
        <p:nvSpPr>
          <p:cNvPr id="34" name="Text 32"/>
          <p:cNvSpPr txBox="1"/>
          <p:nvPr/>
        </p:nvSpPr>
        <p:spPr>
          <a:xfrm>
            <a:off x="6428232" y="1463040"/>
            <a:ext cx="2093976" cy="274320"/>
          </a:xfrm>
          <a:prstGeom prst="rect">
            <a:avLst/>
          </a:prstGeom>
          <a:noFill/>
          <a:ln/>
        </p:spPr>
        <p:txBody>
          <a:bodyPr wrap="square" lIns="0" tIns="0" rIns="0" bIns="0" rtlCol="0" anchor="t"/>
          <a:lstStyle/>
          <a:p>
            <a:pPr indent="0" marL="0">
              <a:buNone/>
            </a:pPr>
            <a:r>
              <a:rPr lang="en-US" sz="1300" b="1" dirty="0">
                <a:solidFill>
                  <a:schemeClr val="tx1"/>
                </a:solidFill>
              </a:rPr>
              <a:t>순서 섞임 없음</a:t>
            </a:r>
            <a:endParaRPr lang="en-US" sz="1300" dirty="0"/>
          </a:p>
        </p:txBody>
      </p:sp>
      <p:sp>
        <p:nvSpPr>
          <p:cNvPr id="35" name="Text 33"/>
          <p:cNvSpPr txBox="1"/>
          <p:nvPr/>
        </p:nvSpPr>
        <p:spPr>
          <a:xfrm>
            <a:off x="6428232" y="1755648"/>
            <a:ext cx="2093976" cy="530352"/>
          </a:xfrm>
          <a:prstGeom prst="rect">
            <a:avLst/>
          </a:prstGeom>
          <a:noFill/>
          <a:ln/>
        </p:spPr>
        <p:txBody>
          <a:bodyPr wrap="square" lIns="0" tIns="0" rIns="0" bIns="0" rtlCol="0" anchor="t"/>
          <a:lstStyle/>
          <a:p>
            <a:pPr indent="0" marL="0">
              <a:buNone/>
            </a:pPr>
            <a:r>
              <a:rPr lang="en-US" sz="1050" dirty="0">
                <a:solidFill>
                  <a:schemeClr val="accent6"/>
                </a:solidFill>
              </a:rPr>
              <a:t>동시 주문도 한 줄로 정렬</a:t>
            </a:r>
            <a:endParaRPr lang="en-US" sz="1050" dirty="0"/>
          </a:p>
          <a:p>
            <a:pPr indent="0" marL="0">
              <a:buNone/>
            </a:pPr>
            <a:r>
              <a:rPr lang="en-US" sz="1050" dirty="0">
                <a:solidFill>
                  <a:schemeClr val="accent6"/>
                </a:solidFill>
              </a:rPr>
              <a:t>잠금 장치 불필요</a:t>
            </a:r>
            <a:endParaRPr lang="en-US" sz="1050" dirty="0"/>
          </a:p>
        </p:txBody>
      </p:sp>
      <p:sp>
        <p:nvSpPr>
          <p:cNvPr id="36" name="server-2"/>
          <p:cNvSpPr/>
          <p:nvPr/>
        </p:nvSpPr>
        <p:spPr>
          <a:xfrm>
            <a:off x="6263640" y="2450592"/>
            <a:ext cx="2423160" cy="960120"/>
          </a:xfrm>
          <a:prstGeom prst="roundRect">
            <a:avLst>
              <a:gd name="adj" fmla="val 7619"/>
            </a:avLst>
          </a:prstGeom>
          <a:solidFill>
            <a:schemeClr val="bg2"/>
          </a:solidFill>
          <a:ln/>
        </p:spPr>
      </p:sp>
      <p:sp>
        <p:nvSpPr>
          <p:cNvPr id="37" name="Text 35"/>
          <p:cNvSpPr txBox="1"/>
          <p:nvPr/>
        </p:nvSpPr>
        <p:spPr>
          <a:xfrm>
            <a:off x="6428232" y="2542032"/>
            <a:ext cx="2093976" cy="274320"/>
          </a:xfrm>
          <a:prstGeom prst="rect">
            <a:avLst/>
          </a:prstGeom>
          <a:noFill/>
          <a:ln/>
        </p:spPr>
        <p:txBody>
          <a:bodyPr wrap="square" lIns="0" tIns="0" rIns="0" bIns="0" rtlCol="0" anchor="t"/>
          <a:lstStyle/>
          <a:p>
            <a:pPr indent="0" marL="0">
              <a:buNone/>
            </a:pPr>
            <a:r>
              <a:rPr lang="en-US" sz="1300" b="1" dirty="0">
                <a:solidFill>
                  <a:schemeClr val="tx1"/>
                </a:solidFill>
              </a:rPr>
              <a:t>게임 중 저장 없음</a:t>
            </a:r>
            <a:endParaRPr lang="en-US" sz="1300" dirty="0"/>
          </a:p>
        </p:txBody>
      </p:sp>
      <p:sp>
        <p:nvSpPr>
          <p:cNvPr id="38" name="Text 36"/>
          <p:cNvSpPr txBox="1"/>
          <p:nvPr/>
        </p:nvSpPr>
        <p:spPr>
          <a:xfrm>
            <a:off x="6428232" y="2834640"/>
            <a:ext cx="2093976" cy="530352"/>
          </a:xfrm>
          <a:prstGeom prst="rect">
            <a:avLst/>
          </a:prstGeom>
          <a:noFill/>
          <a:ln/>
        </p:spPr>
        <p:txBody>
          <a:bodyPr wrap="square" lIns="0" tIns="0" rIns="0" bIns="0" rtlCol="0" anchor="t"/>
          <a:lstStyle/>
          <a:p>
            <a:pPr indent="0" marL="0">
              <a:buNone/>
            </a:pPr>
            <a:r>
              <a:rPr lang="en-US" sz="1050" dirty="0">
                <a:solidFill>
                  <a:schemeClr val="accent6"/>
                </a:solidFill>
              </a:rPr>
              <a:t>판 시작 시 시세 1회 읽기</a:t>
            </a:r>
            <a:endParaRPr lang="en-US" sz="1050" dirty="0"/>
          </a:p>
          <a:p>
            <a:pPr indent="0" marL="0">
              <a:buNone/>
            </a:pPr>
            <a:r>
              <a:rPr lang="en-US" sz="1050" dirty="0">
                <a:solidFill>
                  <a:schemeClr val="accent6"/>
                </a:solidFill>
              </a:rPr>
              <a:t>종료 시 결과 1회 저장</a:t>
            </a:r>
            <a:endParaRPr lang="en-US" sz="1050" dirty="0"/>
          </a:p>
        </p:txBody>
      </p:sp>
      <p:sp>
        <p:nvSpPr>
          <p:cNvPr id="39" name="server-3"/>
          <p:cNvSpPr/>
          <p:nvPr/>
        </p:nvSpPr>
        <p:spPr>
          <a:xfrm>
            <a:off x="6263640" y="3529584"/>
            <a:ext cx="2423160" cy="960120"/>
          </a:xfrm>
          <a:prstGeom prst="roundRect">
            <a:avLst>
              <a:gd name="adj" fmla="val 7619"/>
            </a:avLst>
          </a:prstGeom>
          <a:solidFill>
            <a:schemeClr val="bg2"/>
          </a:solidFill>
          <a:ln/>
        </p:spPr>
      </p:sp>
      <p:sp>
        <p:nvSpPr>
          <p:cNvPr id="40" name="Text 38"/>
          <p:cNvSpPr txBox="1"/>
          <p:nvPr/>
        </p:nvSpPr>
        <p:spPr>
          <a:xfrm>
            <a:off x="6428232" y="3621024"/>
            <a:ext cx="2093976" cy="274320"/>
          </a:xfrm>
          <a:prstGeom prst="rect">
            <a:avLst/>
          </a:prstGeom>
          <a:noFill/>
          <a:ln/>
        </p:spPr>
        <p:txBody>
          <a:bodyPr wrap="square" lIns="0" tIns="0" rIns="0" bIns="0" rtlCol="0" anchor="t"/>
          <a:lstStyle/>
          <a:p>
            <a:pPr indent="0" marL="0">
              <a:buNone/>
            </a:pPr>
            <a:r>
              <a:rPr lang="en-US" sz="1300" b="1" dirty="0">
                <a:solidFill>
                  <a:schemeClr val="tx1"/>
                </a:solidFill>
              </a:rPr>
              <a:t>종료 시 한 번에 저장</a:t>
            </a:r>
            <a:endParaRPr lang="en-US" sz="1300" dirty="0"/>
          </a:p>
        </p:txBody>
      </p:sp>
      <p:sp>
        <p:nvSpPr>
          <p:cNvPr id="41" name="Text 39"/>
          <p:cNvSpPr txBox="1"/>
          <p:nvPr/>
        </p:nvSpPr>
        <p:spPr>
          <a:xfrm>
            <a:off x="6428232" y="3913632"/>
            <a:ext cx="2093976" cy="530352"/>
          </a:xfrm>
          <a:prstGeom prst="rect">
            <a:avLst/>
          </a:prstGeom>
          <a:noFill/>
          <a:ln/>
        </p:spPr>
        <p:txBody>
          <a:bodyPr wrap="square" lIns="0" tIns="0" rIns="0" bIns="0" rtlCol="0" anchor="t"/>
          <a:lstStyle/>
          <a:p>
            <a:pPr indent="0" marL="0">
              <a:buNone/>
            </a:pPr>
            <a:r>
              <a:rPr lang="en-US" sz="1050" dirty="0">
                <a:solidFill>
                  <a:schemeClr val="accent6"/>
                </a:solidFill>
              </a:rPr>
              <a:t>방, 참가자, 체결 내역을 한 번에</a:t>
            </a:r>
            <a:endParaRPr lang="en-US" sz="1050" dirty="0"/>
          </a:p>
          <a:p>
            <a:pPr indent="0" marL="0">
              <a:buNone/>
            </a:pPr>
            <a:r>
              <a:rPr lang="en-US" sz="1050" dirty="0">
                <a:solidFill>
                  <a:schemeClr val="accent6"/>
                </a:solidFill>
              </a:rPr>
              <a:t>실패해도 게임은 정상 종료</a:t>
            </a:r>
            <a:endParaRPr lang="en-US" sz="1050" dirty="0"/>
          </a:p>
        </p:txBody>
      </p:sp>
      <p:sp>
        <p:nvSpPr>
          <p:cNvPr id="42" name="verified"/>
          <p:cNvSpPr/>
          <p:nvPr/>
        </p:nvSpPr>
        <p:spPr>
          <a:xfrm>
            <a:off x="457200" y="3977640"/>
            <a:ext cx="5486400" cy="594360"/>
          </a:xfrm>
          <a:prstGeom prst="roundRect">
            <a:avLst>
              <a:gd name="adj" fmla="val 12308"/>
            </a:avLst>
          </a:prstGeom>
          <a:solidFill>
            <a:schemeClr val="bg2"/>
          </a:solidFill>
          <a:ln/>
        </p:spPr>
      </p:sp>
      <p:sp>
        <p:nvSpPr>
          <p:cNvPr id="43" name="Text 41"/>
          <p:cNvSpPr txBox="1"/>
          <p:nvPr/>
        </p:nvSpPr>
        <p:spPr>
          <a:xfrm>
            <a:off x="640080" y="3977640"/>
            <a:ext cx="5120640" cy="594360"/>
          </a:xfrm>
          <a:prstGeom prst="rect">
            <a:avLst/>
          </a:prstGeom>
          <a:noFill/>
          <a:ln/>
        </p:spPr>
        <p:txBody>
          <a:bodyPr wrap="square" lIns="0" tIns="0" rIns="0" bIns="0" rtlCol="0" anchor="ctr"/>
          <a:lstStyle/>
          <a:p>
            <a:pPr indent="0" marL="0">
              <a:buNone/>
            </a:pPr>
            <a:r>
              <a:rPr lang="en-US" sz="1100" b="1" dirty="0">
                <a:solidFill>
                  <a:schemeClr val="accent1"/>
                </a:solidFill>
              </a:rPr>
              <a:t>확인: </a:t>
            </a:r>
            <a:pPr indent="0" marL="0">
              <a:buNone/>
            </a:pPr>
            <a:r>
              <a:rPr lang="en-US" sz="1100" dirty="0">
                <a:solidFill>
                  <a:schemeClr val="tx1"/>
                </a:solidFill>
              </a:rPr>
              <a:t>방 두 개 동시 240틱 진행, 서로 간섭 없음</a:t>
            </a:r>
            <a:endParaRPr lang="en-US" sz="1100" dirty="0"/>
          </a:p>
        </p:txBody>
      </p:sp>
      <p:sp>
        <p:nvSpPr>
          <p:cNvPr id="25" name="Slide Number Placeholder 0"/>
          <p:cNvSpPr>
            <a:spLocks noGrp="1"/>
          </p:cNvSpPr>
          <p:nvPr>
            <p:ph type="sldNum" sz="quarter" idx="4294967295"/>
          </p:nvPr>
        </p:nvSpPr>
        <p:spPr>
          <a:xfrm>
            <a:off x="8138160" y="48006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38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566928"/>
          </a:xfrm>
          <a:prstGeom prst="rect">
            <a:avLst/>
          </a:prstGeom>
          <a:noFill/>
          <a:ln/>
        </p:spPr>
        <p:txBody>
          <a:bodyPr wrap="square" lIns="0" tIns="0" rIns="0" bIns="0" rtlCol="0" anchor="ctr"/>
          <a:lstStyle/>
          <a:p>
            <a:pPr algn="l" indent="0" marL="0">
              <a:buNone/>
            </a:pPr>
            <a:r>
              <a:rPr lang="en-US" sz="3000" b="1" dirty="0">
                <a:solidFill>
                  <a:schemeClr val="tx1"/>
                </a:solidFill>
              </a:rPr>
              <a:t>실시간 전달: 무엇을, 누구에게, 언제</a:t>
            </a:r>
            <a:endParaRPr lang="en-US" sz="3000" dirty="0"/>
          </a:p>
        </p:txBody>
      </p:sp>
      <p:sp>
        <p:nvSpPr>
          <p:cNvPr id="3" name="Text 0"/>
          <p:cNvSpPr/>
          <p:nvPr>
            <p:ph idx="101" type="body" hasCustomPrompt="1"/>
          </p:nvPr>
        </p:nvSpPr>
        <p:spPr>
          <a:xfrm>
            <a:off x="457200" y="859536"/>
            <a:ext cx="8229600" cy="329184"/>
          </a:xfrm>
          <a:prstGeom prst="rect">
            <a:avLst/>
          </a:prstGeom>
          <a:noFill/>
          <a:ln/>
        </p:spPr>
        <p:txBody>
          <a:bodyPr wrap="square" lIns="0" tIns="0" rIns="0" bIns="0" rtlCol="0" anchor="t"/>
          <a:lstStyle/>
          <a:p>
            <a:pPr algn="l" indent="0" marL="0">
              <a:buNone/>
            </a:pPr>
            <a:r>
              <a:rPr lang="en-US" sz="1400" dirty="0">
                <a:solidFill>
                  <a:schemeClr val="accent6"/>
                </a:solidFill>
              </a:rPr>
              <a:t>1틱 = 1초, 같은 방 참가자는 같은 틱을 동시에 수신</a:t>
            </a:r>
            <a:endParaRPr lang="en-US" sz="1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5120640" cy="914400"/>
        </p:xfrm>
        <a:graphic>
          <a:graphicData uri="http://schemas.openxmlformats.org/drawingml/2006/table">
            <a:tbl>
              <a:tblPr/>
              <a:tblGrid>
                <a:gridCol w="2743200"/>
                <a:gridCol w="1188720"/>
                <a:gridCol w="1188720"/>
              </a:tblGrid>
              <a:tr h="384048">
                <a:tc>
                  <a:txBody>
                    <a:bodyPr/>
                    <a:lstStyle/>
                    <a:p>
                      <a:pPr algn="ctr" indent="0" marL="0">
                        <a:buNone/>
                      </a:pPr>
                      <a:r>
                        <a:rPr lang="en-US" sz="1200" b="1" dirty="0">
                          <a:solidFill>
                            <a:srgbClr val="FFFFFF"/>
                          </a:solidFill>
                        </a:rPr>
                        <a:t>내용</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7C5CFF"/>
                    </a:solidFill>
                  </a:tcPr>
                </a:tc>
                <a:tc>
                  <a:txBody>
                    <a:bodyPr/>
                    <a:lstStyle/>
                    <a:p>
                      <a:pPr algn="ctr" indent="0" marL="0">
                        <a:buNone/>
                      </a:pPr>
                      <a:r>
                        <a:rPr lang="en-US" sz="1200" b="1" dirty="0">
                          <a:solidFill>
                            <a:srgbClr val="FFFFFF"/>
                          </a:solidFill>
                        </a:rPr>
                        <a:t>받는 사람</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7C5CFF"/>
                    </a:solidFill>
                  </a:tcPr>
                </a:tc>
                <a:tc>
                  <a:txBody>
                    <a:bodyPr/>
                    <a:lstStyle/>
                    <a:p>
                      <a:pPr algn="ctr" indent="0" marL="0">
                        <a:buNone/>
                      </a:pPr>
                      <a:r>
                        <a:rPr lang="en-US" sz="1200" b="1" dirty="0">
                          <a:solidFill>
                            <a:srgbClr val="FFFFFF"/>
                          </a:solidFill>
                        </a:rPr>
                        <a:t>시점</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7C5CFF"/>
                    </a:solidFill>
                  </a:tcPr>
                </a:tc>
              </a:tr>
              <a:tr h="384048">
                <a:tc>
                  <a:txBody>
                    <a:bodyPr/>
                    <a:lstStyle/>
                    <a:p>
                      <a:pPr algn="l" indent="0" marL="0">
                        <a:buNone/>
                      </a:pPr>
                      <a:r>
                        <a:rPr lang="en-US" sz="1200" dirty="0">
                          <a:solidFill>
                            <a:srgbClr val="0B0E14"/>
                          </a:solidFill>
                        </a:rPr>
                        <a:t>시세 (종목별 현재가, 캔들)</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algn="ctr" indent="0" marL="0">
                        <a:buNone/>
                      </a:pPr>
                      <a:r>
                        <a:rPr lang="en-US" sz="1200" dirty="0">
                          <a:solidFill>
                            <a:srgbClr val="0B0E14"/>
                          </a:solidFill>
                        </a:rPr>
                        <a:t>전원</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algn="ctr" indent="0" marL="0">
                        <a:buNone/>
                      </a:pPr>
                      <a:r>
                        <a:rPr lang="en-US" sz="1200" dirty="0">
                          <a:solidFill>
                            <a:srgbClr val="0B0E14"/>
                          </a:solidFill>
                        </a:rPr>
                        <a:t>1초마다</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r>
              <a:tr h="384048">
                <a:tc>
                  <a:txBody>
                    <a:bodyPr/>
                    <a:lstStyle/>
                    <a:p>
                      <a:pPr algn="l" indent="0" marL="0">
                        <a:buNone/>
                      </a:pPr>
                      <a:r>
                        <a:rPr lang="en-US" sz="1200" dirty="0">
                          <a:solidFill>
                            <a:srgbClr val="0B0E14"/>
                          </a:solidFill>
                        </a:rPr>
                        <a:t>내 현금, 포지션, 총자산</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algn="ctr" indent="0" marL="0">
                        <a:buNone/>
                      </a:pPr>
                      <a:r>
                        <a:rPr lang="en-US" sz="1200" b="1" dirty="0">
                          <a:solidFill>
                            <a:srgbClr val="0B0E14"/>
                          </a:solidFill>
                        </a:rPr>
                        <a:t>본인만</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algn="ctr" indent="0" marL="0">
                        <a:buNone/>
                      </a:pPr>
                      <a:r>
                        <a:rPr lang="en-US" sz="1200" dirty="0">
                          <a:solidFill>
                            <a:srgbClr val="0B0E14"/>
                          </a:solidFill>
                        </a:rPr>
                        <a:t>1초마다</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r>
              <a:tr h="384048">
                <a:tc>
                  <a:txBody>
                    <a:bodyPr/>
                    <a:lstStyle/>
                    <a:p>
                      <a:pPr algn="l" indent="0" marL="0">
                        <a:buNone/>
                      </a:pPr>
                      <a:r>
                        <a:rPr lang="en-US" sz="1200" dirty="0">
                          <a:solidFill>
                            <a:srgbClr val="0B0E14"/>
                          </a:solidFill>
                        </a:rPr>
                        <a:t>주문 결과 (체결 또는 거부 사유)</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algn="ctr" indent="0" marL="0">
                        <a:buNone/>
                      </a:pPr>
                      <a:r>
                        <a:rPr lang="en-US" sz="1200" b="1" dirty="0">
                          <a:solidFill>
                            <a:srgbClr val="0B0E14"/>
                          </a:solidFill>
                        </a:rPr>
                        <a:t>본인만</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algn="ctr" indent="0" marL="0">
                        <a:buNone/>
                      </a:pPr>
                      <a:r>
                        <a:rPr lang="en-US" sz="1200" dirty="0">
                          <a:solidFill>
                            <a:srgbClr val="0B0E14"/>
                          </a:solidFill>
                        </a:rPr>
                        <a:t>주문 직후</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r>
              <a:tr h="384048">
                <a:tc>
                  <a:txBody>
                    <a:bodyPr/>
                    <a:lstStyle/>
                    <a:p>
                      <a:pPr algn="l" indent="0" marL="0">
                        <a:buNone/>
                      </a:pPr>
                      <a:r>
                        <a:rPr lang="en-US" sz="1200" dirty="0">
                          <a:solidFill>
                            <a:srgbClr val="0B0E14"/>
                          </a:solidFill>
                        </a:rPr>
                        <a:t>순위 (남의 포지션, 배율 포함)</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algn="ctr" indent="0" marL="0">
                        <a:buNone/>
                      </a:pPr>
                      <a:r>
                        <a:rPr lang="en-US" sz="1200" dirty="0">
                          <a:solidFill>
                            <a:srgbClr val="0B0E14"/>
                          </a:solidFill>
                        </a:rPr>
                        <a:t>전원</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algn="ctr" indent="0" marL="0">
                        <a:buNone/>
                      </a:pPr>
                      <a:r>
                        <a:rPr lang="en-US" sz="1200" dirty="0">
                          <a:solidFill>
                            <a:srgbClr val="0B0E14"/>
                          </a:solidFill>
                        </a:rPr>
                        <a:t>5초마다</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r>
              <a:tr h="384048">
                <a:tc>
                  <a:txBody>
                    <a:bodyPr/>
                    <a:lstStyle/>
                    <a:p>
                      <a:pPr algn="l" indent="0" marL="0">
                        <a:buNone/>
                      </a:pPr>
                      <a:r>
                        <a:rPr lang="en-US" sz="1200" dirty="0">
                          <a:solidFill>
                            <a:srgbClr val="0B0E14"/>
                          </a:solidFill>
                        </a:rPr>
                        <a:t>청산 알림</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algn="ctr" indent="0" marL="0">
                        <a:buNone/>
                      </a:pPr>
                      <a:r>
                        <a:rPr lang="en-US" sz="1200" dirty="0">
                          <a:solidFill>
                            <a:srgbClr val="0B0E14"/>
                          </a:solidFill>
                        </a:rPr>
                        <a:t>전원</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algn="ctr" indent="0" marL="0">
                        <a:buNone/>
                      </a:pPr>
                      <a:r>
                        <a:rPr lang="en-US" sz="1200" dirty="0">
                          <a:solidFill>
                            <a:srgbClr val="0B0E14"/>
                          </a:solidFill>
                        </a:rPr>
                        <a:t>발생 즉시</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r>
              <a:tr h="384048">
                <a:tc>
                  <a:txBody>
                    <a:bodyPr/>
                    <a:lstStyle/>
                    <a:p>
                      <a:pPr algn="l" indent="0" marL="0">
                        <a:buNone/>
                      </a:pPr>
                      <a:r>
                        <a:rPr lang="en-US" sz="1200" dirty="0">
                          <a:solidFill>
                            <a:srgbClr val="0B0E14"/>
                          </a:solidFill>
                        </a:rPr>
                        <a:t>최종 순위</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algn="ctr" indent="0" marL="0">
                        <a:buNone/>
                      </a:pPr>
                      <a:r>
                        <a:rPr lang="en-US" sz="1200" dirty="0">
                          <a:solidFill>
                            <a:srgbClr val="0B0E14"/>
                          </a:solidFill>
                        </a:rPr>
                        <a:t>전원</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algn="ctr" indent="0" marL="0">
                        <a:buNone/>
                      </a:pPr>
                      <a:r>
                        <a:rPr lang="en-US" sz="1200" dirty="0">
                          <a:solidFill>
                            <a:srgbClr val="0B0E14"/>
                          </a:solidFill>
                        </a:rPr>
                        <a:t>종료 시</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r>
            </a:tbl>
          </a:graphicData>
        </a:graphic>
      </p:graphicFrame>
      <p:sp>
        <p:nvSpPr>
          <p:cNvPr id="5" name="rt-1"/>
          <p:cNvSpPr/>
          <p:nvPr/>
        </p:nvSpPr>
        <p:spPr>
          <a:xfrm>
            <a:off x="5852160" y="1371600"/>
            <a:ext cx="2834640" cy="960120"/>
          </a:xfrm>
          <a:prstGeom prst="roundRect">
            <a:avLst>
              <a:gd name="adj" fmla="val 7619"/>
            </a:avLst>
          </a:prstGeom>
          <a:solidFill>
            <a:schemeClr val="bg2"/>
          </a:solidFill>
          <a:ln/>
        </p:spPr>
      </p:sp>
      <p:sp>
        <p:nvSpPr>
          <p:cNvPr id="6" name="Text 3"/>
          <p:cNvSpPr txBox="1"/>
          <p:nvPr/>
        </p:nvSpPr>
        <p:spPr>
          <a:xfrm>
            <a:off x="6016752" y="1463040"/>
            <a:ext cx="2505456" cy="274320"/>
          </a:xfrm>
          <a:prstGeom prst="rect">
            <a:avLst/>
          </a:prstGeom>
          <a:noFill/>
          <a:ln/>
        </p:spPr>
        <p:txBody>
          <a:bodyPr wrap="square" lIns="0" tIns="0" rIns="0" bIns="0" rtlCol="0" anchor="t"/>
          <a:lstStyle/>
          <a:p>
            <a:pPr indent="0" marL="0">
              <a:buNone/>
            </a:pPr>
            <a:r>
              <a:rPr lang="en-US" sz="1250" b="1" dirty="0">
                <a:solidFill>
                  <a:schemeClr val="tx1"/>
                </a:solidFill>
              </a:rPr>
              <a:t>남의 포지션 공개는 의도된 설계</a:t>
            </a:r>
            <a:endParaRPr lang="en-US" sz="1250" dirty="0"/>
          </a:p>
        </p:txBody>
      </p:sp>
      <p:sp>
        <p:nvSpPr>
          <p:cNvPr id="7" name="Text 4"/>
          <p:cNvSpPr txBox="1"/>
          <p:nvPr/>
        </p:nvSpPr>
        <p:spPr>
          <a:xfrm>
            <a:off x="6016752" y="1783080"/>
            <a:ext cx="2505456" cy="502920"/>
          </a:xfrm>
          <a:prstGeom prst="rect">
            <a:avLst/>
          </a:prstGeom>
          <a:noFill/>
          <a:ln/>
        </p:spPr>
        <p:txBody>
          <a:bodyPr wrap="square" lIns="0" tIns="0" rIns="0" bIns="0" rtlCol="0" anchor="t"/>
          <a:lstStyle/>
          <a:p>
            <a:pPr indent="0" marL="0">
              <a:buNone/>
            </a:pPr>
            <a:r>
              <a:rPr lang="en-US" sz="1100" dirty="0">
                <a:solidFill>
                  <a:schemeClr val="accent6"/>
                </a:solidFill>
              </a:rPr>
              <a:t>누가 크게 걸었는지 보여서 역전 긴장감 발생</a:t>
            </a:r>
            <a:endParaRPr lang="en-US" sz="1100" dirty="0"/>
          </a:p>
        </p:txBody>
      </p:sp>
      <p:sp>
        <p:nvSpPr>
          <p:cNvPr id="8" name="rt-2"/>
          <p:cNvSpPr/>
          <p:nvPr/>
        </p:nvSpPr>
        <p:spPr>
          <a:xfrm>
            <a:off x="5852160" y="2450592"/>
            <a:ext cx="2834640" cy="960120"/>
          </a:xfrm>
          <a:prstGeom prst="roundRect">
            <a:avLst>
              <a:gd name="adj" fmla="val 7619"/>
            </a:avLst>
          </a:prstGeom>
          <a:solidFill>
            <a:schemeClr val="bg2"/>
          </a:solidFill>
          <a:ln/>
        </p:spPr>
      </p:sp>
      <p:sp>
        <p:nvSpPr>
          <p:cNvPr id="9" name="Text 6"/>
          <p:cNvSpPr txBox="1"/>
          <p:nvPr/>
        </p:nvSpPr>
        <p:spPr>
          <a:xfrm>
            <a:off x="6016752" y="2542032"/>
            <a:ext cx="2505456" cy="274320"/>
          </a:xfrm>
          <a:prstGeom prst="rect">
            <a:avLst/>
          </a:prstGeom>
          <a:noFill/>
          <a:ln/>
        </p:spPr>
        <p:txBody>
          <a:bodyPr wrap="square" lIns="0" tIns="0" rIns="0" bIns="0" rtlCol="0" anchor="t"/>
          <a:lstStyle/>
          <a:p>
            <a:pPr indent="0" marL="0">
              <a:buNone/>
            </a:pPr>
            <a:r>
              <a:rPr lang="en-US" sz="1250" b="1" dirty="0">
                <a:solidFill>
                  <a:schemeClr val="tx1"/>
                </a:solidFill>
              </a:rPr>
              <a:t>게임 중 캔들에 날짜 없음</a:t>
            </a:r>
            <a:endParaRPr lang="en-US" sz="1250" dirty="0"/>
          </a:p>
        </p:txBody>
      </p:sp>
      <p:sp>
        <p:nvSpPr>
          <p:cNvPr id="10" name="Text 7"/>
          <p:cNvSpPr txBox="1"/>
          <p:nvPr/>
        </p:nvSpPr>
        <p:spPr>
          <a:xfrm>
            <a:off x="6016752" y="2862072"/>
            <a:ext cx="2505456" cy="502920"/>
          </a:xfrm>
          <a:prstGeom prst="rect">
            <a:avLst/>
          </a:prstGeom>
          <a:noFill/>
          <a:ln/>
        </p:spPr>
        <p:txBody>
          <a:bodyPr wrap="square" lIns="0" tIns="0" rIns="0" bIns="0" rtlCol="0" anchor="t"/>
          <a:lstStyle/>
          <a:p>
            <a:pPr indent="0" marL="0">
              <a:buNone/>
            </a:pPr>
            <a:r>
              <a:rPr lang="en-US" sz="1100" dirty="0">
                <a:solidFill>
                  <a:schemeClr val="accent6"/>
                </a:solidFill>
              </a:rPr>
              <a:t>날짜와 가격을 함께 보내면 종목 추정 가능</a:t>
            </a:r>
            <a:endParaRPr lang="en-US" sz="1100" dirty="0"/>
          </a:p>
        </p:txBody>
      </p:sp>
      <p:sp>
        <p:nvSpPr>
          <p:cNvPr id="11" name="rt-3"/>
          <p:cNvSpPr/>
          <p:nvPr/>
        </p:nvSpPr>
        <p:spPr>
          <a:xfrm>
            <a:off x="5852160" y="3529584"/>
            <a:ext cx="2834640" cy="960120"/>
          </a:xfrm>
          <a:prstGeom prst="roundRect">
            <a:avLst>
              <a:gd name="adj" fmla="val 7619"/>
            </a:avLst>
          </a:prstGeom>
          <a:solidFill>
            <a:schemeClr val="bg2"/>
          </a:solidFill>
          <a:ln/>
        </p:spPr>
      </p:sp>
      <p:sp>
        <p:nvSpPr>
          <p:cNvPr id="12" name="Text 9"/>
          <p:cNvSpPr txBox="1"/>
          <p:nvPr/>
        </p:nvSpPr>
        <p:spPr>
          <a:xfrm>
            <a:off x="6016752" y="3621024"/>
            <a:ext cx="2505456" cy="274320"/>
          </a:xfrm>
          <a:prstGeom prst="rect">
            <a:avLst/>
          </a:prstGeom>
          <a:noFill/>
          <a:ln/>
        </p:spPr>
        <p:txBody>
          <a:bodyPr wrap="square" lIns="0" tIns="0" rIns="0" bIns="0" rtlCol="0" anchor="t"/>
          <a:lstStyle/>
          <a:p>
            <a:pPr indent="0" marL="0">
              <a:buNone/>
            </a:pPr>
            <a:r>
              <a:rPr lang="en-US" sz="1250" b="1" dirty="0">
                <a:solidFill>
                  <a:schemeClr val="tx1"/>
                </a:solidFill>
              </a:rPr>
              <a:t>끊겨도 다시 들어오면 이어짐</a:t>
            </a:r>
            <a:endParaRPr lang="en-US" sz="1250" dirty="0"/>
          </a:p>
        </p:txBody>
      </p:sp>
      <p:sp>
        <p:nvSpPr>
          <p:cNvPr id="13" name="Text 10"/>
          <p:cNvSpPr txBox="1"/>
          <p:nvPr/>
        </p:nvSpPr>
        <p:spPr>
          <a:xfrm>
            <a:off x="6016752" y="3941064"/>
            <a:ext cx="2505456" cy="502920"/>
          </a:xfrm>
          <a:prstGeom prst="rect">
            <a:avLst/>
          </a:prstGeom>
          <a:noFill/>
          <a:ln/>
        </p:spPr>
        <p:txBody>
          <a:bodyPr wrap="square" lIns="0" tIns="0" rIns="0" bIns="0" rtlCol="0" anchor="t"/>
          <a:lstStyle/>
          <a:p>
            <a:pPr indent="0" marL="0">
              <a:buNone/>
            </a:pPr>
            <a:r>
              <a:rPr lang="en-US" sz="1100" dirty="0">
                <a:solidFill>
                  <a:schemeClr val="accent6"/>
                </a:solidFill>
              </a:rPr>
              <a:t>현재 틱, 내 상태, 순위를 순서대로 다시 수신</a:t>
            </a:r>
            <a:endParaRPr lang="en-US" sz="1100" dirty="0"/>
          </a:p>
        </p:txBody>
      </p:sp>
      <p:sp>
        <p:nvSpPr>
          <p:cNvPr id="25" name="Slide Number Placeholder 0"/>
          <p:cNvSpPr>
            <a:spLocks noGrp="1"/>
          </p:cNvSpPr>
          <p:nvPr>
            <p:ph type="sldNum" sz="quarter" idx="4294967295"/>
          </p:nvPr>
        </p:nvSpPr>
        <p:spPr>
          <a:xfrm>
            <a:off x="8138160" y="48006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38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566928"/>
          </a:xfrm>
          <a:prstGeom prst="rect">
            <a:avLst/>
          </a:prstGeom>
          <a:noFill/>
          <a:ln/>
        </p:spPr>
        <p:txBody>
          <a:bodyPr wrap="square" lIns="0" tIns="0" rIns="0" bIns="0" rtlCol="0" anchor="ctr"/>
          <a:lstStyle/>
          <a:p>
            <a:pPr algn="l" indent="0" marL="0">
              <a:buNone/>
            </a:pPr>
            <a:r>
              <a:rPr lang="en-US" sz="3000" b="1" dirty="0">
                <a:solidFill>
                  <a:schemeClr val="tx1"/>
                </a:solidFill>
              </a:rPr>
              <a:t>검증: 화면보다 테스트 먼저</a:t>
            </a:r>
            <a:endParaRPr lang="en-US" sz="3000" dirty="0"/>
          </a:p>
        </p:txBody>
      </p:sp>
      <p:sp>
        <p:nvSpPr>
          <p:cNvPr id="3" name="Text 0"/>
          <p:cNvSpPr/>
          <p:nvPr>
            <p:ph idx="101" type="body" hasCustomPrompt="1"/>
          </p:nvPr>
        </p:nvSpPr>
        <p:spPr>
          <a:xfrm>
            <a:off x="457200" y="859536"/>
            <a:ext cx="8229600" cy="329184"/>
          </a:xfrm>
          <a:prstGeom prst="rect">
            <a:avLst/>
          </a:prstGeom>
          <a:noFill/>
          <a:ln/>
        </p:spPr>
        <p:txBody>
          <a:bodyPr wrap="square" lIns="0" tIns="0" rIns="0" bIns="0" rtlCol="0" anchor="t"/>
          <a:lstStyle/>
          <a:p>
            <a:pPr algn="l" indent="0" marL="0">
              <a:buNone/>
            </a:pPr>
            <a:r>
              <a:rPr lang="en-US" sz="1400" dirty="0">
                <a:solidFill>
                  <a:schemeClr val="accent6"/>
                </a:solidFill>
              </a:rPr>
              <a:t>엔진은 화면 없이 테스트로 먼저 증명, 이후 브라우저 두 개로 실제 대전 확인</a:t>
            </a:r>
            <a:endParaRPr lang="en-US" sz="1400" dirty="0"/>
          </a:p>
        </p:txBody>
      </p:sp>
      <p:sp>
        <p:nvSpPr>
          <p:cNvPr id="4" name="stat-1"/>
          <p:cNvSpPr/>
          <p:nvPr/>
        </p:nvSpPr>
        <p:spPr>
          <a:xfrm>
            <a:off x="457200" y="1371600"/>
            <a:ext cx="2606040" cy="1463040"/>
          </a:xfrm>
          <a:prstGeom prst="roundRect">
            <a:avLst>
              <a:gd name="adj" fmla="val 5000"/>
            </a:avLst>
          </a:prstGeom>
          <a:solidFill>
            <a:schemeClr val="bg2"/>
          </a:solidFill>
          <a:ln/>
        </p:spPr>
      </p:sp>
      <p:sp>
        <p:nvSpPr>
          <p:cNvPr id="5" name="Text 3"/>
          <p:cNvSpPr txBox="1"/>
          <p:nvPr/>
        </p:nvSpPr>
        <p:spPr>
          <a:xfrm>
            <a:off x="658368" y="1508760"/>
            <a:ext cx="2203704" cy="548640"/>
          </a:xfrm>
          <a:prstGeom prst="rect">
            <a:avLst/>
          </a:prstGeom>
          <a:noFill/>
          <a:ln/>
        </p:spPr>
        <p:txBody>
          <a:bodyPr wrap="square" lIns="0" tIns="0" rIns="0" bIns="0" rtlCol="0" anchor="t"/>
          <a:lstStyle/>
          <a:p>
            <a:pPr indent="0" marL="0">
              <a:buNone/>
            </a:pPr>
            <a:r>
              <a:rPr lang="en-US" sz="2800" b="1" dirty="0">
                <a:solidFill>
                  <a:schemeClr val="accent1"/>
                </a:solidFill>
              </a:rPr>
              <a:t>240틱</a:t>
            </a:r>
            <a:endParaRPr lang="en-US" sz="2800" dirty="0"/>
          </a:p>
        </p:txBody>
      </p:sp>
      <p:sp>
        <p:nvSpPr>
          <p:cNvPr id="6" name="Text 4"/>
          <p:cNvSpPr txBox="1"/>
          <p:nvPr/>
        </p:nvSpPr>
        <p:spPr>
          <a:xfrm>
            <a:off x="658368" y="2084832"/>
            <a:ext cx="2203704" cy="274320"/>
          </a:xfrm>
          <a:prstGeom prst="rect">
            <a:avLst/>
          </a:prstGeom>
          <a:noFill/>
          <a:ln/>
        </p:spPr>
        <p:txBody>
          <a:bodyPr wrap="square" lIns="0" tIns="0" rIns="0" bIns="0" rtlCol="0" anchor="t"/>
          <a:lstStyle/>
          <a:p>
            <a:pPr indent="0" marL="0">
              <a:buNone/>
            </a:pPr>
            <a:r>
              <a:rPr lang="en-US" sz="1300" b="1" dirty="0">
                <a:solidFill>
                  <a:schemeClr val="tx1"/>
                </a:solidFill>
              </a:rPr>
              <a:t>화면 없이 한 판 완주</a:t>
            </a:r>
            <a:endParaRPr lang="en-US" sz="1300" dirty="0"/>
          </a:p>
        </p:txBody>
      </p:sp>
      <p:sp>
        <p:nvSpPr>
          <p:cNvPr id="7" name="Text 5"/>
          <p:cNvSpPr txBox="1"/>
          <p:nvPr/>
        </p:nvSpPr>
        <p:spPr>
          <a:xfrm>
            <a:off x="658368" y="2377440"/>
            <a:ext cx="2203704" cy="384048"/>
          </a:xfrm>
          <a:prstGeom prst="rect">
            <a:avLst/>
          </a:prstGeom>
          <a:noFill/>
          <a:ln/>
        </p:spPr>
        <p:txBody>
          <a:bodyPr wrap="square" lIns="0" tIns="0" rIns="0" bIns="0" rtlCol="0" anchor="t"/>
          <a:lstStyle/>
          <a:p>
            <a:pPr indent="0" marL="0">
              <a:buNone/>
            </a:pPr>
            <a:r>
              <a:rPr lang="en-US" sz="1050" dirty="0">
                <a:solidFill>
                  <a:schemeClr val="accent6"/>
                </a:solidFill>
              </a:rPr>
              <a:t>시작부터 종료, 순위 산출까지 테스트로 실행</a:t>
            </a:r>
            <a:endParaRPr lang="en-US" sz="1050" dirty="0"/>
          </a:p>
        </p:txBody>
      </p:sp>
      <p:sp>
        <p:nvSpPr>
          <p:cNvPr id="8" name="stat-2"/>
          <p:cNvSpPr/>
          <p:nvPr/>
        </p:nvSpPr>
        <p:spPr>
          <a:xfrm>
            <a:off x="3268980" y="1371600"/>
            <a:ext cx="2606040" cy="1463040"/>
          </a:xfrm>
          <a:prstGeom prst="roundRect">
            <a:avLst>
              <a:gd name="adj" fmla="val 5000"/>
            </a:avLst>
          </a:prstGeom>
          <a:solidFill>
            <a:schemeClr val="bg2"/>
          </a:solidFill>
          <a:ln/>
        </p:spPr>
      </p:sp>
      <p:sp>
        <p:nvSpPr>
          <p:cNvPr id="9" name="Text 7"/>
          <p:cNvSpPr txBox="1"/>
          <p:nvPr/>
        </p:nvSpPr>
        <p:spPr>
          <a:xfrm>
            <a:off x="3470148" y="1508760"/>
            <a:ext cx="2203704" cy="548640"/>
          </a:xfrm>
          <a:prstGeom prst="rect">
            <a:avLst/>
          </a:prstGeom>
          <a:noFill/>
          <a:ln/>
        </p:spPr>
        <p:txBody>
          <a:bodyPr wrap="square" lIns="0" tIns="0" rIns="0" bIns="0" rtlCol="0" anchor="t"/>
          <a:lstStyle/>
          <a:p>
            <a:pPr indent="0" marL="0">
              <a:buNone/>
            </a:pPr>
            <a:r>
              <a:rPr lang="en-US" sz="2800" b="1" dirty="0">
                <a:solidFill>
                  <a:schemeClr val="accent1"/>
                </a:solidFill>
              </a:rPr>
              <a:t>50여 개</a:t>
            </a:r>
            <a:endParaRPr lang="en-US" sz="2800" dirty="0"/>
          </a:p>
        </p:txBody>
      </p:sp>
      <p:sp>
        <p:nvSpPr>
          <p:cNvPr id="10" name="Text 8"/>
          <p:cNvSpPr txBox="1"/>
          <p:nvPr/>
        </p:nvSpPr>
        <p:spPr>
          <a:xfrm>
            <a:off x="3470148" y="2084832"/>
            <a:ext cx="2203704" cy="274320"/>
          </a:xfrm>
          <a:prstGeom prst="rect">
            <a:avLst/>
          </a:prstGeom>
          <a:noFill/>
          <a:ln/>
        </p:spPr>
        <p:txBody>
          <a:bodyPr wrap="square" lIns="0" tIns="0" rIns="0" bIns="0" rtlCol="0" anchor="t"/>
          <a:lstStyle/>
          <a:p>
            <a:pPr indent="0" marL="0">
              <a:buNone/>
            </a:pPr>
            <a:r>
              <a:rPr lang="en-US" sz="1300" b="1" dirty="0">
                <a:solidFill>
                  <a:schemeClr val="tx1"/>
                </a:solidFill>
              </a:rPr>
              <a:t>엔진과 청산 규칙 테스트</a:t>
            </a:r>
            <a:endParaRPr lang="en-US" sz="1300" dirty="0"/>
          </a:p>
        </p:txBody>
      </p:sp>
      <p:sp>
        <p:nvSpPr>
          <p:cNvPr id="11" name="Text 9"/>
          <p:cNvSpPr txBox="1"/>
          <p:nvPr/>
        </p:nvSpPr>
        <p:spPr>
          <a:xfrm>
            <a:off x="3470148" y="2377440"/>
            <a:ext cx="2203704" cy="384048"/>
          </a:xfrm>
          <a:prstGeom prst="rect">
            <a:avLst/>
          </a:prstGeom>
          <a:noFill/>
          <a:ln/>
        </p:spPr>
        <p:txBody>
          <a:bodyPr wrap="square" lIns="0" tIns="0" rIns="0" bIns="0" rtlCol="0" anchor="t"/>
          <a:lstStyle/>
          <a:p>
            <a:pPr indent="0" marL="0">
              <a:buNone/>
            </a:pPr>
            <a:r>
              <a:rPr lang="en-US" sz="1050" dirty="0">
                <a:solidFill>
                  <a:schemeClr val="accent6"/>
                </a:solidFill>
              </a:rPr>
              <a:t>경계값, 잔고 불변식, 공동 순위 등</a:t>
            </a:r>
            <a:endParaRPr lang="en-US" sz="1050" dirty="0"/>
          </a:p>
        </p:txBody>
      </p:sp>
      <p:sp>
        <p:nvSpPr>
          <p:cNvPr id="12" name="stat-3"/>
          <p:cNvSpPr/>
          <p:nvPr/>
        </p:nvSpPr>
        <p:spPr>
          <a:xfrm>
            <a:off x="6080760" y="1371600"/>
            <a:ext cx="2606040" cy="1463040"/>
          </a:xfrm>
          <a:prstGeom prst="roundRect">
            <a:avLst>
              <a:gd name="adj" fmla="val 5000"/>
            </a:avLst>
          </a:prstGeom>
          <a:solidFill>
            <a:schemeClr val="bg2"/>
          </a:solidFill>
          <a:ln/>
        </p:spPr>
      </p:sp>
      <p:sp>
        <p:nvSpPr>
          <p:cNvPr id="13" name="Text 11"/>
          <p:cNvSpPr txBox="1"/>
          <p:nvPr/>
        </p:nvSpPr>
        <p:spPr>
          <a:xfrm>
            <a:off x="6281928" y="1508760"/>
            <a:ext cx="2203704" cy="548640"/>
          </a:xfrm>
          <a:prstGeom prst="rect">
            <a:avLst/>
          </a:prstGeom>
          <a:noFill/>
          <a:ln/>
        </p:spPr>
        <p:txBody>
          <a:bodyPr wrap="square" lIns="0" tIns="0" rIns="0" bIns="0" rtlCol="0" anchor="t"/>
          <a:lstStyle/>
          <a:p>
            <a:pPr indent="0" marL="0">
              <a:buNone/>
            </a:pPr>
            <a:r>
              <a:rPr lang="en-US" sz="2800" b="1" dirty="0">
                <a:solidFill>
                  <a:schemeClr val="accent1"/>
                </a:solidFill>
              </a:rPr>
              <a:t>5개 구간</a:t>
            </a:r>
            <a:endParaRPr lang="en-US" sz="2800" dirty="0"/>
          </a:p>
        </p:txBody>
      </p:sp>
      <p:sp>
        <p:nvSpPr>
          <p:cNvPr id="14" name="Text 12"/>
          <p:cNvSpPr txBox="1"/>
          <p:nvPr/>
        </p:nvSpPr>
        <p:spPr>
          <a:xfrm>
            <a:off x="6281928" y="2084832"/>
            <a:ext cx="2203704" cy="274320"/>
          </a:xfrm>
          <a:prstGeom prst="rect">
            <a:avLst/>
          </a:prstGeom>
          <a:noFill/>
          <a:ln/>
        </p:spPr>
        <p:txBody>
          <a:bodyPr wrap="square" lIns="0" tIns="0" rIns="0" bIns="0" rtlCol="0" anchor="t"/>
          <a:lstStyle/>
          <a:p>
            <a:pPr indent="0" marL="0">
              <a:buNone/>
            </a:pPr>
            <a:r>
              <a:rPr lang="en-US" sz="1300" b="1" dirty="0">
                <a:solidFill>
                  <a:schemeClr val="tx1"/>
                </a:solidFill>
              </a:rPr>
              <a:t>실제 시세로 재생 검증</a:t>
            </a:r>
            <a:endParaRPr lang="en-US" sz="1300" dirty="0"/>
          </a:p>
        </p:txBody>
      </p:sp>
      <p:sp>
        <p:nvSpPr>
          <p:cNvPr id="15" name="Text 13"/>
          <p:cNvSpPr txBox="1"/>
          <p:nvPr/>
        </p:nvSpPr>
        <p:spPr>
          <a:xfrm>
            <a:off x="6281928" y="2377440"/>
            <a:ext cx="2203704" cy="384048"/>
          </a:xfrm>
          <a:prstGeom prst="rect">
            <a:avLst/>
          </a:prstGeom>
          <a:noFill/>
          <a:ln/>
        </p:spPr>
        <p:txBody>
          <a:bodyPr wrap="square" lIns="0" tIns="0" rIns="0" bIns="0" rtlCol="0" anchor="t"/>
          <a:lstStyle/>
          <a:p>
            <a:pPr indent="0" marL="0">
              <a:buNone/>
            </a:pPr>
            <a:r>
              <a:rPr lang="en-US" sz="1050" dirty="0">
                <a:solidFill>
                  <a:schemeClr val="accent6"/>
                </a:solidFill>
              </a:rPr>
              <a:t>급등, 급락, 횡보 구간 (일봉, 분봉)</a:t>
            </a:r>
            <a:endParaRPr lang="en-US" sz="1050" dirty="0"/>
          </a:p>
        </p:txBody>
      </p:sp>
      <p:sp>
        <p:nvSpPr>
          <p:cNvPr id="16" name="stat-4"/>
          <p:cNvSpPr/>
          <p:nvPr/>
        </p:nvSpPr>
        <p:spPr>
          <a:xfrm>
            <a:off x="457200" y="3017520"/>
            <a:ext cx="2606040" cy="1463040"/>
          </a:xfrm>
          <a:prstGeom prst="roundRect">
            <a:avLst>
              <a:gd name="adj" fmla="val 5000"/>
            </a:avLst>
          </a:prstGeom>
          <a:solidFill>
            <a:schemeClr val="bg2"/>
          </a:solidFill>
          <a:ln/>
        </p:spPr>
      </p:sp>
      <p:sp>
        <p:nvSpPr>
          <p:cNvPr id="17" name="Text 15"/>
          <p:cNvSpPr txBox="1"/>
          <p:nvPr/>
        </p:nvSpPr>
        <p:spPr>
          <a:xfrm>
            <a:off x="658368" y="3154680"/>
            <a:ext cx="2203704" cy="548640"/>
          </a:xfrm>
          <a:prstGeom prst="rect">
            <a:avLst/>
          </a:prstGeom>
          <a:noFill/>
          <a:ln/>
        </p:spPr>
        <p:txBody>
          <a:bodyPr wrap="square" lIns="0" tIns="0" rIns="0" bIns="0" rtlCol="0" anchor="t"/>
          <a:lstStyle/>
          <a:p>
            <a:pPr indent="0" marL="0">
              <a:buNone/>
            </a:pPr>
            <a:r>
              <a:rPr lang="en-US" sz="2800" b="1" dirty="0">
                <a:solidFill>
                  <a:schemeClr val="accent1"/>
                </a:solidFill>
              </a:rPr>
              <a:t>240 = 240</a:t>
            </a:r>
            <a:endParaRPr lang="en-US" sz="2800" dirty="0"/>
          </a:p>
        </p:txBody>
      </p:sp>
      <p:sp>
        <p:nvSpPr>
          <p:cNvPr id="18" name="Text 16"/>
          <p:cNvSpPr txBox="1"/>
          <p:nvPr/>
        </p:nvSpPr>
        <p:spPr>
          <a:xfrm>
            <a:off x="658368" y="3730752"/>
            <a:ext cx="2203704" cy="274320"/>
          </a:xfrm>
          <a:prstGeom prst="rect">
            <a:avLst/>
          </a:prstGeom>
          <a:noFill/>
          <a:ln/>
        </p:spPr>
        <p:txBody>
          <a:bodyPr wrap="square" lIns="0" tIns="0" rIns="0" bIns="0" rtlCol="0" anchor="t"/>
          <a:lstStyle/>
          <a:p>
            <a:pPr indent="0" marL="0">
              <a:buNone/>
            </a:pPr>
            <a:r>
              <a:rPr lang="en-US" sz="1300" b="1" dirty="0">
                <a:solidFill>
                  <a:schemeClr val="tx1"/>
                </a:solidFill>
              </a:rPr>
              <a:t>두 브라우저가 받은 틱</a:t>
            </a:r>
            <a:endParaRPr lang="en-US" sz="1300" dirty="0"/>
          </a:p>
        </p:txBody>
      </p:sp>
      <p:sp>
        <p:nvSpPr>
          <p:cNvPr id="19" name="Text 17"/>
          <p:cNvSpPr txBox="1"/>
          <p:nvPr/>
        </p:nvSpPr>
        <p:spPr>
          <a:xfrm>
            <a:off x="658368" y="4023360"/>
            <a:ext cx="2203704" cy="384048"/>
          </a:xfrm>
          <a:prstGeom prst="rect">
            <a:avLst/>
          </a:prstGeom>
          <a:noFill/>
          <a:ln/>
        </p:spPr>
        <p:txBody>
          <a:bodyPr wrap="square" lIns="0" tIns="0" rIns="0" bIns="0" rtlCol="0" anchor="t"/>
          <a:lstStyle/>
          <a:p>
            <a:pPr indent="0" marL="0">
              <a:buNone/>
            </a:pPr>
            <a:r>
              <a:rPr lang="en-US" sz="1050" dirty="0">
                <a:solidFill>
                  <a:schemeClr val="accent6"/>
                </a:solidFill>
              </a:rPr>
              <a:t>같은 방 두 참가자의 틱 240개 일치</a:t>
            </a:r>
            <a:endParaRPr lang="en-US" sz="1050" dirty="0"/>
          </a:p>
        </p:txBody>
      </p:sp>
      <p:sp>
        <p:nvSpPr>
          <p:cNvPr id="20" name="stat-5"/>
          <p:cNvSpPr/>
          <p:nvPr/>
        </p:nvSpPr>
        <p:spPr>
          <a:xfrm>
            <a:off x="3268980" y="3017520"/>
            <a:ext cx="2606040" cy="1463040"/>
          </a:xfrm>
          <a:prstGeom prst="roundRect">
            <a:avLst>
              <a:gd name="adj" fmla="val 5000"/>
            </a:avLst>
          </a:prstGeom>
          <a:solidFill>
            <a:schemeClr val="bg2"/>
          </a:solidFill>
          <a:ln/>
        </p:spPr>
      </p:sp>
      <p:sp>
        <p:nvSpPr>
          <p:cNvPr id="21" name="Text 19"/>
          <p:cNvSpPr txBox="1"/>
          <p:nvPr/>
        </p:nvSpPr>
        <p:spPr>
          <a:xfrm>
            <a:off x="3470148" y="3154680"/>
            <a:ext cx="2203704" cy="548640"/>
          </a:xfrm>
          <a:prstGeom prst="rect">
            <a:avLst/>
          </a:prstGeom>
          <a:noFill/>
          <a:ln/>
        </p:spPr>
        <p:txBody>
          <a:bodyPr wrap="square" lIns="0" tIns="0" rIns="0" bIns="0" rtlCol="0" anchor="t"/>
          <a:lstStyle/>
          <a:p>
            <a:pPr indent="0" marL="0">
              <a:buNone/>
            </a:pPr>
            <a:r>
              <a:rPr lang="en-US" sz="2800" b="1" dirty="0">
                <a:solidFill>
                  <a:schemeClr val="accent1"/>
                </a:solidFill>
              </a:rPr>
              <a:t>124틱</a:t>
            </a:r>
            <a:endParaRPr lang="en-US" sz="2800" dirty="0"/>
          </a:p>
        </p:txBody>
      </p:sp>
      <p:sp>
        <p:nvSpPr>
          <p:cNvPr id="22" name="Text 20"/>
          <p:cNvSpPr txBox="1"/>
          <p:nvPr/>
        </p:nvSpPr>
        <p:spPr>
          <a:xfrm>
            <a:off x="3470148" y="3730752"/>
            <a:ext cx="2203704" cy="274320"/>
          </a:xfrm>
          <a:prstGeom prst="rect">
            <a:avLst/>
          </a:prstGeom>
          <a:noFill/>
          <a:ln/>
        </p:spPr>
        <p:txBody>
          <a:bodyPr wrap="square" lIns="0" tIns="0" rIns="0" bIns="0" rtlCol="0" anchor="t"/>
          <a:lstStyle/>
          <a:p>
            <a:pPr indent="0" marL="0">
              <a:buNone/>
            </a:pPr>
            <a:r>
              <a:rPr lang="en-US" sz="1300" b="1" dirty="0">
                <a:solidFill>
                  <a:schemeClr val="tx1"/>
                </a:solidFill>
              </a:rPr>
              <a:t>배율 3 청산 발생</a:t>
            </a:r>
            <a:endParaRPr lang="en-US" sz="1300" dirty="0"/>
          </a:p>
        </p:txBody>
      </p:sp>
      <p:sp>
        <p:nvSpPr>
          <p:cNvPr id="23" name="Text 21"/>
          <p:cNvSpPr txBox="1"/>
          <p:nvPr/>
        </p:nvSpPr>
        <p:spPr>
          <a:xfrm>
            <a:off x="3470148" y="4023360"/>
            <a:ext cx="2203704" cy="384048"/>
          </a:xfrm>
          <a:prstGeom prst="rect">
            <a:avLst/>
          </a:prstGeom>
          <a:noFill/>
          <a:ln/>
        </p:spPr>
        <p:txBody>
          <a:bodyPr wrap="square" lIns="0" tIns="0" rIns="0" bIns="0" rtlCol="0" anchor="t"/>
          <a:lstStyle/>
          <a:p>
            <a:pPr indent="0" marL="0">
              <a:buNone/>
            </a:pPr>
            <a:r>
              <a:rPr lang="en-US" sz="1050" dirty="0">
                <a:solidFill>
                  <a:schemeClr val="accent6"/>
                </a:solidFill>
              </a:rPr>
              <a:t>두 화면에 같은 순간 청산 알림</a:t>
            </a:r>
            <a:endParaRPr lang="en-US" sz="1050" dirty="0"/>
          </a:p>
        </p:txBody>
      </p:sp>
      <p:sp>
        <p:nvSpPr>
          <p:cNvPr id="24" name="stat-6"/>
          <p:cNvSpPr/>
          <p:nvPr/>
        </p:nvSpPr>
        <p:spPr>
          <a:xfrm>
            <a:off x="6080760" y="3017520"/>
            <a:ext cx="2606040" cy="1463040"/>
          </a:xfrm>
          <a:prstGeom prst="roundRect">
            <a:avLst>
              <a:gd name="adj" fmla="val 5000"/>
            </a:avLst>
          </a:prstGeom>
          <a:solidFill>
            <a:schemeClr val="bg2"/>
          </a:solidFill>
          <a:ln/>
        </p:spPr>
      </p:sp>
      <p:sp>
        <p:nvSpPr>
          <p:cNvPr id="25" name="Text 23"/>
          <p:cNvSpPr txBox="1"/>
          <p:nvPr/>
        </p:nvSpPr>
        <p:spPr>
          <a:xfrm>
            <a:off x="6281928" y="3154680"/>
            <a:ext cx="2203704" cy="548640"/>
          </a:xfrm>
          <a:prstGeom prst="rect">
            <a:avLst/>
          </a:prstGeom>
          <a:noFill/>
          <a:ln/>
        </p:spPr>
        <p:txBody>
          <a:bodyPr wrap="square" lIns="0" tIns="0" rIns="0" bIns="0" rtlCol="0" anchor="t"/>
          <a:lstStyle/>
          <a:p>
            <a:pPr indent="0" marL="0">
              <a:buNone/>
            </a:pPr>
            <a:r>
              <a:rPr lang="en-US" sz="2800" b="1" dirty="0">
                <a:solidFill>
                  <a:schemeClr val="accent1"/>
                </a:solidFill>
              </a:rPr>
              <a:t>200여 개</a:t>
            </a:r>
            <a:endParaRPr lang="en-US" sz="2800" dirty="0"/>
          </a:p>
        </p:txBody>
      </p:sp>
      <p:sp>
        <p:nvSpPr>
          <p:cNvPr id="26" name="Text 24"/>
          <p:cNvSpPr txBox="1"/>
          <p:nvPr/>
        </p:nvSpPr>
        <p:spPr>
          <a:xfrm>
            <a:off x="6281928" y="3730752"/>
            <a:ext cx="2203704" cy="274320"/>
          </a:xfrm>
          <a:prstGeom prst="rect">
            <a:avLst/>
          </a:prstGeom>
          <a:noFill/>
          <a:ln/>
        </p:spPr>
        <p:txBody>
          <a:bodyPr wrap="square" lIns="0" tIns="0" rIns="0" bIns="0" rtlCol="0" anchor="t"/>
          <a:lstStyle/>
          <a:p>
            <a:pPr indent="0" marL="0">
              <a:buNone/>
            </a:pPr>
            <a:r>
              <a:rPr lang="en-US" sz="1300" b="1" dirty="0">
                <a:solidFill>
                  <a:schemeClr val="tx1"/>
                </a:solidFill>
              </a:rPr>
              <a:t>전체 자동 테스트</a:t>
            </a:r>
            <a:endParaRPr lang="en-US" sz="1300" dirty="0"/>
          </a:p>
        </p:txBody>
      </p:sp>
      <p:sp>
        <p:nvSpPr>
          <p:cNvPr id="27" name="Text 25"/>
          <p:cNvSpPr txBox="1"/>
          <p:nvPr/>
        </p:nvSpPr>
        <p:spPr>
          <a:xfrm>
            <a:off x="6281928" y="4023360"/>
            <a:ext cx="2203704" cy="384048"/>
          </a:xfrm>
          <a:prstGeom prst="rect">
            <a:avLst/>
          </a:prstGeom>
          <a:noFill/>
          <a:ln/>
        </p:spPr>
        <p:txBody>
          <a:bodyPr wrap="square" lIns="0" tIns="0" rIns="0" bIns="0" rtlCol="0" anchor="t"/>
          <a:lstStyle/>
          <a:p>
            <a:pPr indent="0" marL="0">
              <a:buNone/>
            </a:pPr>
            <a:r>
              <a:rPr lang="en-US" sz="1050" dirty="0">
                <a:solidFill>
                  <a:schemeClr val="accent6"/>
                </a:solidFill>
              </a:rPr>
              <a:t>모두 통과</a:t>
            </a:r>
            <a:endParaRPr lang="en-US" sz="1050" dirty="0"/>
          </a:p>
        </p:txBody>
      </p:sp>
      <p:sp>
        <p:nvSpPr>
          <p:cNvPr id="25" name="Slide Number Placeholder 0"/>
          <p:cNvSpPr>
            <a:spLocks noGrp="1"/>
          </p:cNvSpPr>
          <p:nvPr>
            <p:ph type="sldNum" sz="quarter" idx="4294967295"/>
          </p:nvPr>
        </p:nvSpPr>
        <p:spPr>
          <a:xfrm>
            <a:off x="8138160" y="48006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38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5486400" cy="320040"/>
          </a:xfrm>
          <a:prstGeom prst="rect">
            <a:avLst/>
          </a:prstGeom>
          <a:noFill/>
          <a:ln/>
        </p:spPr>
        <p:txBody>
          <a:bodyPr wrap="square" lIns="0" tIns="0" rIns="0" bIns="0" rtlCol="0"/>
          <a:lstStyle/>
          <a:p>
            <a:pPr algn="l" indent="0" marL="0">
              <a:buNone/>
            </a:pPr>
            <a:r>
              <a:rPr lang="en-US" sz="1400" b="1" dirty="0">
                <a:solidFill>
                  <a:schemeClr val="accent1"/>
                </a:solidFill>
              </a:rPr>
              <a:t>정리</a:t>
            </a:r>
            <a:endParaRPr lang="en-US" sz="1400" dirty="0"/>
          </a:p>
        </p:txBody>
      </p:sp>
      <p:sp>
        <p:nvSpPr>
          <p:cNvPr id="3" name="Text 0"/>
          <p:cNvSpPr/>
          <p:nvPr>
            <p:ph idx="101" type="title" hasCustomPrompt="1"/>
          </p:nvPr>
        </p:nvSpPr>
        <p:spPr>
          <a:xfrm>
            <a:off x="457200" y="749808"/>
            <a:ext cx="5486400" cy="685800"/>
          </a:xfrm>
          <a:prstGeom prst="rect">
            <a:avLst/>
          </a:prstGeom>
          <a:noFill/>
          <a:ln/>
        </p:spPr>
        <p:txBody>
          <a:bodyPr wrap="square" lIns="0" tIns="0" rIns="0" bIns="0" rtlCol="0" anchor="t"/>
          <a:lstStyle/>
          <a:p>
            <a:pPr algn="l" indent="0" marL="0">
              <a:buNone/>
            </a:pPr>
            <a:r>
              <a:rPr lang="en-US" sz="3200" b="1" dirty="0">
                <a:solidFill>
                  <a:schemeClr val="bg1"/>
                </a:solidFill>
              </a:rPr>
              <a:t>세 가지 목표, 이렇게 지킴</a:t>
            </a:r>
            <a:endParaRPr lang="en-US" sz="3200" dirty="0"/>
          </a:p>
        </p:txBody>
      </p:sp>
      <p:sp>
        <p:nvSpPr>
          <p:cNvPr id="4" name="Shape 2"/>
          <p:cNvSpPr/>
          <p:nvPr/>
        </p:nvSpPr>
        <p:spPr>
          <a:xfrm>
            <a:off x="457200" y="1783080"/>
            <a:ext cx="411480" cy="411480"/>
          </a:xfrm>
          <a:prstGeom prst="ellipse">
            <a:avLst/>
          </a:prstGeom>
          <a:solidFill>
            <a:schemeClr val="accent1"/>
          </a:solidFill>
          <a:ln/>
        </p:spPr>
      </p:sp>
      <p:sp>
        <p:nvSpPr>
          <p:cNvPr id="5" name="Text 3"/>
          <p:cNvSpPr txBox="1"/>
          <p:nvPr/>
        </p:nvSpPr>
        <p:spPr>
          <a:xfrm>
            <a:off x="457200" y="178308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4"/>
          <p:cNvSpPr txBox="1"/>
          <p:nvPr/>
        </p:nvSpPr>
        <p:spPr>
          <a:xfrm>
            <a:off x="1051560" y="1746504"/>
            <a:ext cx="5029200" cy="310896"/>
          </a:xfrm>
          <a:prstGeom prst="rect">
            <a:avLst/>
          </a:prstGeom>
          <a:noFill/>
          <a:ln/>
        </p:spPr>
        <p:txBody>
          <a:bodyPr wrap="square" lIns="0" tIns="0" rIns="0" bIns="0" rtlCol="0" anchor="t"/>
          <a:lstStyle/>
          <a:p>
            <a:pPr indent="0" marL="0">
              <a:buNone/>
            </a:pPr>
            <a:r>
              <a:rPr lang="en-US" sz="1700" b="1" dirty="0">
                <a:solidFill>
                  <a:schemeClr val="bg1"/>
                </a:solidFill>
              </a:rPr>
              <a:t>정확</a:t>
            </a:r>
            <a:endParaRPr lang="en-US" sz="1700" dirty="0"/>
          </a:p>
        </p:txBody>
      </p:sp>
      <p:sp>
        <p:nvSpPr>
          <p:cNvPr id="7" name="Text 5"/>
          <p:cNvSpPr txBox="1"/>
          <p:nvPr/>
        </p:nvSpPr>
        <p:spPr>
          <a:xfrm>
            <a:off x="1051560" y="2084832"/>
            <a:ext cx="5029200" cy="274320"/>
          </a:xfrm>
          <a:prstGeom prst="rect">
            <a:avLst/>
          </a:prstGeom>
          <a:noFill/>
          <a:ln/>
        </p:spPr>
        <p:txBody>
          <a:bodyPr wrap="square" lIns="0" tIns="0" rIns="0" bIns="0" rtlCol="0" anchor="t"/>
          <a:lstStyle/>
          <a:p>
            <a:pPr indent="0" marL="0">
              <a:buNone/>
            </a:pPr>
            <a:r>
              <a:rPr lang="en-US" sz="1200" dirty="0">
                <a:solidFill>
                  <a:schemeClr val="bg2"/>
                </a:solidFill>
              </a:rPr>
              <a:t>정수 수량과 증거금 역산, 반올림 방향 명시, 배율 3 경계값 검증</a:t>
            </a:r>
            <a:endParaRPr lang="en-US" sz="1200" dirty="0"/>
          </a:p>
        </p:txBody>
      </p:sp>
      <p:sp>
        <p:nvSpPr>
          <p:cNvPr id="8" name="Shape 6"/>
          <p:cNvSpPr/>
          <p:nvPr/>
        </p:nvSpPr>
        <p:spPr>
          <a:xfrm>
            <a:off x="457200" y="2651760"/>
            <a:ext cx="411480" cy="411480"/>
          </a:xfrm>
          <a:prstGeom prst="ellipse">
            <a:avLst/>
          </a:prstGeom>
          <a:solidFill>
            <a:schemeClr val="accent1"/>
          </a:solidFill>
          <a:ln/>
        </p:spPr>
      </p:sp>
      <p:sp>
        <p:nvSpPr>
          <p:cNvPr id="9" name="Text 7"/>
          <p:cNvSpPr txBox="1"/>
          <p:nvPr/>
        </p:nvSpPr>
        <p:spPr>
          <a:xfrm>
            <a:off x="457200" y="265176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Text 8"/>
          <p:cNvSpPr txBox="1"/>
          <p:nvPr/>
        </p:nvSpPr>
        <p:spPr>
          <a:xfrm>
            <a:off x="1051560" y="2615184"/>
            <a:ext cx="5029200" cy="310896"/>
          </a:xfrm>
          <a:prstGeom prst="rect">
            <a:avLst/>
          </a:prstGeom>
          <a:noFill/>
          <a:ln/>
        </p:spPr>
        <p:txBody>
          <a:bodyPr wrap="square" lIns="0" tIns="0" rIns="0" bIns="0" rtlCol="0" anchor="t"/>
          <a:lstStyle/>
          <a:p>
            <a:pPr indent="0" marL="0">
              <a:buNone/>
            </a:pPr>
            <a:r>
              <a:rPr lang="en-US" sz="1700" b="1" dirty="0">
                <a:solidFill>
                  <a:schemeClr val="bg1"/>
                </a:solidFill>
              </a:rPr>
              <a:t>공정</a:t>
            </a:r>
            <a:endParaRPr lang="en-US" sz="1700" dirty="0"/>
          </a:p>
        </p:txBody>
      </p:sp>
      <p:sp>
        <p:nvSpPr>
          <p:cNvPr id="11" name="Text 9"/>
          <p:cNvSpPr txBox="1"/>
          <p:nvPr/>
        </p:nvSpPr>
        <p:spPr>
          <a:xfrm>
            <a:off x="1051560" y="2953512"/>
            <a:ext cx="5029200" cy="274320"/>
          </a:xfrm>
          <a:prstGeom prst="rect">
            <a:avLst/>
          </a:prstGeom>
          <a:noFill/>
          <a:ln/>
        </p:spPr>
        <p:txBody>
          <a:bodyPr wrap="square" lIns="0" tIns="0" rIns="0" bIns="0" rtlCol="0" anchor="t"/>
          <a:lstStyle/>
          <a:p>
            <a:pPr indent="0" marL="0">
              <a:buNone/>
            </a:pPr>
            <a:r>
              <a:rPr lang="en-US" sz="1200" dirty="0">
                <a:solidFill>
                  <a:schemeClr val="bg2"/>
                </a:solidFill>
              </a:rPr>
              <a:t>방마다 한 줄 처리, 게임 중 외부 호출 없음, 같은 틱 동시 전달</a:t>
            </a:r>
            <a:endParaRPr lang="en-US" sz="1200" dirty="0"/>
          </a:p>
        </p:txBody>
      </p:sp>
      <p:sp>
        <p:nvSpPr>
          <p:cNvPr id="12" name="Shape 10"/>
          <p:cNvSpPr/>
          <p:nvPr/>
        </p:nvSpPr>
        <p:spPr>
          <a:xfrm>
            <a:off x="457200" y="3520440"/>
            <a:ext cx="411480" cy="411480"/>
          </a:xfrm>
          <a:prstGeom prst="ellipse">
            <a:avLst/>
          </a:prstGeom>
          <a:solidFill>
            <a:schemeClr val="accent1"/>
          </a:solidFill>
          <a:ln/>
        </p:spPr>
      </p:sp>
      <p:sp>
        <p:nvSpPr>
          <p:cNvPr id="13" name="Text 11"/>
          <p:cNvSpPr txBox="1"/>
          <p:nvPr/>
        </p:nvSpPr>
        <p:spPr>
          <a:xfrm>
            <a:off x="457200" y="352044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4" name="Text 12"/>
          <p:cNvSpPr txBox="1"/>
          <p:nvPr/>
        </p:nvSpPr>
        <p:spPr>
          <a:xfrm>
            <a:off x="1051560" y="3483864"/>
            <a:ext cx="5029200" cy="310896"/>
          </a:xfrm>
          <a:prstGeom prst="rect">
            <a:avLst/>
          </a:prstGeom>
          <a:noFill/>
          <a:ln/>
        </p:spPr>
        <p:txBody>
          <a:bodyPr wrap="square" lIns="0" tIns="0" rIns="0" bIns="0" rtlCol="0" anchor="t"/>
          <a:lstStyle/>
          <a:p>
            <a:pPr indent="0" marL="0">
              <a:buNone/>
            </a:pPr>
            <a:r>
              <a:rPr lang="en-US" sz="1700" b="1" dirty="0">
                <a:solidFill>
                  <a:schemeClr val="bg1"/>
                </a:solidFill>
              </a:rPr>
              <a:t>고민 유지</a:t>
            </a:r>
            <a:endParaRPr lang="en-US" sz="1700" dirty="0"/>
          </a:p>
        </p:txBody>
      </p:sp>
      <p:sp>
        <p:nvSpPr>
          <p:cNvPr id="15" name="Text 13"/>
          <p:cNvSpPr txBox="1"/>
          <p:nvPr/>
        </p:nvSpPr>
        <p:spPr>
          <a:xfrm>
            <a:off x="1051560" y="3822192"/>
            <a:ext cx="5029200" cy="274320"/>
          </a:xfrm>
          <a:prstGeom prst="rect">
            <a:avLst/>
          </a:prstGeom>
          <a:noFill/>
          <a:ln/>
        </p:spPr>
        <p:txBody>
          <a:bodyPr wrap="square" lIns="0" tIns="0" rIns="0" bIns="0" rtlCol="0" anchor="t"/>
          <a:lstStyle/>
          <a:p>
            <a:pPr indent="0" marL="0">
              <a:buNone/>
            </a:pPr>
            <a:r>
              <a:rPr lang="en-US" sz="1200" dirty="0">
                <a:solidFill>
                  <a:schemeClr val="bg2"/>
                </a:solidFill>
              </a:rPr>
              <a:t>수수료 면제 없음, 잔고 0 이상 보장, 남의 포지션 공개</a:t>
            </a:r>
            <a:endParaRPr lang="en-US" sz="1200" dirty="0"/>
          </a:p>
        </p:txBody>
      </p:sp>
      <p:sp>
        <p:nvSpPr>
          <p:cNvPr id="16" name="limit"/>
          <p:cNvSpPr/>
          <p:nvPr/>
        </p:nvSpPr>
        <p:spPr>
          <a:xfrm>
            <a:off x="6035040" y="1691640"/>
            <a:ext cx="2651760" cy="1417320"/>
          </a:xfrm>
          <a:prstGeom prst="roundRect">
            <a:avLst>
              <a:gd name="adj" fmla="val 5161"/>
            </a:avLst>
          </a:prstGeom>
          <a:solidFill>
            <a:srgbClr val="1B2233"/>
          </a:solidFill>
          <a:ln/>
        </p:spPr>
      </p:sp>
      <p:sp>
        <p:nvSpPr>
          <p:cNvPr id="17" name="Text 15"/>
          <p:cNvSpPr txBox="1"/>
          <p:nvPr/>
        </p:nvSpPr>
        <p:spPr>
          <a:xfrm>
            <a:off x="6217920" y="1828800"/>
            <a:ext cx="2286000" cy="1188720"/>
          </a:xfrm>
          <a:prstGeom prst="rect">
            <a:avLst/>
          </a:prstGeom>
          <a:noFill/>
          <a:ln/>
        </p:spPr>
        <p:txBody>
          <a:bodyPr wrap="square" lIns="0" tIns="0" rIns="0" bIns="0" rtlCol="0" anchor="t"/>
          <a:lstStyle/>
          <a:p>
            <a:pPr indent="0" marL="0">
              <a:buNone/>
            </a:pPr>
            <a:r>
              <a:rPr lang="en-US" sz="1300" b="1" dirty="0">
                <a:solidFill>
                  <a:srgbClr val="F5B83D"/>
                </a:solidFill>
              </a:rPr>
              <a:t>다시 볼 값</a:t>
            </a:r>
            <a:endParaRPr lang="en-US" sz="1400" dirty="0"/>
          </a:p>
          <a:p>
            <a:pPr indent="0" marL="0">
              <a:buNone/>
            </a:pPr>
            <a:r>
              <a:rPr lang="en-US" sz="1100" dirty="0">
                <a:solidFill>
                  <a:srgbClr val="F2F3F7"/>
                </a:solidFill>
              </a:rPr>
              <a:t>수수료율 0.15%, 시드 1억 원,</a:t>
            </a:r>
            <a:endParaRPr lang="en-US" sz="1400" dirty="0"/>
          </a:p>
          <a:p>
            <a:pPr indent="0" marL="0">
              <a:buNone/>
            </a:pPr>
            <a:r>
              <a:rPr lang="en-US" sz="1100" dirty="0">
                <a:solidFill>
                  <a:srgbClr val="F2F3F7"/>
                </a:solidFill>
              </a:rPr>
              <a:t>배율 상한은 플레이 결과로</a:t>
            </a:r>
            <a:endParaRPr lang="en-US" sz="1400" dirty="0"/>
          </a:p>
          <a:p>
            <a:pPr indent="0" marL="0">
              <a:buNone/>
            </a:pPr>
            <a:r>
              <a:rPr lang="en-US" sz="1100" dirty="0">
                <a:solidFill>
                  <a:srgbClr val="F2F3F7"/>
                </a:solidFill>
              </a:rPr>
              <a:t>재검토 예정</a:t>
            </a:r>
            <a:endParaRPr lang="en-US" sz="1400" dirty="0"/>
          </a:p>
        </p:txBody>
      </p:sp>
      <p:sp>
        <p:nvSpPr>
          <p:cNvPr id="18" name="message"/>
          <p:cNvSpPr/>
          <p:nvPr/>
        </p:nvSpPr>
        <p:spPr>
          <a:xfrm>
            <a:off x="6035040" y="3291840"/>
            <a:ext cx="2651760" cy="1188720"/>
          </a:xfrm>
          <a:prstGeom prst="roundRect">
            <a:avLst>
              <a:gd name="adj" fmla="val 6154"/>
            </a:avLst>
          </a:prstGeom>
          <a:solidFill>
            <a:schemeClr val="accent1"/>
          </a:solidFill>
          <a:ln/>
        </p:spPr>
      </p:sp>
      <p:sp>
        <p:nvSpPr>
          <p:cNvPr id="19" name="Text 17"/>
          <p:cNvSpPr txBox="1"/>
          <p:nvPr/>
        </p:nvSpPr>
        <p:spPr>
          <a:xfrm>
            <a:off x="6217920" y="3401568"/>
            <a:ext cx="2286000" cy="1005840"/>
          </a:xfrm>
          <a:prstGeom prst="rect">
            <a:avLst/>
          </a:prstGeom>
          <a:noFill/>
          <a:ln/>
        </p:spPr>
        <p:txBody>
          <a:bodyPr wrap="square" lIns="0" tIns="0" rIns="0" bIns="0" rtlCol="0" anchor="t"/>
          <a:lstStyle/>
          <a:p>
            <a:pPr indent="0" marL="0">
              <a:buNone/>
            </a:pPr>
            <a:r>
              <a:rPr lang="en-US" sz="1200" b="1" dirty="0">
                <a:solidFill>
                  <a:schemeClr val="bg1"/>
                </a:solidFill>
              </a:rPr>
              <a:t>한 줄 요약</a:t>
            </a:r>
            <a:endParaRPr lang="en-US" sz="1400" dirty="0"/>
          </a:p>
          <a:p>
            <a:pPr indent="0" marL="0">
              <a:buNone/>
            </a:pPr>
            <a:r>
              <a:rPr lang="en-US" sz="1800" b="1" dirty="0">
                <a:solidFill>
                  <a:schemeClr val="bg1"/>
                </a:solidFill>
              </a:rPr>
              <a:t>규칙은 숫자로,</a:t>
            </a:r>
            <a:endParaRPr lang="en-US" sz="1400" dirty="0"/>
          </a:p>
          <a:p>
            <a:pPr indent="0" marL="0">
              <a:buNone/>
            </a:pPr>
            <a:r>
              <a:rPr lang="en-US" sz="1800" b="1" dirty="0">
                <a:solidFill>
                  <a:schemeClr val="bg1"/>
                </a:solidFill>
              </a:rPr>
              <a:t>검증은 테스트로</a:t>
            </a:r>
            <a:endParaRPr lang="en-US" sz="1400" dirty="0"/>
          </a:p>
        </p:txBody>
      </p:sp>
    </p:spTree>
  </p:cSld>
  <p:clrMapOvr>
    <a:masterClrMapping/>
  </p:clrMapOvr>
</p:sld>
</file>

<file path=ppt/theme/theme1.xml><?xml version="1.0" encoding="utf-8"?>
<a:theme xmlns:a="http://schemas.openxmlformats.org/drawingml/2006/main" name="MoneyGame">
  <a:themeElements>
    <a:clrScheme name="MoneyGame">
      <a:dk1>
        <a:srgbClr val="0B0E14"/>
      </a:dk1>
      <a:lt1>
        <a:srgbClr val="FFFFFF"/>
      </a:lt1>
      <a:dk2>
        <a:srgbClr val="121722"/>
      </a:dk2>
      <a:lt2>
        <a:srgbClr val="F2F3F7"/>
      </a:lt2>
      <a:accent1>
        <a:srgbClr val="7C5CFF"/>
      </a:accent1>
      <a:accent2>
        <a:srgbClr val="F04452"/>
      </a:accent2>
      <a:accent3>
        <a:srgbClr val="3B82F6"/>
      </a:accent3>
      <a:accent4>
        <a:srgbClr val="F5B83D"/>
      </a:accent4>
      <a:accent5>
        <a:srgbClr val="2FBF71"/>
      </a:accent5>
      <a:accent6>
        <a:srgbClr val="6B7385"/>
      </a:accent6>
      <a:hlink>
        <a:srgbClr val="7C5CFF"/>
      </a:hlink>
      <a:folHlink>
        <a:srgbClr val="5B3FD6"/>
      </a:folHlink>
    </a:clrScheme>
    <a:fontScheme name="MoneyGame">
      <a:majorFont>
        <a:latin typeface="Malgun Gothic"/>
        <a:ea typeface="Malgun Gothic"/>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Malgun Gothic"/>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머니게임: 정확하고 공정한 게임 서버 만들기</dc:title>
  <dc:subject>배율과 청산 규칙 설계, 실시간 대전 서버</dc:subject>
  <dc:creator>머니게임</dc:creator>
  <cp:lastModifiedBy>머니게임</cp:lastModifiedBy>
  <cp:revision>1</cp:revision>
  <dcterms:created xsi:type="dcterms:W3CDTF">2026-10-10T07:42:56Z</dcterms:created>
  <dcterms:modified xsi:type="dcterms:W3CDTF">2026-10-10T07:42:56Z</dcterms:modified>
</cp:coreProperties>
</file>