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edda0fde-2316-96a9-fc74-869b5246243b}">
          <p14:sldIdLst>
            <p14:sldId id="256"/>
            <p14:sldId id="257"/>
          </p14:sldIdLst>
        </p14:section>
        <p14:section name="플레이 가능한 게임" id="{3397b595-9bdd-b708-1326-2249710dacfc}">
          <p14:sldIdLst>
            <p14:sldId id="258"/>
            <p14:sldId id="259"/>
            <p14:sldId id="260"/>
            <p14:sldId id="261"/>
          </p14:sldIdLst>
        </p14:section>
        <p14:section name="실제 플레이" id="{5b44115c-a950-60fe-7e22-d24b287af765}">
          <p14:sldIdLst>
            <p14:sldId id="262"/>
            <p14:sldId id="263"/>
          </p14:sldIdLst>
        </p14:section>
        <p14:section name="플레이로 내린 결정" id="{fa39d96f-b992-794a-26d0-520dd43cfbb3}">
          <p14:sldIdLst>
            <p14:sldId id="264"/>
            <p14:sldId id="265"/>
            <p14:sldId id="266"/>
          </p14:sldIdLst>
        </p14:section>
        <p14:section name="정리" id="{87002e82-2b81-4222-7bab-99e8fa6a291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머니게임은 여러 명이 같은 방에서 실제 과거 시세를 빠르게 재생하며 거래하고, 끝날 때 남은 자산으로 순위를 가리는 웹게임입니다. 오늘은 게임 화면과 봇을 붙여 실제로 플레이해 보고, 다른 사람들과 함께 플레이하면서 발견한 문제와 데이터로 내린 결정을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시세 데이터와 게임 규칙, 실시간 서버를 만들었고, 그 위에 실제 게임 화면과 봇을 얹었습니다. 그리고 다른 사람들과 실제로 플레이해 보면서 문제를 찾고 결정을 내렸습니다. 오늘은 이 세 가지, 플레이 가능한 게임, 여러 사람과의 실제 플레이, 플레이로 내린 결정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한 판을 하면서 찍은 게임 화면입니다. 위쪽에 남은 시간과 총자산, 순위가 있고, 그 아래 종목 카드에서 세 종목의 흐름을 한눈에 봅니다. 가운데 차트에는 시작 전 60봉이 흐리게 깔리고, 제가 산 지점과 진입가, 청산가 선이 표시됩니다. 오른쪽에서 증거금과 배율을 골라 바로 주문하고, 아래 순위에서는 다른 사람이 어떤 종목에 몇 배를 걸었는지까지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화면을 만들 때 보기 좋은 것보다 판단에 필요한 것을 먼저 챙겼습니다. 색은 국내 증권 화면처럼 오르면 빨강, 내리면 파랑입니다. 시작 전 60봉을 보여줘서 첫 틱부터 추세를 보고 판단할 수 있고, 내 포지션의 진입가와 청산가를 차트에 선으로 그려 어디서 청산되는지 바로 보이게 했습니다. 게임 중에는 날짜를 숨겨 종목을 알아맞히지 못하게 했고, 금액은 서버가 계산한 값을 그대로 보여줘 오차가 없습니다. 연결이 끊겨도 자동으로 다시 붙어 차트가 그대로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판의 결과 화면입니다. 판이 끝나는 순간 A, B, C가 실제로 어떤 종목이었는지와 실제 기간을 공개합니다. 차트는 이제 실제 날짜로 그려지고, 내가 사고판 지점이 표시돼서 어디서 잘했고 어디서 놓쳤는지 복기할 수 있습니다. 지난 판들은 로비의 내 전적에서 다시 열어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혼자서도 플레이할 수 있도록 존버 봇을 넣었습니다. 봇은 시작하자마자 현금을 세 종목에 똑같이 나눠 배율 1로 사고 끝까지 들고 갑니다. 사람과 같은 주문 경로를 쓰기 때문에 규칙상 특혜는 없습니다. 봇의 결과는 아무것도 안 하고 시장을 따라갔을 때의 결과라서, 봇을 이기면 내 판단이 시장보다 나았다는 뜻이 됩니다. 실제로 한 판 해 보니 세 종목이 모두 오른 구간에서는 봇이 98% 수익으로 저를 이겼습니다. 봇은 쉬운 상대가 아니라 넘어야 할 기준선입니다.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정식으로 배포하기 전에 다른 사람과 실제로 플레이해 보려고, 개발 PC를 임시 주소로 열었습니다. 인터넷 어디서나 그 주소로 들어올 수 있고, 같은 와이파이에서는 IP 주소로도 접속할 수 있습니다. 공개하기 전에 소스 코드나 설정 파일이 밖에서 열리지 않는지, 다른 사이트에서 오는 실시간 연결이 거부되는지 확인했습니다. 그 결과 다른 사람과 같은 방에서 한 판을 끝까지 플레이했고, 이 과정에서 다음 장의 문제를 발견했습니다.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사람이 플레이하자 문제가 하나 드러났습니다. 비밀번호 없이 닉네임만으로 입장하게 만들었더니, 다른 사람이 같은 닉네임을 치면 그 사람 전적으로 들어가 버렸습니다. 세 가지 방법을 비교했습니다. 비밀번호 계정은 가장 확실하지만 작업이 크고, 접속 중일 때만 막는 방법은 간단하지만 허점이 큽니다. 그래서 처음 닉네임을 만든 브라우저에 비밀 값을 주고, 그 브라우저에서만 그 닉네임을 쓸 수 있게 했습니다. 지금처럼 닉네임만 치면 되고, 다른 브라우저에서는 이미 사용 중이라고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분봉 모드는 직접 해 보니 일봉보다 재미가 덜했습니다. 왜 그런지 데이터로 확인해 봤습니다. 겹치지 않는 분봉 후보 여섯 개에서 가장 크게 떨어진 폭이 3.98% 였습니다. 분봉에서 고를 수 있는 가장 큰 배율 10의 청산선은 10% 하락이라서, 어떤 후보에서도 청산이 한 번도 나지 않습니다. 청산 위험이 없으면 배율은 그냥 수익을 키우는 버튼이 되고, 항상 최대 배율을 거는 게 정답이 돼서 고민이 사라집니다. 데이터를 더 받아 해결하기도 어려운 상황이라, 분봉 모드는 지우지 않고 그대로 둔 채 더 투자하지 않기로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플레이하면서 드러난 문제를 규칙과 설정으로 다듬었습니다. 처음 화면으로 해 봤을 때는 테스트용으로 0.2초 틱이라 너무 빨랐고, 기본을 1초로 맞췄습니다. 판 길이도 4분 하나뿐이어서 방을 만들 때 1분, 2분, 4분 중에 고르게 했습니다. 대기실에서 나간 사람이 방에 남는 문제는 연결이 끊기고 15초가 지나면 자동으로 내보내고, 30분 동안 아무 활동이 없는 방은 닫도록 했습니다. 새로고침하면 차트가 사라지던 문제는 지금까지의 봉을 모두 다시 받아 복원하게 고쳤습니다. 다만 짧은 판은 시나리오 앞부분만 쓰기 때문에, 변동폭 기준이 짧은 판에서도 지켜지는지는 아직 따로 검사하지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개발하면서 사고가 두 번 있었습니다. 하나는 개발 컴퓨터를 Windows에서 Mac으로 옮기면서, 아직 원격 저장소에 올리지 않은 커밋 세 개와 소스 일부를 잃은 일입니다. 남아 있던 저장소 기록으로 재구성했고, 사라진 파일 다섯 개 중 하나는 원본 그대로 되살렸습니다. 이후로는 작업 단위가 끝날 때마다 바로 올립니다. 다른 하나는 프로젝트를 iCloud와 동기화되는 바탕화면에 둬서 빌드 폴더에 충돌 복제본이 생기고 테스트가 깨진 일입니다. 동기화되지 않는 폴더로 옮기고, 파일과 기록이 모두 같은지 확인한 뒤 테스트를 다시 통과시켰습니다.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화면과 결과 공개, 존버 봇까지 붙여서 혼자서도 여럿이서도 플레이할 수 있는 게임을 만들었습니다. 다른 사람들과 실제로 플레이하면서 닉네임 문제를 발견해 고쳤고, 플레이 결과를 데이터로 확인해서 분봉 모드 동결 같은 결정을 내렸습니다. 아직 서로 겹치지 않는 일봉 판이 두 개뿐이라는 데이터 한계와, 밸런스 값 재검토가 남아 있습니다. 한 줄로 말씀드리면, 만든 뒤 직접 써 보고 데이터로 판단했습니다.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rtlCol="0"/>
          <a:lstStyle>
            <a:lvl1pPr algn="l" indent="0" marL="0">
              <a:buNone/>
              <a:defRPr lang="en-US" sz="1500" b="1" dirty="0">
                <a:solidFill>
                  <a:schemeClr val="bg1"/>
                </a:solidFill>
              </a:defRPr>
            </a:lvl1pPr>
          </a:lstStyle>
          <a:p>
            <a:pPr algn="l" indent="0" marL="0">
              <a:buNone/>
            </a:pPr>
            <a:r>
              <a:rPr lang="en-US" sz="1500" b="1" dirty="0">
                <a:solidFill>
                  <a:schemeClr val="bg1"/>
                </a:solidFill>
              </a:rPr>
              <a:t>발표자 이름</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172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endParaRPr lang="en-US" sz="1400" dirty="0"/>
          </a:p>
        </p:txBody>
      </p:sp>
      <p:sp>
        <p:nvSpPr>
          <p:cNvPr id="4" name="Text 0"/>
          <p:cNvSpPr/>
          <p:nvPr/>
        </p:nvSpPr>
        <p:spPr>
          <a:xfrm>
            <a:off x="457200" y="4800600"/>
            <a:ext cx="4572000" cy="201168"/>
          </a:xfrm>
          <a:prstGeom prst="rect">
            <a:avLst/>
          </a:prstGeom>
          <a:noFill/>
          <a:ln/>
        </p:spPr>
        <p:txBody>
          <a:bodyPr wrap="square" lIns="0" tIns="0" rIns="0" bIns="0" rtlCol="0" anchor="ctr"/>
          <a:lstStyle/>
          <a:p>
            <a:pPr indent="0" marL="0">
              <a:buNone/>
            </a:pPr>
            <a:r>
              <a:rPr lang="en-US" sz="900" dirty="0">
                <a:solidFill>
                  <a:schemeClr val="accent6"/>
                </a:solidFill>
              </a:rPr>
              <a:t>머니게임 | 직접 플레이하며 다듬은 것들</a:t>
            </a:r>
            <a:endParaRPr lang="en-US" sz="9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1234440"/>
            <a:ext cx="5669280" cy="365760"/>
          </a:xfrm>
          <a:prstGeom prst="rect">
            <a:avLst/>
          </a:prstGeom>
          <a:noFill/>
          <a:ln/>
        </p:spPr>
        <p:txBody>
          <a:bodyPr wrap="square" lIns="0" tIns="0" rIns="0" bIns="0" rtlCol="0"/>
          <a:lstStyle/>
          <a:p>
            <a:pPr algn="l" indent="0" marL="0">
              <a:buNone/>
            </a:pPr>
            <a:r>
              <a:rPr lang="en-US" sz="1400" b="1" dirty="0">
                <a:solidFill>
                  <a:schemeClr val="accent1"/>
                </a:solidFill>
              </a:rPr>
              <a:t>머니게임 | 중간 점검</a:t>
            </a:r>
            <a:endParaRPr lang="en-US" sz="1400" dirty="0"/>
          </a:p>
        </p:txBody>
      </p:sp>
      <p:sp>
        <p:nvSpPr>
          <p:cNvPr id="3" name="Text 0"/>
          <p:cNvSpPr/>
          <p:nvPr>
            <p:ph idx="101" type="title" hasCustomPrompt="1"/>
          </p:nvPr>
        </p:nvSpPr>
        <p:spPr>
          <a:xfrm>
            <a:off x="457200" y="1645920"/>
            <a:ext cx="5852160" cy="1371600"/>
          </a:xfrm>
          <a:prstGeom prst="rect">
            <a:avLst/>
          </a:prstGeom>
          <a:noFill/>
          <a:ln/>
        </p:spPr>
        <p:txBody>
          <a:bodyPr wrap="square" lIns="0" tIns="0" rIns="0" bIns="0" rtlCol="0" anchor="t"/>
          <a:lstStyle/>
          <a:p>
            <a:pPr algn="l" indent="0" marL="0">
              <a:buNone/>
            </a:pPr>
            <a:r>
              <a:rPr lang="en-US" sz="4000" b="1" dirty="0">
                <a:solidFill>
                  <a:schemeClr val="bg1"/>
                </a:solidFill>
              </a:rPr>
              <a:t>직접 플레이하며</a:t>
            </a:r>
            <a:endParaRPr lang="en-US" sz="4000" dirty="0"/>
          </a:p>
          <a:p>
            <a:pPr algn="l" indent="0" marL="0">
              <a:buNone/>
            </a:pPr>
            <a:r>
              <a:rPr lang="en-US" sz="4000" b="1" dirty="0">
                <a:solidFill>
                  <a:schemeClr val="bg1"/>
                </a:solidFill>
              </a:rPr>
              <a:t>다듬은 것들</a:t>
            </a:r>
            <a:endParaRPr lang="en-US" sz="4000" dirty="0"/>
          </a:p>
        </p:txBody>
      </p:sp>
      <p:sp>
        <p:nvSpPr>
          <p:cNvPr id="4" name="Text 0"/>
          <p:cNvSpPr/>
          <p:nvPr>
            <p:ph idx="102" type="body" hasCustomPrompt="1"/>
          </p:nvPr>
        </p:nvSpPr>
        <p:spPr>
          <a:xfrm>
            <a:off x="457200" y="3154680"/>
            <a:ext cx="5669280" cy="822960"/>
          </a:xfrm>
          <a:prstGeom prst="rect">
            <a:avLst/>
          </a:prstGeom>
          <a:noFill/>
          <a:ln/>
        </p:spPr>
        <p:txBody>
          <a:bodyPr wrap="square" lIns="0" tIns="0" rIns="0" bIns="0" rtlCol="0" anchor="t"/>
          <a:lstStyle/>
          <a:p>
            <a:pPr algn="l" indent="0" marL="0">
              <a:buNone/>
            </a:pPr>
            <a:r>
              <a:rPr lang="en-US" sz="1600" dirty="0">
                <a:solidFill>
                  <a:schemeClr val="bg2"/>
                </a:solidFill>
              </a:rPr>
              <a:t>게임 화면, 존버 봇, 여러 사람과의 실제 대전</a:t>
            </a:r>
            <a:endParaRPr lang="en-US" sz="1600" dirty="0"/>
          </a:p>
          <a:p>
            <a:pPr algn="l" indent="0" marL="0">
              <a:buNone/>
            </a:pPr>
            <a:r>
              <a:rPr lang="en-US" sz="1600" dirty="0">
                <a:solidFill>
                  <a:schemeClr val="bg2"/>
                </a:solidFill>
              </a:rPr>
              <a:t>플레이 결과로 내린 결정</a:t>
            </a:r>
            <a:endParaRPr lang="en-US" sz="1600" dirty="0"/>
          </a:p>
        </p:txBody>
      </p:sp>
      <p:sp>
        <p:nvSpPr>
          <p:cNvPr id="5" name="Text 0"/>
          <p:cNvSpPr/>
          <p:nvPr>
            <p:ph idx="103" type="body" hasCustomPrompt="1"/>
          </p:nvPr>
        </p:nvSpPr>
        <p:spPr>
          <a:xfrm>
            <a:off x="457200" y="4160520"/>
            <a:ext cx="3657600" cy="365760"/>
          </a:xfrm>
          <a:prstGeom prst="rect">
            <a:avLst/>
          </a:prstGeom>
          <a:noFill/>
          <a:ln/>
        </p:spPr>
        <p:txBody>
          <a:bodyPr wrap="square" lIns="0" tIns="0" rIns="0" bIns="0" rtlCol="0" anchor="ctr"/>
          <a:lstStyle/>
          <a:p>
            <a:pPr algn="l" indent="0" marL="0">
              <a:buNone/>
            </a:pPr>
            <a:endParaRPr lang="en-US" sz="1500" dirty="0"/>
          </a:p>
        </p:txBody>
      </p:sp>
      <p:sp>
        <p:nvSpPr>
          <p:cNvPr id="6" name="Shape 4"/>
          <p:cNvSpPr/>
          <p:nvPr/>
        </p:nvSpPr>
        <p:spPr>
          <a:xfrm>
            <a:off x="5715000" y="1417320"/>
            <a:ext cx="3035808" cy="1678455"/>
          </a:xfrm>
          <a:prstGeom prst="roundRect">
            <a:avLst>
              <a:gd name="adj" fmla="val 3269"/>
            </a:avLst>
          </a:prstGeom>
          <a:solidFill>
            <a:srgbClr val="242E42"/>
          </a:solidFill>
          <a:ln/>
        </p:spPr>
      </p:sp>
      <p:pic>
        <p:nvPicPr>
          <p:cNvPr id="7" name="cover-shot" descr="/Users/thmun/dev/moneyGame/presentations/03-play/assets/game.jpg">    </p:cNvPr>
          <p:cNvPicPr>
            <a:picLocks noChangeAspect="1"/>
          </p:cNvPicPr>
          <p:nvPr/>
        </p:nvPicPr>
        <p:blipFill>
          <a:blip r:embed="rId1"/>
          <a:stretch>
            <a:fillRect/>
          </a:stretch>
        </p:blipFill>
        <p:spPr>
          <a:xfrm>
            <a:off x="5769864" y="1472184"/>
            <a:ext cx="2926080" cy="15687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개요: 규칙과 서버 위에 화면과 플레이</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시세 데이터, 게임 규칙, 실시간 서버는 완료. 그 위에 화면과 봇을 얹고 실제로 플레이하며 다듬음</a:t>
            </a:r>
            <a:endParaRPr lang="en-US" sz="1400" dirty="0"/>
          </a:p>
        </p:txBody>
      </p:sp>
      <p:sp>
        <p:nvSpPr>
          <p:cNvPr id="4" name="col-1"/>
          <p:cNvSpPr/>
          <p:nvPr/>
        </p:nvSpPr>
        <p:spPr>
          <a:xfrm>
            <a:off x="457200" y="1417320"/>
            <a:ext cx="2606040" cy="3108960"/>
          </a:xfrm>
          <a:prstGeom prst="roundRect">
            <a:avLst>
              <a:gd name="adj" fmla="val 2807"/>
            </a:avLst>
          </a:prstGeom>
          <a:solidFill>
            <a:schemeClr val="bg2"/>
          </a:solidFill>
          <a:ln/>
        </p:spPr>
      </p:sp>
      <p:sp>
        <p:nvSpPr>
          <p:cNvPr id="5" name="Shape 3"/>
          <p:cNvSpPr/>
          <p:nvPr/>
        </p:nvSpPr>
        <p:spPr>
          <a:xfrm>
            <a:off x="658368" y="1618488"/>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84098" y="1744218"/>
            <a:ext cx="251460" cy="251460"/>
          </a:xfrm>
          <a:prstGeom prst="rect">
            <a:avLst/>
          </a:prstGeom>
        </p:spPr>
      </p:pic>
      <p:sp>
        <p:nvSpPr>
          <p:cNvPr id="7" name="Text 4"/>
          <p:cNvSpPr txBox="1"/>
          <p:nvPr/>
        </p:nvSpPr>
        <p:spPr>
          <a:xfrm>
            <a:off x="658368" y="2267712"/>
            <a:ext cx="2203704" cy="320040"/>
          </a:xfrm>
          <a:prstGeom prst="rect">
            <a:avLst/>
          </a:prstGeom>
          <a:noFill/>
          <a:ln/>
        </p:spPr>
        <p:txBody>
          <a:bodyPr wrap="square" lIns="0" tIns="0" rIns="0" bIns="0" rtlCol="0" anchor="t"/>
          <a:lstStyle/>
          <a:p>
            <a:pPr indent="0" marL="0">
              <a:buNone/>
            </a:pPr>
            <a:r>
              <a:rPr lang="en-US" sz="1600" b="1" dirty="0">
                <a:solidFill>
                  <a:schemeClr val="tx1"/>
                </a:solidFill>
              </a:rPr>
              <a:t>플레이 가능한 게임</a:t>
            </a:r>
            <a:endParaRPr lang="en-US" sz="1600" dirty="0"/>
          </a:p>
        </p:txBody>
      </p:sp>
      <p:sp>
        <p:nvSpPr>
          <p:cNvPr id="8" name="Shape 5"/>
          <p:cNvSpPr/>
          <p:nvPr/>
        </p:nvSpPr>
        <p:spPr>
          <a:xfrm>
            <a:off x="676656" y="2834640"/>
            <a:ext cx="73152" cy="73152"/>
          </a:xfrm>
          <a:prstGeom prst="rect">
            <a:avLst/>
          </a:prstGeom>
          <a:solidFill>
            <a:schemeClr val="accent1"/>
          </a:solidFill>
          <a:ln/>
        </p:spPr>
      </p:sp>
      <p:sp>
        <p:nvSpPr>
          <p:cNvPr id="9" name="Text 6"/>
          <p:cNvSpPr txBox="1"/>
          <p:nvPr/>
        </p:nvSpPr>
        <p:spPr>
          <a:xfrm>
            <a:off x="841248" y="2743200"/>
            <a:ext cx="2020824" cy="457200"/>
          </a:xfrm>
          <a:prstGeom prst="rect">
            <a:avLst/>
          </a:prstGeom>
          <a:noFill/>
          <a:ln/>
        </p:spPr>
        <p:txBody>
          <a:bodyPr wrap="square" lIns="0" tIns="0" rIns="0" bIns="0" rtlCol="0" anchor="t"/>
          <a:lstStyle/>
          <a:p>
            <a:pPr indent="0" marL="0">
              <a:buNone/>
            </a:pPr>
            <a:r>
              <a:rPr lang="en-US" sz="1200" dirty="0">
                <a:solidFill>
                  <a:schemeClr val="tx1"/>
                </a:solidFill>
              </a:rPr>
              <a:t>게임 화면과 결과 화면</a:t>
            </a:r>
            <a:endParaRPr lang="en-US" sz="1200" dirty="0"/>
          </a:p>
        </p:txBody>
      </p:sp>
      <p:sp>
        <p:nvSpPr>
          <p:cNvPr id="10" name="Shape 7"/>
          <p:cNvSpPr/>
          <p:nvPr/>
        </p:nvSpPr>
        <p:spPr>
          <a:xfrm>
            <a:off x="676656" y="3364992"/>
            <a:ext cx="73152" cy="73152"/>
          </a:xfrm>
          <a:prstGeom prst="rect">
            <a:avLst/>
          </a:prstGeom>
          <a:solidFill>
            <a:schemeClr val="accent1"/>
          </a:solidFill>
          <a:ln/>
        </p:spPr>
      </p:sp>
      <p:sp>
        <p:nvSpPr>
          <p:cNvPr id="11" name="Text 8"/>
          <p:cNvSpPr txBox="1"/>
          <p:nvPr/>
        </p:nvSpPr>
        <p:spPr>
          <a:xfrm>
            <a:off x="841248" y="3273552"/>
            <a:ext cx="2020824" cy="457200"/>
          </a:xfrm>
          <a:prstGeom prst="rect">
            <a:avLst/>
          </a:prstGeom>
          <a:noFill/>
          <a:ln/>
        </p:spPr>
        <p:txBody>
          <a:bodyPr wrap="square" lIns="0" tIns="0" rIns="0" bIns="0" rtlCol="0" anchor="t"/>
          <a:lstStyle/>
          <a:p>
            <a:pPr indent="0" marL="0">
              <a:buNone/>
            </a:pPr>
            <a:r>
              <a:rPr lang="en-US" sz="1200" dirty="0">
                <a:solidFill>
                  <a:schemeClr val="tx1"/>
                </a:solidFill>
              </a:rPr>
              <a:t>존버 봇으로 혼자서도 대결</a:t>
            </a:r>
            <a:endParaRPr lang="en-US" sz="1200" dirty="0"/>
          </a:p>
        </p:txBody>
      </p:sp>
      <p:sp>
        <p:nvSpPr>
          <p:cNvPr id="12" name="Shape 9"/>
          <p:cNvSpPr/>
          <p:nvPr/>
        </p:nvSpPr>
        <p:spPr>
          <a:xfrm>
            <a:off x="676656" y="3895344"/>
            <a:ext cx="73152" cy="73152"/>
          </a:xfrm>
          <a:prstGeom prst="rect">
            <a:avLst/>
          </a:prstGeom>
          <a:solidFill>
            <a:schemeClr val="accent1"/>
          </a:solidFill>
          <a:ln/>
        </p:spPr>
      </p:sp>
      <p:sp>
        <p:nvSpPr>
          <p:cNvPr id="13" name="Text 10"/>
          <p:cNvSpPr txBox="1"/>
          <p:nvPr/>
        </p:nvSpPr>
        <p:spPr>
          <a:xfrm>
            <a:off x="841248" y="3803904"/>
            <a:ext cx="2020824" cy="457200"/>
          </a:xfrm>
          <a:prstGeom prst="rect">
            <a:avLst/>
          </a:prstGeom>
          <a:noFill/>
          <a:ln/>
        </p:spPr>
        <p:txBody>
          <a:bodyPr wrap="square" lIns="0" tIns="0" rIns="0" bIns="0" rtlCol="0" anchor="t"/>
          <a:lstStyle/>
          <a:p>
            <a:pPr indent="0" marL="0">
              <a:buNone/>
            </a:pPr>
            <a:r>
              <a:rPr lang="en-US" sz="1200" dirty="0">
                <a:solidFill>
                  <a:schemeClr val="tx1"/>
                </a:solidFill>
              </a:rPr>
              <a:t>끊겨도 이어지는 재접속</a:t>
            </a:r>
            <a:endParaRPr lang="en-US" sz="1200" dirty="0"/>
          </a:p>
        </p:txBody>
      </p:sp>
      <p:sp>
        <p:nvSpPr>
          <p:cNvPr id="14" name="col-2"/>
          <p:cNvSpPr/>
          <p:nvPr/>
        </p:nvSpPr>
        <p:spPr>
          <a:xfrm>
            <a:off x="3268980" y="1417320"/>
            <a:ext cx="2606040" cy="3108960"/>
          </a:xfrm>
          <a:prstGeom prst="roundRect">
            <a:avLst>
              <a:gd name="adj" fmla="val 2807"/>
            </a:avLst>
          </a:prstGeom>
          <a:solidFill>
            <a:schemeClr val="bg2"/>
          </a:solidFill>
          <a:ln/>
        </p:spPr>
      </p:sp>
      <p:sp>
        <p:nvSpPr>
          <p:cNvPr id="15" name="Shape 12"/>
          <p:cNvSpPr/>
          <p:nvPr/>
        </p:nvSpPr>
        <p:spPr>
          <a:xfrm>
            <a:off x="3470148" y="1618488"/>
            <a:ext cx="502920" cy="502920"/>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3595878" y="1744218"/>
            <a:ext cx="251460" cy="251460"/>
          </a:xfrm>
          <a:prstGeom prst="rect">
            <a:avLst/>
          </a:prstGeom>
        </p:spPr>
      </p:pic>
      <p:sp>
        <p:nvSpPr>
          <p:cNvPr id="17" name="Text 13"/>
          <p:cNvSpPr txBox="1"/>
          <p:nvPr/>
        </p:nvSpPr>
        <p:spPr>
          <a:xfrm>
            <a:off x="3470148" y="2267712"/>
            <a:ext cx="2203704" cy="320040"/>
          </a:xfrm>
          <a:prstGeom prst="rect">
            <a:avLst/>
          </a:prstGeom>
          <a:noFill/>
          <a:ln/>
        </p:spPr>
        <p:txBody>
          <a:bodyPr wrap="square" lIns="0" tIns="0" rIns="0" bIns="0" rtlCol="0" anchor="t"/>
          <a:lstStyle/>
          <a:p>
            <a:pPr indent="0" marL="0">
              <a:buNone/>
            </a:pPr>
            <a:r>
              <a:rPr lang="en-US" sz="1600" b="1" dirty="0">
                <a:solidFill>
                  <a:schemeClr val="tx1"/>
                </a:solidFill>
              </a:rPr>
              <a:t>여러 사람과 실제 플레이</a:t>
            </a:r>
            <a:endParaRPr lang="en-US" sz="1600" dirty="0"/>
          </a:p>
        </p:txBody>
      </p:sp>
      <p:sp>
        <p:nvSpPr>
          <p:cNvPr id="18" name="Shape 14"/>
          <p:cNvSpPr/>
          <p:nvPr/>
        </p:nvSpPr>
        <p:spPr>
          <a:xfrm>
            <a:off x="3488436" y="2834640"/>
            <a:ext cx="73152" cy="73152"/>
          </a:xfrm>
          <a:prstGeom prst="rect">
            <a:avLst/>
          </a:prstGeom>
          <a:solidFill>
            <a:schemeClr val="accent1"/>
          </a:solidFill>
          <a:ln/>
        </p:spPr>
      </p:sp>
      <p:sp>
        <p:nvSpPr>
          <p:cNvPr id="19" name="Text 15"/>
          <p:cNvSpPr txBox="1"/>
          <p:nvPr/>
        </p:nvSpPr>
        <p:spPr>
          <a:xfrm>
            <a:off x="3653028" y="2743200"/>
            <a:ext cx="2020824" cy="457200"/>
          </a:xfrm>
          <a:prstGeom prst="rect">
            <a:avLst/>
          </a:prstGeom>
          <a:noFill/>
          <a:ln/>
        </p:spPr>
        <p:txBody>
          <a:bodyPr wrap="square" lIns="0" tIns="0" rIns="0" bIns="0" rtlCol="0" anchor="t"/>
          <a:lstStyle/>
          <a:p>
            <a:pPr indent="0" marL="0">
              <a:buNone/>
            </a:pPr>
            <a:r>
              <a:rPr lang="en-US" sz="1200" dirty="0">
                <a:solidFill>
                  <a:schemeClr val="tx1"/>
                </a:solidFill>
              </a:rPr>
              <a:t>임시 주소로 외부 접속 허용</a:t>
            </a:r>
            <a:endParaRPr lang="en-US" sz="1200" dirty="0"/>
          </a:p>
        </p:txBody>
      </p:sp>
      <p:sp>
        <p:nvSpPr>
          <p:cNvPr id="20" name="Shape 16"/>
          <p:cNvSpPr/>
          <p:nvPr/>
        </p:nvSpPr>
        <p:spPr>
          <a:xfrm>
            <a:off x="3488436" y="3364992"/>
            <a:ext cx="73152" cy="73152"/>
          </a:xfrm>
          <a:prstGeom prst="rect">
            <a:avLst/>
          </a:prstGeom>
          <a:solidFill>
            <a:schemeClr val="accent1"/>
          </a:solidFill>
          <a:ln/>
        </p:spPr>
      </p:sp>
      <p:sp>
        <p:nvSpPr>
          <p:cNvPr id="21" name="Text 17"/>
          <p:cNvSpPr txBox="1"/>
          <p:nvPr/>
        </p:nvSpPr>
        <p:spPr>
          <a:xfrm>
            <a:off x="3653028" y="3273552"/>
            <a:ext cx="2020824" cy="457200"/>
          </a:xfrm>
          <a:prstGeom prst="rect">
            <a:avLst/>
          </a:prstGeom>
          <a:noFill/>
          <a:ln/>
        </p:spPr>
        <p:txBody>
          <a:bodyPr wrap="square" lIns="0" tIns="0" rIns="0" bIns="0" rtlCol="0" anchor="t"/>
          <a:lstStyle/>
          <a:p>
            <a:pPr indent="0" marL="0">
              <a:buNone/>
            </a:pPr>
            <a:r>
              <a:rPr lang="en-US" sz="1200" dirty="0">
                <a:solidFill>
                  <a:schemeClr val="tx1"/>
                </a:solidFill>
              </a:rPr>
              <a:t>다른 사람과 같은 방에서 완주</a:t>
            </a:r>
            <a:endParaRPr lang="en-US" sz="1200" dirty="0"/>
          </a:p>
        </p:txBody>
      </p:sp>
      <p:sp>
        <p:nvSpPr>
          <p:cNvPr id="22" name="Shape 18"/>
          <p:cNvSpPr/>
          <p:nvPr/>
        </p:nvSpPr>
        <p:spPr>
          <a:xfrm>
            <a:off x="3488436" y="3895344"/>
            <a:ext cx="73152" cy="73152"/>
          </a:xfrm>
          <a:prstGeom prst="rect">
            <a:avLst/>
          </a:prstGeom>
          <a:solidFill>
            <a:schemeClr val="accent1"/>
          </a:solidFill>
          <a:ln/>
        </p:spPr>
      </p:sp>
      <p:sp>
        <p:nvSpPr>
          <p:cNvPr id="23" name="Text 19"/>
          <p:cNvSpPr txBox="1"/>
          <p:nvPr/>
        </p:nvSpPr>
        <p:spPr>
          <a:xfrm>
            <a:off x="3653028" y="3803904"/>
            <a:ext cx="2020824" cy="457200"/>
          </a:xfrm>
          <a:prstGeom prst="rect">
            <a:avLst/>
          </a:prstGeom>
          <a:noFill/>
          <a:ln/>
        </p:spPr>
        <p:txBody>
          <a:bodyPr wrap="square" lIns="0" tIns="0" rIns="0" bIns="0" rtlCol="0" anchor="t"/>
          <a:lstStyle/>
          <a:p>
            <a:pPr indent="0" marL="0">
              <a:buNone/>
            </a:pPr>
            <a:r>
              <a:rPr lang="en-US" sz="1200" dirty="0">
                <a:solidFill>
                  <a:schemeClr val="tx1"/>
                </a:solidFill>
              </a:rPr>
              <a:t>닉네임 도용 문제 발견과 보호</a:t>
            </a:r>
            <a:endParaRPr lang="en-US" sz="1200" dirty="0"/>
          </a:p>
        </p:txBody>
      </p:sp>
      <p:sp>
        <p:nvSpPr>
          <p:cNvPr id="24" name="col-3"/>
          <p:cNvSpPr/>
          <p:nvPr/>
        </p:nvSpPr>
        <p:spPr>
          <a:xfrm>
            <a:off x="6080760" y="1417320"/>
            <a:ext cx="2606040" cy="3108960"/>
          </a:xfrm>
          <a:prstGeom prst="roundRect">
            <a:avLst>
              <a:gd name="adj" fmla="val 2807"/>
            </a:avLst>
          </a:prstGeom>
          <a:solidFill>
            <a:schemeClr val="bg2"/>
          </a:solidFill>
          <a:ln/>
        </p:spPr>
      </p:sp>
      <p:sp>
        <p:nvSpPr>
          <p:cNvPr id="25" name="Shape 21"/>
          <p:cNvSpPr/>
          <p:nvPr/>
        </p:nvSpPr>
        <p:spPr>
          <a:xfrm>
            <a:off x="6281928" y="1618488"/>
            <a:ext cx="502920" cy="502920"/>
          </a:xfrm>
          <a:prstGeom prst="ellipse">
            <a:avLst/>
          </a:prstGeom>
          <a:solidFill>
            <a:schemeClr val="accent1"/>
          </a:solidFill>
          <a:ln/>
        </p:spPr>
      </p:sp>
      <p:pic>
        <p:nvPicPr>
          <p:cNvPr id="26" name="Image 2" descr="preencoded.png">    </p:cNvPr>
          <p:cNvPicPr>
            <a:picLocks noChangeAspect="1"/>
          </p:cNvPicPr>
          <p:nvPr/>
        </p:nvPicPr>
        <p:blipFill>
          <a:blip r:embed="rId3"/>
          <a:stretch>
            <a:fillRect/>
          </a:stretch>
        </p:blipFill>
        <p:spPr>
          <a:xfrm>
            <a:off x="6407658" y="1744218"/>
            <a:ext cx="251460" cy="251460"/>
          </a:xfrm>
          <a:prstGeom prst="rect">
            <a:avLst/>
          </a:prstGeom>
        </p:spPr>
      </p:pic>
      <p:sp>
        <p:nvSpPr>
          <p:cNvPr id="27" name="Text 22"/>
          <p:cNvSpPr txBox="1"/>
          <p:nvPr/>
        </p:nvSpPr>
        <p:spPr>
          <a:xfrm>
            <a:off x="6281928" y="2267712"/>
            <a:ext cx="2203704" cy="320040"/>
          </a:xfrm>
          <a:prstGeom prst="rect">
            <a:avLst/>
          </a:prstGeom>
          <a:noFill/>
          <a:ln/>
        </p:spPr>
        <p:txBody>
          <a:bodyPr wrap="square" lIns="0" tIns="0" rIns="0" bIns="0" rtlCol="0" anchor="t"/>
          <a:lstStyle/>
          <a:p>
            <a:pPr indent="0" marL="0">
              <a:buNone/>
            </a:pPr>
            <a:r>
              <a:rPr lang="en-US" sz="1600" b="1" dirty="0">
                <a:solidFill>
                  <a:schemeClr val="tx1"/>
                </a:solidFill>
              </a:rPr>
              <a:t>플레이로 내린 결정</a:t>
            </a:r>
            <a:endParaRPr lang="en-US" sz="1600" dirty="0"/>
          </a:p>
        </p:txBody>
      </p:sp>
      <p:sp>
        <p:nvSpPr>
          <p:cNvPr id="28" name="Shape 23"/>
          <p:cNvSpPr/>
          <p:nvPr/>
        </p:nvSpPr>
        <p:spPr>
          <a:xfrm>
            <a:off x="6300216" y="2834640"/>
            <a:ext cx="73152" cy="73152"/>
          </a:xfrm>
          <a:prstGeom prst="rect">
            <a:avLst/>
          </a:prstGeom>
          <a:solidFill>
            <a:schemeClr val="accent1"/>
          </a:solidFill>
          <a:ln/>
        </p:spPr>
      </p:sp>
      <p:sp>
        <p:nvSpPr>
          <p:cNvPr id="29" name="Text 24"/>
          <p:cNvSpPr txBox="1"/>
          <p:nvPr/>
        </p:nvSpPr>
        <p:spPr>
          <a:xfrm>
            <a:off x="6464808" y="2743200"/>
            <a:ext cx="2020824" cy="457200"/>
          </a:xfrm>
          <a:prstGeom prst="rect">
            <a:avLst/>
          </a:prstGeom>
          <a:noFill/>
          <a:ln/>
        </p:spPr>
        <p:txBody>
          <a:bodyPr wrap="square" lIns="0" tIns="0" rIns="0" bIns="0" rtlCol="0" anchor="t"/>
          <a:lstStyle/>
          <a:p>
            <a:pPr indent="0" marL="0">
              <a:buNone/>
            </a:pPr>
            <a:r>
              <a:rPr lang="en-US" sz="1200" dirty="0">
                <a:solidFill>
                  <a:schemeClr val="tx1"/>
                </a:solidFill>
              </a:rPr>
              <a:t>분봉 모드 동결</a:t>
            </a:r>
            <a:endParaRPr lang="en-US" sz="1200" dirty="0"/>
          </a:p>
        </p:txBody>
      </p:sp>
      <p:sp>
        <p:nvSpPr>
          <p:cNvPr id="30" name="Shape 25"/>
          <p:cNvSpPr/>
          <p:nvPr/>
        </p:nvSpPr>
        <p:spPr>
          <a:xfrm>
            <a:off x="6300216" y="3364992"/>
            <a:ext cx="73152" cy="73152"/>
          </a:xfrm>
          <a:prstGeom prst="rect">
            <a:avLst/>
          </a:prstGeom>
          <a:solidFill>
            <a:schemeClr val="accent1"/>
          </a:solidFill>
          <a:ln/>
        </p:spPr>
      </p:sp>
      <p:sp>
        <p:nvSpPr>
          <p:cNvPr id="31" name="Text 26"/>
          <p:cNvSpPr txBox="1"/>
          <p:nvPr/>
        </p:nvSpPr>
        <p:spPr>
          <a:xfrm>
            <a:off x="6464808" y="3273552"/>
            <a:ext cx="2020824" cy="457200"/>
          </a:xfrm>
          <a:prstGeom prst="rect">
            <a:avLst/>
          </a:prstGeom>
          <a:noFill/>
          <a:ln/>
        </p:spPr>
        <p:txBody>
          <a:bodyPr wrap="square" lIns="0" tIns="0" rIns="0" bIns="0" rtlCol="0" anchor="t"/>
          <a:lstStyle/>
          <a:p>
            <a:pPr indent="0" marL="0">
              <a:buNone/>
            </a:pPr>
            <a:r>
              <a:rPr lang="en-US" sz="1200" dirty="0">
                <a:solidFill>
                  <a:schemeClr val="tx1"/>
                </a:solidFill>
              </a:rPr>
              <a:t>틱 속도와 판 길이 조정</a:t>
            </a:r>
            <a:endParaRPr lang="en-US" sz="1200" dirty="0"/>
          </a:p>
        </p:txBody>
      </p:sp>
      <p:sp>
        <p:nvSpPr>
          <p:cNvPr id="32" name="Shape 27"/>
          <p:cNvSpPr/>
          <p:nvPr/>
        </p:nvSpPr>
        <p:spPr>
          <a:xfrm>
            <a:off x="6300216" y="3895344"/>
            <a:ext cx="73152" cy="73152"/>
          </a:xfrm>
          <a:prstGeom prst="rect">
            <a:avLst/>
          </a:prstGeom>
          <a:solidFill>
            <a:schemeClr val="accent1"/>
          </a:solidFill>
          <a:ln/>
        </p:spPr>
      </p:sp>
      <p:sp>
        <p:nvSpPr>
          <p:cNvPr id="33" name="Text 28"/>
          <p:cNvSpPr txBox="1"/>
          <p:nvPr/>
        </p:nvSpPr>
        <p:spPr>
          <a:xfrm>
            <a:off x="6464808" y="3803904"/>
            <a:ext cx="2020824" cy="457200"/>
          </a:xfrm>
          <a:prstGeom prst="rect">
            <a:avLst/>
          </a:prstGeom>
          <a:noFill/>
          <a:ln/>
        </p:spPr>
        <p:txBody>
          <a:bodyPr wrap="square" lIns="0" tIns="0" rIns="0" bIns="0" rtlCol="0" anchor="t"/>
          <a:lstStyle/>
          <a:p>
            <a:pPr indent="0" marL="0">
              <a:buNone/>
            </a:pPr>
            <a:r>
              <a:rPr lang="en-US" sz="1200" dirty="0">
                <a:solidFill>
                  <a:schemeClr val="tx1"/>
                </a:solidFill>
              </a:rPr>
              <a:t>버려진 대기방 자동 정리</a:t>
            </a:r>
            <a:endParaRPr lang="en-US" sz="12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게임 화면: 한 화면에서 보고, 판단하고, 주문</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실제 한 판 중 캡처 (52틱 시점, 종목 A에 배율 ×3 보유)</a:t>
            </a:r>
            <a:endParaRPr lang="en-US" sz="1400" dirty="0"/>
          </a:p>
        </p:txBody>
      </p:sp>
      <p:sp>
        <p:nvSpPr>
          <p:cNvPr id="4" name="Shape 2"/>
          <p:cNvSpPr/>
          <p:nvPr/>
        </p:nvSpPr>
        <p:spPr>
          <a:xfrm>
            <a:off x="420624" y="1289304"/>
            <a:ext cx="5879592" cy="3186095"/>
          </a:xfrm>
          <a:prstGeom prst="roundRect">
            <a:avLst>
              <a:gd name="adj" fmla="val 1148"/>
            </a:avLst>
          </a:prstGeom>
          <a:solidFill>
            <a:schemeClr val="tx2"/>
          </a:solidFill>
          <a:ln/>
        </p:spPr>
      </p:sp>
      <p:pic>
        <p:nvPicPr>
          <p:cNvPr id="5" name="game-shot" descr="/Users/thmun/dev/moneyGame/presentations/03-play/assets/game.jpg">    </p:cNvPr>
          <p:cNvPicPr>
            <a:picLocks noChangeAspect="1"/>
          </p:cNvPicPr>
          <p:nvPr/>
        </p:nvPicPr>
        <p:blipFill>
          <a:blip r:embed="rId1"/>
          <a:stretch>
            <a:fillRect/>
          </a:stretch>
        </p:blipFill>
        <p:spPr>
          <a:xfrm>
            <a:off x="457200" y="1325880"/>
            <a:ext cx="5806440" cy="3112943"/>
          </a:xfrm>
          <a:prstGeom prst="rect">
            <a:avLst/>
          </a:prstGeom>
        </p:spPr>
      </p:pic>
      <p:sp>
        <p:nvSpPr>
          <p:cNvPr id="6" name="Shape 3"/>
          <p:cNvSpPr/>
          <p:nvPr/>
        </p:nvSpPr>
        <p:spPr>
          <a:xfrm>
            <a:off x="434262" y="1705939"/>
            <a:ext cx="292608" cy="292608"/>
          </a:xfrm>
          <a:prstGeom prst="ellipse">
            <a:avLst/>
          </a:prstGeom>
          <a:solidFill>
            <a:schemeClr val="accent4"/>
          </a:solidFill>
          <a:ln w="19050">
            <a:solidFill>
              <a:schemeClr val="bg1"/>
            </a:solidFill>
            <a:prstDash val="solid"/>
          </a:ln>
        </p:spPr>
      </p:sp>
      <p:sp>
        <p:nvSpPr>
          <p:cNvPr id="7" name="Text 4"/>
          <p:cNvSpPr txBox="1"/>
          <p:nvPr/>
        </p:nvSpPr>
        <p:spPr>
          <a:xfrm>
            <a:off x="434262" y="1705939"/>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Shape 5"/>
          <p:cNvSpPr/>
          <p:nvPr/>
        </p:nvSpPr>
        <p:spPr>
          <a:xfrm>
            <a:off x="434262" y="2117160"/>
            <a:ext cx="292608" cy="292608"/>
          </a:xfrm>
          <a:prstGeom prst="ellipse">
            <a:avLst/>
          </a:prstGeom>
          <a:solidFill>
            <a:schemeClr val="accent4"/>
          </a:solidFill>
          <a:ln w="19050">
            <a:solidFill>
              <a:schemeClr val="bg1"/>
            </a:solidFill>
            <a:prstDash val="solid"/>
          </a:ln>
        </p:spPr>
      </p:sp>
      <p:sp>
        <p:nvSpPr>
          <p:cNvPr id="9" name="Text 6"/>
          <p:cNvSpPr txBox="1"/>
          <p:nvPr/>
        </p:nvSpPr>
        <p:spPr>
          <a:xfrm>
            <a:off x="434262" y="2117160"/>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Shape 7"/>
          <p:cNvSpPr/>
          <p:nvPr/>
        </p:nvSpPr>
        <p:spPr>
          <a:xfrm>
            <a:off x="434262" y="2803899"/>
            <a:ext cx="292608" cy="292608"/>
          </a:xfrm>
          <a:prstGeom prst="ellipse">
            <a:avLst/>
          </a:prstGeom>
          <a:solidFill>
            <a:schemeClr val="accent4"/>
          </a:solidFill>
          <a:ln w="19050">
            <a:solidFill>
              <a:schemeClr val="bg1"/>
            </a:solidFill>
            <a:prstDash val="solid"/>
          </a:ln>
        </p:spPr>
      </p:sp>
      <p:sp>
        <p:nvSpPr>
          <p:cNvPr id="11" name="Text 8"/>
          <p:cNvSpPr txBox="1"/>
          <p:nvPr/>
        </p:nvSpPr>
        <p:spPr>
          <a:xfrm>
            <a:off x="434262" y="2803899"/>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Shape 9"/>
          <p:cNvSpPr/>
          <p:nvPr/>
        </p:nvSpPr>
        <p:spPr>
          <a:xfrm>
            <a:off x="4587594" y="2117160"/>
            <a:ext cx="292608" cy="292608"/>
          </a:xfrm>
          <a:prstGeom prst="ellipse">
            <a:avLst/>
          </a:prstGeom>
          <a:solidFill>
            <a:schemeClr val="accent4"/>
          </a:solidFill>
          <a:ln w="19050">
            <a:solidFill>
              <a:schemeClr val="bg1"/>
            </a:solidFill>
            <a:prstDash val="solid"/>
          </a:ln>
        </p:spPr>
      </p:sp>
      <p:sp>
        <p:nvSpPr>
          <p:cNvPr id="13" name="Text 10"/>
          <p:cNvSpPr txBox="1"/>
          <p:nvPr/>
        </p:nvSpPr>
        <p:spPr>
          <a:xfrm>
            <a:off x="4587594" y="2117160"/>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Shape 11"/>
          <p:cNvSpPr/>
          <p:nvPr/>
        </p:nvSpPr>
        <p:spPr>
          <a:xfrm>
            <a:off x="4587594" y="4058123"/>
            <a:ext cx="292608" cy="292608"/>
          </a:xfrm>
          <a:prstGeom prst="ellipse">
            <a:avLst/>
          </a:prstGeom>
          <a:solidFill>
            <a:schemeClr val="accent4"/>
          </a:solidFill>
          <a:ln w="19050">
            <a:solidFill>
              <a:schemeClr val="bg1"/>
            </a:solidFill>
            <a:prstDash val="solid"/>
          </a:ln>
        </p:spPr>
      </p:sp>
      <p:sp>
        <p:nvSpPr>
          <p:cNvPr id="15" name="Text 12"/>
          <p:cNvSpPr txBox="1"/>
          <p:nvPr/>
        </p:nvSpPr>
        <p:spPr>
          <a:xfrm>
            <a:off x="4587594" y="4058123"/>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16" name="Shape 13"/>
          <p:cNvSpPr/>
          <p:nvPr/>
        </p:nvSpPr>
        <p:spPr>
          <a:xfrm>
            <a:off x="6446520" y="1353312"/>
            <a:ext cx="292608" cy="292608"/>
          </a:xfrm>
          <a:prstGeom prst="ellipse">
            <a:avLst/>
          </a:prstGeom>
          <a:solidFill>
            <a:schemeClr val="accent4"/>
          </a:solidFill>
          <a:ln/>
        </p:spPr>
      </p:sp>
      <p:sp>
        <p:nvSpPr>
          <p:cNvPr id="17" name="Text 14"/>
          <p:cNvSpPr txBox="1"/>
          <p:nvPr/>
        </p:nvSpPr>
        <p:spPr>
          <a:xfrm>
            <a:off x="6446520" y="1353312"/>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8" name="Text 15"/>
          <p:cNvSpPr txBox="1"/>
          <p:nvPr/>
        </p:nvSpPr>
        <p:spPr>
          <a:xfrm>
            <a:off x="6830568" y="1335024"/>
            <a:ext cx="1856232" cy="256032"/>
          </a:xfrm>
          <a:prstGeom prst="rect">
            <a:avLst/>
          </a:prstGeom>
          <a:noFill/>
          <a:ln/>
        </p:spPr>
        <p:txBody>
          <a:bodyPr wrap="square" lIns="0" tIns="0" rIns="0" bIns="0" rtlCol="0" anchor="t"/>
          <a:lstStyle/>
          <a:p>
            <a:pPr indent="0" marL="0">
              <a:buNone/>
            </a:pPr>
            <a:r>
              <a:rPr lang="en-US" sz="1200" b="1" dirty="0">
                <a:solidFill>
                  <a:schemeClr val="tx1"/>
                </a:solidFill>
              </a:rPr>
              <a:t>남은 시간, 총자산, 순위</a:t>
            </a:r>
            <a:endParaRPr lang="en-US" sz="1200" dirty="0"/>
          </a:p>
        </p:txBody>
      </p:sp>
      <p:sp>
        <p:nvSpPr>
          <p:cNvPr id="19" name="Text 16"/>
          <p:cNvSpPr txBox="1"/>
          <p:nvPr/>
        </p:nvSpPr>
        <p:spPr>
          <a:xfrm>
            <a:off x="6830568" y="1581912"/>
            <a:ext cx="1856232" cy="329184"/>
          </a:xfrm>
          <a:prstGeom prst="rect">
            <a:avLst/>
          </a:prstGeom>
          <a:noFill/>
          <a:ln/>
        </p:spPr>
        <p:txBody>
          <a:bodyPr wrap="square" lIns="0" tIns="0" rIns="0" bIns="0" rtlCol="0" anchor="t"/>
          <a:lstStyle/>
          <a:p>
            <a:pPr indent="0" marL="0">
              <a:buNone/>
            </a:pPr>
            <a:r>
              <a:rPr lang="en-US" sz="1000" dirty="0">
                <a:solidFill>
                  <a:schemeClr val="accent6"/>
                </a:solidFill>
              </a:rPr>
              <a:t>진행 막대와 함께 상단 고정</a:t>
            </a:r>
            <a:endParaRPr lang="en-US" sz="1000" dirty="0"/>
          </a:p>
        </p:txBody>
      </p:sp>
      <p:sp>
        <p:nvSpPr>
          <p:cNvPr id="20" name="Shape 17"/>
          <p:cNvSpPr/>
          <p:nvPr/>
        </p:nvSpPr>
        <p:spPr>
          <a:xfrm>
            <a:off x="6446520" y="2029968"/>
            <a:ext cx="292608" cy="292608"/>
          </a:xfrm>
          <a:prstGeom prst="ellipse">
            <a:avLst/>
          </a:prstGeom>
          <a:solidFill>
            <a:schemeClr val="accent4"/>
          </a:solidFill>
          <a:ln/>
        </p:spPr>
      </p:sp>
      <p:sp>
        <p:nvSpPr>
          <p:cNvPr id="21" name="Text 18"/>
          <p:cNvSpPr txBox="1"/>
          <p:nvPr/>
        </p:nvSpPr>
        <p:spPr>
          <a:xfrm>
            <a:off x="6446520" y="2029968"/>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6830568" y="2011680"/>
            <a:ext cx="1856232" cy="256032"/>
          </a:xfrm>
          <a:prstGeom prst="rect">
            <a:avLst/>
          </a:prstGeom>
          <a:noFill/>
          <a:ln/>
        </p:spPr>
        <p:txBody>
          <a:bodyPr wrap="square" lIns="0" tIns="0" rIns="0" bIns="0" rtlCol="0" anchor="t"/>
          <a:lstStyle/>
          <a:p>
            <a:pPr indent="0" marL="0">
              <a:buNone/>
            </a:pPr>
            <a:r>
              <a:rPr lang="en-US" sz="1200" b="1" dirty="0">
                <a:solidFill>
                  <a:schemeClr val="tx1"/>
                </a:solidFill>
              </a:rPr>
              <a:t>종목 카드 A, B, C</a:t>
            </a:r>
            <a:endParaRPr lang="en-US" sz="1200" dirty="0"/>
          </a:p>
        </p:txBody>
      </p:sp>
      <p:sp>
        <p:nvSpPr>
          <p:cNvPr id="23" name="Text 20"/>
          <p:cNvSpPr txBox="1"/>
          <p:nvPr/>
        </p:nvSpPr>
        <p:spPr>
          <a:xfrm>
            <a:off x="6830568" y="2258568"/>
            <a:ext cx="1856232" cy="329184"/>
          </a:xfrm>
          <a:prstGeom prst="rect">
            <a:avLst/>
          </a:prstGeom>
          <a:noFill/>
          <a:ln/>
        </p:spPr>
        <p:txBody>
          <a:bodyPr wrap="square" lIns="0" tIns="0" rIns="0" bIns="0" rtlCol="0" anchor="t"/>
          <a:lstStyle/>
          <a:p>
            <a:pPr indent="0" marL="0">
              <a:buNone/>
            </a:pPr>
            <a:r>
              <a:rPr lang="en-US" sz="1000" dirty="0">
                <a:solidFill>
                  <a:schemeClr val="accent6"/>
                </a:solidFill>
              </a:rPr>
              <a:t>현재가, 시작 대비 등락, 미니 차트</a:t>
            </a:r>
            <a:endParaRPr lang="en-US" sz="1000" dirty="0"/>
          </a:p>
        </p:txBody>
      </p:sp>
      <p:sp>
        <p:nvSpPr>
          <p:cNvPr id="24" name="Shape 21"/>
          <p:cNvSpPr/>
          <p:nvPr/>
        </p:nvSpPr>
        <p:spPr>
          <a:xfrm>
            <a:off x="6446520" y="2706624"/>
            <a:ext cx="292608" cy="292608"/>
          </a:xfrm>
          <a:prstGeom prst="ellipse">
            <a:avLst/>
          </a:prstGeom>
          <a:solidFill>
            <a:schemeClr val="accent4"/>
          </a:solidFill>
          <a:ln/>
        </p:spPr>
      </p:sp>
      <p:sp>
        <p:nvSpPr>
          <p:cNvPr id="25" name="Text 22"/>
          <p:cNvSpPr txBox="1"/>
          <p:nvPr/>
        </p:nvSpPr>
        <p:spPr>
          <a:xfrm>
            <a:off x="6446520" y="2706624"/>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6" name="Text 23"/>
          <p:cNvSpPr txBox="1"/>
          <p:nvPr/>
        </p:nvSpPr>
        <p:spPr>
          <a:xfrm>
            <a:off x="6830568" y="2688336"/>
            <a:ext cx="1856232" cy="256032"/>
          </a:xfrm>
          <a:prstGeom prst="rect">
            <a:avLst/>
          </a:prstGeom>
          <a:noFill/>
          <a:ln/>
        </p:spPr>
        <p:txBody>
          <a:bodyPr wrap="square" lIns="0" tIns="0" rIns="0" bIns="0" rtlCol="0" anchor="t"/>
          <a:lstStyle/>
          <a:p>
            <a:pPr indent="0" marL="0">
              <a:buNone/>
            </a:pPr>
            <a:r>
              <a:rPr lang="en-US" sz="1200" b="1" dirty="0">
                <a:solidFill>
                  <a:schemeClr val="tx1"/>
                </a:solidFill>
              </a:rPr>
              <a:t>캔들 차트</a:t>
            </a:r>
            <a:endParaRPr lang="en-US" sz="1200" dirty="0"/>
          </a:p>
        </p:txBody>
      </p:sp>
      <p:sp>
        <p:nvSpPr>
          <p:cNvPr id="27" name="Text 24"/>
          <p:cNvSpPr txBox="1"/>
          <p:nvPr/>
        </p:nvSpPr>
        <p:spPr>
          <a:xfrm>
            <a:off x="6830568" y="2935224"/>
            <a:ext cx="1856232" cy="329184"/>
          </a:xfrm>
          <a:prstGeom prst="rect">
            <a:avLst/>
          </a:prstGeom>
          <a:noFill/>
          <a:ln/>
        </p:spPr>
        <p:txBody>
          <a:bodyPr wrap="square" lIns="0" tIns="0" rIns="0" bIns="0" rtlCol="0" anchor="t"/>
          <a:lstStyle/>
          <a:p>
            <a:pPr indent="0" marL="0">
              <a:buNone/>
            </a:pPr>
            <a:r>
              <a:rPr lang="en-US" sz="1000" dirty="0">
                <a:solidFill>
                  <a:schemeClr val="accent6"/>
                </a:solidFill>
              </a:rPr>
              <a:t>시작 전 60봉, 매수 지점</a:t>
            </a:r>
            <a:endParaRPr lang="en-US" sz="1000" dirty="0"/>
          </a:p>
          <a:p>
            <a:pPr indent="0" marL="0">
              <a:buNone/>
            </a:pPr>
            <a:r>
              <a:rPr lang="en-US" sz="1000" dirty="0">
                <a:solidFill>
                  <a:schemeClr val="accent6"/>
                </a:solidFill>
              </a:rPr>
              <a:t>진입가와 청산가 선</a:t>
            </a:r>
            <a:endParaRPr lang="en-US" sz="1000" dirty="0"/>
          </a:p>
        </p:txBody>
      </p:sp>
      <p:sp>
        <p:nvSpPr>
          <p:cNvPr id="28" name="Shape 25"/>
          <p:cNvSpPr/>
          <p:nvPr/>
        </p:nvSpPr>
        <p:spPr>
          <a:xfrm>
            <a:off x="6446520" y="3383280"/>
            <a:ext cx="292608" cy="292608"/>
          </a:xfrm>
          <a:prstGeom prst="ellipse">
            <a:avLst/>
          </a:prstGeom>
          <a:solidFill>
            <a:schemeClr val="accent4"/>
          </a:solidFill>
          <a:ln/>
        </p:spPr>
      </p:sp>
      <p:sp>
        <p:nvSpPr>
          <p:cNvPr id="29" name="Text 26"/>
          <p:cNvSpPr txBox="1"/>
          <p:nvPr/>
        </p:nvSpPr>
        <p:spPr>
          <a:xfrm>
            <a:off x="6446520" y="3383280"/>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0" name="Text 27"/>
          <p:cNvSpPr txBox="1"/>
          <p:nvPr/>
        </p:nvSpPr>
        <p:spPr>
          <a:xfrm>
            <a:off x="6830568" y="3364992"/>
            <a:ext cx="1856232" cy="256032"/>
          </a:xfrm>
          <a:prstGeom prst="rect">
            <a:avLst/>
          </a:prstGeom>
          <a:noFill/>
          <a:ln/>
        </p:spPr>
        <p:txBody>
          <a:bodyPr wrap="square" lIns="0" tIns="0" rIns="0" bIns="0" rtlCol="0" anchor="t"/>
          <a:lstStyle/>
          <a:p>
            <a:pPr indent="0" marL="0">
              <a:buNone/>
            </a:pPr>
            <a:r>
              <a:rPr lang="en-US" sz="1200" b="1" dirty="0">
                <a:solidFill>
                  <a:schemeClr val="tx1"/>
                </a:solidFill>
              </a:rPr>
              <a:t>주문</a:t>
            </a:r>
            <a:endParaRPr lang="en-US" sz="1200" dirty="0"/>
          </a:p>
        </p:txBody>
      </p:sp>
      <p:sp>
        <p:nvSpPr>
          <p:cNvPr id="31" name="Text 28"/>
          <p:cNvSpPr txBox="1"/>
          <p:nvPr/>
        </p:nvSpPr>
        <p:spPr>
          <a:xfrm>
            <a:off x="6830568" y="3611880"/>
            <a:ext cx="1856232" cy="329184"/>
          </a:xfrm>
          <a:prstGeom prst="rect">
            <a:avLst/>
          </a:prstGeom>
          <a:noFill/>
          <a:ln/>
        </p:spPr>
        <p:txBody>
          <a:bodyPr wrap="square" lIns="0" tIns="0" rIns="0" bIns="0" rtlCol="0" anchor="t"/>
          <a:lstStyle/>
          <a:p>
            <a:pPr indent="0" marL="0">
              <a:buNone/>
            </a:pPr>
            <a:r>
              <a:rPr lang="en-US" sz="1000" dirty="0">
                <a:solidFill>
                  <a:schemeClr val="accent6"/>
                </a:solidFill>
              </a:rPr>
              <a:t>증거금 빠른 선택 10, 25, 50%, 최대</a:t>
            </a:r>
            <a:endParaRPr lang="en-US" sz="1000" dirty="0"/>
          </a:p>
        </p:txBody>
      </p:sp>
      <p:sp>
        <p:nvSpPr>
          <p:cNvPr id="32" name="Shape 29"/>
          <p:cNvSpPr/>
          <p:nvPr/>
        </p:nvSpPr>
        <p:spPr>
          <a:xfrm>
            <a:off x="6446520" y="4059936"/>
            <a:ext cx="292608" cy="292608"/>
          </a:xfrm>
          <a:prstGeom prst="ellipse">
            <a:avLst/>
          </a:prstGeom>
          <a:solidFill>
            <a:schemeClr val="accent4"/>
          </a:solidFill>
          <a:ln/>
        </p:spPr>
      </p:sp>
      <p:sp>
        <p:nvSpPr>
          <p:cNvPr id="33" name="Text 30"/>
          <p:cNvSpPr txBox="1"/>
          <p:nvPr/>
        </p:nvSpPr>
        <p:spPr>
          <a:xfrm>
            <a:off x="6446520" y="4059936"/>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4" name="Text 31"/>
          <p:cNvSpPr txBox="1"/>
          <p:nvPr/>
        </p:nvSpPr>
        <p:spPr>
          <a:xfrm>
            <a:off x="6830568" y="4041648"/>
            <a:ext cx="1856232" cy="256032"/>
          </a:xfrm>
          <a:prstGeom prst="rect">
            <a:avLst/>
          </a:prstGeom>
          <a:noFill/>
          <a:ln/>
        </p:spPr>
        <p:txBody>
          <a:bodyPr wrap="square" lIns="0" tIns="0" rIns="0" bIns="0" rtlCol="0" anchor="t"/>
          <a:lstStyle/>
          <a:p>
            <a:pPr indent="0" marL="0">
              <a:buNone/>
            </a:pPr>
            <a:r>
              <a:rPr lang="en-US" sz="1200" b="1" dirty="0">
                <a:solidFill>
                  <a:schemeClr val="tx1"/>
                </a:solidFill>
              </a:rPr>
              <a:t>순위</a:t>
            </a:r>
            <a:endParaRPr lang="en-US" sz="1200" dirty="0"/>
          </a:p>
        </p:txBody>
      </p:sp>
      <p:sp>
        <p:nvSpPr>
          <p:cNvPr id="35" name="Text 32"/>
          <p:cNvSpPr txBox="1"/>
          <p:nvPr/>
        </p:nvSpPr>
        <p:spPr>
          <a:xfrm>
            <a:off x="6830568" y="4288536"/>
            <a:ext cx="1856232" cy="329184"/>
          </a:xfrm>
          <a:prstGeom prst="rect">
            <a:avLst/>
          </a:prstGeom>
          <a:noFill/>
          <a:ln/>
        </p:spPr>
        <p:txBody>
          <a:bodyPr wrap="square" lIns="0" tIns="0" rIns="0" bIns="0" rtlCol="0" anchor="t"/>
          <a:lstStyle/>
          <a:p>
            <a:pPr indent="0" marL="0">
              <a:buNone/>
            </a:pPr>
            <a:r>
              <a:rPr lang="en-US" sz="1000" dirty="0">
                <a:solidFill>
                  <a:schemeClr val="accent6"/>
                </a:solidFill>
              </a:rPr>
              <a:t>5초마다, 남의 포지션과 배율 포함</a:t>
            </a:r>
            <a:endParaRPr lang="en-US" sz="10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화면 설계 결정 6가지</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보기 좋은 것보다 판단에 필요한 것 우선</a:t>
            </a:r>
            <a:endParaRPr lang="en-US" sz="1400" dirty="0"/>
          </a:p>
        </p:txBody>
      </p:sp>
      <p:sp>
        <p:nvSpPr>
          <p:cNvPr id="4" name="ui-1"/>
          <p:cNvSpPr/>
          <p:nvPr/>
        </p:nvSpPr>
        <p:spPr>
          <a:xfrm>
            <a:off x="457200" y="1371600"/>
            <a:ext cx="2606040" cy="1463040"/>
          </a:xfrm>
          <a:prstGeom prst="roundRect">
            <a:avLst>
              <a:gd name="adj" fmla="val 5000"/>
            </a:avLst>
          </a:prstGeom>
          <a:solidFill>
            <a:schemeClr val="bg2"/>
          </a:solidFill>
          <a:ln/>
        </p:spPr>
      </p:sp>
      <p:sp>
        <p:nvSpPr>
          <p:cNvPr id="5" name="Shape 3"/>
          <p:cNvSpPr/>
          <p:nvPr/>
        </p:nvSpPr>
        <p:spPr>
          <a:xfrm>
            <a:off x="658368" y="1554480"/>
            <a:ext cx="438912" cy="438912"/>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68096" y="1664208"/>
            <a:ext cx="219456" cy="219456"/>
          </a:xfrm>
          <a:prstGeom prst="rect">
            <a:avLst/>
          </a:prstGeom>
        </p:spPr>
      </p:pic>
      <p:sp>
        <p:nvSpPr>
          <p:cNvPr id="7" name="Text 4"/>
          <p:cNvSpPr txBox="1"/>
          <p:nvPr/>
        </p:nvSpPr>
        <p:spPr>
          <a:xfrm>
            <a:off x="1207008" y="155448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상승 빨강, 하락 파랑</a:t>
            </a:r>
            <a:endParaRPr lang="en-US" sz="1300" dirty="0"/>
          </a:p>
        </p:txBody>
      </p:sp>
      <p:sp>
        <p:nvSpPr>
          <p:cNvPr id="8" name="Text 5"/>
          <p:cNvSpPr txBox="1"/>
          <p:nvPr/>
        </p:nvSpPr>
        <p:spPr>
          <a:xfrm>
            <a:off x="658368" y="212140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국내 증권 화면 관례</a:t>
            </a:r>
            <a:endParaRPr lang="en-US" sz="1100" dirty="0"/>
          </a:p>
        </p:txBody>
      </p:sp>
      <p:sp>
        <p:nvSpPr>
          <p:cNvPr id="9" name="ui-2"/>
          <p:cNvSpPr/>
          <p:nvPr/>
        </p:nvSpPr>
        <p:spPr>
          <a:xfrm>
            <a:off x="3268980" y="1371600"/>
            <a:ext cx="2606040" cy="1463040"/>
          </a:xfrm>
          <a:prstGeom prst="roundRect">
            <a:avLst>
              <a:gd name="adj" fmla="val 5000"/>
            </a:avLst>
          </a:prstGeom>
          <a:solidFill>
            <a:schemeClr val="bg2"/>
          </a:solidFill>
          <a:ln/>
        </p:spPr>
      </p:sp>
      <p:sp>
        <p:nvSpPr>
          <p:cNvPr id="10" name="Shape 7"/>
          <p:cNvSpPr/>
          <p:nvPr/>
        </p:nvSpPr>
        <p:spPr>
          <a:xfrm>
            <a:off x="3470148" y="1554480"/>
            <a:ext cx="438912" cy="438912"/>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579876" y="1664208"/>
            <a:ext cx="219456" cy="219456"/>
          </a:xfrm>
          <a:prstGeom prst="rect">
            <a:avLst/>
          </a:prstGeom>
        </p:spPr>
      </p:pic>
      <p:sp>
        <p:nvSpPr>
          <p:cNvPr id="12" name="Text 8"/>
          <p:cNvSpPr txBox="1"/>
          <p:nvPr/>
        </p:nvSpPr>
        <p:spPr>
          <a:xfrm>
            <a:off x="4018788" y="155448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시작 전 60봉 표시</a:t>
            </a:r>
            <a:endParaRPr lang="en-US" sz="1300" dirty="0"/>
          </a:p>
        </p:txBody>
      </p:sp>
      <p:sp>
        <p:nvSpPr>
          <p:cNvPr id="13" name="Text 9"/>
          <p:cNvSpPr txBox="1"/>
          <p:nvPr/>
        </p:nvSpPr>
        <p:spPr>
          <a:xfrm>
            <a:off x="3470148" y="212140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0틱에도 추세를 보고 판단</a:t>
            </a:r>
            <a:endParaRPr lang="en-US" sz="1100" dirty="0"/>
          </a:p>
          <a:p>
            <a:pPr indent="0" marL="0">
              <a:buNone/>
            </a:pPr>
            <a:r>
              <a:rPr lang="en-US" sz="1100" dirty="0">
                <a:solidFill>
                  <a:schemeClr val="accent6"/>
                </a:solidFill>
              </a:rPr>
              <a:t>시작 전 봉은 흐리게</a:t>
            </a:r>
            <a:endParaRPr lang="en-US" sz="1100" dirty="0"/>
          </a:p>
        </p:txBody>
      </p:sp>
      <p:sp>
        <p:nvSpPr>
          <p:cNvPr id="14" name="ui-3"/>
          <p:cNvSpPr/>
          <p:nvPr/>
        </p:nvSpPr>
        <p:spPr>
          <a:xfrm>
            <a:off x="6080760" y="1371600"/>
            <a:ext cx="2606040" cy="1463040"/>
          </a:xfrm>
          <a:prstGeom prst="roundRect">
            <a:avLst>
              <a:gd name="adj" fmla="val 5000"/>
            </a:avLst>
          </a:prstGeom>
          <a:solidFill>
            <a:schemeClr val="bg2"/>
          </a:solidFill>
          <a:ln/>
        </p:spPr>
      </p:sp>
      <p:sp>
        <p:nvSpPr>
          <p:cNvPr id="15" name="Shape 11"/>
          <p:cNvSpPr/>
          <p:nvPr/>
        </p:nvSpPr>
        <p:spPr>
          <a:xfrm>
            <a:off x="6281928" y="1554480"/>
            <a:ext cx="438912" cy="438912"/>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391656" y="1664208"/>
            <a:ext cx="219456" cy="219456"/>
          </a:xfrm>
          <a:prstGeom prst="rect">
            <a:avLst/>
          </a:prstGeom>
        </p:spPr>
      </p:pic>
      <p:sp>
        <p:nvSpPr>
          <p:cNvPr id="17" name="Text 12"/>
          <p:cNvSpPr txBox="1"/>
          <p:nvPr/>
        </p:nvSpPr>
        <p:spPr>
          <a:xfrm>
            <a:off x="6830568" y="155448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진입가와 청산가 선</a:t>
            </a:r>
            <a:endParaRPr lang="en-US" sz="1300" dirty="0"/>
          </a:p>
        </p:txBody>
      </p:sp>
      <p:sp>
        <p:nvSpPr>
          <p:cNvPr id="18" name="Text 13"/>
          <p:cNvSpPr txBox="1"/>
          <p:nvPr/>
        </p:nvSpPr>
        <p:spPr>
          <a:xfrm>
            <a:off x="6281928" y="212140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내 포지션의 청산 지점을</a:t>
            </a:r>
            <a:endParaRPr lang="en-US" sz="1100" dirty="0"/>
          </a:p>
          <a:p>
            <a:pPr indent="0" marL="0">
              <a:buNone/>
            </a:pPr>
            <a:r>
              <a:rPr lang="en-US" sz="1100" dirty="0">
                <a:solidFill>
                  <a:schemeClr val="accent6"/>
                </a:solidFill>
              </a:rPr>
              <a:t>차트에서 바로 확인</a:t>
            </a:r>
            <a:endParaRPr lang="en-US" sz="1100" dirty="0"/>
          </a:p>
        </p:txBody>
      </p:sp>
      <p:sp>
        <p:nvSpPr>
          <p:cNvPr id="19" name="ui-4"/>
          <p:cNvSpPr/>
          <p:nvPr/>
        </p:nvSpPr>
        <p:spPr>
          <a:xfrm>
            <a:off x="457200" y="3017520"/>
            <a:ext cx="2606040" cy="1463040"/>
          </a:xfrm>
          <a:prstGeom prst="roundRect">
            <a:avLst>
              <a:gd name="adj" fmla="val 5000"/>
            </a:avLst>
          </a:prstGeom>
          <a:solidFill>
            <a:schemeClr val="bg2"/>
          </a:solidFill>
          <a:ln/>
        </p:spPr>
      </p:sp>
      <p:sp>
        <p:nvSpPr>
          <p:cNvPr id="20" name="Shape 15"/>
          <p:cNvSpPr/>
          <p:nvPr/>
        </p:nvSpPr>
        <p:spPr>
          <a:xfrm>
            <a:off x="658368" y="3200400"/>
            <a:ext cx="438912" cy="438912"/>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68096" y="3310128"/>
            <a:ext cx="219456" cy="219456"/>
          </a:xfrm>
          <a:prstGeom prst="rect">
            <a:avLst/>
          </a:prstGeom>
        </p:spPr>
      </p:pic>
      <p:sp>
        <p:nvSpPr>
          <p:cNvPr id="22" name="Text 16"/>
          <p:cNvSpPr txBox="1"/>
          <p:nvPr/>
        </p:nvSpPr>
        <p:spPr>
          <a:xfrm>
            <a:off x="1207008" y="320040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게임 중 날짜 숨김</a:t>
            </a:r>
            <a:endParaRPr lang="en-US" sz="1300" dirty="0"/>
          </a:p>
        </p:txBody>
      </p:sp>
      <p:sp>
        <p:nvSpPr>
          <p:cNvPr id="23" name="Text 17"/>
          <p:cNvSpPr txBox="1"/>
          <p:nvPr/>
        </p:nvSpPr>
        <p:spPr>
          <a:xfrm>
            <a:off x="658368" y="376732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날짜로 종목 추정 방지</a:t>
            </a:r>
            <a:endParaRPr lang="en-US" sz="1100" dirty="0"/>
          </a:p>
          <a:p>
            <a:pPr indent="0" marL="0">
              <a:buNone/>
            </a:pPr>
            <a:r>
              <a:rPr lang="en-US" sz="1100" dirty="0">
                <a:solidFill>
                  <a:schemeClr val="accent6"/>
                </a:solidFill>
              </a:rPr>
              <a:t>결과 화면에서 공개</a:t>
            </a:r>
            <a:endParaRPr lang="en-US" sz="1100" dirty="0"/>
          </a:p>
        </p:txBody>
      </p:sp>
      <p:sp>
        <p:nvSpPr>
          <p:cNvPr id="24" name="ui-5"/>
          <p:cNvSpPr/>
          <p:nvPr/>
        </p:nvSpPr>
        <p:spPr>
          <a:xfrm>
            <a:off x="3268980" y="3017520"/>
            <a:ext cx="2606040" cy="1463040"/>
          </a:xfrm>
          <a:prstGeom prst="roundRect">
            <a:avLst>
              <a:gd name="adj" fmla="val 5000"/>
            </a:avLst>
          </a:prstGeom>
          <a:solidFill>
            <a:schemeClr val="bg2"/>
          </a:solidFill>
          <a:ln/>
        </p:spPr>
      </p:sp>
      <p:sp>
        <p:nvSpPr>
          <p:cNvPr id="25" name="Shape 19"/>
          <p:cNvSpPr/>
          <p:nvPr/>
        </p:nvSpPr>
        <p:spPr>
          <a:xfrm>
            <a:off x="3470148" y="3200400"/>
            <a:ext cx="438912" cy="438912"/>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3579876" y="3310128"/>
            <a:ext cx="219456" cy="219456"/>
          </a:xfrm>
          <a:prstGeom prst="rect">
            <a:avLst/>
          </a:prstGeom>
        </p:spPr>
      </p:pic>
      <p:sp>
        <p:nvSpPr>
          <p:cNvPr id="27" name="Text 20"/>
          <p:cNvSpPr txBox="1"/>
          <p:nvPr/>
        </p:nvSpPr>
        <p:spPr>
          <a:xfrm>
            <a:off x="4018788" y="320040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금액은 서버 값 그대로</a:t>
            </a:r>
            <a:endParaRPr lang="en-US" sz="1300" dirty="0"/>
          </a:p>
        </p:txBody>
      </p:sp>
      <p:sp>
        <p:nvSpPr>
          <p:cNvPr id="28" name="Text 21"/>
          <p:cNvSpPr txBox="1"/>
          <p:nvPr/>
        </p:nvSpPr>
        <p:spPr>
          <a:xfrm>
            <a:off x="3470148" y="376732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화면에서 다시 계산하지 않아</a:t>
            </a:r>
            <a:endParaRPr lang="en-US" sz="1100" dirty="0"/>
          </a:p>
          <a:p>
            <a:pPr indent="0" marL="0">
              <a:buNone/>
            </a:pPr>
            <a:r>
              <a:rPr lang="en-US" sz="1100" dirty="0">
                <a:solidFill>
                  <a:schemeClr val="accent6"/>
                </a:solidFill>
              </a:rPr>
              <a:t>소수 오차 없음</a:t>
            </a:r>
            <a:endParaRPr lang="en-US" sz="1100" dirty="0"/>
          </a:p>
        </p:txBody>
      </p:sp>
      <p:sp>
        <p:nvSpPr>
          <p:cNvPr id="29" name="ui-6"/>
          <p:cNvSpPr/>
          <p:nvPr/>
        </p:nvSpPr>
        <p:spPr>
          <a:xfrm>
            <a:off x="6080760" y="3017520"/>
            <a:ext cx="2606040" cy="1463040"/>
          </a:xfrm>
          <a:prstGeom prst="roundRect">
            <a:avLst>
              <a:gd name="adj" fmla="val 5000"/>
            </a:avLst>
          </a:prstGeom>
          <a:solidFill>
            <a:schemeClr val="bg2"/>
          </a:solidFill>
          <a:ln/>
        </p:spPr>
      </p:sp>
      <p:sp>
        <p:nvSpPr>
          <p:cNvPr id="30" name="Shape 23"/>
          <p:cNvSpPr/>
          <p:nvPr/>
        </p:nvSpPr>
        <p:spPr>
          <a:xfrm>
            <a:off x="6281928" y="3200400"/>
            <a:ext cx="438912" cy="438912"/>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6391656" y="3310128"/>
            <a:ext cx="219456" cy="219456"/>
          </a:xfrm>
          <a:prstGeom prst="rect">
            <a:avLst/>
          </a:prstGeom>
        </p:spPr>
      </p:pic>
      <p:sp>
        <p:nvSpPr>
          <p:cNvPr id="32" name="Text 24"/>
          <p:cNvSpPr txBox="1"/>
          <p:nvPr/>
        </p:nvSpPr>
        <p:spPr>
          <a:xfrm>
            <a:off x="6830568" y="3200400"/>
            <a:ext cx="1691640" cy="438912"/>
          </a:xfrm>
          <a:prstGeom prst="rect">
            <a:avLst/>
          </a:prstGeom>
          <a:noFill/>
          <a:ln/>
        </p:spPr>
        <p:txBody>
          <a:bodyPr wrap="square" lIns="0" tIns="0" rIns="0" bIns="0" rtlCol="0" anchor="ctr"/>
          <a:lstStyle/>
          <a:p>
            <a:pPr indent="0" marL="0">
              <a:buNone/>
            </a:pPr>
            <a:r>
              <a:rPr lang="en-US" sz="1300" b="1" dirty="0">
                <a:solidFill>
                  <a:schemeClr val="tx1"/>
                </a:solidFill>
              </a:rPr>
              <a:t>끊겨도 이어짐</a:t>
            </a:r>
            <a:endParaRPr lang="en-US" sz="1300" dirty="0"/>
          </a:p>
        </p:txBody>
      </p:sp>
      <p:sp>
        <p:nvSpPr>
          <p:cNvPr id="33" name="Text 25"/>
          <p:cNvSpPr txBox="1"/>
          <p:nvPr/>
        </p:nvSpPr>
        <p:spPr>
          <a:xfrm>
            <a:off x="6281928" y="3767328"/>
            <a:ext cx="2203704" cy="621792"/>
          </a:xfrm>
          <a:prstGeom prst="rect">
            <a:avLst/>
          </a:prstGeom>
          <a:noFill/>
          <a:ln/>
        </p:spPr>
        <p:txBody>
          <a:bodyPr wrap="square" lIns="0" tIns="0" rIns="0" bIns="0" rtlCol="0" anchor="t"/>
          <a:lstStyle/>
          <a:p>
            <a:pPr indent="0" marL="0">
              <a:buNone/>
            </a:pPr>
            <a:r>
              <a:rPr lang="en-US" sz="1100" dirty="0">
                <a:solidFill>
                  <a:schemeClr val="accent6"/>
                </a:solidFill>
              </a:rPr>
              <a:t>2초 뒤 자동 재연결</a:t>
            </a:r>
            <a:endParaRPr lang="en-US" sz="1100" dirty="0"/>
          </a:p>
          <a:p>
            <a:pPr indent="0" marL="0">
              <a:buNone/>
            </a:pPr>
            <a:r>
              <a:rPr lang="en-US" sz="1100" dirty="0">
                <a:solidFill>
                  <a:schemeClr val="accent6"/>
                </a:solidFill>
              </a:rPr>
              <a:t>지금까지의 차트 복원</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결과 화면: 종목 공개와 매매 복기</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같은 판의 결과. 끝나는 순간 실제 종목과 기간 공개, 내 전적에서 다시 보기 가능</a:t>
            </a:r>
            <a:endParaRPr lang="en-US" sz="1400" dirty="0"/>
          </a:p>
        </p:txBody>
      </p:sp>
      <p:sp>
        <p:nvSpPr>
          <p:cNvPr id="4" name="Shape 2"/>
          <p:cNvSpPr/>
          <p:nvPr/>
        </p:nvSpPr>
        <p:spPr>
          <a:xfrm>
            <a:off x="420624" y="1289304"/>
            <a:ext cx="5879592" cy="3186095"/>
          </a:xfrm>
          <a:prstGeom prst="roundRect">
            <a:avLst>
              <a:gd name="adj" fmla="val 1148"/>
            </a:avLst>
          </a:prstGeom>
          <a:solidFill>
            <a:schemeClr val="tx2"/>
          </a:solidFill>
          <a:ln/>
        </p:spPr>
      </p:sp>
      <p:pic>
        <p:nvPicPr>
          <p:cNvPr id="5" name="result-shot" descr="/Users/thmun/dev/moneyGame/presentations/03-play/assets/result.jpg">    </p:cNvPr>
          <p:cNvPicPr>
            <a:picLocks noChangeAspect="1"/>
          </p:cNvPicPr>
          <p:nvPr/>
        </p:nvPicPr>
        <p:blipFill>
          <a:blip r:embed="rId1"/>
          <a:stretch>
            <a:fillRect/>
          </a:stretch>
        </p:blipFill>
        <p:spPr>
          <a:xfrm>
            <a:off x="457200" y="1325880"/>
            <a:ext cx="5806440" cy="3112943"/>
          </a:xfrm>
          <a:prstGeom prst="rect">
            <a:avLst/>
          </a:prstGeom>
        </p:spPr>
      </p:pic>
      <p:sp>
        <p:nvSpPr>
          <p:cNvPr id="6" name="Shape 3"/>
          <p:cNvSpPr/>
          <p:nvPr/>
        </p:nvSpPr>
        <p:spPr>
          <a:xfrm>
            <a:off x="434262" y="1796407"/>
            <a:ext cx="292608" cy="292608"/>
          </a:xfrm>
          <a:prstGeom prst="ellipse">
            <a:avLst/>
          </a:prstGeom>
          <a:solidFill>
            <a:schemeClr val="accent4"/>
          </a:solidFill>
          <a:ln w="19050">
            <a:solidFill>
              <a:schemeClr val="bg1"/>
            </a:solidFill>
            <a:prstDash val="solid"/>
          </a:ln>
        </p:spPr>
      </p:sp>
      <p:sp>
        <p:nvSpPr>
          <p:cNvPr id="7" name="Text 4"/>
          <p:cNvSpPr txBox="1"/>
          <p:nvPr/>
        </p:nvSpPr>
        <p:spPr>
          <a:xfrm>
            <a:off x="434262" y="1796407"/>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Shape 5"/>
          <p:cNvSpPr/>
          <p:nvPr/>
        </p:nvSpPr>
        <p:spPr>
          <a:xfrm>
            <a:off x="434262" y="2145945"/>
            <a:ext cx="292608" cy="292608"/>
          </a:xfrm>
          <a:prstGeom prst="ellipse">
            <a:avLst/>
          </a:prstGeom>
          <a:solidFill>
            <a:schemeClr val="accent4"/>
          </a:solidFill>
          <a:ln w="19050">
            <a:solidFill>
              <a:schemeClr val="bg1"/>
            </a:solidFill>
            <a:prstDash val="solid"/>
          </a:ln>
        </p:spPr>
      </p:sp>
      <p:sp>
        <p:nvSpPr>
          <p:cNvPr id="9" name="Text 6"/>
          <p:cNvSpPr txBox="1"/>
          <p:nvPr/>
        </p:nvSpPr>
        <p:spPr>
          <a:xfrm>
            <a:off x="434262" y="2145945"/>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0" name="Shape 7"/>
          <p:cNvSpPr/>
          <p:nvPr/>
        </p:nvSpPr>
        <p:spPr>
          <a:xfrm>
            <a:off x="434262" y="2577727"/>
            <a:ext cx="292608" cy="292608"/>
          </a:xfrm>
          <a:prstGeom prst="ellipse">
            <a:avLst/>
          </a:prstGeom>
          <a:solidFill>
            <a:schemeClr val="accent4"/>
          </a:solidFill>
          <a:ln w="19050">
            <a:solidFill>
              <a:schemeClr val="bg1"/>
            </a:solidFill>
            <a:prstDash val="solid"/>
          </a:ln>
        </p:spPr>
      </p:sp>
      <p:sp>
        <p:nvSpPr>
          <p:cNvPr id="11" name="Text 8"/>
          <p:cNvSpPr txBox="1"/>
          <p:nvPr/>
        </p:nvSpPr>
        <p:spPr>
          <a:xfrm>
            <a:off x="434262" y="2577727"/>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Shape 9"/>
          <p:cNvSpPr/>
          <p:nvPr/>
        </p:nvSpPr>
        <p:spPr>
          <a:xfrm>
            <a:off x="4505350" y="2577727"/>
            <a:ext cx="292608" cy="292608"/>
          </a:xfrm>
          <a:prstGeom prst="ellipse">
            <a:avLst/>
          </a:prstGeom>
          <a:solidFill>
            <a:schemeClr val="accent4"/>
          </a:solidFill>
          <a:ln w="19050">
            <a:solidFill>
              <a:schemeClr val="bg1"/>
            </a:solidFill>
            <a:prstDash val="solid"/>
          </a:ln>
        </p:spPr>
      </p:sp>
      <p:sp>
        <p:nvSpPr>
          <p:cNvPr id="13" name="Text 10"/>
          <p:cNvSpPr txBox="1"/>
          <p:nvPr/>
        </p:nvSpPr>
        <p:spPr>
          <a:xfrm>
            <a:off x="4505350" y="2577727"/>
            <a:ext cx="292608" cy="292608"/>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4" name="Shape 11"/>
          <p:cNvSpPr/>
          <p:nvPr/>
        </p:nvSpPr>
        <p:spPr>
          <a:xfrm>
            <a:off x="6446520" y="1371600"/>
            <a:ext cx="292608" cy="292608"/>
          </a:xfrm>
          <a:prstGeom prst="ellipse">
            <a:avLst/>
          </a:prstGeom>
          <a:solidFill>
            <a:schemeClr val="accent4"/>
          </a:solidFill>
          <a:ln/>
        </p:spPr>
      </p:sp>
      <p:sp>
        <p:nvSpPr>
          <p:cNvPr id="15" name="Text 12"/>
          <p:cNvSpPr txBox="1"/>
          <p:nvPr/>
        </p:nvSpPr>
        <p:spPr>
          <a:xfrm>
            <a:off x="6446520" y="1371600"/>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6" name="Text 13"/>
          <p:cNvSpPr txBox="1"/>
          <p:nvPr/>
        </p:nvSpPr>
        <p:spPr>
          <a:xfrm>
            <a:off x="6830568" y="1353312"/>
            <a:ext cx="1856232" cy="256032"/>
          </a:xfrm>
          <a:prstGeom prst="rect">
            <a:avLst/>
          </a:prstGeom>
          <a:noFill/>
          <a:ln/>
        </p:spPr>
        <p:txBody>
          <a:bodyPr wrap="square" lIns="0" tIns="0" rIns="0" bIns="0" rtlCol="0" anchor="t"/>
          <a:lstStyle/>
          <a:p>
            <a:pPr indent="0" marL="0">
              <a:buNone/>
            </a:pPr>
            <a:r>
              <a:rPr lang="en-US" sz="1200" b="1" dirty="0">
                <a:solidFill>
                  <a:schemeClr val="tx1"/>
                </a:solidFill>
              </a:rPr>
              <a:t>실제 기간 공개</a:t>
            </a:r>
            <a:endParaRPr lang="en-US" sz="1200" dirty="0"/>
          </a:p>
        </p:txBody>
      </p:sp>
      <p:sp>
        <p:nvSpPr>
          <p:cNvPr id="17" name="Text 14"/>
          <p:cNvSpPr txBox="1"/>
          <p:nvPr/>
        </p:nvSpPr>
        <p:spPr>
          <a:xfrm>
            <a:off x="6830568" y="1600200"/>
            <a:ext cx="1856232" cy="329184"/>
          </a:xfrm>
          <a:prstGeom prst="rect">
            <a:avLst/>
          </a:prstGeom>
          <a:noFill/>
          <a:ln/>
        </p:spPr>
        <p:txBody>
          <a:bodyPr wrap="square" lIns="0" tIns="0" rIns="0" bIns="0" rtlCol="0" anchor="t"/>
          <a:lstStyle/>
          <a:p>
            <a:pPr indent="0" marL="0">
              <a:buNone/>
            </a:pPr>
            <a:r>
              <a:rPr lang="en-US" sz="1000" dirty="0">
                <a:solidFill>
                  <a:schemeClr val="accent6"/>
                </a:solidFill>
              </a:rPr>
              <a:t>짧은 판은 실제로 쓴 구간만 표시</a:t>
            </a:r>
            <a:endParaRPr lang="en-US" sz="1000" dirty="0"/>
          </a:p>
        </p:txBody>
      </p:sp>
      <p:sp>
        <p:nvSpPr>
          <p:cNvPr id="18" name="Shape 15"/>
          <p:cNvSpPr/>
          <p:nvPr/>
        </p:nvSpPr>
        <p:spPr>
          <a:xfrm>
            <a:off x="6446520" y="2121408"/>
            <a:ext cx="292608" cy="292608"/>
          </a:xfrm>
          <a:prstGeom prst="ellipse">
            <a:avLst/>
          </a:prstGeom>
          <a:solidFill>
            <a:schemeClr val="accent4"/>
          </a:solidFill>
          <a:ln/>
        </p:spPr>
      </p:sp>
      <p:sp>
        <p:nvSpPr>
          <p:cNvPr id="19" name="Text 16"/>
          <p:cNvSpPr txBox="1"/>
          <p:nvPr/>
        </p:nvSpPr>
        <p:spPr>
          <a:xfrm>
            <a:off x="6446520" y="2121408"/>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0" name="Text 17"/>
          <p:cNvSpPr txBox="1"/>
          <p:nvPr/>
        </p:nvSpPr>
        <p:spPr>
          <a:xfrm>
            <a:off x="6830568" y="2103120"/>
            <a:ext cx="1856232" cy="256032"/>
          </a:xfrm>
          <a:prstGeom prst="rect">
            <a:avLst/>
          </a:prstGeom>
          <a:noFill/>
          <a:ln/>
        </p:spPr>
        <p:txBody>
          <a:bodyPr wrap="square" lIns="0" tIns="0" rIns="0" bIns="0" rtlCol="0" anchor="t"/>
          <a:lstStyle/>
          <a:p>
            <a:pPr indent="0" marL="0">
              <a:buNone/>
            </a:pPr>
            <a:r>
              <a:rPr lang="en-US" sz="1200" b="1" dirty="0">
                <a:solidFill>
                  <a:schemeClr val="tx1"/>
                </a:solidFill>
              </a:rPr>
              <a:t>종목 정체 공개</a:t>
            </a:r>
            <a:endParaRPr lang="en-US" sz="1200" dirty="0"/>
          </a:p>
        </p:txBody>
      </p:sp>
      <p:sp>
        <p:nvSpPr>
          <p:cNvPr id="21" name="Text 18"/>
          <p:cNvSpPr txBox="1"/>
          <p:nvPr/>
        </p:nvSpPr>
        <p:spPr>
          <a:xfrm>
            <a:off x="6830568" y="2350008"/>
            <a:ext cx="1856232" cy="329184"/>
          </a:xfrm>
          <a:prstGeom prst="rect">
            <a:avLst/>
          </a:prstGeom>
          <a:noFill/>
          <a:ln/>
        </p:spPr>
        <p:txBody>
          <a:bodyPr wrap="square" lIns="0" tIns="0" rIns="0" bIns="0" rtlCol="0" anchor="t"/>
          <a:lstStyle/>
          <a:p>
            <a:pPr indent="0" marL="0">
              <a:buNone/>
            </a:pPr>
            <a:r>
              <a:rPr lang="en-US" sz="1000" dirty="0">
                <a:solidFill>
                  <a:schemeClr val="accent6"/>
                </a:solidFill>
              </a:rPr>
              <a:t>A, B, C의 실제 종목명</a:t>
            </a:r>
            <a:endParaRPr lang="en-US" sz="1000" dirty="0"/>
          </a:p>
          <a:p>
            <a:pPr indent="0" marL="0">
              <a:buNone/>
            </a:pPr>
            <a:r>
              <a:rPr lang="en-US" sz="1000" dirty="0">
                <a:solidFill>
                  <a:schemeClr val="accent6"/>
                </a:solidFill>
              </a:rPr>
              <a:t>기간 등락률</a:t>
            </a:r>
            <a:endParaRPr lang="en-US" sz="1000" dirty="0"/>
          </a:p>
        </p:txBody>
      </p:sp>
      <p:sp>
        <p:nvSpPr>
          <p:cNvPr id="22" name="Shape 19"/>
          <p:cNvSpPr/>
          <p:nvPr/>
        </p:nvSpPr>
        <p:spPr>
          <a:xfrm>
            <a:off x="6446520" y="2871216"/>
            <a:ext cx="292608" cy="292608"/>
          </a:xfrm>
          <a:prstGeom prst="ellipse">
            <a:avLst/>
          </a:prstGeom>
          <a:solidFill>
            <a:schemeClr val="accent4"/>
          </a:solidFill>
          <a:ln/>
        </p:spPr>
      </p:sp>
      <p:sp>
        <p:nvSpPr>
          <p:cNvPr id="23" name="Text 20"/>
          <p:cNvSpPr txBox="1"/>
          <p:nvPr/>
        </p:nvSpPr>
        <p:spPr>
          <a:xfrm>
            <a:off x="6446520" y="2871216"/>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4" name="Text 21"/>
          <p:cNvSpPr txBox="1"/>
          <p:nvPr/>
        </p:nvSpPr>
        <p:spPr>
          <a:xfrm>
            <a:off x="6830568" y="2852928"/>
            <a:ext cx="1856232" cy="256032"/>
          </a:xfrm>
          <a:prstGeom prst="rect">
            <a:avLst/>
          </a:prstGeom>
          <a:noFill/>
          <a:ln/>
        </p:spPr>
        <p:txBody>
          <a:bodyPr wrap="square" lIns="0" tIns="0" rIns="0" bIns="0" rtlCol="0" anchor="t"/>
          <a:lstStyle/>
          <a:p>
            <a:pPr indent="0" marL="0">
              <a:buNone/>
            </a:pPr>
            <a:r>
              <a:rPr lang="en-US" sz="1200" b="1" dirty="0">
                <a:solidFill>
                  <a:schemeClr val="tx1"/>
                </a:solidFill>
              </a:rPr>
              <a:t>실제 날짜 차트와 매매 지점</a:t>
            </a:r>
            <a:endParaRPr lang="en-US" sz="1200" dirty="0"/>
          </a:p>
        </p:txBody>
      </p:sp>
      <p:sp>
        <p:nvSpPr>
          <p:cNvPr id="25" name="Text 22"/>
          <p:cNvSpPr txBox="1"/>
          <p:nvPr/>
        </p:nvSpPr>
        <p:spPr>
          <a:xfrm>
            <a:off x="6830568" y="3099816"/>
            <a:ext cx="1856232" cy="329184"/>
          </a:xfrm>
          <a:prstGeom prst="rect">
            <a:avLst/>
          </a:prstGeom>
          <a:noFill/>
          <a:ln/>
        </p:spPr>
        <p:txBody>
          <a:bodyPr wrap="square" lIns="0" tIns="0" rIns="0" bIns="0" rtlCol="0" anchor="t"/>
          <a:lstStyle/>
          <a:p>
            <a:pPr indent="0" marL="0">
              <a:buNone/>
            </a:pPr>
            <a:r>
              <a:rPr lang="en-US" sz="1000" dirty="0">
                <a:solidFill>
                  <a:schemeClr val="accent6"/>
                </a:solidFill>
              </a:rPr>
              <a:t>매수, 매도, 청산, 종료 정리 표시</a:t>
            </a:r>
            <a:endParaRPr lang="en-US" sz="1000" dirty="0"/>
          </a:p>
          <a:p>
            <a:pPr indent="0" marL="0">
              <a:buNone/>
            </a:pPr>
            <a:r>
              <a:rPr lang="en-US" sz="1000" dirty="0">
                <a:solidFill>
                  <a:schemeClr val="accent6"/>
                </a:solidFill>
              </a:rPr>
              <a:t>내 매매만 또는 모두 보기</a:t>
            </a:r>
            <a:endParaRPr lang="en-US" sz="1000" dirty="0"/>
          </a:p>
        </p:txBody>
      </p:sp>
      <p:sp>
        <p:nvSpPr>
          <p:cNvPr id="26" name="Shape 23"/>
          <p:cNvSpPr/>
          <p:nvPr/>
        </p:nvSpPr>
        <p:spPr>
          <a:xfrm>
            <a:off x="6446520" y="3621024"/>
            <a:ext cx="292608" cy="292608"/>
          </a:xfrm>
          <a:prstGeom prst="ellipse">
            <a:avLst/>
          </a:prstGeom>
          <a:solidFill>
            <a:schemeClr val="accent4"/>
          </a:solidFill>
          <a:ln/>
        </p:spPr>
      </p:sp>
      <p:sp>
        <p:nvSpPr>
          <p:cNvPr id="27" name="Text 24"/>
          <p:cNvSpPr txBox="1"/>
          <p:nvPr/>
        </p:nvSpPr>
        <p:spPr>
          <a:xfrm>
            <a:off x="6446520" y="3621024"/>
            <a:ext cx="292608" cy="29260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8" name="Text 25"/>
          <p:cNvSpPr txBox="1"/>
          <p:nvPr/>
        </p:nvSpPr>
        <p:spPr>
          <a:xfrm>
            <a:off x="6830568" y="3602736"/>
            <a:ext cx="1856232" cy="256032"/>
          </a:xfrm>
          <a:prstGeom prst="rect">
            <a:avLst/>
          </a:prstGeom>
          <a:noFill/>
          <a:ln/>
        </p:spPr>
        <p:txBody>
          <a:bodyPr wrap="square" lIns="0" tIns="0" rIns="0" bIns="0" rtlCol="0" anchor="t"/>
          <a:lstStyle/>
          <a:p>
            <a:pPr indent="0" marL="0">
              <a:buNone/>
            </a:pPr>
            <a:r>
              <a:rPr lang="en-US" sz="1200" b="1" dirty="0">
                <a:solidFill>
                  <a:schemeClr val="tx1"/>
                </a:solidFill>
              </a:rPr>
              <a:t>최종 순위와 수익률</a:t>
            </a:r>
            <a:endParaRPr lang="en-US" sz="1200" dirty="0"/>
          </a:p>
        </p:txBody>
      </p:sp>
      <p:sp>
        <p:nvSpPr>
          <p:cNvPr id="29" name="Text 26"/>
          <p:cNvSpPr txBox="1"/>
          <p:nvPr/>
        </p:nvSpPr>
        <p:spPr>
          <a:xfrm>
            <a:off x="6830568" y="3849624"/>
            <a:ext cx="1856232" cy="329184"/>
          </a:xfrm>
          <a:prstGeom prst="rect">
            <a:avLst/>
          </a:prstGeom>
          <a:noFill/>
          <a:ln/>
        </p:spPr>
        <p:txBody>
          <a:bodyPr wrap="square" lIns="0" tIns="0" rIns="0" bIns="0" rtlCol="0" anchor="t"/>
          <a:lstStyle/>
          <a:p>
            <a:pPr indent="0" marL="0">
              <a:buNone/>
            </a:pPr>
            <a:r>
              <a:rPr lang="en-US" sz="1000" dirty="0">
                <a:solidFill>
                  <a:schemeClr val="accent6"/>
                </a:solidFill>
              </a:rPr>
              <a:t>거래 횟수, 청산 횟수 포함</a:t>
            </a:r>
            <a:endParaRPr lang="en-US" sz="10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존버 봇: 시장을 그대로 따라간 기준선</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혼자서도 플레이 가능, 봇을 이기면 판단이 시장보다 나았다는 뜻</a:t>
            </a:r>
            <a:endParaRPr lang="en-US" sz="1400" dirty="0"/>
          </a:p>
        </p:txBody>
      </p:sp>
      <p:sp>
        <p:nvSpPr>
          <p:cNvPr id="4" name="bot-rule"/>
          <p:cNvSpPr/>
          <p:nvPr/>
        </p:nvSpPr>
        <p:spPr>
          <a:xfrm>
            <a:off x="457200" y="1371600"/>
            <a:ext cx="3931920" cy="3200400"/>
          </a:xfrm>
          <a:prstGeom prst="roundRect">
            <a:avLst>
              <a:gd name="adj" fmla="val 2286"/>
            </a:avLst>
          </a:prstGeom>
          <a:solidFill>
            <a:schemeClr val="bg2"/>
          </a:solidFill>
          <a:ln/>
        </p:spPr>
      </p:sp>
      <p:sp>
        <p:nvSpPr>
          <p:cNvPr id="5" name="Shape 3"/>
          <p:cNvSpPr/>
          <p:nvPr/>
        </p:nvSpPr>
        <p:spPr>
          <a:xfrm>
            <a:off x="685800" y="1554480"/>
            <a:ext cx="502920" cy="5029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11530" y="1680210"/>
            <a:ext cx="251460" cy="251460"/>
          </a:xfrm>
          <a:prstGeom prst="rect">
            <a:avLst/>
          </a:prstGeom>
        </p:spPr>
      </p:pic>
      <p:sp>
        <p:nvSpPr>
          <p:cNvPr id="7" name="Text 4"/>
          <p:cNvSpPr txBox="1"/>
          <p:nvPr/>
        </p:nvSpPr>
        <p:spPr>
          <a:xfrm>
            <a:off x="1325880" y="1554480"/>
            <a:ext cx="2286000" cy="502920"/>
          </a:xfrm>
          <a:prstGeom prst="rect">
            <a:avLst/>
          </a:prstGeom>
          <a:noFill/>
          <a:ln/>
        </p:spPr>
        <p:txBody>
          <a:bodyPr wrap="square" lIns="0" tIns="0" rIns="0" bIns="0" rtlCol="0" anchor="ctr"/>
          <a:lstStyle/>
          <a:p>
            <a:pPr indent="0" marL="0">
              <a:buNone/>
            </a:pPr>
            <a:r>
              <a:rPr lang="en-US" sz="1600" b="1" dirty="0">
                <a:solidFill>
                  <a:schemeClr val="tx1"/>
                </a:solidFill>
              </a:rPr>
              <a:t>봇의 규칙</a:t>
            </a:r>
            <a:endParaRPr lang="en-US" sz="1600" dirty="0"/>
          </a:p>
        </p:txBody>
      </p:sp>
      <p:sp>
        <p:nvSpPr>
          <p:cNvPr id="8" name="Text 5"/>
          <p:cNvSpPr txBox="1"/>
          <p:nvPr/>
        </p:nvSpPr>
        <p:spPr>
          <a:xfrm>
            <a:off x="685800" y="2240280"/>
            <a:ext cx="3474720" cy="256032"/>
          </a:xfrm>
          <a:prstGeom prst="rect">
            <a:avLst/>
          </a:prstGeom>
          <a:noFill/>
          <a:ln/>
        </p:spPr>
        <p:txBody>
          <a:bodyPr wrap="square" lIns="0" tIns="0" rIns="0" bIns="0" rtlCol="0" anchor="t"/>
          <a:lstStyle/>
          <a:p>
            <a:pPr indent="0" marL="0">
              <a:buNone/>
            </a:pPr>
            <a:r>
              <a:rPr lang="en-US" sz="1200" b="1" dirty="0">
                <a:solidFill>
                  <a:schemeClr val="tx1"/>
                </a:solidFill>
              </a:rPr>
              <a:t>0틱에 전 종목 매수</a:t>
            </a:r>
            <a:endParaRPr lang="en-US" sz="1200" dirty="0"/>
          </a:p>
        </p:txBody>
      </p:sp>
      <p:sp>
        <p:nvSpPr>
          <p:cNvPr id="9" name="Text 6"/>
          <p:cNvSpPr txBox="1"/>
          <p:nvPr/>
        </p:nvSpPr>
        <p:spPr>
          <a:xfrm>
            <a:off x="685800" y="2487168"/>
            <a:ext cx="3474720" cy="256032"/>
          </a:xfrm>
          <a:prstGeom prst="rect">
            <a:avLst/>
          </a:prstGeom>
          <a:noFill/>
          <a:ln/>
        </p:spPr>
        <p:txBody>
          <a:bodyPr wrap="square" lIns="0" tIns="0" rIns="0" bIns="0" rtlCol="0" anchor="t"/>
          <a:lstStyle/>
          <a:p>
            <a:pPr indent="0" marL="0">
              <a:buNone/>
            </a:pPr>
            <a:r>
              <a:rPr lang="en-US" sz="1050" dirty="0">
                <a:solidFill>
                  <a:schemeClr val="accent6"/>
                </a:solidFill>
              </a:rPr>
              <a:t>현금을 종목 수로 똑같이 나눔, 배율 1</a:t>
            </a:r>
            <a:endParaRPr lang="en-US" sz="1050" dirty="0"/>
          </a:p>
        </p:txBody>
      </p:sp>
      <p:sp>
        <p:nvSpPr>
          <p:cNvPr id="10" name="Text 7"/>
          <p:cNvSpPr txBox="1"/>
          <p:nvPr/>
        </p:nvSpPr>
        <p:spPr>
          <a:xfrm>
            <a:off x="685800" y="2807208"/>
            <a:ext cx="3474720" cy="256032"/>
          </a:xfrm>
          <a:prstGeom prst="rect">
            <a:avLst/>
          </a:prstGeom>
          <a:noFill/>
          <a:ln/>
        </p:spPr>
        <p:txBody>
          <a:bodyPr wrap="square" lIns="0" tIns="0" rIns="0" bIns="0" rtlCol="0" anchor="t"/>
          <a:lstStyle/>
          <a:p>
            <a:pPr indent="0" marL="0">
              <a:buNone/>
            </a:pPr>
            <a:r>
              <a:rPr lang="en-US" sz="1200" b="1" dirty="0">
                <a:solidFill>
                  <a:schemeClr val="tx1"/>
                </a:solidFill>
              </a:rPr>
              <a:t>끝까지 보유</a:t>
            </a:r>
            <a:endParaRPr lang="en-US" sz="1200" dirty="0"/>
          </a:p>
        </p:txBody>
      </p:sp>
      <p:sp>
        <p:nvSpPr>
          <p:cNvPr id="11" name="Text 8"/>
          <p:cNvSpPr txBox="1"/>
          <p:nvPr/>
        </p:nvSpPr>
        <p:spPr>
          <a:xfrm>
            <a:off x="685800" y="3054096"/>
            <a:ext cx="3474720" cy="256032"/>
          </a:xfrm>
          <a:prstGeom prst="rect">
            <a:avLst/>
          </a:prstGeom>
          <a:noFill/>
          <a:ln/>
        </p:spPr>
        <p:txBody>
          <a:bodyPr wrap="square" lIns="0" tIns="0" rIns="0" bIns="0" rtlCol="0" anchor="t"/>
          <a:lstStyle/>
          <a:p>
            <a:pPr indent="0" marL="0">
              <a:buNone/>
            </a:pPr>
            <a:r>
              <a:rPr lang="en-US" sz="1050" dirty="0">
                <a:solidFill>
                  <a:schemeClr val="accent6"/>
                </a:solidFill>
              </a:rPr>
              <a:t>판 종료 정리로만 매도, 수수료도 똑같이 부담</a:t>
            </a:r>
            <a:endParaRPr lang="en-US" sz="1050" dirty="0"/>
          </a:p>
        </p:txBody>
      </p:sp>
      <p:sp>
        <p:nvSpPr>
          <p:cNvPr id="12" name="Text 9"/>
          <p:cNvSpPr txBox="1"/>
          <p:nvPr/>
        </p:nvSpPr>
        <p:spPr>
          <a:xfrm>
            <a:off x="685800" y="3374136"/>
            <a:ext cx="3474720" cy="256032"/>
          </a:xfrm>
          <a:prstGeom prst="rect">
            <a:avLst/>
          </a:prstGeom>
          <a:noFill/>
          <a:ln/>
        </p:spPr>
        <p:txBody>
          <a:bodyPr wrap="square" lIns="0" tIns="0" rIns="0" bIns="0" rtlCol="0" anchor="t"/>
          <a:lstStyle/>
          <a:p>
            <a:pPr indent="0" marL="0">
              <a:buNone/>
            </a:pPr>
            <a:r>
              <a:rPr lang="en-US" sz="1200" b="1" dirty="0">
                <a:solidFill>
                  <a:schemeClr val="tx1"/>
                </a:solidFill>
              </a:rPr>
              <a:t>사람과 같은 주문 경로</a:t>
            </a:r>
            <a:endParaRPr lang="en-US" sz="1200" dirty="0"/>
          </a:p>
        </p:txBody>
      </p:sp>
      <p:sp>
        <p:nvSpPr>
          <p:cNvPr id="13" name="Text 10"/>
          <p:cNvSpPr txBox="1"/>
          <p:nvPr/>
        </p:nvSpPr>
        <p:spPr>
          <a:xfrm>
            <a:off x="685800" y="3621024"/>
            <a:ext cx="3474720" cy="256032"/>
          </a:xfrm>
          <a:prstGeom prst="rect">
            <a:avLst/>
          </a:prstGeom>
          <a:noFill/>
          <a:ln/>
        </p:spPr>
        <p:txBody>
          <a:bodyPr wrap="square" lIns="0" tIns="0" rIns="0" bIns="0" rtlCol="0" anchor="t"/>
          <a:lstStyle/>
          <a:p>
            <a:pPr indent="0" marL="0">
              <a:buNone/>
            </a:pPr>
            <a:r>
              <a:rPr lang="en-US" sz="1050" dirty="0">
                <a:solidFill>
                  <a:schemeClr val="accent6"/>
                </a:solidFill>
              </a:rPr>
              <a:t>규칙상 특혜 없음, 엔진 입장에서 사람과 구분 불가</a:t>
            </a:r>
            <a:endParaRPr lang="en-US" sz="1050" dirty="0"/>
          </a:p>
        </p:txBody>
      </p:sp>
      <p:sp>
        <p:nvSpPr>
          <p:cNvPr id="14" name="Text 11"/>
          <p:cNvSpPr txBox="1"/>
          <p:nvPr/>
        </p:nvSpPr>
        <p:spPr>
          <a:xfrm>
            <a:off x="685800" y="3941064"/>
            <a:ext cx="3474720" cy="256032"/>
          </a:xfrm>
          <a:prstGeom prst="rect">
            <a:avLst/>
          </a:prstGeom>
          <a:noFill/>
          <a:ln/>
        </p:spPr>
        <p:txBody>
          <a:bodyPr wrap="square" lIns="0" tIns="0" rIns="0" bIns="0" rtlCol="0" anchor="t"/>
          <a:lstStyle/>
          <a:p>
            <a:pPr indent="0" marL="0">
              <a:buNone/>
            </a:pPr>
            <a:r>
              <a:rPr lang="en-US" sz="1200" b="1" dirty="0">
                <a:solidFill>
                  <a:schemeClr val="tx1"/>
                </a:solidFill>
              </a:rPr>
              <a:t>방 만들 때 0 ~ 3개</a:t>
            </a:r>
            <a:endParaRPr lang="en-US" sz="1200" dirty="0"/>
          </a:p>
        </p:txBody>
      </p:sp>
      <p:sp>
        <p:nvSpPr>
          <p:cNvPr id="15" name="Text 12"/>
          <p:cNvSpPr txBox="1"/>
          <p:nvPr/>
        </p:nvSpPr>
        <p:spPr>
          <a:xfrm>
            <a:off x="685800" y="4187952"/>
            <a:ext cx="3474720" cy="256032"/>
          </a:xfrm>
          <a:prstGeom prst="rect">
            <a:avLst/>
          </a:prstGeom>
          <a:noFill/>
          <a:ln/>
        </p:spPr>
        <p:txBody>
          <a:bodyPr wrap="square" lIns="0" tIns="0" rIns="0" bIns="0" rtlCol="0" anchor="t"/>
          <a:lstStyle/>
          <a:p>
            <a:pPr indent="0" marL="0">
              <a:buNone/>
            </a:pPr>
            <a:r>
              <a:rPr lang="en-US" sz="1050" dirty="0">
                <a:solidFill>
                  <a:schemeClr val="accent6"/>
                </a:solidFill>
              </a:rPr>
              <a:t>혼자 하려면 봇 1개</a:t>
            </a:r>
            <a:endParaRPr lang="en-US" sz="1050" dirty="0"/>
          </a:p>
        </p:txBody>
      </p:sp>
      <p:sp>
        <p:nvSpPr>
          <p:cNvPr id="16" name="Text 13"/>
          <p:cNvSpPr txBox="1"/>
          <p:nvPr/>
        </p:nvSpPr>
        <p:spPr>
          <a:xfrm>
            <a:off x="4663440" y="1371600"/>
            <a:ext cx="4023360" cy="274320"/>
          </a:xfrm>
          <a:prstGeom prst="rect">
            <a:avLst/>
          </a:prstGeom>
          <a:noFill/>
          <a:ln/>
        </p:spPr>
        <p:txBody>
          <a:bodyPr wrap="square" lIns="0" tIns="0" rIns="0" bIns="0" rtlCol="0" anchor="t"/>
          <a:lstStyle/>
          <a:p>
            <a:pPr indent="0" marL="0">
              <a:buNone/>
            </a:pPr>
            <a:r>
              <a:rPr lang="en-US" sz="1300" b="1" dirty="0">
                <a:solidFill>
                  <a:schemeClr val="tx1"/>
                </a:solidFill>
              </a:rPr>
              <a:t>실제 한 판 (급등 구간, 120틱)</a:t>
            </a:r>
            <a:endParaRPr lang="en-US" sz="1300" dirty="0"/>
          </a:p>
        </p:txBody>
      </p:sp>
      <p:sp>
        <p:nvSpPr>
          <p:cNvPr id="17" name="p-1"/>
          <p:cNvSpPr/>
          <p:nvPr/>
        </p:nvSpPr>
        <p:spPr>
          <a:xfrm>
            <a:off x="4663440" y="1783080"/>
            <a:ext cx="4023360" cy="841248"/>
          </a:xfrm>
          <a:prstGeom prst="roundRect">
            <a:avLst>
              <a:gd name="adj" fmla="val 8696"/>
            </a:avLst>
          </a:prstGeom>
          <a:solidFill>
            <a:schemeClr val="bg2"/>
          </a:solidFill>
          <a:ln/>
        </p:spPr>
      </p:sp>
      <p:sp>
        <p:nvSpPr>
          <p:cNvPr id="18" name="Text 15"/>
          <p:cNvSpPr txBox="1"/>
          <p:nvPr/>
        </p:nvSpPr>
        <p:spPr>
          <a:xfrm>
            <a:off x="4800600" y="1783080"/>
            <a:ext cx="320040" cy="841248"/>
          </a:xfrm>
          <a:prstGeom prst="rect">
            <a:avLst/>
          </a:prstGeom>
          <a:noFill/>
          <a:ln/>
        </p:spPr>
        <p:txBody>
          <a:bodyPr wrap="square" lIns="0" tIns="0" rIns="0" bIns="0" rtlCol="0" anchor="ctr"/>
          <a:lstStyle/>
          <a:p>
            <a:pPr indent="0" marL="0">
              <a:buNone/>
            </a:pPr>
            <a:r>
              <a:rPr lang="en-US" sz="1800" b="1" dirty="0">
                <a:solidFill>
                  <a:schemeClr val="accent4"/>
                </a:solidFill>
              </a:rPr>
              <a:t>1</a:t>
            </a:r>
            <a:endParaRPr lang="en-US" sz="1800" dirty="0"/>
          </a:p>
        </p:txBody>
      </p:sp>
      <p:sp>
        <p:nvSpPr>
          <p:cNvPr id="19" name="Text 16"/>
          <p:cNvSpPr txBox="1"/>
          <p:nvPr/>
        </p:nvSpPr>
        <p:spPr>
          <a:xfrm>
            <a:off x="5120640" y="187452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존버봇</a:t>
            </a:r>
            <a:endParaRPr lang="en-US" sz="1300" dirty="0"/>
          </a:p>
          <a:p>
            <a:pPr indent="0" marL="0">
              <a:buNone/>
            </a:pPr>
            <a:r>
              <a:rPr lang="en-US" sz="1050" dirty="0">
                <a:solidFill>
                  <a:schemeClr val="accent6"/>
                </a:solidFill>
              </a:rPr>
              <a:t>세 종목 균등, 배율 1</a:t>
            </a:r>
            <a:endParaRPr lang="en-US" sz="1300" dirty="0"/>
          </a:p>
        </p:txBody>
      </p:sp>
      <p:sp>
        <p:nvSpPr>
          <p:cNvPr id="20" name="Text 17"/>
          <p:cNvSpPr txBox="1"/>
          <p:nvPr/>
        </p:nvSpPr>
        <p:spPr>
          <a:xfrm>
            <a:off x="7315200" y="1783080"/>
            <a:ext cx="1234440" cy="841248"/>
          </a:xfrm>
          <a:prstGeom prst="rect">
            <a:avLst/>
          </a:prstGeom>
          <a:noFill/>
          <a:ln/>
        </p:spPr>
        <p:txBody>
          <a:bodyPr wrap="square" lIns="0" tIns="0" rIns="0" bIns="0" rtlCol="0" anchor="ctr"/>
          <a:lstStyle/>
          <a:p>
            <a:pPr algn="r" indent="0" marL="0">
              <a:buNone/>
            </a:pPr>
            <a:r>
              <a:rPr lang="en-US" sz="2000" b="1" dirty="0">
                <a:solidFill>
                  <a:schemeClr val="accent2"/>
                </a:solidFill>
              </a:rPr>
              <a:t>+97.98%</a:t>
            </a:r>
            <a:endParaRPr lang="en-US" sz="2000" dirty="0"/>
          </a:p>
        </p:txBody>
      </p:sp>
      <p:sp>
        <p:nvSpPr>
          <p:cNvPr id="21" name="p-2"/>
          <p:cNvSpPr/>
          <p:nvPr/>
        </p:nvSpPr>
        <p:spPr>
          <a:xfrm>
            <a:off x="4663440" y="2743200"/>
            <a:ext cx="4023360" cy="841248"/>
          </a:xfrm>
          <a:prstGeom prst="roundRect">
            <a:avLst>
              <a:gd name="adj" fmla="val 8696"/>
            </a:avLst>
          </a:prstGeom>
          <a:solidFill>
            <a:schemeClr val="bg2"/>
          </a:solidFill>
          <a:ln/>
        </p:spPr>
      </p:sp>
      <p:sp>
        <p:nvSpPr>
          <p:cNvPr id="22" name="Text 19"/>
          <p:cNvSpPr txBox="1"/>
          <p:nvPr/>
        </p:nvSpPr>
        <p:spPr>
          <a:xfrm>
            <a:off x="4800600" y="2743200"/>
            <a:ext cx="320040" cy="841248"/>
          </a:xfrm>
          <a:prstGeom prst="rect">
            <a:avLst/>
          </a:prstGeom>
          <a:noFill/>
          <a:ln/>
        </p:spPr>
        <p:txBody>
          <a:bodyPr wrap="square" lIns="0" tIns="0" rIns="0" bIns="0" rtlCol="0" anchor="ctr"/>
          <a:lstStyle/>
          <a:p>
            <a:pPr indent="0" marL="0">
              <a:buNone/>
            </a:pPr>
            <a:r>
              <a:rPr lang="en-US" sz="1800" b="1" dirty="0">
                <a:solidFill>
                  <a:schemeClr val="accent6"/>
                </a:solidFill>
              </a:rPr>
              <a:t>2</a:t>
            </a:r>
            <a:endParaRPr lang="en-US" sz="1800" dirty="0"/>
          </a:p>
        </p:txBody>
      </p:sp>
      <p:sp>
        <p:nvSpPr>
          <p:cNvPr id="23" name="Text 20"/>
          <p:cNvSpPr txBox="1"/>
          <p:nvPr/>
        </p:nvSpPr>
        <p:spPr>
          <a:xfrm>
            <a:off x="5120640" y="2834640"/>
            <a:ext cx="2103120" cy="658368"/>
          </a:xfrm>
          <a:prstGeom prst="rect">
            <a:avLst/>
          </a:prstGeom>
          <a:noFill/>
          <a:ln/>
        </p:spPr>
        <p:txBody>
          <a:bodyPr wrap="square" lIns="0" tIns="0" rIns="0" bIns="0" rtlCol="0" anchor="ctr"/>
          <a:lstStyle/>
          <a:p>
            <a:pPr indent="0" marL="0">
              <a:buNone/>
            </a:pPr>
            <a:r>
              <a:rPr lang="en-US" sz="1300" b="1" dirty="0">
                <a:solidFill>
                  <a:schemeClr val="tx1"/>
                </a:solidFill>
              </a:rPr>
              <a:t>발표용</a:t>
            </a:r>
            <a:endParaRPr lang="en-US" sz="1300" dirty="0"/>
          </a:p>
          <a:p>
            <a:pPr indent="0" marL="0">
              <a:buNone/>
            </a:pPr>
            <a:r>
              <a:rPr lang="en-US" sz="1050" dirty="0">
                <a:solidFill>
                  <a:schemeClr val="accent6"/>
                </a:solidFill>
              </a:rPr>
              <a:t>종목 A에 현금 25%, 배율 3</a:t>
            </a:r>
            <a:endParaRPr lang="en-US" sz="1300" dirty="0"/>
          </a:p>
        </p:txBody>
      </p:sp>
      <p:sp>
        <p:nvSpPr>
          <p:cNvPr id="24" name="Text 21"/>
          <p:cNvSpPr txBox="1"/>
          <p:nvPr/>
        </p:nvSpPr>
        <p:spPr>
          <a:xfrm>
            <a:off x="7315200" y="2743200"/>
            <a:ext cx="1234440" cy="841248"/>
          </a:xfrm>
          <a:prstGeom prst="rect">
            <a:avLst/>
          </a:prstGeom>
          <a:noFill/>
          <a:ln/>
        </p:spPr>
        <p:txBody>
          <a:bodyPr wrap="square" lIns="0" tIns="0" rIns="0" bIns="0" rtlCol="0" anchor="ctr"/>
          <a:lstStyle/>
          <a:p>
            <a:pPr algn="r" indent="0" marL="0">
              <a:buNone/>
            </a:pPr>
            <a:r>
              <a:rPr lang="en-US" sz="2000" b="1" dirty="0">
                <a:solidFill>
                  <a:schemeClr val="accent2"/>
                </a:solidFill>
              </a:rPr>
              <a:t>+47.17%</a:t>
            </a:r>
            <a:endParaRPr lang="en-US" sz="2000" dirty="0"/>
          </a:p>
        </p:txBody>
      </p:sp>
      <p:sp>
        <p:nvSpPr>
          <p:cNvPr id="25" name="bot-insight"/>
          <p:cNvSpPr/>
          <p:nvPr/>
        </p:nvSpPr>
        <p:spPr>
          <a:xfrm>
            <a:off x="4663440" y="3794760"/>
            <a:ext cx="4023360" cy="777240"/>
          </a:xfrm>
          <a:prstGeom prst="roundRect">
            <a:avLst>
              <a:gd name="adj" fmla="val 9412"/>
            </a:avLst>
          </a:prstGeom>
          <a:solidFill>
            <a:schemeClr val="bg2"/>
          </a:solidFill>
          <a:ln/>
        </p:spPr>
      </p:sp>
      <p:sp>
        <p:nvSpPr>
          <p:cNvPr id="26" name="Text 23"/>
          <p:cNvSpPr txBox="1"/>
          <p:nvPr/>
        </p:nvSpPr>
        <p:spPr>
          <a:xfrm>
            <a:off x="4846320" y="3858768"/>
            <a:ext cx="3657600" cy="658368"/>
          </a:xfrm>
          <a:prstGeom prst="rect">
            <a:avLst/>
          </a:prstGeom>
          <a:noFill/>
          <a:ln/>
        </p:spPr>
        <p:txBody>
          <a:bodyPr wrap="square" lIns="0" tIns="0" rIns="0" bIns="0" rtlCol="0" anchor="t"/>
          <a:lstStyle/>
          <a:p>
            <a:pPr indent="0" marL="0">
              <a:buNone/>
            </a:pPr>
            <a:r>
              <a:rPr lang="en-US" sz="1300" b="1" dirty="0">
                <a:solidFill>
                  <a:schemeClr val="tx1"/>
                </a:solidFill>
              </a:rPr>
              <a:t>상승장에서는 다 사서 버티는 쪽이 강함</a:t>
            </a:r>
            <a:endParaRPr lang="en-US" sz="1300" dirty="0"/>
          </a:p>
          <a:p>
            <a:pPr indent="0" marL="0">
              <a:buNone/>
            </a:pPr>
            <a:r>
              <a:rPr lang="en-US" sz="1100" dirty="0">
                <a:solidFill>
                  <a:schemeClr val="accent6"/>
                </a:solidFill>
              </a:rPr>
              <a:t>봇은 쉬운 상대가 아니라 넘어야 할 기준선</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여러 사람과 실제 플레이: 임시 공개</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정식 배포 전, 개발 PC를 임시 주소로 열어 다른 사람과 같은 방에서 플레이</a:t>
            </a:r>
            <a:endParaRPr lang="en-US" sz="1400" dirty="0"/>
          </a:p>
        </p:txBody>
      </p:sp>
      <p:sp>
        <p:nvSpPr>
          <p:cNvPr id="4" name="share-1"/>
          <p:cNvSpPr/>
          <p:nvPr/>
        </p:nvSpPr>
        <p:spPr>
          <a:xfrm>
            <a:off x="457200" y="1417320"/>
            <a:ext cx="2377440" cy="1143000"/>
          </a:xfrm>
          <a:prstGeom prst="roundRect">
            <a:avLst>
              <a:gd name="adj" fmla="val 6400"/>
            </a:avLst>
          </a:prstGeom>
          <a:solidFill>
            <a:schemeClr val="bg2"/>
          </a:solidFill>
          <a:ln/>
        </p:spPr>
      </p:sp>
      <p:sp>
        <p:nvSpPr>
          <p:cNvPr id="5" name="Text 3"/>
          <p:cNvSpPr txBox="1"/>
          <p:nvPr/>
        </p:nvSpPr>
        <p:spPr>
          <a:xfrm>
            <a:off x="594360" y="1536192"/>
            <a:ext cx="2103120" cy="292608"/>
          </a:xfrm>
          <a:prstGeom prst="rect">
            <a:avLst/>
          </a:prstGeom>
          <a:noFill/>
          <a:ln/>
        </p:spPr>
        <p:txBody>
          <a:bodyPr wrap="square" lIns="0" tIns="0" rIns="0" bIns="0" rtlCol="0" anchor="t"/>
          <a:lstStyle/>
          <a:p>
            <a:pPr algn="ctr" indent="0" marL="0">
              <a:buNone/>
            </a:pPr>
            <a:r>
              <a:rPr lang="en-US" sz="1400" b="1" dirty="0">
                <a:solidFill>
                  <a:schemeClr val="tx1"/>
                </a:solidFill>
              </a:rPr>
              <a:t>다른 사람의 브라우저</a:t>
            </a:r>
            <a:endParaRPr lang="en-US" sz="1400" dirty="0"/>
          </a:p>
        </p:txBody>
      </p:sp>
      <p:sp>
        <p:nvSpPr>
          <p:cNvPr id="6" name="Text 4"/>
          <p:cNvSpPr txBox="1"/>
          <p:nvPr/>
        </p:nvSpPr>
        <p:spPr>
          <a:xfrm>
            <a:off x="594360" y="1874520"/>
            <a:ext cx="2103120" cy="594360"/>
          </a:xfrm>
          <a:prstGeom prst="rect">
            <a:avLst/>
          </a:prstGeom>
          <a:noFill/>
          <a:ln/>
        </p:spPr>
        <p:txBody>
          <a:bodyPr wrap="square" lIns="0" tIns="0" rIns="0" bIns="0" rtlCol="0" anchor="t"/>
          <a:lstStyle/>
          <a:p>
            <a:pPr algn="ctr" indent="0" marL="0">
              <a:buNone/>
            </a:pPr>
            <a:r>
              <a:rPr lang="en-US" sz="1100" dirty="0">
                <a:solidFill>
                  <a:schemeClr val="accent6"/>
                </a:solidFill>
              </a:rPr>
              <a:t>인터넷 어디서나</a:t>
            </a:r>
            <a:endParaRPr lang="en-US" sz="1100" dirty="0"/>
          </a:p>
          <a:p>
            <a:pPr algn="ctr" indent="0" marL="0">
              <a:buNone/>
            </a:pPr>
            <a:r>
              <a:rPr lang="en-US" sz="1100" dirty="0">
                <a:solidFill>
                  <a:schemeClr val="accent6"/>
                </a:solidFill>
              </a:rPr>
              <a:t>같은 와이파이면 IP 주소로도</a:t>
            </a:r>
            <a:endParaRPr lang="en-US" sz="1100" dirty="0"/>
          </a:p>
        </p:txBody>
      </p:sp>
      <p:sp>
        <p:nvSpPr>
          <p:cNvPr id="7" name="Shape 5"/>
          <p:cNvSpPr/>
          <p:nvPr/>
        </p:nvSpPr>
        <p:spPr>
          <a:xfrm>
            <a:off x="2907792" y="1984248"/>
            <a:ext cx="356616" cy="914"/>
          </a:xfrm>
          <a:prstGeom prst="line">
            <a:avLst/>
          </a:prstGeom>
          <a:noFill/>
          <a:ln w="19050">
            <a:solidFill>
              <a:schemeClr val="accent6"/>
            </a:solidFill>
            <a:prstDash val="solid"/>
            <a:tailEnd type="triangle"/>
          </a:ln>
        </p:spPr>
      </p:sp>
      <p:sp>
        <p:nvSpPr>
          <p:cNvPr id="8" name="share-2"/>
          <p:cNvSpPr/>
          <p:nvPr/>
        </p:nvSpPr>
        <p:spPr>
          <a:xfrm>
            <a:off x="3337560" y="1417320"/>
            <a:ext cx="2377440" cy="1143000"/>
          </a:xfrm>
          <a:prstGeom prst="roundRect">
            <a:avLst>
              <a:gd name="adj" fmla="val 6400"/>
            </a:avLst>
          </a:prstGeom>
          <a:solidFill>
            <a:schemeClr val="bg2"/>
          </a:solidFill>
          <a:ln/>
        </p:spPr>
      </p:sp>
      <p:sp>
        <p:nvSpPr>
          <p:cNvPr id="9" name="Text 7"/>
          <p:cNvSpPr txBox="1"/>
          <p:nvPr/>
        </p:nvSpPr>
        <p:spPr>
          <a:xfrm>
            <a:off x="3474720" y="1536192"/>
            <a:ext cx="2103120" cy="292608"/>
          </a:xfrm>
          <a:prstGeom prst="rect">
            <a:avLst/>
          </a:prstGeom>
          <a:noFill/>
          <a:ln/>
        </p:spPr>
        <p:txBody>
          <a:bodyPr wrap="square" lIns="0" tIns="0" rIns="0" bIns="0" rtlCol="0" anchor="t"/>
          <a:lstStyle/>
          <a:p>
            <a:pPr algn="ctr" indent="0" marL="0">
              <a:buNone/>
            </a:pPr>
            <a:r>
              <a:rPr lang="en-US" sz="1400" b="1" dirty="0">
                <a:solidFill>
                  <a:schemeClr val="tx1"/>
                </a:solidFill>
              </a:rPr>
              <a:t>임시 공개 주소</a:t>
            </a:r>
            <a:endParaRPr lang="en-US" sz="1400" dirty="0"/>
          </a:p>
        </p:txBody>
      </p:sp>
      <p:sp>
        <p:nvSpPr>
          <p:cNvPr id="10" name="Text 8"/>
          <p:cNvSpPr txBox="1"/>
          <p:nvPr/>
        </p:nvSpPr>
        <p:spPr>
          <a:xfrm>
            <a:off x="3474720" y="1874520"/>
            <a:ext cx="2103120" cy="594360"/>
          </a:xfrm>
          <a:prstGeom prst="rect">
            <a:avLst/>
          </a:prstGeom>
          <a:noFill/>
          <a:ln/>
        </p:spPr>
        <p:txBody>
          <a:bodyPr wrap="square" lIns="0" tIns="0" rIns="0" bIns="0" rtlCol="0" anchor="t"/>
          <a:lstStyle/>
          <a:p>
            <a:pPr algn="ctr" indent="0" marL="0">
              <a:buNone/>
            </a:pPr>
            <a:r>
              <a:rPr lang="en-US" sz="1100" dirty="0">
                <a:solidFill>
                  <a:schemeClr val="accent6"/>
                </a:solidFill>
              </a:rPr>
              <a:t>실행할 때마다 새 주소</a:t>
            </a:r>
            <a:endParaRPr lang="en-US" sz="1100" dirty="0"/>
          </a:p>
          <a:p>
            <a:pPr algn="ctr" indent="0" marL="0">
              <a:buNone/>
            </a:pPr>
            <a:r>
              <a:rPr lang="en-US" sz="1100" dirty="0">
                <a:solidFill>
                  <a:schemeClr val="accent6"/>
                </a:solidFill>
              </a:rPr>
              <a:t>암호화된 연결</a:t>
            </a:r>
            <a:endParaRPr lang="en-US" sz="1100" dirty="0"/>
          </a:p>
        </p:txBody>
      </p:sp>
      <p:sp>
        <p:nvSpPr>
          <p:cNvPr id="11" name="Shape 9"/>
          <p:cNvSpPr/>
          <p:nvPr/>
        </p:nvSpPr>
        <p:spPr>
          <a:xfrm>
            <a:off x="5788152" y="1984248"/>
            <a:ext cx="356616" cy="914"/>
          </a:xfrm>
          <a:prstGeom prst="line">
            <a:avLst/>
          </a:prstGeom>
          <a:noFill/>
          <a:ln w="19050">
            <a:solidFill>
              <a:schemeClr val="accent6"/>
            </a:solidFill>
            <a:prstDash val="solid"/>
            <a:tailEnd type="triangle"/>
          </a:ln>
        </p:spPr>
      </p:sp>
      <p:sp>
        <p:nvSpPr>
          <p:cNvPr id="12" name="share-3"/>
          <p:cNvSpPr/>
          <p:nvPr/>
        </p:nvSpPr>
        <p:spPr>
          <a:xfrm>
            <a:off x="6217920" y="1417320"/>
            <a:ext cx="2377440" cy="1143000"/>
          </a:xfrm>
          <a:prstGeom prst="roundRect">
            <a:avLst>
              <a:gd name="adj" fmla="val 6400"/>
            </a:avLst>
          </a:prstGeom>
          <a:solidFill>
            <a:schemeClr val="accent1"/>
          </a:solidFill>
          <a:ln/>
        </p:spPr>
      </p:sp>
      <p:sp>
        <p:nvSpPr>
          <p:cNvPr id="13" name="Text 11"/>
          <p:cNvSpPr txBox="1"/>
          <p:nvPr/>
        </p:nvSpPr>
        <p:spPr>
          <a:xfrm>
            <a:off x="6355080" y="1536192"/>
            <a:ext cx="2103120" cy="292608"/>
          </a:xfrm>
          <a:prstGeom prst="rect">
            <a:avLst/>
          </a:prstGeom>
          <a:noFill/>
          <a:ln/>
        </p:spPr>
        <p:txBody>
          <a:bodyPr wrap="square" lIns="0" tIns="0" rIns="0" bIns="0" rtlCol="0" anchor="t"/>
          <a:lstStyle/>
          <a:p>
            <a:pPr algn="ctr" indent="0" marL="0">
              <a:buNone/>
            </a:pPr>
            <a:r>
              <a:rPr lang="en-US" sz="1400" b="1" dirty="0">
                <a:solidFill>
                  <a:schemeClr val="bg1"/>
                </a:solidFill>
              </a:rPr>
              <a:t>개발 PC</a:t>
            </a:r>
            <a:endParaRPr lang="en-US" sz="1400" dirty="0"/>
          </a:p>
        </p:txBody>
      </p:sp>
      <p:sp>
        <p:nvSpPr>
          <p:cNvPr id="14" name="Text 12"/>
          <p:cNvSpPr txBox="1"/>
          <p:nvPr/>
        </p:nvSpPr>
        <p:spPr>
          <a:xfrm>
            <a:off x="6355080" y="1874520"/>
            <a:ext cx="2103120" cy="594360"/>
          </a:xfrm>
          <a:prstGeom prst="rect">
            <a:avLst/>
          </a:prstGeom>
          <a:noFill/>
          <a:ln/>
        </p:spPr>
        <p:txBody>
          <a:bodyPr wrap="square" lIns="0" tIns="0" rIns="0" bIns="0" rtlCol="0" anchor="t"/>
          <a:lstStyle/>
          <a:p>
            <a:pPr algn="ctr" indent="0" marL="0">
              <a:buNone/>
            </a:pPr>
            <a:r>
              <a:rPr lang="en-US" sz="1100" dirty="0">
                <a:solidFill>
                  <a:schemeClr val="bg2"/>
                </a:solidFill>
              </a:rPr>
              <a:t>화면 파일만 공개</a:t>
            </a:r>
            <a:endParaRPr lang="en-US" sz="1100" dirty="0"/>
          </a:p>
          <a:p>
            <a:pPr algn="ctr" indent="0" marL="0">
              <a:buNone/>
            </a:pPr>
            <a:r>
              <a:rPr lang="en-US" sz="1100" dirty="0">
                <a:solidFill>
                  <a:schemeClr val="bg2"/>
                </a:solidFill>
              </a:rPr>
              <a:t>서버는 PC 안에서만 접근</a:t>
            </a:r>
            <a:endParaRPr lang="en-US" sz="1100" dirty="0"/>
          </a:p>
        </p:txBody>
      </p:sp>
      <p:sp>
        <p:nvSpPr>
          <p:cNvPr id="15" name="check-1"/>
          <p:cNvSpPr/>
          <p:nvPr/>
        </p:nvSpPr>
        <p:spPr>
          <a:xfrm>
            <a:off x="457200" y="2834640"/>
            <a:ext cx="4023360" cy="1143000"/>
          </a:xfrm>
          <a:prstGeom prst="roundRect">
            <a:avLst>
              <a:gd name="adj" fmla="val 6400"/>
            </a:avLst>
          </a:prstGeom>
          <a:solidFill>
            <a:schemeClr val="bg2"/>
          </a:solidFill>
          <a:ln/>
        </p:spPr>
      </p:sp>
      <p:sp>
        <p:nvSpPr>
          <p:cNvPr id="16" name="Text 14"/>
          <p:cNvSpPr txBox="1"/>
          <p:nvPr/>
        </p:nvSpPr>
        <p:spPr>
          <a:xfrm>
            <a:off x="658368" y="2944368"/>
            <a:ext cx="3621024" cy="274320"/>
          </a:xfrm>
          <a:prstGeom prst="rect">
            <a:avLst/>
          </a:prstGeom>
          <a:noFill/>
          <a:ln/>
        </p:spPr>
        <p:txBody>
          <a:bodyPr wrap="square" lIns="0" tIns="0" rIns="0" bIns="0" rtlCol="0" anchor="t"/>
          <a:lstStyle/>
          <a:p>
            <a:pPr indent="0" marL="0">
              <a:buNone/>
            </a:pPr>
            <a:r>
              <a:rPr lang="en-US" sz="1400" b="1" dirty="0">
                <a:solidFill>
                  <a:schemeClr val="accent1"/>
                </a:solidFill>
              </a:rPr>
              <a:t>공개 전 점검</a:t>
            </a:r>
            <a:endParaRPr lang="en-US" sz="1400" dirty="0"/>
          </a:p>
        </p:txBody>
      </p:sp>
      <p:sp>
        <p:nvSpPr>
          <p:cNvPr id="17" name="Text 15"/>
          <p:cNvSpPr txBox="1"/>
          <p:nvPr/>
        </p:nvSpPr>
        <p:spPr>
          <a:xfrm>
            <a:off x="658368" y="3264408"/>
            <a:ext cx="3621024" cy="640080"/>
          </a:xfrm>
          <a:prstGeom prst="rect">
            <a:avLst/>
          </a:prstGeom>
          <a:noFill/>
          <a:ln/>
        </p:spPr>
        <p:txBody>
          <a:bodyPr wrap="square" lIns="0" tIns="0" rIns="0" bIns="0" rtlCol="0" anchor="t"/>
          <a:lstStyle/>
          <a:p>
            <a:pPr indent="0" marL="0">
              <a:buNone/>
            </a:pPr>
            <a:r>
              <a:rPr lang="en-US" sz="1100" dirty="0">
                <a:solidFill>
                  <a:schemeClr val="accent6"/>
                </a:solidFill>
              </a:rPr>
              <a:t>소스 코드와 설정 파일 주소로 접근해도 열리지 않음 확인</a:t>
            </a:r>
            <a:endParaRPr lang="en-US" sz="1100" dirty="0"/>
          </a:p>
          <a:p>
            <a:pPr indent="0" marL="0">
              <a:buNone/>
            </a:pPr>
            <a:r>
              <a:rPr lang="en-US" sz="1100" dirty="0">
                <a:solidFill>
                  <a:schemeClr val="accent6"/>
                </a:solidFill>
              </a:rPr>
              <a:t>다른 사이트에서 온 실시간 연결은 거부</a:t>
            </a:r>
            <a:endParaRPr lang="en-US" sz="1100" dirty="0"/>
          </a:p>
        </p:txBody>
      </p:sp>
      <p:sp>
        <p:nvSpPr>
          <p:cNvPr id="18" name="check-2"/>
          <p:cNvSpPr/>
          <p:nvPr/>
        </p:nvSpPr>
        <p:spPr>
          <a:xfrm>
            <a:off x="4663440" y="2834640"/>
            <a:ext cx="4023360" cy="1143000"/>
          </a:xfrm>
          <a:prstGeom prst="roundRect">
            <a:avLst>
              <a:gd name="adj" fmla="val 6400"/>
            </a:avLst>
          </a:prstGeom>
          <a:solidFill>
            <a:schemeClr val="bg2"/>
          </a:solidFill>
          <a:ln/>
        </p:spPr>
      </p:sp>
      <p:sp>
        <p:nvSpPr>
          <p:cNvPr id="19" name="Text 17"/>
          <p:cNvSpPr txBox="1"/>
          <p:nvPr/>
        </p:nvSpPr>
        <p:spPr>
          <a:xfrm>
            <a:off x="4864608" y="2944368"/>
            <a:ext cx="3621024" cy="274320"/>
          </a:xfrm>
          <a:prstGeom prst="rect">
            <a:avLst/>
          </a:prstGeom>
          <a:noFill/>
          <a:ln/>
        </p:spPr>
        <p:txBody>
          <a:bodyPr wrap="square" lIns="0" tIns="0" rIns="0" bIns="0" rtlCol="0" anchor="t"/>
          <a:lstStyle/>
          <a:p>
            <a:pPr indent="0" marL="0">
              <a:buNone/>
            </a:pPr>
            <a:r>
              <a:rPr lang="en-US" sz="1400" b="1" dirty="0">
                <a:solidFill>
                  <a:schemeClr val="accent1"/>
                </a:solidFill>
              </a:rPr>
              <a:t>실제 플레이 결과</a:t>
            </a:r>
            <a:endParaRPr lang="en-US" sz="1400" dirty="0"/>
          </a:p>
        </p:txBody>
      </p:sp>
      <p:sp>
        <p:nvSpPr>
          <p:cNvPr id="20" name="Text 18"/>
          <p:cNvSpPr txBox="1"/>
          <p:nvPr/>
        </p:nvSpPr>
        <p:spPr>
          <a:xfrm>
            <a:off x="4864608" y="3264408"/>
            <a:ext cx="3621024" cy="640080"/>
          </a:xfrm>
          <a:prstGeom prst="rect">
            <a:avLst/>
          </a:prstGeom>
          <a:noFill/>
          <a:ln/>
        </p:spPr>
        <p:txBody>
          <a:bodyPr wrap="square" lIns="0" tIns="0" rIns="0" bIns="0" rtlCol="0" anchor="t"/>
          <a:lstStyle/>
          <a:p>
            <a:pPr indent="0" marL="0">
              <a:buNone/>
            </a:pPr>
            <a:r>
              <a:rPr lang="en-US" sz="1100" dirty="0">
                <a:solidFill>
                  <a:schemeClr val="accent6"/>
                </a:solidFill>
              </a:rPr>
              <a:t>다른 사람과 같은 방에서 한 판 완주</a:t>
            </a:r>
            <a:endParaRPr lang="en-US" sz="1100" dirty="0"/>
          </a:p>
          <a:p>
            <a:pPr indent="0" marL="0">
              <a:buNone/>
            </a:pPr>
            <a:r>
              <a:rPr lang="en-US" sz="1100" dirty="0">
                <a:solidFill>
                  <a:schemeClr val="accent6"/>
                </a:solidFill>
              </a:rPr>
              <a:t>틱, 주문, 순위, 청산 알림 모두 정상</a:t>
            </a:r>
            <a:endParaRPr lang="en-US" sz="1100" dirty="0"/>
          </a:p>
        </p:txBody>
      </p:sp>
      <p:sp>
        <p:nvSpPr>
          <p:cNvPr id="21" name="Text 19"/>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100" dirty="0">
                <a:solidFill>
                  <a:schemeClr val="accent6"/>
                </a:solidFill>
              </a:rPr>
              <a:t>한계: PC가 켜져 있는 동안만 접속 가능, 계정이 없어 닉네임만으로 입장</a:t>
            </a:r>
            <a:endParaRPr lang="en-US" sz="11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발견한 문제: 같은 닉네임이면 남의 전적으로 입장</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비밀번호 없이 닉네임만으로 입장하는 설계에서 생긴 문제, 보호 방식 3가지 비교</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03120"/>
                <a:gridCol w="3017520"/>
                <a:gridCol w="3108960"/>
              </a:tblGrid>
              <a:tr h="347472">
                <a:tc>
                  <a:txBody>
                    <a:bodyPr/>
                    <a:lstStyle/>
                    <a:p>
                      <a:pPr algn="ctr" indent="0" marL="0">
                        <a:buNone/>
                      </a:pPr>
                      <a:r>
                        <a:rPr lang="en-US" sz="1200" b="1" dirty="0">
                          <a:solidFill>
                            <a:srgbClr val="FFFFFF"/>
                          </a:solidFill>
                        </a:rPr>
                        <a:t>방식</a:t>
                      </a:r>
                      <a:endParaRPr lang="en-US" sz="1200" dirty="0"/>
                    </a:p>
                  </a:txBody>
                  <a:tcPr marL="91440" marR="91440" marT="45720" marB="45720">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장점</a:t>
                      </a:r>
                      <a:endParaRPr lang="en-US" sz="1200" dirty="0"/>
                    </a:p>
                  </a:txBody>
                  <a:tcPr marL="91440" marR="91440" marT="45720" marB="45720">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c>
                  <a:txBody>
                    <a:bodyPr/>
                    <a:lstStyle/>
                    <a:p>
                      <a:pPr algn="ctr" indent="0" marL="0">
                        <a:buNone/>
                      </a:pPr>
                      <a:r>
                        <a:rPr lang="en-US" sz="1200" b="1" dirty="0">
                          <a:solidFill>
                            <a:srgbClr val="FFFFFF"/>
                          </a:solidFill>
                        </a:rPr>
                        <a:t>단점</a:t>
                      </a:r>
                      <a:endParaRPr lang="en-US" sz="1200" dirty="0"/>
                    </a:p>
                  </a:txBody>
                  <a:tcPr marL="91440" marR="91440" marT="45720" marB="45720">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7C5CFF"/>
                    </a:solidFill>
                  </a:tcPr>
                </a:tc>
              </a:tr>
              <a:tr h="548640">
                <a:tc>
                  <a:txBody>
                    <a:bodyPr/>
                    <a:lstStyle/>
                    <a:p>
                      <a:pPr indent="0" marL="0">
                        <a:buNone/>
                      </a:pPr>
                      <a:r>
                        <a:rPr lang="en-US" sz="1200" b="1" dirty="0">
                          <a:solidFill>
                            <a:srgbClr val="7C5CFF"/>
                          </a:solidFill>
                        </a:rPr>
                        <a:t>브라우저 토큰 (채택)</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비밀번호 없이 지금처럼 입력</a:t>
                      </a:r>
                      <a:endParaRPr lang="en-US" sz="1200" dirty="0"/>
                    </a:p>
                    <a:p>
                      <a:pPr indent="0" marL="0">
                        <a:buNone/>
                      </a:pPr>
                      <a:r>
                        <a:rPr lang="en-US" sz="1200" dirty="0">
                          <a:solidFill>
                            <a:srgbClr val="0B0E14"/>
                          </a:solidFill>
                        </a:rPr>
                        <a:t>처음 만든 브라우저만 사용</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다른 기기, 브라우저 데이터 삭제 시 사용 불가</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457200">
                <a:tc>
                  <a:txBody>
                    <a:bodyPr/>
                    <a:lstStyle/>
                    <a:p>
                      <a:pPr indent="0" marL="0">
                        <a:buNone/>
                      </a:pPr>
                      <a:r>
                        <a:rPr lang="en-US" sz="1200" b="1" dirty="0">
                          <a:solidFill>
                            <a:srgbClr val="0B0E14"/>
                          </a:solidFill>
                        </a:rPr>
                        <a:t>닉네임 + 비밀번호</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어느 기기에서나 같은 닉네임</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계정 기능 전체 필요, 작업 규모 큼</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r h="457200">
                <a:tc>
                  <a:txBody>
                    <a:bodyPr/>
                    <a:lstStyle/>
                    <a:p>
                      <a:pPr indent="0" marL="0">
                        <a:buNone/>
                      </a:pPr>
                      <a:r>
                        <a:rPr lang="en-US" sz="1200" b="1" dirty="0">
                          <a:solidFill>
                            <a:srgbClr val="0B0E14"/>
                          </a:solidFill>
                        </a:rPr>
                        <a:t>접속 중일 때만 막기</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가장 간단</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indent="0" marL="0">
                        <a:buNone/>
                      </a:pPr>
                      <a:r>
                        <a:rPr lang="en-US" sz="1200" dirty="0">
                          <a:solidFill>
                            <a:srgbClr val="0B0E14"/>
                          </a:solidFill>
                        </a:rPr>
                        <a:t>접속하지 않은 동안은 누구나 사용</a:t>
                      </a:r>
                      <a:endParaRPr lang="en-US" sz="1200" dirty="0"/>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r>
            </a:tbl>
          </a:graphicData>
        </a:graphic>
      </p:graphicFrame>
      <p:sp>
        <p:nvSpPr>
          <p:cNvPr id="5" name="nick-1"/>
          <p:cNvSpPr/>
          <p:nvPr/>
        </p:nvSpPr>
        <p:spPr>
          <a:xfrm>
            <a:off x="457200" y="3429000"/>
            <a:ext cx="2606040" cy="1143000"/>
          </a:xfrm>
          <a:prstGeom prst="roundRect">
            <a:avLst>
              <a:gd name="adj" fmla="val 6400"/>
            </a:avLst>
          </a:prstGeom>
          <a:solidFill>
            <a:schemeClr val="bg2"/>
          </a:solidFill>
          <a:ln/>
        </p:spPr>
      </p:sp>
      <p:sp>
        <p:nvSpPr>
          <p:cNvPr id="6" name="Shape 3"/>
          <p:cNvSpPr/>
          <p:nvPr/>
        </p:nvSpPr>
        <p:spPr>
          <a:xfrm>
            <a:off x="640080" y="3566160"/>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36092" y="3662172"/>
            <a:ext cx="192024" cy="192024"/>
          </a:xfrm>
          <a:prstGeom prst="rect">
            <a:avLst/>
          </a:prstGeom>
        </p:spPr>
      </p:pic>
      <p:sp>
        <p:nvSpPr>
          <p:cNvPr id="8" name="Text 4"/>
          <p:cNvSpPr txBox="1"/>
          <p:nvPr/>
        </p:nvSpPr>
        <p:spPr>
          <a:xfrm>
            <a:off x="1115568" y="3547872"/>
            <a:ext cx="1828800" cy="420624"/>
          </a:xfrm>
          <a:prstGeom prst="rect">
            <a:avLst/>
          </a:prstGeom>
          <a:noFill/>
          <a:ln/>
        </p:spPr>
        <p:txBody>
          <a:bodyPr wrap="square" lIns="0" tIns="0" rIns="0" bIns="0" rtlCol="0" anchor="ctr"/>
          <a:lstStyle/>
          <a:p>
            <a:pPr indent="0" marL="0">
              <a:buNone/>
            </a:pPr>
            <a:r>
              <a:rPr lang="en-US" sz="1150" b="1" dirty="0">
                <a:solidFill>
                  <a:schemeClr val="tx1"/>
                </a:solidFill>
              </a:rPr>
              <a:t>비밀 값은 해시만 저장</a:t>
            </a:r>
            <a:endParaRPr lang="en-US" sz="1150" dirty="0"/>
          </a:p>
        </p:txBody>
      </p:sp>
      <p:sp>
        <p:nvSpPr>
          <p:cNvPr id="9" name="Text 5"/>
          <p:cNvSpPr txBox="1"/>
          <p:nvPr/>
        </p:nvSpPr>
        <p:spPr>
          <a:xfrm>
            <a:off x="640080" y="4069080"/>
            <a:ext cx="2240280" cy="438912"/>
          </a:xfrm>
          <a:prstGeom prst="rect">
            <a:avLst/>
          </a:prstGeom>
          <a:noFill/>
          <a:ln/>
        </p:spPr>
        <p:txBody>
          <a:bodyPr wrap="square" lIns="0" tIns="0" rIns="0" bIns="0" rtlCol="0" anchor="t"/>
          <a:lstStyle/>
          <a:p>
            <a:pPr indent="0" marL="0">
              <a:buNone/>
            </a:pPr>
            <a:r>
              <a:rPr lang="en-US" sz="1050" dirty="0">
                <a:solidFill>
                  <a:schemeClr val="accent6"/>
                </a:solidFill>
              </a:rPr>
              <a:t>브라우저에 준 원문은 서버에 남기지 않음</a:t>
            </a:r>
            <a:endParaRPr lang="en-US" sz="1050" dirty="0"/>
          </a:p>
        </p:txBody>
      </p:sp>
      <p:sp>
        <p:nvSpPr>
          <p:cNvPr id="10" name="nick-2"/>
          <p:cNvSpPr/>
          <p:nvPr/>
        </p:nvSpPr>
        <p:spPr>
          <a:xfrm>
            <a:off x="3268980" y="3429000"/>
            <a:ext cx="2606040" cy="1143000"/>
          </a:xfrm>
          <a:prstGeom prst="roundRect">
            <a:avLst>
              <a:gd name="adj" fmla="val 6400"/>
            </a:avLst>
          </a:prstGeom>
          <a:solidFill>
            <a:schemeClr val="bg2"/>
          </a:solidFill>
          <a:ln/>
        </p:spPr>
      </p:sp>
      <p:sp>
        <p:nvSpPr>
          <p:cNvPr id="11" name="Shape 7"/>
          <p:cNvSpPr/>
          <p:nvPr/>
        </p:nvSpPr>
        <p:spPr>
          <a:xfrm>
            <a:off x="3451860" y="3566160"/>
            <a:ext cx="384048" cy="384048"/>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547872" y="3662172"/>
            <a:ext cx="192024" cy="192024"/>
          </a:xfrm>
          <a:prstGeom prst="rect">
            <a:avLst/>
          </a:prstGeom>
        </p:spPr>
      </p:pic>
      <p:sp>
        <p:nvSpPr>
          <p:cNvPr id="13" name="Text 8"/>
          <p:cNvSpPr txBox="1"/>
          <p:nvPr/>
        </p:nvSpPr>
        <p:spPr>
          <a:xfrm>
            <a:off x="3927348" y="3547872"/>
            <a:ext cx="1828800" cy="420624"/>
          </a:xfrm>
          <a:prstGeom prst="rect">
            <a:avLst/>
          </a:prstGeom>
          <a:noFill/>
          <a:ln/>
        </p:spPr>
        <p:txBody>
          <a:bodyPr wrap="square" lIns="0" tIns="0" rIns="0" bIns="0" rtlCol="0" anchor="ctr"/>
          <a:lstStyle/>
          <a:p>
            <a:pPr indent="0" marL="0">
              <a:buNone/>
            </a:pPr>
            <a:r>
              <a:rPr lang="en-US" sz="1150" b="1" dirty="0">
                <a:solidFill>
                  <a:schemeClr val="tx1"/>
                </a:solidFill>
              </a:rPr>
              <a:t>기존 닉네임은 선착순</a:t>
            </a:r>
            <a:endParaRPr lang="en-US" sz="1150" dirty="0"/>
          </a:p>
        </p:txBody>
      </p:sp>
      <p:sp>
        <p:nvSpPr>
          <p:cNvPr id="14" name="Text 9"/>
          <p:cNvSpPr txBox="1"/>
          <p:nvPr/>
        </p:nvSpPr>
        <p:spPr>
          <a:xfrm>
            <a:off x="3451860" y="4069080"/>
            <a:ext cx="2240280" cy="438912"/>
          </a:xfrm>
          <a:prstGeom prst="rect">
            <a:avLst/>
          </a:prstGeom>
          <a:noFill/>
          <a:ln/>
        </p:spPr>
        <p:txBody>
          <a:bodyPr wrap="square" lIns="0" tIns="0" rIns="0" bIns="0" rtlCol="0" anchor="t"/>
          <a:lstStyle/>
          <a:p>
            <a:pPr indent="0" marL="0">
              <a:buNone/>
            </a:pPr>
            <a:r>
              <a:rPr lang="en-US" sz="1050" dirty="0">
                <a:solidFill>
                  <a:schemeClr val="accent6"/>
                </a:solidFill>
              </a:rPr>
              <a:t>먼저 들어온 브라우저가 소유</a:t>
            </a:r>
            <a:endParaRPr lang="en-US" sz="1050" dirty="0"/>
          </a:p>
          <a:p>
            <a:pPr indent="0" marL="0">
              <a:buNone/>
            </a:pPr>
            <a:r>
              <a:rPr lang="en-US" sz="1050" dirty="0">
                <a:solidFill>
                  <a:schemeClr val="accent6"/>
                </a:solidFill>
              </a:rPr>
              <a:t>동시에 와도 한 곳만 성공</a:t>
            </a:r>
            <a:endParaRPr lang="en-US" sz="1050" dirty="0"/>
          </a:p>
        </p:txBody>
      </p:sp>
      <p:sp>
        <p:nvSpPr>
          <p:cNvPr id="15" name="nick-3"/>
          <p:cNvSpPr/>
          <p:nvPr/>
        </p:nvSpPr>
        <p:spPr>
          <a:xfrm>
            <a:off x="6080760" y="3429000"/>
            <a:ext cx="2606040" cy="1143000"/>
          </a:xfrm>
          <a:prstGeom prst="roundRect">
            <a:avLst>
              <a:gd name="adj" fmla="val 6400"/>
            </a:avLst>
          </a:prstGeom>
          <a:solidFill>
            <a:schemeClr val="bg2"/>
          </a:solidFill>
          <a:ln/>
        </p:spPr>
      </p:sp>
      <p:sp>
        <p:nvSpPr>
          <p:cNvPr id="16" name="Shape 11"/>
          <p:cNvSpPr/>
          <p:nvPr/>
        </p:nvSpPr>
        <p:spPr>
          <a:xfrm>
            <a:off x="6263640" y="3566160"/>
            <a:ext cx="384048" cy="384048"/>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359652" y="3662172"/>
            <a:ext cx="192024" cy="192024"/>
          </a:xfrm>
          <a:prstGeom prst="rect">
            <a:avLst/>
          </a:prstGeom>
        </p:spPr>
      </p:pic>
      <p:sp>
        <p:nvSpPr>
          <p:cNvPr id="18" name="Text 12"/>
          <p:cNvSpPr txBox="1"/>
          <p:nvPr/>
        </p:nvSpPr>
        <p:spPr>
          <a:xfrm>
            <a:off x="6739128" y="3547872"/>
            <a:ext cx="1828800" cy="420624"/>
          </a:xfrm>
          <a:prstGeom prst="rect">
            <a:avLst/>
          </a:prstGeom>
          <a:noFill/>
          <a:ln/>
        </p:spPr>
        <p:txBody>
          <a:bodyPr wrap="square" lIns="0" tIns="0" rIns="0" bIns="0" rtlCol="0" anchor="ctr"/>
          <a:lstStyle/>
          <a:p>
            <a:pPr indent="0" marL="0">
              <a:buNone/>
            </a:pPr>
            <a:r>
              <a:rPr lang="en-US" sz="1150" b="1" dirty="0">
                <a:solidFill>
                  <a:schemeClr val="tx1"/>
                </a:solidFill>
              </a:rPr>
              <a:t>다른 브라우저에서 같은 닉네임</a:t>
            </a:r>
            <a:endParaRPr lang="en-US" sz="1150" dirty="0"/>
          </a:p>
        </p:txBody>
      </p:sp>
      <p:sp>
        <p:nvSpPr>
          <p:cNvPr id="19" name="Text 13"/>
          <p:cNvSpPr txBox="1"/>
          <p:nvPr/>
        </p:nvSpPr>
        <p:spPr>
          <a:xfrm>
            <a:off x="6263640" y="4069080"/>
            <a:ext cx="2240280" cy="438912"/>
          </a:xfrm>
          <a:prstGeom prst="rect">
            <a:avLst/>
          </a:prstGeom>
          <a:noFill/>
          <a:ln/>
        </p:spPr>
        <p:txBody>
          <a:bodyPr wrap="square" lIns="0" tIns="0" rIns="0" bIns="0" rtlCol="0" anchor="t"/>
          <a:lstStyle/>
          <a:p>
            <a:pPr indent="0" marL="0">
              <a:buNone/>
            </a:pPr>
            <a:r>
              <a:rPr lang="en-US" sz="1050" dirty="0">
                <a:solidFill>
                  <a:schemeClr val="accent6"/>
                </a:solidFill>
              </a:rPr>
              <a:t>이미 사용 중인 닉네임 안내 후 입장 거부</a:t>
            </a:r>
            <a:endParaRPr lang="en-US" sz="105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데이터로 내린 결정: 분봉 모드 동결</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플레이 체감은 일봉보다 재미 덜함, 데이터로 원인 확인</a:t>
            </a:r>
            <a:endParaRPr lang="en-US" sz="1400" dirty="0"/>
          </a:p>
        </p:txBody>
      </p:sp>
      <p:sp>
        <p:nvSpPr>
          <p:cNvPr id="4" name="Text 2"/>
          <p:cNvSpPr txBox="1"/>
          <p:nvPr/>
        </p:nvSpPr>
        <p:spPr>
          <a:xfrm>
            <a:off x="457200" y="1325880"/>
            <a:ext cx="4937760" cy="274320"/>
          </a:xfrm>
          <a:prstGeom prst="rect">
            <a:avLst/>
          </a:prstGeom>
          <a:noFill/>
          <a:ln/>
        </p:spPr>
        <p:txBody>
          <a:bodyPr wrap="square" lIns="0" tIns="0" rIns="0" bIns="0" rtlCol="0" anchor="t"/>
          <a:lstStyle/>
          <a:p>
            <a:pPr indent="0" marL="0">
              <a:buNone/>
            </a:pPr>
            <a:r>
              <a:rPr lang="en-US" sz="1300" b="1" dirty="0">
                <a:solidFill>
                  <a:schemeClr val="tx1"/>
                </a:solidFill>
              </a:rPr>
              <a:t>분봉 후보 6개의 시작 대비 최대 낙폭</a:t>
            </a:r>
            <a:endParaRPr lang="en-US" sz="1300" dirty="0"/>
          </a:p>
        </p:txBody>
      </p:sp>
      <p:sp>
        <p:nvSpPr>
          <p:cNvPr id="5" name="Shape 3"/>
          <p:cNvSpPr/>
          <p:nvPr/>
        </p:nvSpPr>
        <p:spPr>
          <a:xfrm>
            <a:off x="960120" y="1828800"/>
            <a:ext cx="4480560" cy="0"/>
          </a:xfrm>
          <a:prstGeom prst="line">
            <a:avLst/>
          </a:prstGeom>
          <a:noFill/>
          <a:ln w="12700">
            <a:solidFill>
              <a:schemeClr val="accent6"/>
            </a:solidFill>
            <a:prstDash val="solid"/>
          </a:ln>
        </p:spPr>
      </p:sp>
      <p:sp>
        <p:nvSpPr>
          <p:cNvPr id="6" name="Text 4"/>
          <p:cNvSpPr txBox="1"/>
          <p:nvPr/>
        </p:nvSpPr>
        <p:spPr>
          <a:xfrm>
            <a:off x="457200" y="1719072"/>
            <a:ext cx="457200" cy="219456"/>
          </a:xfrm>
          <a:prstGeom prst="rect">
            <a:avLst/>
          </a:prstGeom>
          <a:noFill/>
          <a:ln/>
        </p:spPr>
        <p:txBody>
          <a:bodyPr wrap="square" lIns="0" tIns="0" rIns="0" bIns="0" rtlCol="0" anchor="t"/>
          <a:lstStyle/>
          <a:p>
            <a:pPr algn="r" indent="0" marL="0">
              <a:buNone/>
            </a:pPr>
            <a:r>
              <a:rPr lang="en-US" sz="900" dirty="0">
                <a:solidFill>
                  <a:schemeClr val="accent6"/>
                </a:solidFill>
              </a:rPr>
              <a:t>0%</a:t>
            </a:r>
            <a:endParaRPr lang="en-US" sz="900" dirty="0"/>
          </a:p>
        </p:txBody>
      </p:sp>
      <p:sp>
        <p:nvSpPr>
          <p:cNvPr id="7" name="Shape 5"/>
          <p:cNvSpPr/>
          <p:nvPr/>
        </p:nvSpPr>
        <p:spPr>
          <a:xfrm>
            <a:off x="960120" y="4206240"/>
            <a:ext cx="4480560" cy="0"/>
          </a:xfrm>
          <a:prstGeom prst="line">
            <a:avLst/>
          </a:prstGeom>
          <a:noFill/>
          <a:ln w="19050">
            <a:solidFill>
              <a:schemeClr val="accent2"/>
            </a:solidFill>
            <a:prstDash val="dash"/>
          </a:ln>
        </p:spPr>
      </p:sp>
      <p:sp>
        <p:nvSpPr>
          <p:cNvPr id="8" name="Text 6"/>
          <p:cNvSpPr txBox="1"/>
          <p:nvPr/>
        </p:nvSpPr>
        <p:spPr>
          <a:xfrm>
            <a:off x="457200" y="4096512"/>
            <a:ext cx="457200" cy="219456"/>
          </a:xfrm>
          <a:prstGeom prst="rect">
            <a:avLst/>
          </a:prstGeom>
          <a:noFill/>
          <a:ln/>
        </p:spPr>
        <p:txBody>
          <a:bodyPr wrap="square" lIns="0" tIns="0" rIns="0" bIns="0" rtlCol="0" anchor="t"/>
          <a:lstStyle/>
          <a:p>
            <a:pPr algn="r" indent="0" marL="0">
              <a:buNone/>
            </a:pPr>
            <a:r>
              <a:rPr lang="en-US" sz="900" dirty="0">
                <a:solidFill>
                  <a:schemeClr val="accent2"/>
                </a:solidFill>
              </a:rPr>
              <a:t>−10%</a:t>
            </a:r>
            <a:endParaRPr lang="en-US" sz="900" dirty="0"/>
          </a:p>
        </p:txBody>
      </p:sp>
      <p:sp>
        <p:nvSpPr>
          <p:cNvPr id="9" name="Text 7"/>
          <p:cNvSpPr txBox="1"/>
          <p:nvPr/>
        </p:nvSpPr>
        <p:spPr>
          <a:xfrm>
            <a:off x="3977640" y="4242816"/>
            <a:ext cx="1463040" cy="219456"/>
          </a:xfrm>
          <a:prstGeom prst="rect">
            <a:avLst/>
          </a:prstGeom>
          <a:noFill/>
          <a:ln/>
        </p:spPr>
        <p:txBody>
          <a:bodyPr wrap="square" lIns="0" tIns="0" rIns="0" bIns="0" rtlCol="0" anchor="t"/>
          <a:lstStyle/>
          <a:p>
            <a:pPr algn="r" indent="0" marL="0">
              <a:buNone/>
            </a:pPr>
            <a:r>
              <a:rPr lang="en-US" sz="1000" b="1" dirty="0">
                <a:solidFill>
                  <a:schemeClr val="accent2"/>
                </a:solidFill>
              </a:rPr>
              <a:t>배율 ×10 청산선</a:t>
            </a:r>
            <a:endParaRPr lang="en-US" sz="1000" dirty="0"/>
          </a:p>
        </p:txBody>
      </p:sp>
      <p:sp>
        <p:nvSpPr>
          <p:cNvPr id="10" name="dd-08-31"/>
          <p:cNvSpPr/>
          <p:nvPr/>
        </p:nvSpPr>
        <p:spPr>
          <a:xfrm>
            <a:off x="1141476" y="1828800"/>
            <a:ext cx="384048" cy="18288"/>
          </a:xfrm>
          <a:prstGeom prst="rect">
            <a:avLst/>
          </a:prstGeom>
          <a:solidFill>
            <a:schemeClr val="accent1"/>
          </a:solidFill>
          <a:ln/>
        </p:spPr>
      </p:sp>
      <p:sp>
        <p:nvSpPr>
          <p:cNvPr id="11" name="Text 9"/>
          <p:cNvSpPr txBox="1"/>
          <p:nvPr/>
        </p:nvSpPr>
        <p:spPr>
          <a:xfrm>
            <a:off x="922020" y="1874520"/>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0%</a:t>
            </a:r>
            <a:endParaRPr lang="en-US" sz="1000" dirty="0"/>
          </a:p>
        </p:txBody>
      </p:sp>
      <p:sp>
        <p:nvSpPr>
          <p:cNvPr id="12" name="Text 10"/>
          <p:cNvSpPr txBox="1"/>
          <p:nvPr/>
        </p:nvSpPr>
        <p:spPr>
          <a:xfrm>
            <a:off x="96774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08-31</a:t>
            </a:r>
            <a:endParaRPr lang="en-US" sz="900" dirty="0"/>
          </a:p>
        </p:txBody>
      </p:sp>
      <p:sp>
        <p:nvSpPr>
          <p:cNvPr id="13" name="dd-08-26"/>
          <p:cNvSpPr/>
          <p:nvPr/>
        </p:nvSpPr>
        <p:spPr>
          <a:xfrm>
            <a:off x="1888236" y="1828800"/>
            <a:ext cx="384048" cy="42794"/>
          </a:xfrm>
          <a:prstGeom prst="rect">
            <a:avLst/>
          </a:prstGeom>
          <a:solidFill>
            <a:schemeClr val="accent1"/>
          </a:solidFill>
          <a:ln/>
        </p:spPr>
      </p:sp>
      <p:sp>
        <p:nvSpPr>
          <p:cNvPr id="14" name="Text 12"/>
          <p:cNvSpPr txBox="1"/>
          <p:nvPr/>
        </p:nvSpPr>
        <p:spPr>
          <a:xfrm>
            <a:off x="1668780" y="1899026"/>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-0.18%</a:t>
            </a:r>
            <a:endParaRPr lang="en-US" sz="1000" dirty="0"/>
          </a:p>
        </p:txBody>
      </p:sp>
      <p:sp>
        <p:nvSpPr>
          <p:cNvPr id="15" name="Text 13"/>
          <p:cNvSpPr txBox="1"/>
          <p:nvPr/>
        </p:nvSpPr>
        <p:spPr>
          <a:xfrm>
            <a:off x="171450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08-26</a:t>
            </a:r>
            <a:endParaRPr lang="en-US" sz="900" dirty="0"/>
          </a:p>
        </p:txBody>
      </p:sp>
      <p:sp>
        <p:nvSpPr>
          <p:cNvPr id="16" name="dd-09-08"/>
          <p:cNvSpPr/>
          <p:nvPr/>
        </p:nvSpPr>
        <p:spPr>
          <a:xfrm>
            <a:off x="2634996" y="1828800"/>
            <a:ext cx="384048" cy="758403"/>
          </a:xfrm>
          <a:prstGeom prst="rect">
            <a:avLst/>
          </a:prstGeom>
          <a:solidFill>
            <a:schemeClr val="accent1"/>
          </a:solidFill>
          <a:ln/>
        </p:spPr>
      </p:sp>
      <p:sp>
        <p:nvSpPr>
          <p:cNvPr id="17" name="Text 15"/>
          <p:cNvSpPr txBox="1"/>
          <p:nvPr/>
        </p:nvSpPr>
        <p:spPr>
          <a:xfrm>
            <a:off x="2415540" y="2614635"/>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-3.19%</a:t>
            </a:r>
            <a:endParaRPr lang="en-US" sz="1000" dirty="0"/>
          </a:p>
        </p:txBody>
      </p:sp>
      <p:sp>
        <p:nvSpPr>
          <p:cNvPr id="18" name="Text 16"/>
          <p:cNvSpPr txBox="1"/>
          <p:nvPr/>
        </p:nvSpPr>
        <p:spPr>
          <a:xfrm>
            <a:off x="246126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09-08</a:t>
            </a:r>
            <a:endParaRPr lang="en-US" sz="900" dirty="0"/>
          </a:p>
        </p:txBody>
      </p:sp>
      <p:sp>
        <p:nvSpPr>
          <p:cNvPr id="19" name="dd-09-01"/>
          <p:cNvSpPr/>
          <p:nvPr/>
        </p:nvSpPr>
        <p:spPr>
          <a:xfrm>
            <a:off x="3381756" y="1828800"/>
            <a:ext cx="384048" cy="161666"/>
          </a:xfrm>
          <a:prstGeom prst="rect">
            <a:avLst/>
          </a:prstGeom>
          <a:solidFill>
            <a:schemeClr val="accent1"/>
          </a:solidFill>
          <a:ln/>
        </p:spPr>
      </p:sp>
      <p:sp>
        <p:nvSpPr>
          <p:cNvPr id="20" name="Text 18"/>
          <p:cNvSpPr txBox="1"/>
          <p:nvPr/>
        </p:nvSpPr>
        <p:spPr>
          <a:xfrm>
            <a:off x="3162300" y="2017898"/>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-0.68%</a:t>
            </a:r>
            <a:endParaRPr lang="en-US" sz="1000" dirty="0"/>
          </a:p>
        </p:txBody>
      </p:sp>
      <p:sp>
        <p:nvSpPr>
          <p:cNvPr id="21" name="Text 19"/>
          <p:cNvSpPr txBox="1"/>
          <p:nvPr/>
        </p:nvSpPr>
        <p:spPr>
          <a:xfrm>
            <a:off x="320802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09-01</a:t>
            </a:r>
            <a:endParaRPr lang="en-US" sz="900" dirty="0"/>
          </a:p>
        </p:txBody>
      </p:sp>
      <p:sp>
        <p:nvSpPr>
          <p:cNvPr id="22" name="dd-08-27"/>
          <p:cNvSpPr/>
          <p:nvPr/>
        </p:nvSpPr>
        <p:spPr>
          <a:xfrm>
            <a:off x="4128516" y="1828800"/>
            <a:ext cx="384048" cy="946221"/>
          </a:xfrm>
          <a:prstGeom prst="rect">
            <a:avLst/>
          </a:prstGeom>
          <a:solidFill>
            <a:schemeClr val="accent1"/>
          </a:solidFill>
          <a:ln/>
        </p:spPr>
      </p:sp>
      <p:sp>
        <p:nvSpPr>
          <p:cNvPr id="23" name="Text 21"/>
          <p:cNvSpPr txBox="1"/>
          <p:nvPr/>
        </p:nvSpPr>
        <p:spPr>
          <a:xfrm>
            <a:off x="3909060" y="2802453"/>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-3.98%</a:t>
            </a:r>
            <a:endParaRPr lang="en-US" sz="1000" dirty="0"/>
          </a:p>
        </p:txBody>
      </p:sp>
      <p:sp>
        <p:nvSpPr>
          <p:cNvPr id="24" name="Text 22"/>
          <p:cNvSpPr txBox="1"/>
          <p:nvPr/>
        </p:nvSpPr>
        <p:spPr>
          <a:xfrm>
            <a:off x="395478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08-27</a:t>
            </a:r>
            <a:endParaRPr lang="en-US" sz="900" dirty="0"/>
          </a:p>
        </p:txBody>
      </p:sp>
      <p:sp>
        <p:nvSpPr>
          <p:cNvPr id="25" name="dd-08-28"/>
          <p:cNvSpPr/>
          <p:nvPr/>
        </p:nvSpPr>
        <p:spPr>
          <a:xfrm>
            <a:off x="4875276" y="1828800"/>
            <a:ext cx="384048" cy="715609"/>
          </a:xfrm>
          <a:prstGeom prst="rect">
            <a:avLst/>
          </a:prstGeom>
          <a:solidFill>
            <a:schemeClr val="accent1"/>
          </a:solidFill>
          <a:ln/>
        </p:spPr>
      </p:sp>
      <p:sp>
        <p:nvSpPr>
          <p:cNvPr id="26" name="Text 24"/>
          <p:cNvSpPr txBox="1"/>
          <p:nvPr/>
        </p:nvSpPr>
        <p:spPr>
          <a:xfrm>
            <a:off x="4655820" y="2571841"/>
            <a:ext cx="822960" cy="201168"/>
          </a:xfrm>
          <a:prstGeom prst="rect">
            <a:avLst/>
          </a:prstGeom>
          <a:noFill/>
          <a:ln/>
        </p:spPr>
        <p:txBody>
          <a:bodyPr wrap="square" lIns="0" tIns="0" rIns="0" bIns="0" rtlCol="0" anchor="t"/>
          <a:lstStyle/>
          <a:p>
            <a:pPr algn="ctr" indent="0" marL="0">
              <a:buNone/>
            </a:pPr>
            <a:r>
              <a:rPr lang="en-US" sz="1000" b="1" dirty="0">
                <a:solidFill>
                  <a:schemeClr val="tx1"/>
                </a:solidFill>
              </a:rPr>
              <a:t>-3.01%</a:t>
            </a:r>
            <a:endParaRPr lang="en-US" sz="1000" dirty="0"/>
          </a:p>
        </p:txBody>
      </p:sp>
      <p:sp>
        <p:nvSpPr>
          <p:cNvPr id="27" name="Text 25"/>
          <p:cNvSpPr txBox="1"/>
          <p:nvPr/>
        </p:nvSpPr>
        <p:spPr>
          <a:xfrm>
            <a:off x="4701540" y="1554480"/>
            <a:ext cx="731520" cy="201168"/>
          </a:xfrm>
          <a:prstGeom prst="rect">
            <a:avLst/>
          </a:prstGeom>
          <a:noFill/>
          <a:ln/>
        </p:spPr>
        <p:txBody>
          <a:bodyPr wrap="square" lIns="0" tIns="0" rIns="0" bIns="0" rtlCol="0" anchor="t"/>
          <a:lstStyle/>
          <a:p>
            <a:pPr algn="ctr" indent="0" marL="0">
              <a:buNone/>
            </a:pPr>
            <a:r>
              <a:rPr lang="en-US" sz="900" dirty="0">
                <a:solidFill>
                  <a:schemeClr val="accent6"/>
                </a:solidFill>
              </a:rPr>
              <a:t>08-28</a:t>
            </a:r>
            <a:endParaRPr lang="en-US" sz="900" dirty="0"/>
          </a:p>
        </p:txBody>
      </p:sp>
      <p:sp>
        <p:nvSpPr>
          <p:cNvPr id="28" name="Text 26"/>
          <p:cNvSpPr txBox="1"/>
          <p:nvPr/>
        </p:nvSpPr>
        <p:spPr>
          <a:xfrm>
            <a:off x="457200" y="4434840"/>
            <a:ext cx="4937760" cy="201168"/>
          </a:xfrm>
          <a:prstGeom prst="rect">
            <a:avLst/>
          </a:prstGeom>
          <a:noFill/>
          <a:ln/>
        </p:spPr>
        <p:txBody>
          <a:bodyPr wrap="square" lIns="0" tIns="0" rIns="0" bIns="0" rtlCol="0" anchor="t"/>
          <a:lstStyle/>
          <a:p>
            <a:pPr indent="0" marL="0">
              <a:buNone/>
            </a:pPr>
            <a:r>
              <a:rPr lang="en-US" sz="900" dirty="0">
                <a:solidFill>
                  <a:schemeClr val="accent6"/>
                </a:solidFill>
              </a:rPr>
              <a:t>2026-08-26 ~ 09-08 정규장, 겹치지 않는 후보. 세 종목 중 가장 많이 내린 값</a:t>
            </a:r>
            <a:endParaRPr lang="en-US" sz="900" dirty="0"/>
          </a:p>
        </p:txBody>
      </p:sp>
      <p:sp>
        <p:nvSpPr>
          <p:cNvPr id="29" name="Shape 27"/>
          <p:cNvSpPr/>
          <p:nvPr/>
        </p:nvSpPr>
        <p:spPr>
          <a:xfrm>
            <a:off x="5669280" y="1371600"/>
            <a:ext cx="310896" cy="310896"/>
          </a:xfrm>
          <a:prstGeom prst="ellipse">
            <a:avLst/>
          </a:prstGeom>
          <a:solidFill>
            <a:schemeClr val="accent1"/>
          </a:solidFill>
          <a:ln/>
        </p:spPr>
      </p:sp>
      <p:sp>
        <p:nvSpPr>
          <p:cNvPr id="30" name="Text 28"/>
          <p:cNvSpPr txBox="1"/>
          <p:nvPr/>
        </p:nvSpPr>
        <p:spPr>
          <a:xfrm>
            <a:off x="5669280" y="137160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1" name="Text 29"/>
          <p:cNvSpPr txBox="1"/>
          <p:nvPr/>
        </p:nvSpPr>
        <p:spPr>
          <a:xfrm>
            <a:off x="6089904" y="1353312"/>
            <a:ext cx="2596896" cy="274320"/>
          </a:xfrm>
          <a:prstGeom prst="rect">
            <a:avLst/>
          </a:prstGeom>
          <a:noFill/>
          <a:ln/>
        </p:spPr>
        <p:txBody>
          <a:bodyPr wrap="square" lIns="0" tIns="0" rIns="0" bIns="0" rtlCol="0" anchor="t"/>
          <a:lstStyle/>
          <a:p>
            <a:pPr indent="0" marL="0">
              <a:buNone/>
            </a:pPr>
            <a:r>
              <a:rPr lang="en-US" sz="1250" b="1" dirty="0">
                <a:solidFill>
                  <a:schemeClr val="tx1"/>
                </a:solidFill>
              </a:rPr>
              <a:t>청산이 한 번도 안 남</a:t>
            </a:r>
            <a:endParaRPr lang="en-US" sz="1250" dirty="0"/>
          </a:p>
        </p:txBody>
      </p:sp>
      <p:sp>
        <p:nvSpPr>
          <p:cNvPr id="32" name="Text 30"/>
          <p:cNvSpPr txBox="1"/>
          <p:nvPr/>
        </p:nvSpPr>
        <p:spPr>
          <a:xfrm>
            <a:off x="6089904" y="1645920"/>
            <a:ext cx="2596896" cy="502920"/>
          </a:xfrm>
          <a:prstGeom prst="rect">
            <a:avLst/>
          </a:prstGeom>
          <a:noFill/>
          <a:ln/>
        </p:spPr>
        <p:txBody>
          <a:bodyPr wrap="square" lIns="0" tIns="0" rIns="0" bIns="0" rtlCol="0" anchor="t"/>
          <a:lstStyle/>
          <a:p>
            <a:pPr indent="0" marL="0">
              <a:buNone/>
            </a:pPr>
            <a:r>
              <a:rPr lang="en-US" sz="1050" dirty="0">
                <a:solidFill>
                  <a:schemeClr val="accent6"/>
                </a:solidFill>
              </a:rPr>
              <a:t>가장 큰 낙폭 −3.98%, 최대 배율 ×10의 청산선 −10%</a:t>
            </a:r>
            <a:endParaRPr lang="en-US" sz="1050" dirty="0"/>
          </a:p>
        </p:txBody>
      </p:sp>
      <p:sp>
        <p:nvSpPr>
          <p:cNvPr id="33" name="Shape 31"/>
          <p:cNvSpPr/>
          <p:nvPr/>
        </p:nvSpPr>
        <p:spPr>
          <a:xfrm>
            <a:off x="5669280" y="2240280"/>
            <a:ext cx="310896" cy="310896"/>
          </a:xfrm>
          <a:prstGeom prst="ellipse">
            <a:avLst/>
          </a:prstGeom>
          <a:solidFill>
            <a:schemeClr val="accent1"/>
          </a:solidFill>
          <a:ln/>
        </p:spPr>
      </p:sp>
      <p:sp>
        <p:nvSpPr>
          <p:cNvPr id="34" name="Text 32"/>
          <p:cNvSpPr txBox="1"/>
          <p:nvPr/>
        </p:nvSpPr>
        <p:spPr>
          <a:xfrm>
            <a:off x="5669280" y="224028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5" name="Text 33"/>
          <p:cNvSpPr txBox="1"/>
          <p:nvPr/>
        </p:nvSpPr>
        <p:spPr>
          <a:xfrm>
            <a:off x="6089904" y="2221992"/>
            <a:ext cx="2596896" cy="274320"/>
          </a:xfrm>
          <a:prstGeom prst="rect">
            <a:avLst/>
          </a:prstGeom>
          <a:noFill/>
          <a:ln/>
        </p:spPr>
        <p:txBody>
          <a:bodyPr wrap="square" lIns="0" tIns="0" rIns="0" bIns="0" rtlCol="0" anchor="t"/>
          <a:lstStyle/>
          <a:p>
            <a:pPr indent="0" marL="0">
              <a:buNone/>
            </a:pPr>
            <a:r>
              <a:rPr lang="en-US" sz="1250" b="1" dirty="0">
                <a:solidFill>
                  <a:schemeClr val="tx1"/>
                </a:solidFill>
              </a:rPr>
              <a:t>배율이 위험 없는 손익 확대가 됨</a:t>
            </a:r>
            <a:endParaRPr lang="en-US" sz="1250" dirty="0"/>
          </a:p>
        </p:txBody>
      </p:sp>
      <p:sp>
        <p:nvSpPr>
          <p:cNvPr id="36" name="Text 34"/>
          <p:cNvSpPr txBox="1"/>
          <p:nvPr/>
        </p:nvSpPr>
        <p:spPr>
          <a:xfrm>
            <a:off x="6089904" y="2514600"/>
            <a:ext cx="2596896" cy="502920"/>
          </a:xfrm>
          <a:prstGeom prst="rect">
            <a:avLst/>
          </a:prstGeom>
          <a:noFill/>
          <a:ln/>
        </p:spPr>
        <p:txBody>
          <a:bodyPr wrap="square" lIns="0" tIns="0" rIns="0" bIns="0" rtlCol="0" anchor="t"/>
          <a:lstStyle/>
          <a:p>
            <a:pPr indent="0" marL="0">
              <a:buNone/>
            </a:pPr>
            <a:r>
              <a:rPr lang="en-US" sz="1050" dirty="0">
                <a:solidFill>
                  <a:schemeClr val="accent6"/>
                </a:solidFill>
              </a:rPr>
              <a:t>항상 최대 배율이 정답, 팔지 말지 고민이 사라짐</a:t>
            </a:r>
            <a:endParaRPr lang="en-US" sz="1050" dirty="0"/>
          </a:p>
        </p:txBody>
      </p:sp>
      <p:sp>
        <p:nvSpPr>
          <p:cNvPr id="37" name="Shape 35"/>
          <p:cNvSpPr/>
          <p:nvPr/>
        </p:nvSpPr>
        <p:spPr>
          <a:xfrm>
            <a:off x="5669280" y="3108960"/>
            <a:ext cx="310896" cy="310896"/>
          </a:xfrm>
          <a:prstGeom prst="ellipse">
            <a:avLst/>
          </a:prstGeom>
          <a:solidFill>
            <a:schemeClr val="accent1"/>
          </a:solidFill>
          <a:ln/>
        </p:spPr>
      </p:sp>
      <p:sp>
        <p:nvSpPr>
          <p:cNvPr id="38" name="Text 36"/>
          <p:cNvSpPr txBox="1"/>
          <p:nvPr/>
        </p:nvSpPr>
        <p:spPr>
          <a:xfrm>
            <a:off x="5669280" y="310896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9" name="Text 37"/>
          <p:cNvSpPr txBox="1"/>
          <p:nvPr/>
        </p:nvSpPr>
        <p:spPr>
          <a:xfrm>
            <a:off x="6089904" y="3090672"/>
            <a:ext cx="2596896" cy="274320"/>
          </a:xfrm>
          <a:prstGeom prst="rect">
            <a:avLst/>
          </a:prstGeom>
          <a:noFill/>
          <a:ln/>
        </p:spPr>
        <p:txBody>
          <a:bodyPr wrap="square" lIns="0" tIns="0" rIns="0" bIns="0" rtlCol="0" anchor="t"/>
          <a:lstStyle/>
          <a:p>
            <a:pPr indent="0" marL="0">
              <a:buNone/>
            </a:pPr>
            <a:r>
              <a:rPr lang="en-US" sz="1250" b="1" dirty="0">
                <a:solidFill>
                  <a:schemeClr val="tx1"/>
                </a:solidFill>
              </a:rPr>
              <a:t>데이터로도 해결 어려움</a:t>
            </a:r>
            <a:endParaRPr lang="en-US" sz="1250" dirty="0"/>
          </a:p>
        </p:txBody>
      </p:sp>
      <p:sp>
        <p:nvSpPr>
          <p:cNvPr id="40" name="Text 38"/>
          <p:cNvSpPr txBox="1"/>
          <p:nvPr/>
        </p:nvSpPr>
        <p:spPr>
          <a:xfrm>
            <a:off x="6089904" y="3383280"/>
            <a:ext cx="2596896" cy="502920"/>
          </a:xfrm>
          <a:prstGeom prst="rect">
            <a:avLst/>
          </a:prstGeom>
          <a:noFill/>
          <a:ln/>
        </p:spPr>
        <p:txBody>
          <a:bodyPr wrap="square" lIns="0" tIns="0" rIns="0" bIns="0" rtlCol="0" anchor="t"/>
          <a:lstStyle/>
          <a:p>
            <a:pPr indent="0" marL="0">
              <a:buNone/>
            </a:pPr>
            <a:r>
              <a:rPr lang="en-US" sz="1050" dirty="0">
                <a:solidFill>
                  <a:schemeClr val="accent6"/>
                </a:solidFill>
              </a:rPr>
              <a:t>분봉 데이터 14일치, 더 받을 수 없는 상황</a:t>
            </a:r>
            <a:endParaRPr lang="en-US" sz="1050" dirty="0"/>
          </a:p>
        </p:txBody>
      </p:sp>
      <p:sp>
        <p:nvSpPr>
          <p:cNvPr id="41" name="freeze"/>
          <p:cNvSpPr/>
          <p:nvPr/>
        </p:nvSpPr>
        <p:spPr>
          <a:xfrm>
            <a:off x="5669280" y="3977640"/>
            <a:ext cx="3017520" cy="594360"/>
          </a:xfrm>
          <a:prstGeom prst="roundRect">
            <a:avLst>
              <a:gd name="adj" fmla="val 12308"/>
            </a:avLst>
          </a:prstGeom>
          <a:solidFill>
            <a:schemeClr val="accent1"/>
          </a:solidFill>
          <a:ln/>
        </p:spPr>
      </p:sp>
      <p:sp>
        <p:nvSpPr>
          <p:cNvPr id="42" name="Text 40"/>
          <p:cNvSpPr txBox="1"/>
          <p:nvPr/>
        </p:nvSpPr>
        <p:spPr>
          <a:xfrm>
            <a:off x="5833872" y="4005072"/>
            <a:ext cx="2688336" cy="548640"/>
          </a:xfrm>
          <a:prstGeom prst="rect">
            <a:avLst/>
          </a:prstGeom>
          <a:noFill/>
          <a:ln/>
        </p:spPr>
        <p:txBody>
          <a:bodyPr wrap="square" lIns="0" tIns="0" rIns="0" bIns="0" rtlCol="0" anchor="ctr"/>
          <a:lstStyle/>
          <a:p>
            <a:pPr indent="0" marL="0">
              <a:buNone/>
            </a:pPr>
            <a:r>
              <a:rPr lang="en-US" sz="1300" b="1" dirty="0">
                <a:solidFill>
                  <a:schemeClr val="bg1"/>
                </a:solidFill>
              </a:rPr>
              <a:t>결정: 동결</a:t>
            </a:r>
            <a:endParaRPr lang="en-US" sz="1300" dirty="0"/>
          </a:p>
          <a:p>
            <a:pPr indent="0" marL="0">
              <a:buNone/>
            </a:pPr>
            <a:r>
              <a:rPr lang="en-US" sz="1050" dirty="0">
                <a:solidFill>
                  <a:schemeClr val="bg1"/>
                </a:solidFill>
              </a:rPr>
              <a:t>화면과 코드는 유지, 추가 작업 중단</a:t>
            </a:r>
            <a:endParaRPr lang="en-US" sz="13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플레이하며 다듬은 것</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직접 해 보거나 함께 플레이하며 드러난 문제를 규칙과 설정으로 조정</a:t>
            </a:r>
            <a:endParaRPr lang="en-US" sz="1400" dirty="0"/>
          </a:p>
        </p:txBody>
      </p:sp>
      <p:sp>
        <p:nvSpPr>
          <p:cNvPr id="4" name="Text 2"/>
          <p:cNvSpPr txBox="1"/>
          <p:nvPr/>
        </p:nvSpPr>
        <p:spPr>
          <a:xfrm>
            <a:off x="1097280" y="1371600"/>
            <a:ext cx="2011680" cy="256032"/>
          </a:xfrm>
          <a:prstGeom prst="rect">
            <a:avLst/>
          </a:prstGeom>
          <a:noFill/>
          <a:ln/>
        </p:spPr>
        <p:txBody>
          <a:bodyPr wrap="square" lIns="0" tIns="0" rIns="0" bIns="0" rtlCol="0" anchor="t"/>
          <a:lstStyle/>
          <a:p>
            <a:pPr indent="0" marL="0">
              <a:buNone/>
            </a:pPr>
            <a:r>
              <a:rPr lang="en-US" sz="1100" b="1" dirty="0">
                <a:solidFill>
                  <a:schemeClr val="accent6"/>
                </a:solidFill>
              </a:rPr>
              <a:t>문제</a:t>
            </a:r>
            <a:endParaRPr lang="en-US" sz="1100" dirty="0"/>
          </a:p>
        </p:txBody>
      </p:sp>
      <p:sp>
        <p:nvSpPr>
          <p:cNvPr id="5" name="Text 3"/>
          <p:cNvSpPr txBox="1"/>
          <p:nvPr/>
        </p:nvSpPr>
        <p:spPr>
          <a:xfrm>
            <a:off x="3429000" y="1371600"/>
            <a:ext cx="2011680" cy="256032"/>
          </a:xfrm>
          <a:prstGeom prst="rect">
            <a:avLst/>
          </a:prstGeom>
          <a:noFill/>
          <a:ln/>
        </p:spPr>
        <p:txBody>
          <a:bodyPr wrap="square" lIns="0" tIns="0" rIns="0" bIns="0" rtlCol="0" anchor="t"/>
          <a:lstStyle/>
          <a:p>
            <a:pPr indent="0" marL="0">
              <a:buNone/>
            </a:pPr>
            <a:r>
              <a:rPr lang="en-US" sz="1100" b="1" dirty="0">
                <a:solidFill>
                  <a:schemeClr val="accent6"/>
                </a:solidFill>
              </a:rPr>
              <a:t>원인</a:t>
            </a:r>
            <a:endParaRPr lang="en-US" sz="1100" dirty="0"/>
          </a:p>
        </p:txBody>
      </p:sp>
      <p:sp>
        <p:nvSpPr>
          <p:cNvPr id="6" name="Text 4"/>
          <p:cNvSpPr txBox="1"/>
          <p:nvPr/>
        </p:nvSpPr>
        <p:spPr>
          <a:xfrm>
            <a:off x="5715000" y="1371600"/>
            <a:ext cx="2011680" cy="256032"/>
          </a:xfrm>
          <a:prstGeom prst="rect">
            <a:avLst/>
          </a:prstGeom>
          <a:noFill/>
          <a:ln/>
        </p:spPr>
        <p:txBody>
          <a:bodyPr wrap="square" lIns="0" tIns="0" rIns="0" bIns="0" rtlCol="0" anchor="t"/>
          <a:lstStyle/>
          <a:p>
            <a:pPr indent="0" marL="0">
              <a:buNone/>
            </a:pPr>
            <a:r>
              <a:rPr lang="en-US" sz="1100" b="1" dirty="0">
                <a:solidFill>
                  <a:schemeClr val="accent6"/>
                </a:solidFill>
              </a:rPr>
              <a:t>조정</a:t>
            </a:r>
            <a:endParaRPr lang="en-US" sz="1100" dirty="0"/>
          </a:p>
        </p:txBody>
      </p:sp>
      <p:sp>
        <p:nvSpPr>
          <p:cNvPr id="7" name="fb-1"/>
          <p:cNvSpPr/>
          <p:nvPr/>
        </p:nvSpPr>
        <p:spPr>
          <a:xfrm>
            <a:off x="457200" y="1719072"/>
            <a:ext cx="8229600" cy="621792"/>
          </a:xfrm>
          <a:prstGeom prst="roundRect">
            <a:avLst>
              <a:gd name="adj" fmla="val 11765"/>
            </a:avLst>
          </a:prstGeom>
          <a:solidFill>
            <a:schemeClr val="bg2"/>
          </a:solidFill>
          <a:ln/>
        </p:spPr>
      </p:sp>
      <p:sp>
        <p:nvSpPr>
          <p:cNvPr id="8" name="Shape 6"/>
          <p:cNvSpPr/>
          <p:nvPr/>
        </p:nvSpPr>
        <p:spPr>
          <a:xfrm>
            <a:off x="594360" y="1828800"/>
            <a:ext cx="402336" cy="402336"/>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694944" y="1929384"/>
            <a:ext cx="201168" cy="201168"/>
          </a:xfrm>
          <a:prstGeom prst="rect">
            <a:avLst/>
          </a:prstGeom>
        </p:spPr>
      </p:pic>
      <p:sp>
        <p:nvSpPr>
          <p:cNvPr id="10" name="Text 7"/>
          <p:cNvSpPr txBox="1"/>
          <p:nvPr/>
        </p:nvSpPr>
        <p:spPr>
          <a:xfrm>
            <a:off x="1097280" y="1719072"/>
            <a:ext cx="2240280" cy="621792"/>
          </a:xfrm>
          <a:prstGeom prst="rect">
            <a:avLst/>
          </a:prstGeom>
          <a:noFill/>
          <a:ln/>
        </p:spPr>
        <p:txBody>
          <a:bodyPr wrap="square" lIns="0" tIns="0" rIns="0" bIns="0" rtlCol="0" anchor="ctr"/>
          <a:lstStyle/>
          <a:p>
            <a:pPr indent="0" marL="0">
              <a:buNone/>
            </a:pPr>
            <a:r>
              <a:rPr lang="en-US" sz="1250" b="1" dirty="0">
                <a:solidFill>
                  <a:schemeClr val="tx1"/>
                </a:solidFill>
              </a:rPr>
              <a:t>틱이 너무 빠름</a:t>
            </a:r>
            <a:endParaRPr lang="en-US" sz="1250" dirty="0"/>
          </a:p>
        </p:txBody>
      </p:sp>
      <p:sp>
        <p:nvSpPr>
          <p:cNvPr id="11" name="Text 8"/>
          <p:cNvSpPr txBox="1"/>
          <p:nvPr/>
        </p:nvSpPr>
        <p:spPr>
          <a:xfrm>
            <a:off x="3429000" y="1719072"/>
            <a:ext cx="2194560" cy="621792"/>
          </a:xfrm>
          <a:prstGeom prst="rect">
            <a:avLst/>
          </a:prstGeom>
          <a:noFill/>
          <a:ln/>
        </p:spPr>
        <p:txBody>
          <a:bodyPr wrap="square" lIns="0" tIns="0" rIns="0" bIns="0" rtlCol="0" anchor="ctr"/>
          <a:lstStyle/>
          <a:p>
            <a:pPr indent="0" marL="0">
              <a:buNone/>
            </a:pPr>
            <a:r>
              <a:rPr lang="en-US" sz="1100" dirty="0">
                <a:solidFill>
                  <a:schemeClr val="accent6"/>
                </a:solidFill>
              </a:rPr>
              <a:t>테스트용 0.2초 틱으로 플레이</a:t>
            </a:r>
            <a:endParaRPr lang="en-US" sz="1100" dirty="0"/>
          </a:p>
        </p:txBody>
      </p:sp>
      <p:sp>
        <p:nvSpPr>
          <p:cNvPr id="12" name="Text 9"/>
          <p:cNvSpPr txBox="1"/>
          <p:nvPr/>
        </p:nvSpPr>
        <p:spPr>
          <a:xfrm>
            <a:off x="5715000" y="1719072"/>
            <a:ext cx="2880360" cy="621792"/>
          </a:xfrm>
          <a:prstGeom prst="rect">
            <a:avLst/>
          </a:prstGeom>
          <a:noFill/>
          <a:ln/>
        </p:spPr>
        <p:txBody>
          <a:bodyPr wrap="square" lIns="0" tIns="0" rIns="0" bIns="0" rtlCol="0" anchor="ctr"/>
          <a:lstStyle/>
          <a:p>
            <a:pPr indent="0" marL="0">
              <a:buNone/>
            </a:pPr>
            <a:r>
              <a:rPr lang="en-US" sz="1150" b="1" dirty="0">
                <a:solidFill>
                  <a:schemeClr val="accent1"/>
                </a:solidFill>
              </a:rPr>
              <a:t>기본 1틱 = 1초로 고정, 4분 한 판</a:t>
            </a:r>
            <a:endParaRPr lang="en-US" sz="1150" dirty="0"/>
          </a:p>
        </p:txBody>
      </p:sp>
      <p:sp>
        <p:nvSpPr>
          <p:cNvPr id="13" name="fb-2"/>
          <p:cNvSpPr/>
          <p:nvPr/>
        </p:nvSpPr>
        <p:spPr>
          <a:xfrm>
            <a:off x="457200" y="2432304"/>
            <a:ext cx="8229600" cy="621792"/>
          </a:xfrm>
          <a:prstGeom prst="roundRect">
            <a:avLst>
              <a:gd name="adj" fmla="val 11765"/>
            </a:avLst>
          </a:prstGeom>
          <a:solidFill>
            <a:schemeClr val="bg2"/>
          </a:solidFill>
          <a:ln/>
        </p:spPr>
      </p:sp>
      <p:sp>
        <p:nvSpPr>
          <p:cNvPr id="14" name="Shape 11"/>
          <p:cNvSpPr/>
          <p:nvPr/>
        </p:nvSpPr>
        <p:spPr>
          <a:xfrm>
            <a:off x="594360" y="2542032"/>
            <a:ext cx="402336" cy="402336"/>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694944" y="2642616"/>
            <a:ext cx="201168" cy="201168"/>
          </a:xfrm>
          <a:prstGeom prst="rect">
            <a:avLst/>
          </a:prstGeom>
        </p:spPr>
      </p:pic>
      <p:sp>
        <p:nvSpPr>
          <p:cNvPr id="16" name="Text 12"/>
          <p:cNvSpPr txBox="1"/>
          <p:nvPr/>
        </p:nvSpPr>
        <p:spPr>
          <a:xfrm>
            <a:off x="1097280" y="2432304"/>
            <a:ext cx="2240280" cy="621792"/>
          </a:xfrm>
          <a:prstGeom prst="rect">
            <a:avLst/>
          </a:prstGeom>
          <a:noFill/>
          <a:ln/>
        </p:spPr>
        <p:txBody>
          <a:bodyPr wrap="square" lIns="0" tIns="0" rIns="0" bIns="0" rtlCol="0" anchor="ctr"/>
          <a:lstStyle/>
          <a:p>
            <a:pPr indent="0" marL="0">
              <a:buNone/>
            </a:pPr>
            <a:r>
              <a:rPr lang="en-US" sz="1250" b="1" dirty="0">
                <a:solidFill>
                  <a:schemeClr val="tx1"/>
                </a:solidFill>
              </a:rPr>
              <a:t>판 길이가 하나뿐</a:t>
            </a:r>
            <a:endParaRPr lang="en-US" sz="1250" dirty="0"/>
          </a:p>
        </p:txBody>
      </p:sp>
      <p:sp>
        <p:nvSpPr>
          <p:cNvPr id="17" name="Text 13"/>
          <p:cNvSpPr txBox="1"/>
          <p:nvPr/>
        </p:nvSpPr>
        <p:spPr>
          <a:xfrm>
            <a:off x="3429000" y="2432304"/>
            <a:ext cx="2194560" cy="621792"/>
          </a:xfrm>
          <a:prstGeom prst="rect">
            <a:avLst/>
          </a:prstGeom>
          <a:noFill/>
          <a:ln/>
        </p:spPr>
        <p:txBody>
          <a:bodyPr wrap="square" lIns="0" tIns="0" rIns="0" bIns="0" rtlCol="0" anchor="ctr"/>
          <a:lstStyle/>
          <a:p>
            <a:pPr indent="0" marL="0">
              <a:buNone/>
            </a:pPr>
            <a:r>
              <a:rPr lang="en-US" sz="1100" dirty="0">
                <a:solidFill>
                  <a:schemeClr val="accent6"/>
                </a:solidFill>
              </a:rPr>
              <a:t>4분 고정</a:t>
            </a:r>
            <a:endParaRPr lang="en-US" sz="1100" dirty="0"/>
          </a:p>
        </p:txBody>
      </p:sp>
      <p:sp>
        <p:nvSpPr>
          <p:cNvPr id="18" name="Text 14"/>
          <p:cNvSpPr txBox="1"/>
          <p:nvPr/>
        </p:nvSpPr>
        <p:spPr>
          <a:xfrm>
            <a:off x="5715000" y="2432304"/>
            <a:ext cx="2880360" cy="621792"/>
          </a:xfrm>
          <a:prstGeom prst="rect">
            <a:avLst/>
          </a:prstGeom>
          <a:noFill/>
          <a:ln/>
        </p:spPr>
        <p:txBody>
          <a:bodyPr wrap="square" lIns="0" tIns="0" rIns="0" bIns="0" rtlCol="0" anchor="ctr"/>
          <a:lstStyle/>
          <a:p>
            <a:pPr indent="0" marL="0">
              <a:buNone/>
            </a:pPr>
            <a:r>
              <a:rPr lang="en-US" sz="1150" b="1" dirty="0">
                <a:solidFill>
                  <a:schemeClr val="accent1"/>
                </a:solidFill>
              </a:rPr>
              <a:t>방 만들 때 1분, 2분, 4분 중 선택</a:t>
            </a:r>
            <a:endParaRPr lang="en-US" sz="1150" dirty="0"/>
          </a:p>
        </p:txBody>
      </p:sp>
      <p:sp>
        <p:nvSpPr>
          <p:cNvPr id="19" name="fb-3"/>
          <p:cNvSpPr/>
          <p:nvPr/>
        </p:nvSpPr>
        <p:spPr>
          <a:xfrm>
            <a:off x="457200" y="3145536"/>
            <a:ext cx="8229600" cy="621792"/>
          </a:xfrm>
          <a:prstGeom prst="roundRect">
            <a:avLst>
              <a:gd name="adj" fmla="val 11765"/>
            </a:avLst>
          </a:prstGeom>
          <a:solidFill>
            <a:schemeClr val="bg2"/>
          </a:solidFill>
          <a:ln/>
        </p:spPr>
      </p:sp>
      <p:sp>
        <p:nvSpPr>
          <p:cNvPr id="20" name="Shape 16"/>
          <p:cNvSpPr/>
          <p:nvPr/>
        </p:nvSpPr>
        <p:spPr>
          <a:xfrm>
            <a:off x="594360" y="3255264"/>
            <a:ext cx="402336" cy="402336"/>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694944" y="3355848"/>
            <a:ext cx="201168" cy="201168"/>
          </a:xfrm>
          <a:prstGeom prst="rect">
            <a:avLst/>
          </a:prstGeom>
        </p:spPr>
      </p:pic>
      <p:sp>
        <p:nvSpPr>
          <p:cNvPr id="22" name="Text 17"/>
          <p:cNvSpPr txBox="1"/>
          <p:nvPr/>
        </p:nvSpPr>
        <p:spPr>
          <a:xfrm>
            <a:off x="1097280" y="3145536"/>
            <a:ext cx="2240280" cy="621792"/>
          </a:xfrm>
          <a:prstGeom prst="rect">
            <a:avLst/>
          </a:prstGeom>
          <a:noFill/>
          <a:ln/>
        </p:spPr>
        <p:txBody>
          <a:bodyPr wrap="square" lIns="0" tIns="0" rIns="0" bIns="0" rtlCol="0" anchor="ctr"/>
          <a:lstStyle/>
          <a:p>
            <a:pPr indent="0" marL="0">
              <a:buNone/>
            </a:pPr>
            <a:r>
              <a:rPr lang="en-US" sz="1250" b="1" dirty="0">
                <a:solidFill>
                  <a:schemeClr val="tx1"/>
                </a:solidFill>
              </a:rPr>
              <a:t>나간 사람이 방에 남음</a:t>
            </a:r>
            <a:endParaRPr lang="en-US" sz="1250" dirty="0"/>
          </a:p>
        </p:txBody>
      </p:sp>
      <p:sp>
        <p:nvSpPr>
          <p:cNvPr id="23" name="Text 18"/>
          <p:cNvSpPr txBox="1"/>
          <p:nvPr/>
        </p:nvSpPr>
        <p:spPr>
          <a:xfrm>
            <a:off x="3429000" y="3145536"/>
            <a:ext cx="2194560" cy="621792"/>
          </a:xfrm>
          <a:prstGeom prst="rect">
            <a:avLst/>
          </a:prstGeom>
          <a:noFill/>
          <a:ln/>
        </p:spPr>
        <p:txBody>
          <a:bodyPr wrap="square" lIns="0" tIns="0" rIns="0" bIns="0" rtlCol="0" anchor="ctr"/>
          <a:lstStyle/>
          <a:p>
            <a:pPr indent="0" marL="0">
              <a:buNone/>
            </a:pPr>
            <a:r>
              <a:rPr lang="en-US" sz="1100" dirty="0">
                <a:solidFill>
                  <a:schemeClr val="accent6"/>
                </a:solidFill>
              </a:rPr>
              <a:t>대기 중 연결이 끊긴 참가자</a:t>
            </a:r>
            <a:endParaRPr lang="en-US" sz="1100" dirty="0"/>
          </a:p>
        </p:txBody>
      </p:sp>
      <p:sp>
        <p:nvSpPr>
          <p:cNvPr id="24" name="Text 19"/>
          <p:cNvSpPr txBox="1"/>
          <p:nvPr/>
        </p:nvSpPr>
        <p:spPr>
          <a:xfrm>
            <a:off x="5715000" y="3145536"/>
            <a:ext cx="2880360" cy="621792"/>
          </a:xfrm>
          <a:prstGeom prst="rect">
            <a:avLst/>
          </a:prstGeom>
          <a:noFill/>
          <a:ln/>
        </p:spPr>
        <p:txBody>
          <a:bodyPr wrap="square" lIns="0" tIns="0" rIns="0" bIns="0" rtlCol="0" anchor="ctr"/>
          <a:lstStyle/>
          <a:p>
            <a:pPr indent="0" marL="0">
              <a:buNone/>
            </a:pPr>
            <a:r>
              <a:rPr lang="en-US" sz="1150" b="1" dirty="0">
                <a:solidFill>
                  <a:schemeClr val="accent1"/>
                </a:solidFill>
              </a:rPr>
              <a:t>15초 뒤 자동 퇴장, 30분 무활동 대기방 정리</a:t>
            </a:r>
            <a:endParaRPr lang="en-US" sz="1150" dirty="0"/>
          </a:p>
        </p:txBody>
      </p:sp>
      <p:sp>
        <p:nvSpPr>
          <p:cNvPr id="25" name="fb-4"/>
          <p:cNvSpPr/>
          <p:nvPr/>
        </p:nvSpPr>
        <p:spPr>
          <a:xfrm>
            <a:off x="457200" y="3858768"/>
            <a:ext cx="8229600" cy="621792"/>
          </a:xfrm>
          <a:prstGeom prst="roundRect">
            <a:avLst>
              <a:gd name="adj" fmla="val 11765"/>
            </a:avLst>
          </a:prstGeom>
          <a:solidFill>
            <a:schemeClr val="bg2"/>
          </a:solidFill>
          <a:ln/>
        </p:spPr>
      </p:sp>
      <p:sp>
        <p:nvSpPr>
          <p:cNvPr id="26" name="Shape 21"/>
          <p:cNvSpPr/>
          <p:nvPr/>
        </p:nvSpPr>
        <p:spPr>
          <a:xfrm>
            <a:off x="594360" y="3968496"/>
            <a:ext cx="402336" cy="402336"/>
          </a:xfrm>
          <a:prstGeom prst="ellipse">
            <a:avLst/>
          </a:prstGeom>
          <a:solidFill>
            <a:schemeClr val="accent1"/>
          </a:solidFill>
          <a:ln/>
        </p:spPr>
      </p:sp>
      <p:pic>
        <p:nvPicPr>
          <p:cNvPr id="27" name="Image 3" descr="preencoded.png">    </p:cNvPr>
          <p:cNvPicPr>
            <a:picLocks noChangeAspect="1"/>
          </p:cNvPicPr>
          <p:nvPr/>
        </p:nvPicPr>
        <p:blipFill>
          <a:blip r:embed="rId4"/>
          <a:stretch>
            <a:fillRect/>
          </a:stretch>
        </p:blipFill>
        <p:spPr>
          <a:xfrm>
            <a:off x="694944" y="4069080"/>
            <a:ext cx="201168" cy="201168"/>
          </a:xfrm>
          <a:prstGeom prst="rect">
            <a:avLst/>
          </a:prstGeom>
        </p:spPr>
      </p:pic>
      <p:sp>
        <p:nvSpPr>
          <p:cNvPr id="28" name="Text 22"/>
          <p:cNvSpPr txBox="1"/>
          <p:nvPr/>
        </p:nvSpPr>
        <p:spPr>
          <a:xfrm>
            <a:off x="1097280" y="3858768"/>
            <a:ext cx="2240280" cy="621792"/>
          </a:xfrm>
          <a:prstGeom prst="rect">
            <a:avLst/>
          </a:prstGeom>
          <a:noFill/>
          <a:ln/>
        </p:spPr>
        <p:txBody>
          <a:bodyPr wrap="square" lIns="0" tIns="0" rIns="0" bIns="0" rtlCol="0" anchor="ctr"/>
          <a:lstStyle/>
          <a:p>
            <a:pPr indent="0" marL="0">
              <a:buNone/>
            </a:pPr>
            <a:r>
              <a:rPr lang="en-US" sz="1250" b="1" dirty="0">
                <a:solidFill>
                  <a:schemeClr val="tx1"/>
                </a:solidFill>
              </a:rPr>
              <a:t>새로고침하면 차트가 사라짐</a:t>
            </a:r>
            <a:endParaRPr lang="en-US" sz="1250" dirty="0"/>
          </a:p>
        </p:txBody>
      </p:sp>
      <p:sp>
        <p:nvSpPr>
          <p:cNvPr id="29" name="Text 23"/>
          <p:cNvSpPr txBox="1"/>
          <p:nvPr/>
        </p:nvSpPr>
        <p:spPr>
          <a:xfrm>
            <a:off x="3429000" y="3858768"/>
            <a:ext cx="2194560" cy="621792"/>
          </a:xfrm>
          <a:prstGeom prst="rect">
            <a:avLst/>
          </a:prstGeom>
          <a:noFill/>
          <a:ln/>
        </p:spPr>
        <p:txBody>
          <a:bodyPr wrap="square" lIns="0" tIns="0" rIns="0" bIns="0" rtlCol="0" anchor="ctr"/>
          <a:lstStyle/>
          <a:p>
            <a:pPr indent="0" marL="0">
              <a:buNone/>
            </a:pPr>
            <a:r>
              <a:rPr lang="en-US" sz="1100" dirty="0">
                <a:solidFill>
                  <a:schemeClr val="accent6"/>
                </a:solidFill>
              </a:rPr>
              <a:t>현재 틱만 다시 받음</a:t>
            </a:r>
            <a:endParaRPr lang="en-US" sz="1100" dirty="0"/>
          </a:p>
        </p:txBody>
      </p:sp>
      <p:sp>
        <p:nvSpPr>
          <p:cNvPr id="30" name="Text 24"/>
          <p:cNvSpPr txBox="1"/>
          <p:nvPr/>
        </p:nvSpPr>
        <p:spPr>
          <a:xfrm>
            <a:off x="5715000" y="3858768"/>
            <a:ext cx="2880360" cy="621792"/>
          </a:xfrm>
          <a:prstGeom prst="rect">
            <a:avLst/>
          </a:prstGeom>
          <a:noFill/>
          <a:ln/>
        </p:spPr>
        <p:txBody>
          <a:bodyPr wrap="square" lIns="0" tIns="0" rIns="0" bIns="0" rtlCol="0" anchor="ctr"/>
          <a:lstStyle/>
          <a:p>
            <a:pPr indent="0" marL="0">
              <a:buNone/>
            </a:pPr>
            <a:r>
              <a:rPr lang="en-US" sz="1150" b="1" dirty="0">
                <a:solidFill>
                  <a:schemeClr val="accent1"/>
                </a:solidFill>
              </a:rPr>
              <a:t>지금까지의 봉 전체 복원, 2초 뒤 자동 재연결</a:t>
            </a:r>
            <a:endParaRPr lang="en-US" sz="1150" dirty="0"/>
          </a:p>
        </p:txBody>
      </p:sp>
      <p:sp>
        <p:nvSpPr>
          <p:cNvPr id="31" name="Text 25"/>
          <p:cNvSpPr txBox="1"/>
          <p:nvPr/>
        </p:nvSpPr>
        <p:spPr>
          <a:xfrm>
            <a:off x="457200" y="4553712"/>
            <a:ext cx="8229600" cy="201168"/>
          </a:xfrm>
          <a:prstGeom prst="rect">
            <a:avLst/>
          </a:prstGeom>
          <a:noFill/>
          <a:ln/>
        </p:spPr>
        <p:txBody>
          <a:bodyPr wrap="square" lIns="0" tIns="0" rIns="0" bIns="0" rtlCol="0" anchor="t"/>
          <a:lstStyle/>
          <a:p>
            <a:pPr indent="0" marL="0">
              <a:buNone/>
            </a:pPr>
            <a:r>
              <a:rPr lang="en-US" sz="1000" dirty="0">
                <a:solidFill>
                  <a:schemeClr val="accent6"/>
                </a:solidFill>
              </a:rPr>
              <a:t>한계: 1분, 2분 판은 시나리오 앞부분만 사용, 변동폭 기준은 4분 판 기준으로만 검사</a:t>
            </a:r>
            <a:endParaRPr lang="en-US" sz="100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운영 사고와 복구</a:t>
            </a:r>
            <a:endParaRPr lang="en-US" sz="3000" dirty="0"/>
          </a:p>
        </p:txBody>
      </p:sp>
      <p:sp>
        <p:nvSpPr>
          <p:cNvPr id="3" name="Text 0"/>
          <p:cNvSpPr/>
          <p:nvPr>
            <p:ph idx="101" type="body" hasCustomPrompt="1"/>
          </p:nvPr>
        </p:nvSpPr>
        <p:spPr>
          <a:xfrm>
            <a:off x="457200" y="859536"/>
            <a:ext cx="8229600" cy="329184"/>
          </a:xfrm>
          <a:prstGeom prst="rect">
            <a:avLst/>
          </a:prstGeom>
          <a:noFill/>
          <a:ln/>
        </p:spPr>
        <p:txBody>
          <a:bodyPr wrap="square" lIns="0" tIns="0" rIns="0" bIns="0" rtlCol="0" anchor="t"/>
          <a:lstStyle/>
          <a:p>
            <a:pPr algn="l" indent="0" marL="0">
              <a:buNone/>
            </a:pPr>
            <a:r>
              <a:rPr lang="en-US" sz="1400" dirty="0">
                <a:solidFill>
                  <a:schemeClr val="accent6"/>
                </a:solidFill>
              </a:rPr>
              <a:t>개발 환경에서 생긴 사고 두 건, 원인과 재발 방지</a:t>
            </a:r>
            <a:endParaRPr lang="en-US" sz="1400" dirty="0"/>
          </a:p>
        </p:txBody>
      </p:sp>
      <p:sp>
        <p:nvSpPr>
          <p:cNvPr id="4" name="case-1"/>
          <p:cNvSpPr/>
          <p:nvPr/>
        </p:nvSpPr>
        <p:spPr>
          <a:xfrm>
            <a:off x="457200" y="1371600"/>
            <a:ext cx="4023360" cy="3200400"/>
          </a:xfrm>
          <a:prstGeom prst="roundRect">
            <a:avLst>
              <a:gd name="adj" fmla="val 2286"/>
            </a:avLst>
          </a:prstGeom>
          <a:solidFill>
            <a:schemeClr val="bg2"/>
          </a:solidFill>
          <a:ln/>
        </p:spPr>
      </p:sp>
      <p:sp>
        <p:nvSpPr>
          <p:cNvPr id="5" name="Text 3"/>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600" b="1" dirty="0">
                <a:solidFill>
                  <a:schemeClr val="accent1"/>
                </a:solidFill>
              </a:rPr>
              <a:t>기기 이전 중 유실</a:t>
            </a:r>
            <a:endParaRPr lang="en-US" sz="1600" dirty="0"/>
          </a:p>
        </p:txBody>
      </p:sp>
      <p:sp>
        <p:nvSpPr>
          <p:cNvPr id="6" name="Text 4"/>
          <p:cNvSpPr txBox="1"/>
          <p:nvPr/>
        </p:nvSpPr>
        <p:spPr>
          <a:xfrm>
            <a:off x="685800" y="1874520"/>
            <a:ext cx="3566160" cy="731520"/>
          </a:xfrm>
          <a:prstGeom prst="rect">
            <a:avLst/>
          </a:prstGeom>
          <a:noFill/>
          <a:ln/>
        </p:spPr>
        <p:txBody>
          <a:bodyPr wrap="square" lIns="0" tIns="0" rIns="0" bIns="0" rtlCol="0" anchor="t"/>
          <a:lstStyle/>
          <a:p>
            <a:pPr indent="0" marL="0">
              <a:buNone/>
            </a:pPr>
            <a:r>
              <a:rPr lang="en-US" sz="1150" dirty="0">
                <a:solidFill>
                  <a:schemeClr val="tx1"/>
                </a:solidFill>
              </a:rPr>
              <a:t>Windows PC에서 Mac으로 옮기며 원격 저장소에 올리지 않은 커밋 3개와 소스 일부 유실</a:t>
            </a:r>
            <a:endParaRPr lang="en-US" sz="1150" dirty="0"/>
          </a:p>
        </p:txBody>
      </p:sp>
      <p:sp>
        <p:nvSpPr>
          <p:cNvPr id="7" name="case-1-0"/>
          <p:cNvSpPr/>
          <p:nvPr/>
        </p:nvSpPr>
        <p:spPr>
          <a:xfrm>
            <a:off x="640080" y="2697480"/>
            <a:ext cx="3657600" cy="822960"/>
          </a:xfrm>
          <a:prstGeom prst="roundRect">
            <a:avLst>
              <a:gd name="adj" fmla="val 8889"/>
            </a:avLst>
          </a:prstGeom>
          <a:solidFill>
            <a:schemeClr val="bg1"/>
          </a:solidFill>
          <a:ln/>
        </p:spPr>
      </p:sp>
      <p:sp>
        <p:nvSpPr>
          <p:cNvPr id="8" name="Text 6"/>
          <p:cNvSpPr txBox="1"/>
          <p:nvPr/>
        </p:nvSpPr>
        <p:spPr>
          <a:xfrm>
            <a:off x="777240" y="2770632"/>
            <a:ext cx="3383280" cy="237744"/>
          </a:xfrm>
          <a:prstGeom prst="rect">
            <a:avLst/>
          </a:prstGeom>
          <a:noFill/>
          <a:ln/>
        </p:spPr>
        <p:txBody>
          <a:bodyPr wrap="square" lIns="0" tIns="0" rIns="0" bIns="0" rtlCol="0" anchor="t"/>
          <a:lstStyle/>
          <a:p>
            <a:pPr indent="0" marL="0">
              <a:buNone/>
            </a:pPr>
            <a:r>
              <a:rPr lang="en-US" sz="1100" b="1" dirty="0">
                <a:solidFill>
                  <a:schemeClr val="accent5"/>
                </a:solidFill>
              </a:rPr>
              <a:t>복구</a:t>
            </a:r>
            <a:endParaRPr lang="en-US" sz="1100" dirty="0"/>
          </a:p>
        </p:txBody>
      </p:sp>
      <p:sp>
        <p:nvSpPr>
          <p:cNvPr id="9" name="Text 7"/>
          <p:cNvSpPr txBox="1"/>
          <p:nvPr/>
        </p:nvSpPr>
        <p:spPr>
          <a:xfrm>
            <a:off x="777240" y="3008376"/>
            <a:ext cx="3383280" cy="475488"/>
          </a:xfrm>
          <a:prstGeom prst="rect">
            <a:avLst/>
          </a:prstGeom>
          <a:noFill/>
          <a:ln/>
        </p:spPr>
        <p:txBody>
          <a:bodyPr wrap="square" lIns="0" tIns="0" rIns="0" bIns="0" rtlCol="0" anchor="t"/>
          <a:lstStyle/>
          <a:p>
            <a:pPr indent="0" marL="0">
              <a:buNone/>
            </a:pPr>
            <a:r>
              <a:rPr lang="en-US" sz="1050" dirty="0">
                <a:solidFill>
                  <a:schemeClr val="accent6"/>
                </a:solidFill>
              </a:rPr>
              <a:t>남은 저장소 기록으로 재구성. 사라진 파일 5개 중 1개 원본 그대로, 3개 재작성, 1개 재수집 대기</a:t>
            </a:r>
            <a:endParaRPr lang="en-US" sz="1050" dirty="0"/>
          </a:p>
        </p:txBody>
      </p:sp>
      <p:sp>
        <p:nvSpPr>
          <p:cNvPr id="10" name="case-1-1"/>
          <p:cNvSpPr/>
          <p:nvPr/>
        </p:nvSpPr>
        <p:spPr>
          <a:xfrm>
            <a:off x="640080" y="3611880"/>
            <a:ext cx="3657600" cy="822960"/>
          </a:xfrm>
          <a:prstGeom prst="roundRect">
            <a:avLst>
              <a:gd name="adj" fmla="val 8889"/>
            </a:avLst>
          </a:prstGeom>
          <a:solidFill>
            <a:schemeClr val="bg1"/>
          </a:solidFill>
          <a:ln/>
        </p:spPr>
      </p:sp>
      <p:sp>
        <p:nvSpPr>
          <p:cNvPr id="11" name="Text 9"/>
          <p:cNvSpPr txBox="1"/>
          <p:nvPr/>
        </p:nvSpPr>
        <p:spPr>
          <a:xfrm>
            <a:off x="777240" y="3685032"/>
            <a:ext cx="3383280" cy="237744"/>
          </a:xfrm>
          <a:prstGeom prst="rect">
            <a:avLst/>
          </a:prstGeom>
          <a:noFill/>
          <a:ln/>
        </p:spPr>
        <p:txBody>
          <a:bodyPr wrap="square" lIns="0" tIns="0" rIns="0" bIns="0" rtlCol="0" anchor="t"/>
          <a:lstStyle/>
          <a:p>
            <a:pPr indent="0" marL="0">
              <a:buNone/>
            </a:pPr>
            <a:r>
              <a:rPr lang="en-US" sz="1100" b="1" dirty="0">
                <a:solidFill>
                  <a:schemeClr val="accent1"/>
                </a:solidFill>
              </a:rPr>
              <a:t>재발 방지</a:t>
            </a:r>
            <a:endParaRPr lang="en-US" sz="1100" dirty="0"/>
          </a:p>
        </p:txBody>
      </p:sp>
      <p:sp>
        <p:nvSpPr>
          <p:cNvPr id="12" name="Text 10"/>
          <p:cNvSpPr txBox="1"/>
          <p:nvPr/>
        </p:nvSpPr>
        <p:spPr>
          <a:xfrm>
            <a:off x="777240" y="3922776"/>
            <a:ext cx="3383280" cy="475488"/>
          </a:xfrm>
          <a:prstGeom prst="rect">
            <a:avLst/>
          </a:prstGeom>
          <a:noFill/>
          <a:ln/>
        </p:spPr>
        <p:txBody>
          <a:bodyPr wrap="square" lIns="0" tIns="0" rIns="0" bIns="0" rtlCol="0" anchor="t"/>
          <a:lstStyle/>
          <a:p>
            <a:pPr indent="0" marL="0">
              <a:buNone/>
            </a:pPr>
            <a:r>
              <a:rPr lang="en-US" sz="1050" dirty="0">
                <a:solidFill>
                  <a:schemeClr val="accent6"/>
                </a:solidFill>
              </a:rPr>
              <a:t>작업 단위가 끝날 때마다 원격 저장소에 올림</a:t>
            </a:r>
            <a:endParaRPr lang="en-US" sz="1050" dirty="0"/>
          </a:p>
        </p:txBody>
      </p:sp>
      <p:sp>
        <p:nvSpPr>
          <p:cNvPr id="13" name="case-2"/>
          <p:cNvSpPr/>
          <p:nvPr/>
        </p:nvSpPr>
        <p:spPr>
          <a:xfrm>
            <a:off x="4663440" y="1371600"/>
            <a:ext cx="4023360" cy="3200400"/>
          </a:xfrm>
          <a:prstGeom prst="roundRect">
            <a:avLst>
              <a:gd name="adj" fmla="val 2286"/>
            </a:avLst>
          </a:prstGeom>
          <a:solidFill>
            <a:schemeClr val="bg2"/>
          </a:solidFill>
          <a:ln/>
        </p:spPr>
      </p:sp>
      <p:sp>
        <p:nvSpPr>
          <p:cNvPr id="14" name="Text 12"/>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600" b="1" dirty="0">
                <a:solidFill>
                  <a:schemeClr val="accent1"/>
                </a:solidFill>
              </a:rPr>
              <a:t>동기화 폴더 충돌</a:t>
            </a:r>
            <a:endParaRPr lang="en-US" sz="1600" dirty="0"/>
          </a:p>
        </p:txBody>
      </p:sp>
      <p:sp>
        <p:nvSpPr>
          <p:cNvPr id="15" name="Text 13"/>
          <p:cNvSpPr txBox="1"/>
          <p:nvPr/>
        </p:nvSpPr>
        <p:spPr>
          <a:xfrm>
            <a:off x="4892040" y="1874520"/>
            <a:ext cx="3566160" cy="731520"/>
          </a:xfrm>
          <a:prstGeom prst="rect">
            <a:avLst/>
          </a:prstGeom>
          <a:noFill/>
          <a:ln/>
        </p:spPr>
        <p:txBody>
          <a:bodyPr wrap="square" lIns="0" tIns="0" rIns="0" bIns="0" rtlCol="0" anchor="t"/>
          <a:lstStyle/>
          <a:p>
            <a:pPr indent="0" marL="0">
              <a:buNone/>
            </a:pPr>
            <a:r>
              <a:rPr lang="en-US" sz="1150" dirty="0">
                <a:solidFill>
                  <a:schemeClr val="tx1"/>
                </a:solidFill>
              </a:rPr>
              <a:t>iCloud와 동기화되는 바탕화면에 프로젝트를 두어 빌드 폴더에 충돌 복제본 20개 생성, 테스트 실행 실패</a:t>
            </a:r>
            <a:endParaRPr lang="en-US" sz="1150" dirty="0"/>
          </a:p>
        </p:txBody>
      </p:sp>
      <p:sp>
        <p:nvSpPr>
          <p:cNvPr id="16" name="case-2-0"/>
          <p:cNvSpPr/>
          <p:nvPr/>
        </p:nvSpPr>
        <p:spPr>
          <a:xfrm>
            <a:off x="4846320" y="2697480"/>
            <a:ext cx="3657600" cy="822960"/>
          </a:xfrm>
          <a:prstGeom prst="roundRect">
            <a:avLst>
              <a:gd name="adj" fmla="val 8889"/>
            </a:avLst>
          </a:prstGeom>
          <a:solidFill>
            <a:schemeClr val="bg1"/>
          </a:solidFill>
          <a:ln/>
        </p:spPr>
      </p:sp>
      <p:sp>
        <p:nvSpPr>
          <p:cNvPr id="17" name="Text 15"/>
          <p:cNvSpPr txBox="1"/>
          <p:nvPr/>
        </p:nvSpPr>
        <p:spPr>
          <a:xfrm>
            <a:off x="4983480" y="2770632"/>
            <a:ext cx="3383280" cy="237744"/>
          </a:xfrm>
          <a:prstGeom prst="rect">
            <a:avLst/>
          </a:prstGeom>
          <a:noFill/>
          <a:ln/>
        </p:spPr>
        <p:txBody>
          <a:bodyPr wrap="square" lIns="0" tIns="0" rIns="0" bIns="0" rtlCol="0" anchor="t"/>
          <a:lstStyle/>
          <a:p>
            <a:pPr indent="0" marL="0">
              <a:buNone/>
            </a:pPr>
            <a:r>
              <a:rPr lang="en-US" sz="1100" b="1" dirty="0">
                <a:solidFill>
                  <a:schemeClr val="accent5"/>
                </a:solidFill>
              </a:rPr>
              <a:t>복구</a:t>
            </a:r>
            <a:endParaRPr lang="en-US" sz="1100" dirty="0"/>
          </a:p>
        </p:txBody>
      </p:sp>
      <p:sp>
        <p:nvSpPr>
          <p:cNvPr id="18" name="Text 16"/>
          <p:cNvSpPr txBox="1"/>
          <p:nvPr/>
        </p:nvSpPr>
        <p:spPr>
          <a:xfrm>
            <a:off x="4983480" y="3008376"/>
            <a:ext cx="3383280" cy="475488"/>
          </a:xfrm>
          <a:prstGeom prst="rect">
            <a:avLst/>
          </a:prstGeom>
          <a:noFill/>
          <a:ln/>
        </p:spPr>
        <p:txBody>
          <a:bodyPr wrap="square" lIns="0" tIns="0" rIns="0" bIns="0" rtlCol="0" anchor="t"/>
          <a:lstStyle/>
          <a:p>
            <a:pPr indent="0" marL="0">
              <a:buNone/>
            </a:pPr>
            <a:r>
              <a:rPr lang="en-US" sz="1050" dirty="0">
                <a:solidFill>
                  <a:schemeClr val="accent6"/>
                </a:solidFill>
              </a:rPr>
              <a:t>동기화되지 않는 폴더로 이전. 파일 850개, 내용, 기록 일치 확인 후 테스트 재통과</a:t>
            </a:r>
            <a:endParaRPr lang="en-US" sz="1050" dirty="0"/>
          </a:p>
        </p:txBody>
      </p:sp>
      <p:sp>
        <p:nvSpPr>
          <p:cNvPr id="19" name="case-2-1"/>
          <p:cNvSpPr/>
          <p:nvPr/>
        </p:nvSpPr>
        <p:spPr>
          <a:xfrm>
            <a:off x="4846320" y="3611880"/>
            <a:ext cx="3657600" cy="822960"/>
          </a:xfrm>
          <a:prstGeom prst="roundRect">
            <a:avLst>
              <a:gd name="adj" fmla="val 8889"/>
            </a:avLst>
          </a:prstGeom>
          <a:solidFill>
            <a:schemeClr val="bg1"/>
          </a:solidFill>
          <a:ln/>
        </p:spPr>
      </p:sp>
      <p:sp>
        <p:nvSpPr>
          <p:cNvPr id="20" name="Text 18"/>
          <p:cNvSpPr txBox="1"/>
          <p:nvPr/>
        </p:nvSpPr>
        <p:spPr>
          <a:xfrm>
            <a:off x="4983480" y="3685032"/>
            <a:ext cx="3383280" cy="237744"/>
          </a:xfrm>
          <a:prstGeom prst="rect">
            <a:avLst/>
          </a:prstGeom>
          <a:noFill/>
          <a:ln/>
        </p:spPr>
        <p:txBody>
          <a:bodyPr wrap="square" lIns="0" tIns="0" rIns="0" bIns="0" rtlCol="0" anchor="t"/>
          <a:lstStyle/>
          <a:p>
            <a:pPr indent="0" marL="0">
              <a:buNone/>
            </a:pPr>
            <a:r>
              <a:rPr lang="en-US" sz="1100" b="1" dirty="0">
                <a:solidFill>
                  <a:schemeClr val="accent1"/>
                </a:solidFill>
              </a:rPr>
              <a:t>재발 방지</a:t>
            </a:r>
            <a:endParaRPr lang="en-US" sz="1100" dirty="0"/>
          </a:p>
        </p:txBody>
      </p:sp>
      <p:sp>
        <p:nvSpPr>
          <p:cNvPr id="21" name="Text 19"/>
          <p:cNvSpPr txBox="1"/>
          <p:nvPr/>
        </p:nvSpPr>
        <p:spPr>
          <a:xfrm>
            <a:off x="4983480" y="3922776"/>
            <a:ext cx="3383280" cy="475488"/>
          </a:xfrm>
          <a:prstGeom prst="rect">
            <a:avLst/>
          </a:prstGeom>
          <a:noFill/>
          <a:ln/>
        </p:spPr>
        <p:txBody>
          <a:bodyPr wrap="square" lIns="0" tIns="0" rIns="0" bIns="0" rtlCol="0" anchor="t"/>
          <a:lstStyle/>
          <a:p>
            <a:pPr indent="0" marL="0">
              <a:buNone/>
            </a:pPr>
            <a:r>
              <a:rPr lang="en-US" sz="1050" dirty="0">
                <a:solidFill>
                  <a:schemeClr val="accent6"/>
                </a:solidFill>
              </a:rPr>
              <a:t>저장소와 빌드 결과는 동기화 폴더 밖에 둠</a:t>
            </a:r>
            <a:endParaRPr lang="en-US" sz="1050" dirty="0"/>
          </a:p>
        </p:txBody>
      </p:sp>
      <p:sp>
        <p:nvSpPr>
          <p:cNvPr id="25" name="Slide Number Placeholder 0"/>
          <p:cNvSpPr>
            <a:spLocks noGrp="1"/>
          </p:cNvSpPr>
          <p:nvPr>
            <p:ph type="sldNum" sz="quarter" idx="4294967295"/>
          </p:nvPr>
        </p:nvSpPr>
        <p:spPr>
          <a:xfrm>
            <a:off x="8138160" y="4800600"/>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3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5486400" cy="320040"/>
          </a:xfrm>
          <a:prstGeom prst="rect">
            <a:avLst/>
          </a:prstGeom>
          <a:noFill/>
          <a:ln/>
        </p:spPr>
        <p:txBody>
          <a:bodyPr wrap="square" lIns="0" tIns="0" rIns="0" bIns="0" rtlCol="0"/>
          <a:lstStyle/>
          <a:p>
            <a:pPr algn="l" indent="0" marL="0">
              <a:buNone/>
            </a:pPr>
            <a:r>
              <a:rPr lang="en-US" sz="1400" b="1" dirty="0">
                <a:solidFill>
                  <a:schemeClr val="accent1"/>
                </a:solidFill>
              </a:rPr>
              <a:t>정리</a:t>
            </a:r>
            <a:endParaRPr lang="en-US" sz="1400" dirty="0"/>
          </a:p>
        </p:txBody>
      </p:sp>
      <p:sp>
        <p:nvSpPr>
          <p:cNvPr id="3" name="Text 0"/>
          <p:cNvSpPr/>
          <p:nvPr>
            <p:ph idx="101" type="title" hasCustomPrompt="1"/>
          </p:nvPr>
        </p:nvSpPr>
        <p:spPr>
          <a:xfrm>
            <a:off x="457200" y="749808"/>
            <a:ext cx="5486400" cy="685800"/>
          </a:xfrm>
          <a:prstGeom prst="rect">
            <a:avLst/>
          </a:prstGeom>
          <a:noFill/>
          <a:ln/>
        </p:spPr>
        <p:txBody>
          <a:bodyPr wrap="square" lIns="0" tIns="0" rIns="0" bIns="0" rtlCol="0" anchor="t"/>
          <a:lstStyle/>
          <a:p>
            <a:pPr algn="l" indent="0" marL="0">
              <a:buNone/>
            </a:pPr>
            <a:r>
              <a:rPr lang="en-US" sz="3200" b="1" dirty="0">
                <a:solidFill>
                  <a:schemeClr val="bg1"/>
                </a:solidFill>
              </a:rPr>
              <a:t>만들고, 써 보고, 고침</a:t>
            </a:r>
            <a:endParaRPr lang="en-US" sz="3200" dirty="0"/>
          </a:p>
        </p:txBody>
      </p:sp>
      <p:sp>
        <p:nvSpPr>
          <p:cNvPr id="4" name="Shape 2"/>
          <p:cNvSpPr/>
          <p:nvPr/>
        </p:nvSpPr>
        <p:spPr>
          <a:xfrm>
            <a:off x="457200" y="1783080"/>
            <a:ext cx="411480" cy="411480"/>
          </a:xfrm>
          <a:prstGeom prst="ellipse">
            <a:avLst/>
          </a:prstGeom>
          <a:solidFill>
            <a:schemeClr val="accent1"/>
          </a:solidFill>
          <a:ln/>
        </p:spPr>
      </p:sp>
      <p:sp>
        <p:nvSpPr>
          <p:cNvPr id="5" name="Text 3"/>
          <p:cNvSpPr txBox="1"/>
          <p:nvPr/>
        </p:nvSpPr>
        <p:spPr>
          <a:xfrm>
            <a:off x="457200"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51560" y="1746504"/>
            <a:ext cx="5029200" cy="310896"/>
          </a:xfrm>
          <a:prstGeom prst="rect">
            <a:avLst/>
          </a:prstGeom>
          <a:noFill/>
          <a:ln/>
        </p:spPr>
        <p:txBody>
          <a:bodyPr wrap="square" lIns="0" tIns="0" rIns="0" bIns="0" rtlCol="0" anchor="t"/>
          <a:lstStyle/>
          <a:p>
            <a:pPr indent="0" marL="0">
              <a:buNone/>
            </a:pPr>
            <a:r>
              <a:rPr lang="en-US" sz="1700" b="1" dirty="0">
                <a:solidFill>
                  <a:schemeClr val="bg1"/>
                </a:solidFill>
              </a:rPr>
              <a:t>플레이 가능한 게임 완성</a:t>
            </a:r>
            <a:endParaRPr lang="en-US" sz="1700" dirty="0"/>
          </a:p>
        </p:txBody>
      </p:sp>
      <p:sp>
        <p:nvSpPr>
          <p:cNvPr id="7" name="Text 5"/>
          <p:cNvSpPr txBox="1"/>
          <p:nvPr/>
        </p:nvSpPr>
        <p:spPr>
          <a:xfrm>
            <a:off x="1051560" y="2084832"/>
            <a:ext cx="5029200" cy="274320"/>
          </a:xfrm>
          <a:prstGeom prst="rect">
            <a:avLst/>
          </a:prstGeom>
          <a:noFill/>
          <a:ln/>
        </p:spPr>
        <p:txBody>
          <a:bodyPr wrap="square" lIns="0" tIns="0" rIns="0" bIns="0" rtlCol="0" anchor="t"/>
          <a:lstStyle/>
          <a:p>
            <a:pPr indent="0" marL="0">
              <a:buNone/>
            </a:pPr>
            <a:r>
              <a:rPr lang="en-US" sz="1200" dirty="0">
                <a:solidFill>
                  <a:schemeClr val="bg2"/>
                </a:solidFill>
              </a:rPr>
              <a:t>게임 화면, 결과 공개와 복기, 존버 봇 기준선</a:t>
            </a:r>
            <a:endParaRPr lang="en-US" sz="1200" dirty="0"/>
          </a:p>
        </p:txBody>
      </p:sp>
      <p:sp>
        <p:nvSpPr>
          <p:cNvPr id="8" name="Shape 6"/>
          <p:cNvSpPr/>
          <p:nvPr/>
        </p:nvSpPr>
        <p:spPr>
          <a:xfrm>
            <a:off x="457200" y="2651760"/>
            <a:ext cx="411480" cy="411480"/>
          </a:xfrm>
          <a:prstGeom prst="ellipse">
            <a:avLst/>
          </a:prstGeom>
          <a:solidFill>
            <a:schemeClr val="accent1"/>
          </a:solidFill>
          <a:ln/>
        </p:spPr>
      </p:sp>
      <p:sp>
        <p:nvSpPr>
          <p:cNvPr id="9" name="Text 7"/>
          <p:cNvSpPr txBox="1"/>
          <p:nvPr/>
        </p:nvSpPr>
        <p:spPr>
          <a:xfrm>
            <a:off x="457200" y="2651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51560" y="2615184"/>
            <a:ext cx="5029200" cy="310896"/>
          </a:xfrm>
          <a:prstGeom prst="rect">
            <a:avLst/>
          </a:prstGeom>
          <a:noFill/>
          <a:ln/>
        </p:spPr>
        <p:txBody>
          <a:bodyPr wrap="square" lIns="0" tIns="0" rIns="0" bIns="0" rtlCol="0" anchor="t"/>
          <a:lstStyle/>
          <a:p>
            <a:pPr indent="0" marL="0">
              <a:buNone/>
            </a:pPr>
            <a:r>
              <a:rPr lang="en-US" sz="1700" b="1" dirty="0">
                <a:solidFill>
                  <a:schemeClr val="bg1"/>
                </a:solidFill>
              </a:rPr>
              <a:t>여러 사람과 실제 플레이로 검증</a:t>
            </a:r>
            <a:endParaRPr lang="en-US" sz="1700" dirty="0"/>
          </a:p>
        </p:txBody>
      </p:sp>
      <p:sp>
        <p:nvSpPr>
          <p:cNvPr id="11" name="Text 9"/>
          <p:cNvSpPr txBox="1"/>
          <p:nvPr/>
        </p:nvSpPr>
        <p:spPr>
          <a:xfrm>
            <a:off x="1051560" y="2953512"/>
            <a:ext cx="5029200" cy="274320"/>
          </a:xfrm>
          <a:prstGeom prst="rect">
            <a:avLst/>
          </a:prstGeom>
          <a:noFill/>
          <a:ln/>
        </p:spPr>
        <p:txBody>
          <a:bodyPr wrap="square" lIns="0" tIns="0" rIns="0" bIns="0" rtlCol="0" anchor="t"/>
          <a:lstStyle/>
          <a:p>
            <a:pPr indent="0" marL="0">
              <a:buNone/>
            </a:pPr>
            <a:r>
              <a:rPr lang="en-US" sz="1200" dirty="0">
                <a:solidFill>
                  <a:schemeClr val="bg2"/>
                </a:solidFill>
              </a:rPr>
              <a:t>임시 공개로 외부 접속, 닉네임 도용 문제 발견과 보호</a:t>
            </a:r>
            <a:endParaRPr lang="en-US" sz="1200" dirty="0"/>
          </a:p>
        </p:txBody>
      </p:sp>
      <p:sp>
        <p:nvSpPr>
          <p:cNvPr id="12" name="Shape 10"/>
          <p:cNvSpPr/>
          <p:nvPr/>
        </p:nvSpPr>
        <p:spPr>
          <a:xfrm>
            <a:off x="457200" y="3520440"/>
            <a:ext cx="411480" cy="411480"/>
          </a:xfrm>
          <a:prstGeom prst="ellipse">
            <a:avLst/>
          </a:prstGeom>
          <a:solidFill>
            <a:schemeClr val="accent1"/>
          </a:solidFill>
          <a:ln/>
        </p:spPr>
      </p:sp>
      <p:sp>
        <p:nvSpPr>
          <p:cNvPr id="13" name="Text 11"/>
          <p:cNvSpPr txBox="1"/>
          <p:nvPr/>
        </p:nvSpPr>
        <p:spPr>
          <a:xfrm>
            <a:off x="45720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051560" y="3483864"/>
            <a:ext cx="5029200" cy="310896"/>
          </a:xfrm>
          <a:prstGeom prst="rect">
            <a:avLst/>
          </a:prstGeom>
          <a:noFill/>
          <a:ln/>
        </p:spPr>
        <p:txBody>
          <a:bodyPr wrap="square" lIns="0" tIns="0" rIns="0" bIns="0" rtlCol="0" anchor="t"/>
          <a:lstStyle/>
          <a:p>
            <a:pPr indent="0" marL="0">
              <a:buNone/>
            </a:pPr>
            <a:r>
              <a:rPr lang="en-US" sz="1700" b="1" dirty="0">
                <a:solidFill>
                  <a:schemeClr val="bg1"/>
                </a:solidFill>
              </a:rPr>
              <a:t>플레이 결과를 데이터로 판단</a:t>
            </a:r>
            <a:endParaRPr lang="en-US" sz="1700" dirty="0"/>
          </a:p>
        </p:txBody>
      </p:sp>
      <p:sp>
        <p:nvSpPr>
          <p:cNvPr id="15" name="Text 13"/>
          <p:cNvSpPr txBox="1"/>
          <p:nvPr/>
        </p:nvSpPr>
        <p:spPr>
          <a:xfrm>
            <a:off x="1051560" y="3822192"/>
            <a:ext cx="5029200" cy="274320"/>
          </a:xfrm>
          <a:prstGeom prst="rect">
            <a:avLst/>
          </a:prstGeom>
          <a:noFill/>
          <a:ln/>
        </p:spPr>
        <p:txBody>
          <a:bodyPr wrap="square" lIns="0" tIns="0" rIns="0" bIns="0" rtlCol="0" anchor="t"/>
          <a:lstStyle/>
          <a:p>
            <a:pPr indent="0" marL="0">
              <a:buNone/>
            </a:pPr>
            <a:r>
              <a:rPr lang="en-US" sz="1200" dirty="0">
                <a:solidFill>
                  <a:schemeClr val="bg2"/>
                </a:solidFill>
              </a:rPr>
              <a:t>분봉 동결, 틱 속도와 판 길이, 대기방 정리, 재접속 복원</a:t>
            </a:r>
            <a:endParaRPr lang="en-US" sz="1200" dirty="0"/>
          </a:p>
        </p:txBody>
      </p:sp>
      <p:sp>
        <p:nvSpPr>
          <p:cNvPr id="16" name="limit"/>
          <p:cNvSpPr/>
          <p:nvPr/>
        </p:nvSpPr>
        <p:spPr>
          <a:xfrm>
            <a:off x="6035040" y="1691640"/>
            <a:ext cx="2651760" cy="1417320"/>
          </a:xfrm>
          <a:prstGeom prst="roundRect">
            <a:avLst>
              <a:gd name="adj" fmla="val 5161"/>
            </a:avLst>
          </a:prstGeom>
          <a:solidFill>
            <a:srgbClr val="1B2233"/>
          </a:solidFill>
          <a:ln/>
        </p:spPr>
      </p:sp>
      <p:sp>
        <p:nvSpPr>
          <p:cNvPr id="17" name="Text 15"/>
          <p:cNvSpPr txBox="1"/>
          <p:nvPr/>
        </p:nvSpPr>
        <p:spPr>
          <a:xfrm>
            <a:off x="6217920" y="1828800"/>
            <a:ext cx="2286000" cy="1188720"/>
          </a:xfrm>
          <a:prstGeom prst="rect">
            <a:avLst/>
          </a:prstGeom>
          <a:noFill/>
          <a:ln/>
        </p:spPr>
        <p:txBody>
          <a:bodyPr wrap="square" lIns="0" tIns="0" rIns="0" bIns="0" rtlCol="0" anchor="t"/>
          <a:lstStyle/>
          <a:p>
            <a:pPr indent="0" marL="0">
              <a:buNone/>
            </a:pPr>
            <a:r>
              <a:rPr lang="en-US" sz="1300" b="1" dirty="0">
                <a:solidFill>
                  <a:srgbClr val="F5B83D"/>
                </a:solidFill>
              </a:rPr>
              <a:t>현재 한계</a:t>
            </a:r>
            <a:endParaRPr lang="en-US" sz="1400" dirty="0"/>
          </a:p>
          <a:p>
            <a:pPr indent="0" marL="0">
              <a:buNone/>
            </a:pPr>
            <a:r>
              <a:rPr lang="en-US" sz="1100" dirty="0">
                <a:solidFill>
                  <a:srgbClr val="F2F3F7"/>
                </a:solidFill>
              </a:rPr>
              <a:t>겹치지 않는 일봉 판 2개</a:t>
            </a:r>
            <a:endParaRPr lang="en-US" sz="1400" dirty="0"/>
          </a:p>
          <a:p>
            <a:pPr indent="0" marL="0">
              <a:buNone/>
            </a:pPr>
            <a:r>
              <a:rPr lang="en-US" sz="1100" dirty="0">
                <a:solidFill>
                  <a:srgbClr val="F2F3F7"/>
                </a:solidFill>
              </a:rPr>
              <a:t>밸런스 값 재검토 필요</a:t>
            </a:r>
            <a:endParaRPr lang="en-US" sz="1400" dirty="0"/>
          </a:p>
          <a:p>
            <a:pPr indent="0" marL="0">
              <a:buNone/>
            </a:pPr>
            <a:r>
              <a:rPr lang="en-US" sz="1100" dirty="0">
                <a:solidFill>
                  <a:srgbClr val="F2F3F7"/>
                </a:solidFill>
              </a:rPr>
              <a:t>닉네임 보호는 브라우저 단위</a:t>
            </a:r>
            <a:endParaRPr lang="en-US" sz="1400" dirty="0"/>
          </a:p>
        </p:txBody>
      </p:sp>
      <p:sp>
        <p:nvSpPr>
          <p:cNvPr id="18" name="message"/>
          <p:cNvSpPr/>
          <p:nvPr/>
        </p:nvSpPr>
        <p:spPr>
          <a:xfrm>
            <a:off x="6035040" y="3291840"/>
            <a:ext cx="2651760" cy="1188720"/>
          </a:xfrm>
          <a:prstGeom prst="roundRect">
            <a:avLst>
              <a:gd name="adj" fmla="val 6154"/>
            </a:avLst>
          </a:prstGeom>
          <a:solidFill>
            <a:schemeClr val="accent1"/>
          </a:solidFill>
          <a:ln/>
        </p:spPr>
      </p:sp>
      <p:sp>
        <p:nvSpPr>
          <p:cNvPr id="19" name="Text 17"/>
          <p:cNvSpPr txBox="1"/>
          <p:nvPr/>
        </p:nvSpPr>
        <p:spPr>
          <a:xfrm>
            <a:off x="6217920" y="3401568"/>
            <a:ext cx="2286000" cy="1005840"/>
          </a:xfrm>
          <a:prstGeom prst="rect">
            <a:avLst/>
          </a:prstGeom>
          <a:noFill/>
          <a:ln/>
        </p:spPr>
        <p:txBody>
          <a:bodyPr wrap="square" lIns="0" tIns="0" rIns="0" bIns="0" rtlCol="0" anchor="t"/>
          <a:lstStyle/>
          <a:p>
            <a:pPr indent="0" marL="0">
              <a:buNone/>
            </a:pPr>
            <a:r>
              <a:rPr lang="en-US" sz="1200" b="1" dirty="0">
                <a:solidFill>
                  <a:schemeClr val="bg1"/>
                </a:solidFill>
              </a:rPr>
              <a:t>한 줄 요약</a:t>
            </a:r>
            <a:endParaRPr lang="en-US" sz="1400" dirty="0"/>
          </a:p>
          <a:p>
            <a:pPr indent="0" marL="0">
              <a:buNone/>
            </a:pPr>
            <a:r>
              <a:rPr lang="en-US" sz="1800" b="1" dirty="0">
                <a:solidFill>
                  <a:schemeClr val="bg1"/>
                </a:solidFill>
              </a:rPr>
              <a:t>만든 뒤 써 보고,</a:t>
            </a:r>
            <a:endParaRPr lang="en-US" sz="1400" dirty="0"/>
          </a:p>
          <a:p>
            <a:pPr indent="0" marL="0">
              <a:buNone/>
            </a:pPr>
            <a:r>
              <a:rPr lang="en-US" sz="1800" b="1" dirty="0">
                <a:solidFill>
                  <a:schemeClr val="bg1"/>
                </a:solidFill>
              </a:rPr>
              <a:t>데이터로 판단</a:t>
            </a:r>
            <a:endParaRPr lang="en-US" sz="1400" dirty="0"/>
          </a:p>
        </p:txBody>
      </p:sp>
    </p:spTree>
  </p:cSld>
  <p:clrMapOvr>
    <a:masterClrMapping/>
  </p:clrMapOvr>
</p:sld>
</file>

<file path=ppt/theme/theme1.xml><?xml version="1.0" encoding="utf-8"?>
<a:theme xmlns:a="http://schemas.openxmlformats.org/drawingml/2006/main" name="MoneyGame">
  <a:themeElements>
    <a:clrScheme name="MoneyGame">
      <a:dk1>
        <a:srgbClr val="0B0E14"/>
      </a:dk1>
      <a:lt1>
        <a:srgbClr val="FFFFFF"/>
      </a:lt1>
      <a:dk2>
        <a:srgbClr val="121722"/>
      </a:dk2>
      <a:lt2>
        <a:srgbClr val="F2F3F7"/>
      </a:lt2>
      <a:accent1>
        <a:srgbClr val="7C5CFF"/>
      </a:accent1>
      <a:accent2>
        <a:srgbClr val="F04452"/>
      </a:accent2>
      <a:accent3>
        <a:srgbClr val="3B82F6"/>
      </a:accent3>
      <a:accent4>
        <a:srgbClr val="F5B83D"/>
      </a:accent4>
      <a:accent5>
        <a:srgbClr val="2FBF71"/>
      </a:accent5>
      <a:accent6>
        <a:srgbClr val="6B7385"/>
      </a:accent6>
      <a:hlink>
        <a:srgbClr val="7C5CFF"/>
      </a:hlink>
      <a:folHlink>
        <a:srgbClr val="5B3FD6"/>
      </a:folHlink>
    </a:clrScheme>
    <a:fontScheme name="MoneyGame">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머니게임: 직접 플레이하며 다듬은 것들</dc:title>
  <dc:subject>게임 화면, 존버 봇, 실제 대전, 플레이로 내린 결정</dc:subject>
  <dc:creator>머니게임</dc:creator>
  <cp:lastModifiedBy>머니게임</cp:lastModifiedBy>
  <cp:revision>1</cp:revision>
  <dcterms:created xsi:type="dcterms:W3CDTF">2026-10-10T07:52:09Z</dcterms:created>
  <dcterms:modified xsi:type="dcterms:W3CDTF">2026-10-10T07:52:09Z</dcterms:modified>
</cp:coreProperties>
</file>