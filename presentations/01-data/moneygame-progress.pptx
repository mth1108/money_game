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소개" id="{be9b91a5-a1c6-83e4-96b5-94509a8bded1}">
          <p14:sldIdLst>
            <p14:sldId id="256"/>
            <p14:sldId id="257"/>
            <p14:sldId id="258"/>
          </p14:sldIdLst>
        </p14:section>
        <p14:section name="데이터 확보" id="{dfdfd93f-bd7e-2799-67ff-e1fcac543651}">
          <p14:sldIdLst>
            <p14:sldId id="259"/>
            <p14:sldId id="260"/>
            <p14:sldId id="261"/>
            <p14:sldId id="262"/>
          </p14:sldIdLst>
        </p14:section>
        <p14:section name="게임 구간 선정" id="{3605d1c7-1843-18cd-404f-814878af6a3e}">
          <p14:sldIdLst>
            <p14:sldId id="263"/>
            <p14:sldId id="264"/>
            <p14:sldId id="265"/>
            <p14:sldId id="266"/>
          </p14:sldIdLst>
        </p14:section>
        <p14:section name="정리" id="{10f25ca1-b532-40f3-4e4e-94496fdc375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머니게임은 여러 명이 같은 방에서 실제 과거 시세를 빠르게 재생하며 거래하고, 끝날 때 남은 자산으로 순위를 가리는 웹게임입니다. 오늘은 이 게임의 재료가 되는 시세 데이터를 어떻게 확보했고, 게임에 쓸 구간을 어떤 기준으로 골랐는지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판의 흐름입니다. 방에 모여 시작하면 실제 과거 시세를 1초에 캔들 하나씩 재생합니다. 종목 이름은 가리고 A, B, C로만 보여줍니다. 배율을 걸면 손익이 커지지만 손실이 커지면 강제로 청산됩니다. 4분이 지나면 남은 자산으로 순위를 매기고 실제 종목을 공개합니다. 그래서 이 게임은 실제 시세 데이터 없이는 시작할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시세를 게임에 쓰려면 네 가지 조건이 필요했습니다. 첫째, 분할 같은 사건이 반영된 진짜 가격이어야 합니다. 이건 삼성전자 액면분할 전후가 정확히 50배 차이 나는 것으로 확인했습니다. 둘째, 같은 판이 반복되지 않으려면 고를 구간이 많아야 합니다. 셋째, 1초에 캔들 하나씩 재생하니 거래가 없는 구간은 화면이 멈춘 것처럼 보입니다. 넷째, 가격이 너무 잔잔하면 판단할 거리가 없습니다. 이제부터는 이 조건들을 실제 데이터로 하나씩 확인한 과정입니다.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미리 받아 두고, 게임은 저장된 데이터만 씁니다. 토스증권 API에서 필요할 때만 받아 데이터베이스에 쌓고, 게임은 판이 시작될 때 한 번 읽습니다. 원칙이 두 가지 있습니다. 이 API는 실계좌 주문까지 가능해서 시세 조회 외의 기능은 절대 부르지 않습니다. 그리고 게임이 진행되는 동안에는 외부를 부르지 않아서, 네트워크 지연이 게임에 영향을 주지 않게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문서에는 데이터를 얼마나 오래 보관하는지 나와 있지 않아서 직접 끝까지 받아 봤습니다. 일봉은 1975년까지 51년 넘게 나오고 마지막 페이지로 경계도 확인했습니다. 분봉은 3천 번을 요청해도 끝에 닿지 않아 최소 4년 5개월입니다. 1분봉은 최근 몇 주치만 남는다는 통념과 달랐고, 덕분에 데이터를 서둘러 쌓지 않고 필요한 구간만 받기로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수집을 실제로 멈춰 세운 문제가 세 가지 있었습니다. 첫째, 속도 제한이 평균이 아니라 연속 요청을 막는 방식이어서, 요청 사이에 0.3초를 두는 것으로 해결했습니다. 둘째, 인증 토큰은 하나만 살아 있어서 수집을 두 개 동시에 돌리면 서로 무효로 만듭니다. 셋째, 등록된 IP에서만 쓸 수 있어서 개발 컴퓨터를 바꾸자마자 막혔습니다. 세 가지 모두 원인을 찾아 해결했고, 운영 수칙으로 정리해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실측은 전 구간을 대상으로 했지만, 개발에는 필요한 만큼만 받아 두었습니다. 1주 가격대가 수만 원부터 백만 원대까지 서로 다른 세 종목을 골랐고, 일봉은 2024년부터 약 2년 8개월, 분봉은 정규장이 온전한 14일치입니다. 수집은 몇 번을 다시 돌려도 중복 없이 빠진 구간만 이어 받도록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 한 판에 쓰는 시세 묶음을 시나리오라고 부릅니다. 종목마다 시작가 1봉과 240틱, 모두 241봉이고 모든 종목의 같은 순번 봉은 같은 시각입니다. 종목 이름은 라벨로 가리고, 날짜가 어긋나는 구간은 쓰지 않습니다. 기준을 통과한 후보는 자동으로 추리되, 실제로 쓸 판은 사람이 고릅니다. 지금 데이터에서 기준을 통과한 구간은 일봉 378개, 분봉 160개입니다. 그 기준이 다음 장들입니다.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분봉은 대체거래소까지 합쳐 하루 720봉이지만 전부 쓰면 안 됩니다. 시간대별로 재 보니 프리마켓에는 거래가 없는 봉이 15% 섞여 있고, 애프터는 거래가 정규장의 8분의 1 수준입니다. 특히 9시 봉과 15시 21분부터 30분까지는 14일 내내 거래가 없었습니다. 9시 봉은 사실 개장 전 1분이고, 15시 21분부터는 종가 단일가 구간이기 때문입니다. 이 두 경계를 빼면 거래 없는 봉이 2.8%에서 0.3%로, 최대 연속 정지가 11봉에서 1봉으로 줄어듭니다. 11봉 정지는 화면이 11초 멈추는 것과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게임에 쓰기 전에 적격성 검사를 합니다. 거래 없는 봉 비율은 5% 이하, 연속으로 멈추는 건 5봉 이하여야 합니다. 시간외가 섞인 구간은 비율로는 통과하지만 연속 검사에서 걸리기 때문에 두 검사가 모두 필요합니다. 변동성 하한은 분봉과 일봉을 따로 둡니다. 오른쪽 표처럼 중앙값이 분봉 2%, 일봉 46%로 스케일이 완전히 다르기 때문입니다. 기준값은 플레이해 보며 조정할 수 있게 열어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배율 상한을 어떻게 정할지 고민하다가 직접 계산해 봤습니다. 240봉 구간을 한 봉씩 밀어 가며, 배율별로 청산이 한 번이라도 나는 구간이 얼마나 되는지 셌습니다. 일봉은 배율 3에서도 13% 구간에서 청산이 나지만, 분봉은 배율 20까지도 0%였습니다. 하루 안에서 10% 넘게 빠지는 날 자체가 169일에 한 번뿐이기 때문입니다. 또 같은 조건에서 종목 간 차이가 7배나 났습니다. 그래서 밸런스는 배율이 아니라 변동이 큰 구간을 골라서 맞추기로 했고, 그게 앞 장의 이동폭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게임에 쓸 데이터의 조건 네 가지를 실제 데이터로 확인했고, 수집을 막은 문제 세 가지를 원인까지 찾아 해결했습니다. 그리고 게임에 쓸 구간을 고르는 기준을 숫자로 정했습니다. 현재 한계는 저장해 둔 데이터의 폭이 좁아서 서로 겹치지 않는 판의 수가 적다는 점입니다. 한 줄로 말씀드리면, 감이 아니라 실측으로 정했습니다.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
        <p:nvSpPr>
          <p:cNvPr id="5" name="Text 0"/>
          <p:cNvSpPr/>
          <p:nvPr>
            <p:ph idx="103" type="body" hasCustomPrompt="1"/>
          </p:nvPr>
        </p:nvSpPr>
        <p:spPr>
          <a:xfrm>
            <a:off x="457200" y="4160520"/>
            <a:ext cx="3657600" cy="365760"/>
          </a:xfrm>
          <a:prstGeom prst="rect">
            <a:avLst/>
          </a:prstGeom>
          <a:noFill/>
          <a:ln/>
        </p:spPr>
        <p:txBody>
          <a:bodyPr wrap="square" rtlCol="0"/>
          <a:lstStyle>
            <a:lvl1pPr algn="l" indent="0" marL="0">
              <a:buNone/>
              <a:defRPr lang="en-US" sz="1500" b="1" dirty="0">
                <a:solidFill>
                  <a:schemeClr val="bg1"/>
                </a:solidFill>
              </a:defRPr>
            </a:lvl1pPr>
          </a:lstStyle>
          <a:p>
            <a:pPr algn="l" indent="0" marL="0">
              <a:buNone/>
            </a:pPr>
            <a:r>
              <a:rPr lang="en-US" sz="1500" b="1" dirty="0">
                <a:solidFill>
                  <a:schemeClr val="bg1"/>
                </a:solidFill>
              </a:rPr>
              <a:t>발표자 이름</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OP">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
        <p:nvSpPr>
          <p:cNvPr id="4" name="Text 0"/>
          <p:cNvSpPr/>
          <p:nvPr/>
        </p:nvSpPr>
        <p:spPr>
          <a:xfrm>
            <a:off x="457200" y="4800600"/>
            <a:ext cx="4572000" cy="201168"/>
          </a:xfrm>
          <a:prstGeom prst="rect">
            <a:avLst/>
          </a:prstGeom>
          <a:noFill/>
          <a:ln/>
        </p:spPr>
        <p:txBody>
          <a:bodyPr wrap="square" lIns="0" tIns="0" rIns="0" bIns="0" rtlCol="0" anchor="ctr"/>
          <a:lstStyle/>
          <a:p>
            <a:pPr indent="0" marL="0">
              <a:buNone/>
            </a:pPr>
            <a:r>
              <a:rPr lang="en-US" sz="900" dirty="0">
                <a:solidFill>
                  <a:schemeClr val="accent6"/>
                </a:solidFill>
              </a:rPr>
              <a:t>머니게임 | 실제 시세를 게임 재료로</a:t>
            </a:r>
            <a:endParaRPr lang="en-US" sz="9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lIns="0" tIns="0" rIns="0" bIns="0" rtlCol="0"/>
          <a:lstStyle/>
          <a:p>
            <a:pPr algn="l" indent="0" marL="0">
              <a:buNone/>
            </a:pPr>
            <a:r>
              <a:rPr lang="en-US" sz="1400" b="1" dirty="0">
                <a:solidFill>
                  <a:schemeClr val="accent1"/>
                </a:solidFill>
              </a:rPr>
              <a:t>머니게임 | 중간 점검</a:t>
            </a: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lIns="0" tIns="0" rIns="0" bIns="0" rtlCol="0" anchor="t"/>
          <a:lstStyle/>
          <a:p>
            <a:pPr algn="l" indent="0" marL="0">
              <a:buNone/>
            </a:pPr>
            <a:r>
              <a:rPr lang="en-US" sz="4000" b="1" dirty="0">
                <a:solidFill>
                  <a:schemeClr val="bg1"/>
                </a:solidFill>
              </a:rPr>
              <a:t>실제 시세를</a:t>
            </a:r>
            <a:endParaRPr lang="en-US" sz="4000" dirty="0"/>
          </a:p>
          <a:p>
            <a:pPr algn="l" indent="0" marL="0">
              <a:buNone/>
            </a:pPr>
            <a:r>
              <a:rPr lang="en-US" sz="4000" b="1" dirty="0">
                <a:solidFill>
                  <a:schemeClr val="bg1"/>
                </a:solidFill>
              </a:rPr>
              <a:t>게임 재료로 만들기</a:t>
            </a: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lIns="0" tIns="0" rIns="0" bIns="0" rtlCol="0" anchor="t"/>
          <a:lstStyle/>
          <a:p>
            <a:pPr algn="l" indent="0" marL="0">
              <a:buNone/>
            </a:pPr>
            <a:r>
              <a:rPr lang="en-US" sz="1600" dirty="0">
                <a:solidFill>
                  <a:schemeClr val="bg2"/>
                </a:solidFill>
              </a:rPr>
              <a:t>과거 시세를 압축 재생해 겨루는 투자 게임</a:t>
            </a:r>
            <a:endParaRPr lang="en-US" sz="1600" dirty="0"/>
          </a:p>
          <a:p>
            <a:pPr algn="l" indent="0" marL="0">
              <a:buNone/>
            </a:pPr>
            <a:r>
              <a:rPr lang="en-US" sz="1600" dirty="0">
                <a:solidFill>
                  <a:schemeClr val="bg2"/>
                </a:solidFill>
              </a:rPr>
              <a:t>데이터 확보와 게임 구간 선정</a:t>
            </a:r>
            <a:endParaRPr lang="en-US" sz="1600" dirty="0"/>
          </a:p>
        </p:txBody>
      </p:sp>
      <p:sp>
        <p:nvSpPr>
          <p:cNvPr id="5" name="Text 0"/>
          <p:cNvSpPr/>
          <p:nvPr>
            <p:ph idx="103" type="body" hasCustomPrompt="1"/>
          </p:nvPr>
        </p:nvSpPr>
        <p:spPr>
          <a:xfrm>
            <a:off x="457200" y="4160520"/>
            <a:ext cx="3657600" cy="365760"/>
          </a:xfrm>
          <a:prstGeom prst="rect">
            <a:avLst/>
          </a:prstGeom>
          <a:noFill/>
          <a:ln/>
        </p:spPr>
        <p:txBody>
          <a:bodyPr wrap="square" lIns="0" tIns="0" rIns="0" bIns="0" rtlCol="0" anchor="ctr"/>
          <a:lstStyle/>
          <a:p>
            <a:pPr algn="l" indent="0" marL="0">
              <a:buNone/>
            </a:pPr>
            <a:endParaRPr lang="en-US" sz="1500" dirty="0"/>
          </a:p>
        </p:txBody>
      </p:sp>
      <p:sp>
        <p:nvSpPr>
          <p:cNvPr id="6" name="Shape 4"/>
          <p:cNvSpPr/>
          <p:nvPr/>
        </p:nvSpPr>
        <p:spPr>
          <a:xfrm>
            <a:off x="6460236" y="3154680"/>
            <a:ext cx="18288" cy="548640"/>
          </a:xfrm>
          <a:prstGeom prst="rect">
            <a:avLst/>
          </a:prstGeom>
          <a:solidFill>
            <a:schemeClr val="accent3"/>
          </a:solidFill>
          <a:ln/>
        </p:spPr>
      </p:sp>
      <p:sp>
        <p:nvSpPr>
          <p:cNvPr id="7" name="Shape 5"/>
          <p:cNvSpPr/>
          <p:nvPr/>
        </p:nvSpPr>
        <p:spPr>
          <a:xfrm>
            <a:off x="6400800" y="3291840"/>
            <a:ext cx="137160" cy="320040"/>
          </a:xfrm>
          <a:prstGeom prst="rect">
            <a:avLst/>
          </a:prstGeom>
          <a:solidFill>
            <a:schemeClr val="accent3"/>
          </a:solidFill>
          <a:ln/>
        </p:spPr>
      </p:sp>
      <p:sp>
        <p:nvSpPr>
          <p:cNvPr id="8" name="Shape 6"/>
          <p:cNvSpPr/>
          <p:nvPr/>
        </p:nvSpPr>
        <p:spPr>
          <a:xfrm>
            <a:off x="6661404" y="3108960"/>
            <a:ext cx="18288" cy="548640"/>
          </a:xfrm>
          <a:prstGeom prst="rect">
            <a:avLst/>
          </a:prstGeom>
          <a:solidFill>
            <a:schemeClr val="accent2"/>
          </a:solidFill>
          <a:ln/>
        </p:spPr>
      </p:sp>
      <p:sp>
        <p:nvSpPr>
          <p:cNvPr id="9" name="Shape 7"/>
          <p:cNvSpPr/>
          <p:nvPr/>
        </p:nvSpPr>
        <p:spPr>
          <a:xfrm>
            <a:off x="6601968" y="3246120"/>
            <a:ext cx="137160" cy="320040"/>
          </a:xfrm>
          <a:prstGeom prst="rect">
            <a:avLst/>
          </a:prstGeom>
          <a:solidFill>
            <a:schemeClr val="accent2"/>
          </a:solidFill>
          <a:ln/>
        </p:spPr>
      </p:sp>
      <p:sp>
        <p:nvSpPr>
          <p:cNvPr id="10" name="Shape 8"/>
          <p:cNvSpPr/>
          <p:nvPr/>
        </p:nvSpPr>
        <p:spPr>
          <a:xfrm>
            <a:off x="6862572" y="2834640"/>
            <a:ext cx="18288" cy="548640"/>
          </a:xfrm>
          <a:prstGeom prst="rect">
            <a:avLst/>
          </a:prstGeom>
          <a:solidFill>
            <a:schemeClr val="accent2"/>
          </a:solidFill>
          <a:ln/>
        </p:spPr>
      </p:sp>
      <p:sp>
        <p:nvSpPr>
          <p:cNvPr id="11" name="Shape 9"/>
          <p:cNvSpPr/>
          <p:nvPr/>
        </p:nvSpPr>
        <p:spPr>
          <a:xfrm>
            <a:off x="6803136" y="2926080"/>
            <a:ext cx="137160" cy="320040"/>
          </a:xfrm>
          <a:prstGeom prst="rect">
            <a:avLst/>
          </a:prstGeom>
          <a:solidFill>
            <a:schemeClr val="accent2"/>
          </a:solidFill>
          <a:ln/>
        </p:spPr>
      </p:sp>
      <p:sp>
        <p:nvSpPr>
          <p:cNvPr id="12" name="Shape 10"/>
          <p:cNvSpPr/>
          <p:nvPr/>
        </p:nvSpPr>
        <p:spPr>
          <a:xfrm>
            <a:off x="7063740" y="2788920"/>
            <a:ext cx="18288" cy="365760"/>
          </a:xfrm>
          <a:prstGeom prst="rect">
            <a:avLst/>
          </a:prstGeom>
          <a:solidFill>
            <a:schemeClr val="accent3"/>
          </a:solidFill>
          <a:ln/>
        </p:spPr>
      </p:sp>
      <p:sp>
        <p:nvSpPr>
          <p:cNvPr id="13" name="Shape 11"/>
          <p:cNvSpPr/>
          <p:nvPr/>
        </p:nvSpPr>
        <p:spPr>
          <a:xfrm>
            <a:off x="7004304" y="2926080"/>
            <a:ext cx="137160" cy="137160"/>
          </a:xfrm>
          <a:prstGeom prst="rect">
            <a:avLst/>
          </a:prstGeom>
          <a:solidFill>
            <a:schemeClr val="accent3"/>
          </a:solidFill>
          <a:ln/>
        </p:spPr>
      </p:sp>
      <p:sp>
        <p:nvSpPr>
          <p:cNvPr id="14" name="Shape 12"/>
          <p:cNvSpPr/>
          <p:nvPr/>
        </p:nvSpPr>
        <p:spPr>
          <a:xfrm>
            <a:off x="7264908" y="2560320"/>
            <a:ext cx="18288" cy="594360"/>
          </a:xfrm>
          <a:prstGeom prst="rect">
            <a:avLst/>
          </a:prstGeom>
          <a:solidFill>
            <a:schemeClr val="accent2"/>
          </a:solidFill>
          <a:ln/>
        </p:spPr>
      </p:sp>
      <p:sp>
        <p:nvSpPr>
          <p:cNvPr id="15" name="Shape 13"/>
          <p:cNvSpPr/>
          <p:nvPr/>
        </p:nvSpPr>
        <p:spPr>
          <a:xfrm>
            <a:off x="7205472" y="2651760"/>
            <a:ext cx="137160" cy="411480"/>
          </a:xfrm>
          <a:prstGeom prst="rect">
            <a:avLst/>
          </a:prstGeom>
          <a:solidFill>
            <a:schemeClr val="accent2"/>
          </a:solidFill>
          <a:ln/>
        </p:spPr>
      </p:sp>
      <p:sp>
        <p:nvSpPr>
          <p:cNvPr id="16" name="Shape 14"/>
          <p:cNvSpPr/>
          <p:nvPr/>
        </p:nvSpPr>
        <p:spPr>
          <a:xfrm>
            <a:off x="7466076" y="2194560"/>
            <a:ext cx="18288" cy="548640"/>
          </a:xfrm>
          <a:prstGeom prst="rect">
            <a:avLst/>
          </a:prstGeom>
          <a:solidFill>
            <a:schemeClr val="accent2"/>
          </a:solidFill>
          <a:ln/>
        </p:spPr>
      </p:sp>
      <p:sp>
        <p:nvSpPr>
          <p:cNvPr id="17" name="Shape 15"/>
          <p:cNvSpPr/>
          <p:nvPr/>
        </p:nvSpPr>
        <p:spPr>
          <a:xfrm>
            <a:off x="7406640" y="2331720"/>
            <a:ext cx="137160" cy="320040"/>
          </a:xfrm>
          <a:prstGeom prst="rect">
            <a:avLst/>
          </a:prstGeom>
          <a:solidFill>
            <a:schemeClr val="accent2"/>
          </a:solidFill>
          <a:ln/>
        </p:spPr>
      </p:sp>
      <p:sp>
        <p:nvSpPr>
          <p:cNvPr id="18" name="Shape 16"/>
          <p:cNvSpPr/>
          <p:nvPr/>
        </p:nvSpPr>
        <p:spPr>
          <a:xfrm>
            <a:off x="7667244" y="2240280"/>
            <a:ext cx="18288" cy="365760"/>
          </a:xfrm>
          <a:prstGeom prst="rect">
            <a:avLst/>
          </a:prstGeom>
          <a:solidFill>
            <a:schemeClr val="accent3"/>
          </a:solidFill>
          <a:ln/>
        </p:spPr>
      </p:sp>
      <p:sp>
        <p:nvSpPr>
          <p:cNvPr id="19" name="Shape 17"/>
          <p:cNvSpPr/>
          <p:nvPr/>
        </p:nvSpPr>
        <p:spPr>
          <a:xfrm>
            <a:off x="7607808" y="2331720"/>
            <a:ext cx="137160" cy="182880"/>
          </a:xfrm>
          <a:prstGeom prst="rect">
            <a:avLst/>
          </a:prstGeom>
          <a:solidFill>
            <a:schemeClr val="accent3"/>
          </a:solidFill>
          <a:ln/>
        </p:spPr>
      </p:sp>
      <p:sp>
        <p:nvSpPr>
          <p:cNvPr id="20" name="Shape 18"/>
          <p:cNvSpPr/>
          <p:nvPr/>
        </p:nvSpPr>
        <p:spPr>
          <a:xfrm>
            <a:off x="7868412" y="2011680"/>
            <a:ext cx="18288" cy="594360"/>
          </a:xfrm>
          <a:prstGeom prst="rect">
            <a:avLst/>
          </a:prstGeom>
          <a:solidFill>
            <a:schemeClr val="accent2"/>
          </a:solidFill>
          <a:ln/>
        </p:spPr>
      </p:sp>
      <p:sp>
        <p:nvSpPr>
          <p:cNvPr id="21" name="Shape 19"/>
          <p:cNvSpPr/>
          <p:nvPr/>
        </p:nvSpPr>
        <p:spPr>
          <a:xfrm>
            <a:off x="7808976" y="2103120"/>
            <a:ext cx="137160" cy="411480"/>
          </a:xfrm>
          <a:prstGeom prst="rect">
            <a:avLst/>
          </a:prstGeom>
          <a:solidFill>
            <a:schemeClr val="accent2"/>
          </a:solidFill>
          <a:ln/>
        </p:spPr>
      </p:sp>
      <p:sp>
        <p:nvSpPr>
          <p:cNvPr id="22" name="Shape 20"/>
          <p:cNvSpPr/>
          <p:nvPr/>
        </p:nvSpPr>
        <p:spPr>
          <a:xfrm>
            <a:off x="8069580" y="1645920"/>
            <a:ext cx="18288" cy="548640"/>
          </a:xfrm>
          <a:prstGeom prst="rect">
            <a:avLst/>
          </a:prstGeom>
          <a:solidFill>
            <a:schemeClr val="accent2"/>
          </a:solidFill>
          <a:ln/>
        </p:spPr>
      </p:sp>
      <p:sp>
        <p:nvSpPr>
          <p:cNvPr id="23" name="Shape 21"/>
          <p:cNvSpPr/>
          <p:nvPr/>
        </p:nvSpPr>
        <p:spPr>
          <a:xfrm>
            <a:off x="8010144" y="1783080"/>
            <a:ext cx="137160" cy="320040"/>
          </a:xfrm>
          <a:prstGeom prst="rect">
            <a:avLst/>
          </a:prstGeom>
          <a:solidFill>
            <a:schemeClr val="accent2"/>
          </a:solidFill>
          <a:ln/>
        </p:spPr>
      </p:sp>
      <p:sp>
        <p:nvSpPr>
          <p:cNvPr id="24" name="Shape 22"/>
          <p:cNvSpPr/>
          <p:nvPr/>
        </p:nvSpPr>
        <p:spPr>
          <a:xfrm>
            <a:off x="8270748" y="1691640"/>
            <a:ext cx="18288" cy="365760"/>
          </a:xfrm>
          <a:prstGeom prst="rect">
            <a:avLst/>
          </a:prstGeom>
          <a:solidFill>
            <a:schemeClr val="accent3"/>
          </a:solidFill>
          <a:ln/>
        </p:spPr>
      </p:sp>
      <p:sp>
        <p:nvSpPr>
          <p:cNvPr id="25" name="Shape 23"/>
          <p:cNvSpPr/>
          <p:nvPr/>
        </p:nvSpPr>
        <p:spPr>
          <a:xfrm>
            <a:off x="8211312" y="1783080"/>
            <a:ext cx="137160" cy="182880"/>
          </a:xfrm>
          <a:prstGeom prst="rect">
            <a:avLst/>
          </a:prstGeom>
          <a:solidFill>
            <a:schemeClr val="accent3"/>
          </a:solidFill>
          <a:ln/>
        </p:spPr>
      </p:sp>
      <p:sp>
        <p:nvSpPr>
          <p:cNvPr id="26" name="Shape 24"/>
          <p:cNvSpPr/>
          <p:nvPr/>
        </p:nvSpPr>
        <p:spPr>
          <a:xfrm>
            <a:off x="8471916" y="1325880"/>
            <a:ext cx="18288" cy="685800"/>
          </a:xfrm>
          <a:prstGeom prst="rect">
            <a:avLst/>
          </a:prstGeom>
          <a:solidFill>
            <a:schemeClr val="accent2"/>
          </a:solidFill>
          <a:ln/>
        </p:spPr>
      </p:sp>
      <p:sp>
        <p:nvSpPr>
          <p:cNvPr id="27" name="Shape 25"/>
          <p:cNvSpPr/>
          <p:nvPr/>
        </p:nvSpPr>
        <p:spPr>
          <a:xfrm>
            <a:off x="8412480" y="1463040"/>
            <a:ext cx="137160" cy="502920"/>
          </a:xfrm>
          <a:prstGeom prst="rect">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머니게임은 이런 게임입니다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같은 과거 시세를 빠르게 재생하며 거래하고, 끝날 때 남은 자산으로 순위를 가립니다</a:t>
            </a:r>
            <a:endParaRPr lang="en-US" sz="1400" dirty="0"/>
          </a:p>
        </p:txBody>
      </p:sp>
      <p:sp>
        <p:nvSpPr>
          <p:cNvPr id="4" name="step-1"/>
          <p:cNvSpPr/>
          <p:nvPr/>
        </p:nvSpPr>
        <p:spPr>
          <a:xfrm>
            <a:off x="457200" y="1417320"/>
            <a:ext cx="1828800" cy="1965960"/>
          </a:xfrm>
          <a:prstGeom prst="roundRect">
            <a:avLst>
              <a:gd name="adj" fmla="val 4000"/>
            </a:avLst>
          </a:prstGeom>
          <a:solidFill>
            <a:schemeClr val="bg2"/>
          </a:solidFill>
          <a:ln/>
        </p:spPr>
      </p:sp>
      <p:sp>
        <p:nvSpPr>
          <p:cNvPr id="5" name="Shape 3"/>
          <p:cNvSpPr/>
          <p:nvPr/>
        </p:nvSpPr>
        <p:spPr>
          <a:xfrm>
            <a:off x="640080" y="1618488"/>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65810" y="1744218"/>
            <a:ext cx="251460" cy="251460"/>
          </a:xfrm>
          <a:prstGeom prst="rect">
            <a:avLst/>
          </a:prstGeom>
        </p:spPr>
      </p:pic>
      <p:sp>
        <p:nvSpPr>
          <p:cNvPr id="7" name="Text 4"/>
          <p:cNvSpPr txBox="1"/>
          <p:nvPr/>
        </p:nvSpPr>
        <p:spPr>
          <a:xfrm>
            <a:off x="640080"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1. 방 입장</a:t>
            </a:r>
            <a:endParaRPr lang="en-US" sz="1500" dirty="0"/>
          </a:p>
        </p:txBody>
      </p:sp>
      <p:sp>
        <p:nvSpPr>
          <p:cNvPr id="8" name="Text 5"/>
          <p:cNvSpPr txBox="1"/>
          <p:nvPr/>
        </p:nvSpPr>
        <p:spPr>
          <a:xfrm>
            <a:off x="640080"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여러 명이 한 방에서</a:t>
            </a:r>
            <a:endParaRPr lang="en-US" sz="1200" dirty="0"/>
          </a:p>
          <a:p>
            <a:pPr indent="0" marL="0">
              <a:buNone/>
            </a:pPr>
            <a:r>
              <a:rPr lang="en-US" sz="1200" dirty="0">
                <a:solidFill>
                  <a:schemeClr val="accent6"/>
                </a:solidFill>
              </a:rPr>
              <a:t>혼자면 봇과 대결</a:t>
            </a:r>
            <a:endParaRPr lang="en-US" sz="1200" dirty="0"/>
          </a:p>
        </p:txBody>
      </p:sp>
      <p:sp>
        <p:nvSpPr>
          <p:cNvPr id="9" name="Shape 6"/>
          <p:cNvSpPr/>
          <p:nvPr/>
        </p:nvSpPr>
        <p:spPr>
          <a:xfrm>
            <a:off x="2331720" y="2395728"/>
            <a:ext cx="213055" cy="914"/>
          </a:xfrm>
          <a:prstGeom prst="line">
            <a:avLst/>
          </a:prstGeom>
          <a:noFill/>
          <a:ln w="19050">
            <a:solidFill>
              <a:schemeClr val="accent6"/>
            </a:solidFill>
            <a:prstDash val="solid"/>
            <a:tailEnd type="triangle"/>
          </a:ln>
        </p:spPr>
      </p:sp>
      <p:sp>
        <p:nvSpPr>
          <p:cNvPr id="10" name="step-2"/>
          <p:cNvSpPr/>
          <p:nvPr/>
        </p:nvSpPr>
        <p:spPr>
          <a:xfrm>
            <a:off x="2590495" y="1417320"/>
            <a:ext cx="1828800" cy="1965960"/>
          </a:xfrm>
          <a:prstGeom prst="roundRect">
            <a:avLst>
              <a:gd name="adj" fmla="val 4000"/>
            </a:avLst>
          </a:prstGeom>
          <a:solidFill>
            <a:schemeClr val="bg2"/>
          </a:solidFill>
          <a:ln/>
        </p:spPr>
      </p:sp>
      <p:sp>
        <p:nvSpPr>
          <p:cNvPr id="11" name="Shape 8"/>
          <p:cNvSpPr/>
          <p:nvPr/>
        </p:nvSpPr>
        <p:spPr>
          <a:xfrm>
            <a:off x="2773375" y="1618488"/>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2899105" y="1744218"/>
            <a:ext cx="251460" cy="251460"/>
          </a:xfrm>
          <a:prstGeom prst="rect">
            <a:avLst/>
          </a:prstGeom>
        </p:spPr>
      </p:pic>
      <p:sp>
        <p:nvSpPr>
          <p:cNvPr id="13" name="Text 9"/>
          <p:cNvSpPr txBox="1"/>
          <p:nvPr/>
        </p:nvSpPr>
        <p:spPr>
          <a:xfrm>
            <a:off x="2773375"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2. 시세 재생</a:t>
            </a:r>
            <a:endParaRPr lang="en-US" sz="1500" dirty="0"/>
          </a:p>
        </p:txBody>
      </p:sp>
      <p:sp>
        <p:nvSpPr>
          <p:cNvPr id="14" name="Text 10"/>
          <p:cNvSpPr txBox="1"/>
          <p:nvPr/>
        </p:nvSpPr>
        <p:spPr>
          <a:xfrm>
            <a:off x="2773375"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실제 과거 시세를</a:t>
            </a:r>
            <a:endParaRPr lang="en-US" sz="1200" dirty="0"/>
          </a:p>
          <a:p>
            <a:pPr indent="0" marL="0">
              <a:buNone/>
            </a:pPr>
            <a:r>
              <a:rPr lang="en-US" sz="1200" dirty="0">
                <a:solidFill>
                  <a:schemeClr val="accent6"/>
                </a:solidFill>
              </a:rPr>
              <a:t>1초에 캔들 하나씩</a:t>
            </a:r>
            <a:endParaRPr lang="en-US" sz="1200" dirty="0"/>
          </a:p>
        </p:txBody>
      </p:sp>
      <p:sp>
        <p:nvSpPr>
          <p:cNvPr id="15" name="Shape 11"/>
          <p:cNvSpPr/>
          <p:nvPr/>
        </p:nvSpPr>
        <p:spPr>
          <a:xfrm>
            <a:off x="4465015" y="2395728"/>
            <a:ext cx="213055" cy="914"/>
          </a:xfrm>
          <a:prstGeom prst="line">
            <a:avLst/>
          </a:prstGeom>
          <a:noFill/>
          <a:ln w="19050">
            <a:solidFill>
              <a:schemeClr val="accent6"/>
            </a:solidFill>
            <a:prstDash val="solid"/>
            <a:tailEnd type="triangle"/>
          </a:ln>
        </p:spPr>
      </p:sp>
      <p:sp>
        <p:nvSpPr>
          <p:cNvPr id="16" name="step-3"/>
          <p:cNvSpPr/>
          <p:nvPr/>
        </p:nvSpPr>
        <p:spPr>
          <a:xfrm>
            <a:off x="4723790" y="1417320"/>
            <a:ext cx="1828800" cy="1965960"/>
          </a:xfrm>
          <a:prstGeom prst="roundRect">
            <a:avLst>
              <a:gd name="adj" fmla="val 4000"/>
            </a:avLst>
          </a:prstGeom>
          <a:solidFill>
            <a:schemeClr val="bg2"/>
          </a:solidFill>
          <a:ln/>
        </p:spPr>
      </p:sp>
      <p:sp>
        <p:nvSpPr>
          <p:cNvPr id="17" name="Shape 13"/>
          <p:cNvSpPr/>
          <p:nvPr/>
        </p:nvSpPr>
        <p:spPr>
          <a:xfrm>
            <a:off x="4906670" y="1618488"/>
            <a:ext cx="502920" cy="50292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5032400" y="1744218"/>
            <a:ext cx="251460" cy="251460"/>
          </a:xfrm>
          <a:prstGeom prst="rect">
            <a:avLst/>
          </a:prstGeom>
        </p:spPr>
      </p:pic>
      <p:sp>
        <p:nvSpPr>
          <p:cNvPr id="19" name="Text 14"/>
          <p:cNvSpPr txBox="1"/>
          <p:nvPr/>
        </p:nvSpPr>
        <p:spPr>
          <a:xfrm>
            <a:off x="4906670"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3. 배율 걸고 거래</a:t>
            </a:r>
            <a:endParaRPr lang="en-US" sz="1500" dirty="0"/>
          </a:p>
        </p:txBody>
      </p:sp>
      <p:sp>
        <p:nvSpPr>
          <p:cNvPr id="20" name="Text 15"/>
          <p:cNvSpPr txBox="1"/>
          <p:nvPr/>
        </p:nvSpPr>
        <p:spPr>
          <a:xfrm>
            <a:off x="4906670"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손익 확대</a:t>
            </a:r>
            <a:endParaRPr lang="en-US" sz="1200" dirty="0"/>
          </a:p>
          <a:p>
            <a:pPr indent="0" marL="0">
              <a:buNone/>
            </a:pPr>
            <a:r>
              <a:rPr lang="en-US" sz="1200" dirty="0">
                <a:solidFill>
                  <a:schemeClr val="accent6"/>
                </a:solidFill>
              </a:rPr>
              <a:t>대신 청산 위험</a:t>
            </a:r>
            <a:endParaRPr lang="en-US" sz="1200" dirty="0"/>
          </a:p>
        </p:txBody>
      </p:sp>
      <p:sp>
        <p:nvSpPr>
          <p:cNvPr id="21" name="Shape 16"/>
          <p:cNvSpPr/>
          <p:nvPr/>
        </p:nvSpPr>
        <p:spPr>
          <a:xfrm>
            <a:off x="6598310" y="2395728"/>
            <a:ext cx="213055" cy="914"/>
          </a:xfrm>
          <a:prstGeom prst="line">
            <a:avLst/>
          </a:prstGeom>
          <a:noFill/>
          <a:ln w="19050">
            <a:solidFill>
              <a:schemeClr val="accent6"/>
            </a:solidFill>
            <a:prstDash val="solid"/>
            <a:tailEnd type="triangle"/>
          </a:ln>
        </p:spPr>
      </p:sp>
      <p:sp>
        <p:nvSpPr>
          <p:cNvPr id="22" name="step-4"/>
          <p:cNvSpPr/>
          <p:nvPr/>
        </p:nvSpPr>
        <p:spPr>
          <a:xfrm>
            <a:off x="6857086" y="1417320"/>
            <a:ext cx="1828800" cy="1965960"/>
          </a:xfrm>
          <a:prstGeom prst="roundRect">
            <a:avLst>
              <a:gd name="adj" fmla="val 4000"/>
            </a:avLst>
          </a:prstGeom>
          <a:solidFill>
            <a:schemeClr val="bg2"/>
          </a:solidFill>
          <a:ln/>
        </p:spPr>
      </p:sp>
      <p:sp>
        <p:nvSpPr>
          <p:cNvPr id="23" name="Shape 18"/>
          <p:cNvSpPr/>
          <p:nvPr/>
        </p:nvSpPr>
        <p:spPr>
          <a:xfrm>
            <a:off x="7039966" y="1618488"/>
            <a:ext cx="502920" cy="502920"/>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7165696" y="1744218"/>
            <a:ext cx="251460" cy="251460"/>
          </a:xfrm>
          <a:prstGeom prst="rect">
            <a:avLst/>
          </a:prstGeom>
        </p:spPr>
      </p:pic>
      <p:sp>
        <p:nvSpPr>
          <p:cNvPr id="25" name="Text 19"/>
          <p:cNvSpPr txBox="1"/>
          <p:nvPr/>
        </p:nvSpPr>
        <p:spPr>
          <a:xfrm>
            <a:off x="7039966"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4. 자산 순위</a:t>
            </a:r>
            <a:endParaRPr lang="en-US" sz="1500" dirty="0"/>
          </a:p>
        </p:txBody>
      </p:sp>
      <p:sp>
        <p:nvSpPr>
          <p:cNvPr id="26" name="Text 20"/>
          <p:cNvSpPr txBox="1"/>
          <p:nvPr/>
        </p:nvSpPr>
        <p:spPr>
          <a:xfrm>
            <a:off x="7039966"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종료 후 실제 종목과</a:t>
            </a:r>
            <a:endParaRPr lang="en-US" sz="1200" dirty="0"/>
          </a:p>
          <a:p>
            <a:pPr indent="0" marL="0">
              <a:buNone/>
            </a:pPr>
            <a:r>
              <a:rPr lang="en-US" sz="1200" dirty="0">
                <a:solidFill>
                  <a:schemeClr val="accent6"/>
                </a:solidFill>
              </a:rPr>
              <a:t>기간 공개</a:t>
            </a:r>
            <a:endParaRPr lang="en-US" sz="1200" dirty="0"/>
          </a:p>
        </p:txBody>
      </p:sp>
      <p:sp>
        <p:nvSpPr>
          <p:cNvPr id="27" name="Text 21"/>
          <p:cNvSpPr txBox="1"/>
          <p:nvPr/>
        </p:nvSpPr>
        <p:spPr>
          <a:xfrm>
            <a:off x="457200" y="3657600"/>
            <a:ext cx="2560320" cy="548640"/>
          </a:xfrm>
          <a:prstGeom prst="rect">
            <a:avLst/>
          </a:prstGeom>
          <a:noFill/>
          <a:ln/>
        </p:spPr>
        <p:txBody>
          <a:bodyPr wrap="square" lIns="0" tIns="0" rIns="0" bIns="0" rtlCol="0" anchor="t"/>
          <a:lstStyle/>
          <a:p>
            <a:pPr indent="0" marL="0">
              <a:buNone/>
            </a:pPr>
            <a:r>
              <a:rPr lang="en-US" sz="3200" b="1" dirty="0">
                <a:solidFill>
                  <a:schemeClr val="accent1"/>
                </a:solidFill>
              </a:rPr>
              <a:t>1초</a:t>
            </a:r>
            <a:endParaRPr lang="en-US" sz="3200" dirty="0"/>
          </a:p>
        </p:txBody>
      </p:sp>
      <p:sp>
        <p:nvSpPr>
          <p:cNvPr id="28" name="Text 22"/>
          <p:cNvSpPr txBox="1"/>
          <p:nvPr/>
        </p:nvSpPr>
        <p:spPr>
          <a:xfrm>
            <a:off x="457200" y="4224528"/>
            <a:ext cx="2560320" cy="274320"/>
          </a:xfrm>
          <a:prstGeom prst="rect">
            <a:avLst/>
          </a:prstGeom>
          <a:noFill/>
          <a:ln/>
        </p:spPr>
        <p:txBody>
          <a:bodyPr wrap="square" lIns="0" tIns="0" rIns="0" bIns="0" rtlCol="0" anchor="t"/>
          <a:lstStyle/>
          <a:p>
            <a:pPr indent="0" marL="0">
              <a:buNone/>
            </a:pPr>
            <a:r>
              <a:rPr lang="en-US" sz="1200" dirty="0">
                <a:solidFill>
                  <a:schemeClr val="accent6"/>
                </a:solidFill>
              </a:rPr>
              <a:t>캔들 1개, 과거 시세 압축 재생</a:t>
            </a:r>
            <a:endParaRPr lang="en-US" sz="1200" dirty="0"/>
          </a:p>
        </p:txBody>
      </p:sp>
      <p:sp>
        <p:nvSpPr>
          <p:cNvPr id="29" name="Text 23"/>
          <p:cNvSpPr txBox="1"/>
          <p:nvPr/>
        </p:nvSpPr>
        <p:spPr>
          <a:xfrm>
            <a:off x="3200400" y="3657600"/>
            <a:ext cx="2560320" cy="548640"/>
          </a:xfrm>
          <a:prstGeom prst="rect">
            <a:avLst/>
          </a:prstGeom>
          <a:noFill/>
          <a:ln/>
        </p:spPr>
        <p:txBody>
          <a:bodyPr wrap="square" lIns="0" tIns="0" rIns="0" bIns="0" rtlCol="0" anchor="t"/>
          <a:lstStyle/>
          <a:p>
            <a:pPr indent="0" marL="0">
              <a:buNone/>
            </a:pPr>
            <a:r>
              <a:rPr lang="en-US" sz="3200" b="1" dirty="0">
                <a:solidFill>
                  <a:schemeClr val="accent1"/>
                </a:solidFill>
              </a:rPr>
              <a:t>4분</a:t>
            </a:r>
            <a:endParaRPr lang="en-US" sz="3200" dirty="0"/>
          </a:p>
        </p:txBody>
      </p:sp>
      <p:sp>
        <p:nvSpPr>
          <p:cNvPr id="30" name="Text 24"/>
          <p:cNvSpPr txBox="1"/>
          <p:nvPr/>
        </p:nvSpPr>
        <p:spPr>
          <a:xfrm>
            <a:off x="3200400" y="4224528"/>
            <a:ext cx="2560320" cy="274320"/>
          </a:xfrm>
          <a:prstGeom prst="rect">
            <a:avLst/>
          </a:prstGeom>
          <a:noFill/>
          <a:ln/>
        </p:spPr>
        <p:txBody>
          <a:bodyPr wrap="square" lIns="0" tIns="0" rIns="0" bIns="0" rtlCol="0" anchor="t"/>
          <a:lstStyle/>
          <a:p>
            <a:pPr indent="0" marL="0">
              <a:buNone/>
            </a:pPr>
            <a:r>
              <a:rPr lang="en-US" sz="1200" dirty="0">
                <a:solidFill>
                  <a:schemeClr val="accent6"/>
                </a:solidFill>
              </a:rPr>
              <a:t>한 판 길이 (캔들 240개)</a:t>
            </a:r>
            <a:endParaRPr lang="en-US" sz="1200" dirty="0"/>
          </a:p>
        </p:txBody>
      </p:sp>
      <p:sp>
        <p:nvSpPr>
          <p:cNvPr id="31" name="Text 25"/>
          <p:cNvSpPr txBox="1"/>
          <p:nvPr/>
        </p:nvSpPr>
        <p:spPr>
          <a:xfrm>
            <a:off x="5943600" y="3657600"/>
            <a:ext cx="2560320" cy="548640"/>
          </a:xfrm>
          <a:prstGeom prst="rect">
            <a:avLst/>
          </a:prstGeom>
          <a:noFill/>
          <a:ln/>
        </p:spPr>
        <p:txBody>
          <a:bodyPr wrap="square" lIns="0" tIns="0" rIns="0" bIns="0" rtlCol="0" anchor="t"/>
          <a:lstStyle/>
          <a:p>
            <a:pPr indent="0" marL="0">
              <a:buNone/>
            </a:pPr>
            <a:r>
              <a:rPr lang="en-US" sz="3200" b="1" dirty="0">
                <a:solidFill>
                  <a:schemeClr val="accent1"/>
                </a:solidFill>
              </a:rPr>
              <a:t>A, B, C</a:t>
            </a:r>
            <a:endParaRPr lang="en-US" sz="3200" dirty="0"/>
          </a:p>
        </p:txBody>
      </p:sp>
      <p:sp>
        <p:nvSpPr>
          <p:cNvPr id="32" name="Text 26"/>
          <p:cNvSpPr txBox="1"/>
          <p:nvPr/>
        </p:nvSpPr>
        <p:spPr>
          <a:xfrm>
            <a:off x="5943600" y="4224528"/>
            <a:ext cx="2560320" cy="274320"/>
          </a:xfrm>
          <a:prstGeom prst="rect">
            <a:avLst/>
          </a:prstGeom>
          <a:noFill/>
          <a:ln/>
        </p:spPr>
        <p:txBody>
          <a:bodyPr wrap="square" lIns="0" tIns="0" rIns="0" bIns="0" rtlCol="0" anchor="t"/>
          <a:lstStyle/>
          <a:p>
            <a:pPr indent="0" marL="0">
              <a:buNone/>
            </a:pPr>
            <a:r>
              <a:rPr lang="en-US" sz="1200" dirty="0">
                <a:solidFill>
                  <a:schemeClr val="accent6"/>
                </a:solidFill>
              </a:rPr>
              <a:t>게임 중 종목 이름 비공개</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데이터는 네 가지 조건을 갖춰야 합니다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실제 시세를 게임에 쓰려면 네 가지가 필요했습니다. 이후 내용은 이 조건을 하나씩 확인한 과정입니다</a:t>
            </a:r>
            <a:endParaRPr lang="en-US" sz="1400" dirty="0"/>
          </a:p>
        </p:txBody>
      </p:sp>
      <p:sp>
        <p:nvSpPr>
          <p:cNvPr id="4" name="cond-1"/>
          <p:cNvSpPr/>
          <p:nvPr/>
        </p:nvSpPr>
        <p:spPr>
          <a:xfrm>
            <a:off x="457200" y="1371600"/>
            <a:ext cx="4023360" cy="1463040"/>
          </a:xfrm>
          <a:prstGeom prst="roundRect">
            <a:avLst>
              <a:gd name="adj" fmla="val 5000"/>
            </a:avLst>
          </a:prstGeom>
          <a:solidFill>
            <a:schemeClr val="bg2"/>
          </a:solidFill>
          <a:ln/>
        </p:spPr>
      </p:sp>
      <p:sp>
        <p:nvSpPr>
          <p:cNvPr id="5" name="Shape 3"/>
          <p:cNvSpPr/>
          <p:nvPr/>
        </p:nvSpPr>
        <p:spPr>
          <a:xfrm>
            <a:off x="658368" y="1572768"/>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72668" y="1687068"/>
            <a:ext cx="228600" cy="228600"/>
          </a:xfrm>
          <a:prstGeom prst="rect">
            <a:avLst/>
          </a:prstGeom>
        </p:spPr>
      </p:pic>
      <p:sp>
        <p:nvSpPr>
          <p:cNvPr id="7" name="Text 4"/>
          <p:cNvSpPr txBox="1"/>
          <p:nvPr/>
        </p:nvSpPr>
        <p:spPr>
          <a:xfrm>
            <a:off x="1280160" y="157276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진짜 가격이어야 합니다</a:t>
            </a:r>
            <a:endParaRPr lang="en-US" sz="1600" dirty="0"/>
          </a:p>
        </p:txBody>
      </p:sp>
      <p:sp>
        <p:nvSpPr>
          <p:cNvPr id="8" name="Text 5"/>
          <p:cNvSpPr txBox="1"/>
          <p:nvPr/>
        </p:nvSpPr>
        <p:spPr>
          <a:xfrm>
            <a:off x="2468880" y="2505456"/>
            <a:ext cx="1828800" cy="237744"/>
          </a:xfrm>
          <a:prstGeom prst="rect">
            <a:avLst/>
          </a:prstGeom>
          <a:noFill/>
          <a:ln/>
        </p:spPr>
        <p:txBody>
          <a:bodyPr wrap="square" lIns="0" tIns="0" rIns="0" bIns="0" rtlCol="0" anchor="ctr"/>
          <a:lstStyle/>
          <a:p>
            <a:pPr algn="r" indent="0" marL="0">
              <a:buNone/>
            </a:pPr>
            <a:r>
              <a:rPr lang="en-US" sz="1100" b="1" dirty="0">
                <a:solidFill>
                  <a:schemeClr val="accent5"/>
                </a:solidFill>
              </a:rPr>
              <a:t>확인 완료</a:t>
            </a:r>
            <a:endParaRPr lang="en-US" sz="1100" dirty="0"/>
          </a:p>
        </p:txBody>
      </p:sp>
      <p:sp>
        <p:nvSpPr>
          <p:cNvPr id="9" name="Text 6"/>
          <p:cNvSpPr txBox="1"/>
          <p:nvPr/>
        </p:nvSpPr>
        <p:spPr>
          <a:xfrm>
            <a:off x="658368" y="2103120"/>
            <a:ext cx="3621024" cy="457200"/>
          </a:xfrm>
          <a:prstGeom prst="rect">
            <a:avLst/>
          </a:prstGeom>
          <a:noFill/>
          <a:ln/>
        </p:spPr>
        <p:txBody>
          <a:bodyPr wrap="square" lIns="0" tIns="0" rIns="0" bIns="0" rtlCol="0" anchor="t"/>
          <a:lstStyle/>
          <a:p>
            <a:pPr indent="0" marL="0">
              <a:buNone/>
            </a:pPr>
            <a:r>
              <a:rPr lang="en-US" sz="1200" dirty="0">
                <a:solidFill>
                  <a:schemeClr val="accent6"/>
                </a:solidFill>
              </a:rPr>
              <a:t>액면분할 등이 반영된 수정주가</a:t>
            </a:r>
            <a:endParaRPr lang="en-US" sz="1200" dirty="0"/>
          </a:p>
          <a:p>
            <a:pPr indent="0" marL="0">
              <a:buNone/>
            </a:pPr>
            <a:r>
              <a:rPr lang="en-US" sz="1200" dirty="0">
                <a:solidFill>
                  <a:schemeClr val="accent6"/>
                </a:solidFill>
              </a:rPr>
              <a:t>삼성전자 분할(50:1) 전후 정확히 50배 차이 확인</a:t>
            </a:r>
            <a:endParaRPr lang="en-US" sz="1200" dirty="0"/>
          </a:p>
        </p:txBody>
      </p:sp>
      <p:sp>
        <p:nvSpPr>
          <p:cNvPr id="10" name="cond-2"/>
          <p:cNvSpPr/>
          <p:nvPr/>
        </p:nvSpPr>
        <p:spPr>
          <a:xfrm>
            <a:off x="4663440" y="1371600"/>
            <a:ext cx="4023360" cy="1463040"/>
          </a:xfrm>
          <a:prstGeom prst="roundRect">
            <a:avLst>
              <a:gd name="adj" fmla="val 5000"/>
            </a:avLst>
          </a:prstGeom>
          <a:solidFill>
            <a:schemeClr val="bg2"/>
          </a:solidFill>
          <a:ln/>
        </p:spPr>
      </p:sp>
      <p:sp>
        <p:nvSpPr>
          <p:cNvPr id="11" name="Shape 8"/>
          <p:cNvSpPr/>
          <p:nvPr/>
        </p:nvSpPr>
        <p:spPr>
          <a:xfrm>
            <a:off x="4864608" y="1572768"/>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978908" y="1687068"/>
            <a:ext cx="228600" cy="228600"/>
          </a:xfrm>
          <a:prstGeom prst="rect">
            <a:avLst/>
          </a:prstGeom>
        </p:spPr>
      </p:pic>
      <p:sp>
        <p:nvSpPr>
          <p:cNvPr id="13" name="Text 9"/>
          <p:cNvSpPr txBox="1"/>
          <p:nvPr/>
        </p:nvSpPr>
        <p:spPr>
          <a:xfrm>
            <a:off x="5486400" y="157276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고를 구간이 충분해야 합니다</a:t>
            </a:r>
            <a:endParaRPr lang="en-US" sz="1600" dirty="0"/>
          </a:p>
        </p:txBody>
      </p:sp>
      <p:sp>
        <p:nvSpPr>
          <p:cNvPr id="14" name="Text 10"/>
          <p:cNvSpPr txBox="1"/>
          <p:nvPr/>
        </p:nvSpPr>
        <p:spPr>
          <a:xfrm>
            <a:off x="6675120" y="2505456"/>
            <a:ext cx="1828800" cy="237744"/>
          </a:xfrm>
          <a:prstGeom prst="rect">
            <a:avLst/>
          </a:prstGeom>
          <a:noFill/>
          <a:ln/>
        </p:spPr>
        <p:txBody>
          <a:bodyPr wrap="square" lIns="0" tIns="0" rIns="0" bIns="0" rtlCol="0" anchor="ctr"/>
          <a:lstStyle/>
          <a:p>
            <a:pPr algn="r" indent="0" marL="0">
              <a:buNone/>
            </a:pPr>
            <a:r>
              <a:rPr lang="en-US" sz="1100" b="1" dirty="0">
                <a:solidFill>
                  <a:schemeClr val="accent1"/>
                </a:solidFill>
              </a:rPr>
              <a:t>조회 범위 실측</a:t>
            </a:r>
            <a:endParaRPr lang="en-US" sz="1100" dirty="0"/>
          </a:p>
        </p:txBody>
      </p:sp>
      <p:sp>
        <p:nvSpPr>
          <p:cNvPr id="15" name="Text 11"/>
          <p:cNvSpPr txBox="1"/>
          <p:nvPr/>
        </p:nvSpPr>
        <p:spPr>
          <a:xfrm>
            <a:off x="4864608" y="2103120"/>
            <a:ext cx="3621024" cy="457200"/>
          </a:xfrm>
          <a:prstGeom prst="rect">
            <a:avLst/>
          </a:prstGeom>
          <a:noFill/>
          <a:ln/>
        </p:spPr>
        <p:txBody>
          <a:bodyPr wrap="square" lIns="0" tIns="0" rIns="0" bIns="0" rtlCol="0" anchor="t"/>
          <a:lstStyle/>
          <a:p>
            <a:pPr indent="0" marL="0">
              <a:buNone/>
            </a:pPr>
            <a:r>
              <a:rPr lang="en-US" sz="1200" dirty="0">
                <a:solidFill>
                  <a:schemeClr val="accent6"/>
                </a:solidFill>
              </a:rPr>
              <a:t>같은 판 반복을 피하려면</a:t>
            </a:r>
            <a:endParaRPr lang="en-US" sz="1200" dirty="0"/>
          </a:p>
          <a:p>
            <a:pPr indent="0" marL="0">
              <a:buNone/>
            </a:pPr>
            <a:r>
              <a:rPr lang="en-US" sz="1200" dirty="0">
                <a:solidFill>
                  <a:schemeClr val="accent6"/>
                </a:solidFill>
              </a:rPr>
              <a:t>긴 조회 기간 필요</a:t>
            </a:r>
            <a:endParaRPr lang="en-US" sz="1200" dirty="0"/>
          </a:p>
        </p:txBody>
      </p:sp>
      <p:sp>
        <p:nvSpPr>
          <p:cNvPr id="16" name="cond-3"/>
          <p:cNvSpPr/>
          <p:nvPr/>
        </p:nvSpPr>
        <p:spPr>
          <a:xfrm>
            <a:off x="457200" y="3017520"/>
            <a:ext cx="4023360" cy="1463040"/>
          </a:xfrm>
          <a:prstGeom prst="roundRect">
            <a:avLst>
              <a:gd name="adj" fmla="val 5000"/>
            </a:avLst>
          </a:prstGeom>
          <a:solidFill>
            <a:schemeClr val="bg2"/>
          </a:solidFill>
          <a:ln/>
        </p:spPr>
      </p:sp>
      <p:sp>
        <p:nvSpPr>
          <p:cNvPr id="17" name="Shape 13"/>
          <p:cNvSpPr/>
          <p:nvPr/>
        </p:nvSpPr>
        <p:spPr>
          <a:xfrm>
            <a:off x="658368" y="3218688"/>
            <a:ext cx="457200" cy="45720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772668" y="3332988"/>
            <a:ext cx="228600" cy="228600"/>
          </a:xfrm>
          <a:prstGeom prst="rect">
            <a:avLst/>
          </a:prstGeom>
        </p:spPr>
      </p:pic>
      <p:sp>
        <p:nvSpPr>
          <p:cNvPr id="19" name="Text 14"/>
          <p:cNvSpPr txBox="1"/>
          <p:nvPr/>
        </p:nvSpPr>
        <p:spPr>
          <a:xfrm>
            <a:off x="1280160" y="321868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멈추지 않아야 합니다</a:t>
            </a:r>
            <a:endParaRPr lang="en-US" sz="1600" dirty="0"/>
          </a:p>
        </p:txBody>
      </p:sp>
      <p:sp>
        <p:nvSpPr>
          <p:cNvPr id="20" name="Text 15"/>
          <p:cNvSpPr txBox="1"/>
          <p:nvPr/>
        </p:nvSpPr>
        <p:spPr>
          <a:xfrm>
            <a:off x="2468880" y="4151376"/>
            <a:ext cx="1828800" cy="237744"/>
          </a:xfrm>
          <a:prstGeom prst="rect">
            <a:avLst/>
          </a:prstGeom>
          <a:noFill/>
          <a:ln/>
        </p:spPr>
        <p:txBody>
          <a:bodyPr wrap="square" lIns="0" tIns="0" rIns="0" bIns="0" rtlCol="0" anchor="ctr"/>
          <a:lstStyle/>
          <a:p>
            <a:pPr algn="r" indent="0" marL="0">
              <a:buNone/>
            </a:pPr>
            <a:r>
              <a:rPr lang="en-US" sz="1100" b="1" dirty="0">
                <a:solidFill>
                  <a:schemeClr val="accent1"/>
                </a:solidFill>
              </a:rPr>
              <a:t>무거래 봉 분석</a:t>
            </a:r>
            <a:endParaRPr lang="en-US" sz="1100" dirty="0"/>
          </a:p>
        </p:txBody>
      </p:sp>
      <p:sp>
        <p:nvSpPr>
          <p:cNvPr id="21" name="Text 16"/>
          <p:cNvSpPr txBox="1"/>
          <p:nvPr/>
        </p:nvSpPr>
        <p:spPr>
          <a:xfrm>
            <a:off x="658368" y="3749040"/>
            <a:ext cx="3621024" cy="457200"/>
          </a:xfrm>
          <a:prstGeom prst="rect">
            <a:avLst/>
          </a:prstGeom>
          <a:noFill/>
          <a:ln/>
        </p:spPr>
        <p:txBody>
          <a:bodyPr wrap="square" lIns="0" tIns="0" rIns="0" bIns="0" rtlCol="0" anchor="t"/>
          <a:lstStyle/>
          <a:p>
            <a:pPr indent="0" marL="0">
              <a:buNone/>
            </a:pPr>
            <a:r>
              <a:rPr lang="en-US" sz="1200" dirty="0">
                <a:solidFill>
                  <a:schemeClr val="accent6"/>
                </a:solidFill>
              </a:rPr>
              <a:t>1초에 캔들 1개라</a:t>
            </a:r>
            <a:endParaRPr lang="en-US" sz="1200" dirty="0"/>
          </a:p>
          <a:p>
            <a:pPr indent="0" marL="0">
              <a:buNone/>
            </a:pPr>
            <a:r>
              <a:rPr lang="en-US" sz="1200" dirty="0">
                <a:solidFill>
                  <a:schemeClr val="accent6"/>
                </a:solidFill>
              </a:rPr>
              <a:t>거래 없는 봉은 화면 정지로 보임</a:t>
            </a:r>
            <a:endParaRPr lang="en-US" sz="1200" dirty="0"/>
          </a:p>
        </p:txBody>
      </p:sp>
      <p:sp>
        <p:nvSpPr>
          <p:cNvPr id="22" name="cond-4"/>
          <p:cNvSpPr/>
          <p:nvPr/>
        </p:nvSpPr>
        <p:spPr>
          <a:xfrm>
            <a:off x="4663440" y="3017520"/>
            <a:ext cx="4023360" cy="1463040"/>
          </a:xfrm>
          <a:prstGeom prst="roundRect">
            <a:avLst>
              <a:gd name="adj" fmla="val 5000"/>
            </a:avLst>
          </a:prstGeom>
          <a:solidFill>
            <a:schemeClr val="bg2"/>
          </a:solidFill>
          <a:ln/>
        </p:spPr>
      </p:sp>
      <p:sp>
        <p:nvSpPr>
          <p:cNvPr id="23" name="Shape 18"/>
          <p:cNvSpPr/>
          <p:nvPr/>
        </p:nvSpPr>
        <p:spPr>
          <a:xfrm>
            <a:off x="4864608" y="3218688"/>
            <a:ext cx="457200" cy="457200"/>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4978908" y="3332988"/>
            <a:ext cx="228600" cy="228600"/>
          </a:xfrm>
          <a:prstGeom prst="rect">
            <a:avLst/>
          </a:prstGeom>
        </p:spPr>
      </p:pic>
      <p:sp>
        <p:nvSpPr>
          <p:cNvPr id="25" name="Text 19"/>
          <p:cNvSpPr txBox="1"/>
          <p:nvPr/>
        </p:nvSpPr>
        <p:spPr>
          <a:xfrm>
            <a:off x="5486400" y="321868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움직임이 있어야 합니다</a:t>
            </a:r>
            <a:endParaRPr lang="en-US" sz="1600" dirty="0"/>
          </a:p>
        </p:txBody>
      </p:sp>
      <p:sp>
        <p:nvSpPr>
          <p:cNvPr id="26" name="Text 20"/>
          <p:cNvSpPr txBox="1"/>
          <p:nvPr/>
        </p:nvSpPr>
        <p:spPr>
          <a:xfrm>
            <a:off x="6675120" y="4151376"/>
            <a:ext cx="1828800" cy="237744"/>
          </a:xfrm>
          <a:prstGeom prst="rect">
            <a:avLst/>
          </a:prstGeom>
          <a:noFill/>
          <a:ln/>
        </p:spPr>
        <p:txBody>
          <a:bodyPr wrap="square" lIns="0" tIns="0" rIns="0" bIns="0" rtlCol="0" anchor="ctr"/>
          <a:lstStyle/>
          <a:p>
            <a:pPr algn="r" indent="0" marL="0">
              <a:buNone/>
            </a:pPr>
            <a:r>
              <a:rPr lang="en-US" sz="1100" b="1" dirty="0">
                <a:solidFill>
                  <a:schemeClr val="accent1"/>
                </a:solidFill>
              </a:rPr>
              <a:t>변동폭과 청산 분석</a:t>
            </a:r>
            <a:endParaRPr lang="en-US" sz="1100" dirty="0"/>
          </a:p>
        </p:txBody>
      </p:sp>
      <p:sp>
        <p:nvSpPr>
          <p:cNvPr id="27" name="Text 21"/>
          <p:cNvSpPr txBox="1"/>
          <p:nvPr/>
        </p:nvSpPr>
        <p:spPr>
          <a:xfrm>
            <a:off x="4864608" y="3749040"/>
            <a:ext cx="3621024" cy="457200"/>
          </a:xfrm>
          <a:prstGeom prst="rect">
            <a:avLst/>
          </a:prstGeom>
          <a:noFill/>
          <a:ln/>
        </p:spPr>
        <p:txBody>
          <a:bodyPr wrap="square" lIns="0" tIns="0" rIns="0" bIns="0" rtlCol="0" anchor="t"/>
          <a:lstStyle/>
          <a:p>
            <a:pPr indent="0" marL="0">
              <a:buNone/>
            </a:pPr>
            <a:r>
              <a:rPr lang="en-US" sz="1200" dirty="0">
                <a:solidFill>
                  <a:schemeClr val="accent6"/>
                </a:solidFill>
              </a:rPr>
              <a:t>가격이 잔잔하면 판단할 거리가 없음</a:t>
            </a:r>
            <a:endParaRPr lang="en-US" sz="1200" dirty="0"/>
          </a:p>
          <a:p>
            <a:pPr indent="0" marL="0">
              <a:buNone/>
            </a:pPr>
            <a:r>
              <a:rPr lang="en-US" sz="1200" dirty="0">
                <a:solidFill>
                  <a:schemeClr val="accent6"/>
                </a:solidFill>
              </a:rPr>
              <a:t>배율을 걸어도 위험이 생기지 않음</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데이터는 미리 받아 두고 게임은 저장본만 씁니다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게임이 도는 동안에는 외부 API를 부르지 않습니다</a:t>
            </a:r>
            <a:endParaRPr lang="en-US" sz="1400" dirty="0"/>
          </a:p>
        </p:txBody>
      </p:sp>
      <p:sp>
        <p:nvSpPr>
          <p:cNvPr id="4" name="토스증권 API"/>
          <p:cNvSpPr/>
          <p:nvPr/>
        </p:nvSpPr>
        <p:spPr>
          <a:xfrm>
            <a:off x="457200" y="1417320"/>
            <a:ext cx="1737360" cy="1005840"/>
          </a:xfrm>
          <a:prstGeom prst="roundRect">
            <a:avLst>
              <a:gd name="adj" fmla="val 7273"/>
            </a:avLst>
          </a:prstGeom>
          <a:solidFill>
            <a:schemeClr val="bg2"/>
          </a:solidFill>
          <a:ln/>
        </p:spPr>
      </p:sp>
      <p:sp>
        <p:nvSpPr>
          <p:cNvPr id="5" name="Text 3"/>
          <p:cNvSpPr txBox="1"/>
          <p:nvPr/>
        </p:nvSpPr>
        <p:spPr>
          <a:xfrm>
            <a:off x="548640" y="1572768"/>
            <a:ext cx="1554480" cy="320040"/>
          </a:xfrm>
          <a:prstGeom prst="rect">
            <a:avLst/>
          </a:prstGeom>
          <a:noFill/>
          <a:ln/>
        </p:spPr>
        <p:txBody>
          <a:bodyPr wrap="square" lIns="0" tIns="0" rIns="0" bIns="0" rtlCol="0" anchor="t"/>
          <a:lstStyle/>
          <a:p>
            <a:pPr algn="ctr" indent="0" marL="0">
              <a:buNone/>
            </a:pPr>
            <a:r>
              <a:rPr lang="en-US" sz="1500" b="1" dirty="0">
                <a:solidFill>
                  <a:schemeClr val="tx1"/>
                </a:solidFill>
              </a:rPr>
              <a:t>토스증권 API</a:t>
            </a:r>
            <a:endParaRPr lang="en-US" sz="1500" dirty="0"/>
          </a:p>
        </p:txBody>
      </p:sp>
      <p:sp>
        <p:nvSpPr>
          <p:cNvPr id="6" name="Text 4"/>
          <p:cNvSpPr txBox="1"/>
          <p:nvPr/>
        </p:nvSpPr>
        <p:spPr>
          <a:xfrm>
            <a:off x="548640" y="1901952"/>
            <a:ext cx="1554480" cy="457200"/>
          </a:xfrm>
          <a:prstGeom prst="rect">
            <a:avLst/>
          </a:prstGeom>
          <a:noFill/>
          <a:ln/>
        </p:spPr>
        <p:txBody>
          <a:bodyPr wrap="square" lIns="0" tIns="0" rIns="0" bIns="0" rtlCol="0" anchor="t"/>
          <a:lstStyle/>
          <a:p>
            <a:pPr algn="ctr" indent="0" marL="0">
              <a:buNone/>
            </a:pPr>
            <a:r>
              <a:rPr lang="en-US" sz="1100" dirty="0">
                <a:solidFill>
                  <a:schemeClr val="accent6"/>
                </a:solidFill>
              </a:rPr>
              <a:t>실제 시세 (일봉, 분봉)</a:t>
            </a:r>
            <a:endParaRPr lang="en-US" sz="1100" dirty="0"/>
          </a:p>
        </p:txBody>
      </p:sp>
      <p:sp>
        <p:nvSpPr>
          <p:cNvPr id="7" name="수집"/>
          <p:cNvSpPr/>
          <p:nvPr/>
        </p:nvSpPr>
        <p:spPr>
          <a:xfrm>
            <a:off x="2606040" y="1417320"/>
            <a:ext cx="1737360" cy="1005840"/>
          </a:xfrm>
          <a:prstGeom prst="roundRect">
            <a:avLst>
              <a:gd name="adj" fmla="val 7273"/>
            </a:avLst>
          </a:prstGeom>
          <a:solidFill>
            <a:schemeClr val="bg2"/>
          </a:solidFill>
          <a:ln/>
        </p:spPr>
      </p:sp>
      <p:sp>
        <p:nvSpPr>
          <p:cNvPr id="8" name="Text 6"/>
          <p:cNvSpPr txBox="1"/>
          <p:nvPr/>
        </p:nvSpPr>
        <p:spPr>
          <a:xfrm>
            <a:off x="2697480" y="1572768"/>
            <a:ext cx="1554480" cy="320040"/>
          </a:xfrm>
          <a:prstGeom prst="rect">
            <a:avLst/>
          </a:prstGeom>
          <a:noFill/>
          <a:ln/>
        </p:spPr>
        <p:txBody>
          <a:bodyPr wrap="square" lIns="0" tIns="0" rIns="0" bIns="0" rtlCol="0" anchor="t"/>
          <a:lstStyle/>
          <a:p>
            <a:pPr algn="ctr" indent="0" marL="0">
              <a:buNone/>
            </a:pPr>
            <a:r>
              <a:rPr lang="en-US" sz="1500" b="1" dirty="0">
                <a:solidFill>
                  <a:schemeClr val="tx1"/>
                </a:solidFill>
              </a:rPr>
              <a:t>수집</a:t>
            </a:r>
            <a:endParaRPr lang="en-US" sz="1500" dirty="0"/>
          </a:p>
        </p:txBody>
      </p:sp>
      <p:sp>
        <p:nvSpPr>
          <p:cNvPr id="9" name="Text 7"/>
          <p:cNvSpPr txBox="1"/>
          <p:nvPr/>
        </p:nvSpPr>
        <p:spPr>
          <a:xfrm>
            <a:off x="2697480" y="1901952"/>
            <a:ext cx="1554480" cy="457200"/>
          </a:xfrm>
          <a:prstGeom prst="rect">
            <a:avLst/>
          </a:prstGeom>
          <a:noFill/>
          <a:ln/>
        </p:spPr>
        <p:txBody>
          <a:bodyPr wrap="square" lIns="0" tIns="0" rIns="0" bIns="0" rtlCol="0" anchor="t"/>
          <a:lstStyle/>
          <a:p>
            <a:pPr algn="ctr" indent="0" marL="0">
              <a:buNone/>
            </a:pPr>
            <a:r>
              <a:rPr lang="en-US" sz="1100" dirty="0">
                <a:solidFill>
                  <a:schemeClr val="accent6"/>
                </a:solidFill>
              </a:rPr>
              <a:t>필요할 때만 실행</a:t>
            </a:r>
            <a:endParaRPr lang="en-US" sz="1100" dirty="0"/>
          </a:p>
        </p:txBody>
      </p:sp>
      <p:sp>
        <p:nvSpPr>
          <p:cNvPr id="10" name="데이터베이스"/>
          <p:cNvSpPr/>
          <p:nvPr/>
        </p:nvSpPr>
        <p:spPr>
          <a:xfrm>
            <a:off x="4754880" y="1417320"/>
            <a:ext cx="1737360" cy="1005840"/>
          </a:xfrm>
          <a:prstGeom prst="roundRect">
            <a:avLst>
              <a:gd name="adj" fmla="val 7273"/>
            </a:avLst>
          </a:prstGeom>
          <a:solidFill>
            <a:schemeClr val="accent1"/>
          </a:solidFill>
          <a:ln/>
        </p:spPr>
      </p:sp>
      <p:sp>
        <p:nvSpPr>
          <p:cNvPr id="11" name="Text 9"/>
          <p:cNvSpPr txBox="1"/>
          <p:nvPr/>
        </p:nvSpPr>
        <p:spPr>
          <a:xfrm>
            <a:off x="4846320" y="1572768"/>
            <a:ext cx="1554480" cy="320040"/>
          </a:xfrm>
          <a:prstGeom prst="rect">
            <a:avLst/>
          </a:prstGeom>
          <a:noFill/>
          <a:ln/>
        </p:spPr>
        <p:txBody>
          <a:bodyPr wrap="square" lIns="0" tIns="0" rIns="0" bIns="0" rtlCol="0" anchor="t"/>
          <a:lstStyle/>
          <a:p>
            <a:pPr algn="ctr" indent="0" marL="0">
              <a:buNone/>
            </a:pPr>
            <a:r>
              <a:rPr lang="en-US" sz="1500" b="1" dirty="0">
                <a:solidFill>
                  <a:schemeClr val="bg1"/>
                </a:solidFill>
              </a:rPr>
              <a:t>데이터베이스</a:t>
            </a:r>
            <a:endParaRPr lang="en-US" sz="1500" dirty="0"/>
          </a:p>
        </p:txBody>
      </p:sp>
      <p:sp>
        <p:nvSpPr>
          <p:cNvPr id="12" name="Text 10"/>
          <p:cNvSpPr txBox="1"/>
          <p:nvPr/>
        </p:nvSpPr>
        <p:spPr>
          <a:xfrm>
            <a:off x="4846320" y="1901952"/>
            <a:ext cx="1554480" cy="457200"/>
          </a:xfrm>
          <a:prstGeom prst="rect">
            <a:avLst/>
          </a:prstGeom>
          <a:noFill/>
          <a:ln/>
        </p:spPr>
        <p:txBody>
          <a:bodyPr wrap="square" lIns="0" tIns="0" rIns="0" bIns="0" rtlCol="0" anchor="t"/>
          <a:lstStyle/>
          <a:p>
            <a:pPr algn="ctr" indent="0" marL="0">
              <a:buNone/>
            </a:pPr>
            <a:r>
              <a:rPr lang="en-US" sz="1100" dirty="0">
                <a:solidFill>
                  <a:schemeClr val="bg2"/>
                </a:solidFill>
              </a:rPr>
              <a:t>시세, 게임 구간</a:t>
            </a:r>
            <a:endParaRPr lang="en-US" sz="1100" dirty="0"/>
          </a:p>
        </p:txBody>
      </p:sp>
      <p:sp>
        <p:nvSpPr>
          <p:cNvPr id="13" name="게임"/>
          <p:cNvSpPr/>
          <p:nvPr/>
        </p:nvSpPr>
        <p:spPr>
          <a:xfrm>
            <a:off x="6903720" y="1417320"/>
            <a:ext cx="1783080" cy="1005840"/>
          </a:xfrm>
          <a:prstGeom prst="roundRect">
            <a:avLst>
              <a:gd name="adj" fmla="val 7273"/>
            </a:avLst>
          </a:prstGeom>
          <a:solidFill>
            <a:schemeClr val="bg2"/>
          </a:solidFill>
          <a:ln/>
        </p:spPr>
      </p:sp>
      <p:sp>
        <p:nvSpPr>
          <p:cNvPr id="14" name="Text 12"/>
          <p:cNvSpPr txBox="1"/>
          <p:nvPr/>
        </p:nvSpPr>
        <p:spPr>
          <a:xfrm>
            <a:off x="6995160" y="1572768"/>
            <a:ext cx="1600200" cy="320040"/>
          </a:xfrm>
          <a:prstGeom prst="rect">
            <a:avLst/>
          </a:prstGeom>
          <a:noFill/>
          <a:ln/>
        </p:spPr>
        <p:txBody>
          <a:bodyPr wrap="square" lIns="0" tIns="0" rIns="0" bIns="0" rtlCol="0" anchor="t"/>
          <a:lstStyle/>
          <a:p>
            <a:pPr algn="ctr" indent="0" marL="0">
              <a:buNone/>
            </a:pPr>
            <a:r>
              <a:rPr lang="en-US" sz="1500" b="1" dirty="0">
                <a:solidFill>
                  <a:schemeClr val="tx1"/>
                </a:solidFill>
              </a:rPr>
              <a:t>게임</a:t>
            </a:r>
            <a:endParaRPr lang="en-US" sz="1500" dirty="0"/>
          </a:p>
        </p:txBody>
      </p:sp>
      <p:sp>
        <p:nvSpPr>
          <p:cNvPr id="15" name="Text 13"/>
          <p:cNvSpPr txBox="1"/>
          <p:nvPr/>
        </p:nvSpPr>
        <p:spPr>
          <a:xfrm>
            <a:off x="6995160" y="1901952"/>
            <a:ext cx="1600200" cy="457200"/>
          </a:xfrm>
          <a:prstGeom prst="rect">
            <a:avLst/>
          </a:prstGeom>
          <a:noFill/>
          <a:ln/>
        </p:spPr>
        <p:txBody>
          <a:bodyPr wrap="square" lIns="0" tIns="0" rIns="0" bIns="0" rtlCol="0" anchor="t"/>
          <a:lstStyle/>
          <a:p>
            <a:pPr algn="ctr" indent="0" marL="0">
              <a:buNone/>
            </a:pPr>
            <a:r>
              <a:rPr lang="en-US" sz="1100" dirty="0">
                <a:solidFill>
                  <a:schemeClr val="accent6"/>
                </a:solidFill>
              </a:rPr>
              <a:t>판 시작 시 1회 읽기</a:t>
            </a:r>
            <a:endParaRPr lang="en-US" sz="1100" dirty="0"/>
          </a:p>
        </p:txBody>
      </p:sp>
      <p:sp>
        <p:nvSpPr>
          <p:cNvPr id="16" name="Shape 14"/>
          <p:cNvSpPr/>
          <p:nvPr/>
        </p:nvSpPr>
        <p:spPr>
          <a:xfrm>
            <a:off x="2212848" y="1920240"/>
            <a:ext cx="347472" cy="914"/>
          </a:xfrm>
          <a:prstGeom prst="line">
            <a:avLst/>
          </a:prstGeom>
          <a:noFill/>
          <a:ln w="19050">
            <a:solidFill>
              <a:schemeClr val="accent6"/>
            </a:solidFill>
            <a:prstDash val="solid"/>
            <a:tailEnd type="triangle"/>
          </a:ln>
        </p:spPr>
      </p:sp>
      <p:sp>
        <p:nvSpPr>
          <p:cNvPr id="17" name="Shape 15"/>
          <p:cNvSpPr/>
          <p:nvPr/>
        </p:nvSpPr>
        <p:spPr>
          <a:xfrm>
            <a:off x="4361688" y="1920240"/>
            <a:ext cx="347472" cy="914"/>
          </a:xfrm>
          <a:prstGeom prst="line">
            <a:avLst/>
          </a:prstGeom>
          <a:noFill/>
          <a:ln w="19050">
            <a:solidFill>
              <a:schemeClr val="accent6"/>
            </a:solidFill>
            <a:prstDash val="solid"/>
            <a:tailEnd type="triangle"/>
          </a:ln>
        </p:spPr>
      </p:sp>
      <p:sp>
        <p:nvSpPr>
          <p:cNvPr id="18" name="Shape 16"/>
          <p:cNvSpPr/>
          <p:nvPr/>
        </p:nvSpPr>
        <p:spPr>
          <a:xfrm>
            <a:off x="6510528" y="1920240"/>
            <a:ext cx="347472" cy="914"/>
          </a:xfrm>
          <a:prstGeom prst="line">
            <a:avLst/>
          </a:prstGeom>
          <a:noFill/>
          <a:ln w="19050">
            <a:solidFill>
              <a:schemeClr val="accent6"/>
            </a:solidFill>
            <a:prstDash val="solid"/>
            <a:tailEnd type="triangle"/>
          </a:ln>
        </p:spPr>
      </p:sp>
      <p:sp>
        <p:nvSpPr>
          <p:cNvPr id="19" name="principle-1"/>
          <p:cNvSpPr/>
          <p:nvPr/>
        </p:nvSpPr>
        <p:spPr>
          <a:xfrm>
            <a:off x="457200" y="2743200"/>
            <a:ext cx="4023360" cy="1783080"/>
          </a:xfrm>
          <a:prstGeom prst="roundRect">
            <a:avLst>
              <a:gd name="adj" fmla="val 4103"/>
            </a:avLst>
          </a:prstGeom>
          <a:solidFill>
            <a:schemeClr val="bg2"/>
          </a:solidFill>
          <a:ln/>
        </p:spPr>
      </p:sp>
      <p:sp>
        <p:nvSpPr>
          <p:cNvPr id="20" name="Shape 18"/>
          <p:cNvSpPr/>
          <p:nvPr/>
        </p:nvSpPr>
        <p:spPr>
          <a:xfrm>
            <a:off x="685800" y="2944368"/>
            <a:ext cx="502920" cy="502920"/>
          </a:xfrm>
          <a:prstGeom prst="ellipse">
            <a:avLst/>
          </a:prstGeom>
          <a:solidFill>
            <a:schemeClr val="accent1"/>
          </a:solidFill>
          <a:ln/>
        </p:spPr>
      </p:sp>
      <p:pic>
        <p:nvPicPr>
          <p:cNvPr id="21" name="Image 0" descr="preencoded.png">    </p:cNvPr>
          <p:cNvPicPr>
            <a:picLocks noChangeAspect="1"/>
          </p:cNvPicPr>
          <p:nvPr/>
        </p:nvPicPr>
        <p:blipFill>
          <a:blip r:embed="rId1"/>
          <a:stretch>
            <a:fillRect/>
          </a:stretch>
        </p:blipFill>
        <p:spPr>
          <a:xfrm>
            <a:off x="811530" y="3070098"/>
            <a:ext cx="251460" cy="251460"/>
          </a:xfrm>
          <a:prstGeom prst="rect">
            <a:avLst/>
          </a:prstGeom>
        </p:spPr>
      </p:pic>
      <p:sp>
        <p:nvSpPr>
          <p:cNvPr id="22" name="Text 19"/>
          <p:cNvSpPr txBox="1"/>
          <p:nvPr/>
        </p:nvSpPr>
        <p:spPr>
          <a:xfrm>
            <a:off x="1325880" y="2944368"/>
            <a:ext cx="3017520" cy="502920"/>
          </a:xfrm>
          <a:prstGeom prst="rect">
            <a:avLst/>
          </a:prstGeom>
          <a:noFill/>
          <a:ln/>
        </p:spPr>
        <p:txBody>
          <a:bodyPr wrap="square" lIns="0" tIns="0" rIns="0" bIns="0" rtlCol="0" anchor="ctr"/>
          <a:lstStyle/>
          <a:p>
            <a:pPr indent="0" marL="0">
              <a:buNone/>
            </a:pPr>
            <a:r>
              <a:rPr lang="en-US" sz="1600" b="1" dirty="0">
                <a:solidFill>
                  <a:schemeClr val="tx1"/>
                </a:solidFill>
              </a:rPr>
              <a:t>시세 조회 기능만 씁니다</a:t>
            </a:r>
            <a:endParaRPr lang="en-US" sz="1600" dirty="0"/>
          </a:p>
        </p:txBody>
      </p:sp>
      <p:sp>
        <p:nvSpPr>
          <p:cNvPr id="23" name="Text 20"/>
          <p:cNvSpPr txBox="1"/>
          <p:nvPr/>
        </p:nvSpPr>
        <p:spPr>
          <a:xfrm>
            <a:off x="685800" y="3639312"/>
            <a:ext cx="3566160" cy="777240"/>
          </a:xfrm>
          <a:prstGeom prst="rect">
            <a:avLst/>
          </a:prstGeom>
          <a:noFill/>
          <a:ln/>
        </p:spPr>
        <p:txBody>
          <a:bodyPr wrap="square" lIns="0" tIns="0" rIns="0" bIns="0" rtlCol="0" anchor="t"/>
          <a:lstStyle/>
          <a:p>
            <a:pPr indent="0" marL="0">
              <a:buNone/>
            </a:pPr>
            <a:r>
              <a:rPr lang="en-US" sz="1200" dirty="0">
                <a:solidFill>
                  <a:schemeClr val="accent6"/>
                </a:solidFill>
              </a:rPr>
              <a:t>실계좌 주문까지 가능한 API</a:t>
            </a:r>
            <a:endParaRPr lang="en-US" sz="1200" dirty="0"/>
          </a:p>
          <a:p>
            <a:pPr indent="0" marL="0">
              <a:buNone/>
            </a:pPr>
            <a:r>
              <a:rPr lang="en-US" sz="1200" dirty="0">
                <a:solidFill>
                  <a:schemeClr val="accent6"/>
                </a:solidFill>
              </a:rPr>
              <a:t>주문, 계좌, 잔고 기능은 호출 금지</a:t>
            </a:r>
            <a:endParaRPr lang="en-US" sz="1200" dirty="0"/>
          </a:p>
        </p:txBody>
      </p:sp>
      <p:sp>
        <p:nvSpPr>
          <p:cNvPr id="24" name="principle-2"/>
          <p:cNvSpPr/>
          <p:nvPr/>
        </p:nvSpPr>
        <p:spPr>
          <a:xfrm>
            <a:off x="4663440" y="2743200"/>
            <a:ext cx="4023360" cy="1783080"/>
          </a:xfrm>
          <a:prstGeom prst="roundRect">
            <a:avLst>
              <a:gd name="adj" fmla="val 4103"/>
            </a:avLst>
          </a:prstGeom>
          <a:solidFill>
            <a:schemeClr val="bg2"/>
          </a:solidFill>
          <a:ln/>
        </p:spPr>
      </p:sp>
      <p:sp>
        <p:nvSpPr>
          <p:cNvPr id="25" name="Shape 22"/>
          <p:cNvSpPr/>
          <p:nvPr/>
        </p:nvSpPr>
        <p:spPr>
          <a:xfrm>
            <a:off x="4892040" y="2944368"/>
            <a:ext cx="502920" cy="502920"/>
          </a:xfrm>
          <a:prstGeom prst="ellipse">
            <a:avLst/>
          </a:prstGeom>
          <a:solidFill>
            <a:schemeClr val="accent1"/>
          </a:solidFill>
          <a:ln/>
        </p:spPr>
      </p:sp>
      <p:pic>
        <p:nvPicPr>
          <p:cNvPr id="26" name="Image 1" descr="preencoded.png">    </p:cNvPr>
          <p:cNvPicPr>
            <a:picLocks noChangeAspect="1"/>
          </p:cNvPicPr>
          <p:nvPr/>
        </p:nvPicPr>
        <p:blipFill>
          <a:blip r:embed="rId2"/>
          <a:stretch>
            <a:fillRect/>
          </a:stretch>
        </p:blipFill>
        <p:spPr>
          <a:xfrm>
            <a:off x="5017770" y="3070098"/>
            <a:ext cx="251460" cy="251460"/>
          </a:xfrm>
          <a:prstGeom prst="rect">
            <a:avLst/>
          </a:prstGeom>
        </p:spPr>
      </p:pic>
      <p:sp>
        <p:nvSpPr>
          <p:cNvPr id="27" name="Text 23"/>
          <p:cNvSpPr txBox="1"/>
          <p:nvPr/>
        </p:nvSpPr>
        <p:spPr>
          <a:xfrm>
            <a:off x="5532120" y="2944368"/>
            <a:ext cx="3017520" cy="502920"/>
          </a:xfrm>
          <a:prstGeom prst="rect">
            <a:avLst/>
          </a:prstGeom>
          <a:noFill/>
          <a:ln/>
        </p:spPr>
        <p:txBody>
          <a:bodyPr wrap="square" lIns="0" tIns="0" rIns="0" bIns="0" rtlCol="0" anchor="ctr"/>
          <a:lstStyle/>
          <a:p>
            <a:pPr indent="0" marL="0">
              <a:buNone/>
            </a:pPr>
            <a:r>
              <a:rPr lang="en-US" sz="1600" b="1" dirty="0">
                <a:solidFill>
                  <a:schemeClr val="tx1"/>
                </a:solidFill>
              </a:rPr>
              <a:t>게임 중엔 외부 호출이 없습니다</a:t>
            </a:r>
            <a:endParaRPr lang="en-US" sz="1600" dirty="0"/>
          </a:p>
        </p:txBody>
      </p:sp>
      <p:sp>
        <p:nvSpPr>
          <p:cNvPr id="28" name="Text 24"/>
          <p:cNvSpPr txBox="1"/>
          <p:nvPr/>
        </p:nvSpPr>
        <p:spPr>
          <a:xfrm>
            <a:off x="4892040" y="3639312"/>
            <a:ext cx="3566160" cy="777240"/>
          </a:xfrm>
          <a:prstGeom prst="rect">
            <a:avLst/>
          </a:prstGeom>
          <a:noFill/>
          <a:ln/>
        </p:spPr>
        <p:txBody>
          <a:bodyPr wrap="square" lIns="0" tIns="0" rIns="0" bIns="0" rtlCol="0" anchor="t"/>
          <a:lstStyle/>
          <a:p>
            <a:pPr indent="0" marL="0">
              <a:buNone/>
            </a:pPr>
            <a:r>
              <a:rPr lang="en-US" sz="1200" dirty="0">
                <a:solidFill>
                  <a:schemeClr val="accent6"/>
                </a:solidFill>
              </a:rPr>
              <a:t>판 시작 시 시세 1회 읽기, 진행은 서버 안에서만</a:t>
            </a:r>
            <a:endParaRPr lang="en-US" sz="1200" dirty="0"/>
          </a:p>
          <a:p>
            <a:pPr indent="0" marL="0">
              <a:buNone/>
            </a:pPr>
            <a:r>
              <a:rPr lang="en-US" sz="1200" dirty="0">
                <a:solidFill>
                  <a:schemeClr val="accent6"/>
                </a:solidFill>
              </a:rPr>
              <a:t>네트워크와 DB 지연이 게임에 영향 없음</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실측 ① 조회 가능 기간은 생각보다 깁니다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문서에 보존 기간이 없어서, 삼성전자(005930)를 끝까지 받아 봤습니다</a:t>
            </a:r>
            <a:endParaRPr lang="en-US" sz="1400" dirty="0"/>
          </a:p>
        </p:txBody>
      </p:sp>
      <p:sp>
        <p:nvSpPr>
          <p:cNvPr id="4" name="Text 2"/>
          <p:cNvSpPr txBox="1"/>
          <p:nvPr/>
        </p:nvSpPr>
        <p:spPr>
          <a:xfrm>
            <a:off x="457200" y="1371600"/>
            <a:ext cx="3840480" cy="777240"/>
          </a:xfrm>
          <a:prstGeom prst="rect">
            <a:avLst/>
          </a:prstGeom>
          <a:noFill/>
          <a:ln/>
        </p:spPr>
        <p:txBody>
          <a:bodyPr wrap="square" lIns="0" tIns="0" rIns="0" bIns="0" rtlCol="0" anchor="t"/>
          <a:lstStyle/>
          <a:p>
            <a:pPr indent="0" marL="0">
              <a:buNone/>
            </a:pPr>
            <a:r>
              <a:rPr lang="en-US" sz="4800" b="1" dirty="0">
                <a:solidFill>
                  <a:schemeClr val="accent1"/>
                </a:solidFill>
              </a:rPr>
              <a:t>51년 3개월</a:t>
            </a:r>
            <a:endParaRPr lang="en-US" sz="4800" dirty="0"/>
          </a:p>
        </p:txBody>
      </p:sp>
      <p:sp>
        <p:nvSpPr>
          <p:cNvPr id="5" name="Text 3"/>
          <p:cNvSpPr txBox="1"/>
          <p:nvPr/>
        </p:nvSpPr>
        <p:spPr>
          <a:xfrm>
            <a:off x="457200" y="2148840"/>
            <a:ext cx="3840480" cy="292608"/>
          </a:xfrm>
          <a:prstGeom prst="rect">
            <a:avLst/>
          </a:prstGeom>
          <a:noFill/>
          <a:ln/>
        </p:spPr>
        <p:txBody>
          <a:bodyPr wrap="square" lIns="0" tIns="0" rIns="0" bIns="0" rtlCol="0" anchor="t"/>
          <a:lstStyle/>
          <a:p>
            <a:pPr indent="0" marL="0">
              <a:buNone/>
            </a:pPr>
            <a:r>
              <a:rPr lang="en-US" sz="1600" b="1" dirty="0">
                <a:solidFill>
                  <a:schemeClr val="tx1"/>
                </a:solidFill>
              </a:rPr>
              <a:t>일봉, 1975-06-12부터</a:t>
            </a:r>
            <a:endParaRPr lang="en-US" sz="1600" dirty="0"/>
          </a:p>
        </p:txBody>
      </p:sp>
      <p:sp>
        <p:nvSpPr>
          <p:cNvPr id="6" name="Text 4"/>
          <p:cNvSpPr txBox="1"/>
          <p:nvPr/>
        </p:nvSpPr>
        <p:spPr>
          <a:xfrm>
            <a:off x="457200" y="2450592"/>
            <a:ext cx="3840480" cy="292608"/>
          </a:xfrm>
          <a:prstGeom prst="rect">
            <a:avLst/>
          </a:prstGeom>
          <a:noFill/>
          <a:ln/>
        </p:spPr>
        <p:txBody>
          <a:bodyPr wrap="square" lIns="0" tIns="0" rIns="0" bIns="0" rtlCol="0" anchor="t"/>
          <a:lstStyle/>
          <a:p>
            <a:pPr indent="0" marL="0">
              <a:buNone/>
            </a:pPr>
            <a:r>
              <a:rPr lang="en-US" sz="1200" dirty="0">
                <a:solidFill>
                  <a:schemeClr val="accent6"/>
                </a:solidFill>
              </a:rPr>
              <a:t>13,735봉, 마지막 페이지까지 확인 (경계 확정)</a:t>
            </a:r>
            <a:endParaRPr lang="en-US" sz="1200" dirty="0"/>
          </a:p>
        </p:txBody>
      </p:sp>
      <p:sp>
        <p:nvSpPr>
          <p:cNvPr id="7" name="Text 5"/>
          <p:cNvSpPr txBox="1"/>
          <p:nvPr/>
        </p:nvSpPr>
        <p:spPr>
          <a:xfrm>
            <a:off x="4754880" y="1371600"/>
            <a:ext cx="3840480" cy="777240"/>
          </a:xfrm>
          <a:prstGeom prst="rect">
            <a:avLst/>
          </a:prstGeom>
          <a:noFill/>
          <a:ln/>
        </p:spPr>
        <p:txBody>
          <a:bodyPr wrap="square" lIns="0" tIns="0" rIns="0" bIns="0" rtlCol="0" anchor="t"/>
          <a:lstStyle/>
          <a:p>
            <a:pPr indent="0" marL="0">
              <a:buNone/>
            </a:pPr>
            <a:r>
              <a:rPr lang="en-US" sz="4800" b="1" dirty="0">
                <a:solidFill>
                  <a:schemeClr val="accent1"/>
                </a:solidFill>
              </a:rPr>
              <a:t>4년 5개월+</a:t>
            </a:r>
            <a:endParaRPr lang="en-US" sz="4800" dirty="0"/>
          </a:p>
        </p:txBody>
      </p:sp>
      <p:sp>
        <p:nvSpPr>
          <p:cNvPr id="8" name="Text 6"/>
          <p:cNvSpPr txBox="1"/>
          <p:nvPr/>
        </p:nvSpPr>
        <p:spPr>
          <a:xfrm>
            <a:off x="4754880" y="2148840"/>
            <a:ext cx="3840480" cy="292608"/>
          </a:xfrm>
          <a:prstGeom prst="rect">
            <a:avLst/>
          </a:prstGeom>
          <a:noFill/>
          <a:ln/>
        </p:spPr>
        <p:txBody>
          <a:bodyPr wrap="square" lIns="0" tIns="0" rIns="0" bIns="0" rtlCol="0" anchor="t"/>
          <a:lstStyle/>
          <a:p>
            <a:pPr indent="0" marL="0">
              <a:buNone/>
            </a:pPr>
            <a:r>
              <a:rPr lang="en-US" sz="1600" b="1" dirty="0">
                <a:solidFill>
                  <a:schemeClr val="tx1"/>
                </a:solidFill>
              </a:rPr>
              <a:t>분봉, 2022-04-19 이전부터</a:t>
            </a:r>
            <a:endParaRPr lang="en-US" sz="1600" dirty="0"/>
          </a:p>
        </p:txBody>
      </p:sp>
      <p:sp>
        <p:nvSpPr>
          <p:cNvPr id="9" name="Text 7"/>
          <p:cNvSpPr txBox="1"/>
          <p:nvPr/>
        </p:nvSpPr>
        <p:spPr>
          <a:xfrm>
            <a:off x="4754880" y="2450592"/>
            <a:ext cx="3840480" cy="292608"/>
          </a:xfrm>
          <a:prstGeom prst="rect">
            <a:avLst/>
          </a:prstGeom>
          <a:noFill/>
          <a:ln/>
        </p:spPr>
        <p:txBody>
          <a:bodyPr wrap="square" lIns="0" tIns="0" rIns="0" bIns="0" rtlCol="0" anchor="t"/>
          <a:lstStyle/>
          <a:p>
            <a:pPr indent="0" marL="0">
              <a:buNone/>
            </a:pPr>
            <a:r>
              <a:rPr lang="en-US" sz="1200" dirty="0">
                <a:solidFill>
                  <a:schemeClr val="accent6"/>
                </a:solidFill>
              </a:rPr>
              <a:t>775,000봉 이상, 3,000회 요청에도 끝 미도달</a:t>
            </a:r>
            <a:endParaRPr lang="en-US" sz="1200" dirty="0"/>
          </a:p>
        </p:txBody>
      </p:sp>
      <p:sp>
        <p:nvSpPr>
          <p:cNvPr id="10" name="Shape 8"/>
          <p:cNvSpPr/>
          <p:nvPr/>
        </p:nvSpPr>
        <p:spPr>
          <a:xfrm>
            <a:off x="457200" y="3017520"/>
            <a:ext cx="8229600" cy="201168"/>
          </a:xfrm>
          <a:prstGeom prst="rect">
            <a:avLst/>
          </a:prstGeom>
          <a:solidFill>
            <a:schemeClr val="accent1"/>
          </a:solidFill>
          <a:ln/>
        </p:spPr>
      </p:sp>
      <p:sp>
        <p:nvSpPr>
          <p:cNvPr id="11" name="Shape 9"/>
          <p:cNvSpPr/>
          <p:nvPr/>
        </p:nvSpPr>
        <p:spPr>
          <a:xfrm>
            <a:off x="7980259" y="3310128"/>
            <a:ext cx="706541" cy="201168"/>
          </a:xfrm>
          <a:prstGeom prst="rect">
            <a:avLst/>
          </a:prstGeom>
          <a:solidFill>
            <a:schemeClr val="accent4"/>
          </a:solidFill>
          <a:ln/>
        </p:spPr>
      </p:sp>
      <p:sp>
        <p:nvSpPr>
          <p:cNvPr id="12" name="Text 10"/>
          <p:cNvSpPr txBox="1"/>
          <p:nvPr/>
        </p:nvSpPr>
        <p:spPr>
          <a:xfrm>
            <a:off x="548640" y="3017520"/>
            <a:ext cx="1828800" cy="201168"/>
          </a:xfrm>
          <a:prstGeom prst="rect">
            <a:avLst/>
          </a:prstGeom>
          <a:noFill/>
          <a:ln/>
        </p:spPr>
        <p:txBody>
          <a:bodyPr wrap="square" lIns="0" tIns="0" rIns="0" bIns="0" rtlCol="0" anchor="ctr"/>
          <a:lstStyle/>
          <a:p>
            <a:pPr indent="0" marL="0">
              <a:buNone/>
            </a:pPr>
            <a:r>
              <a:rPr lang="en-US" sz="1000" b="1" dirty="0">
                <a:solidFill>
                  <a:schemeClr val="bg1"/>
                </a:solidFill>
              </a:rPr>
              <a:t>일봉 1975 ~</a:t>
            </a:r>
            <a:endParaRPr lang="en-US" sz="1000" dirty="0"/>
          </a:p>
        </p:txBody>
      </p:sp>
      <p:sp>
        <p:nvSpPr>
          <p:cNvPr id="13" name="Text 11"/>
          <p:cNvSpPr txBox="1"/>
          <p:nvPr/>
        </p:nvSpPr>
        <p:spPr>
          <a:xfrm>
            <a:off x="7020139" y="3310128"/>
            <a:ext cx="914400" cy="201168"/>
          </a:xfrm>
          <a:prstGeom prst="rect">
            <a:avLst/>
          </a:prstGeom>
          <a:noFill/>
          <a:ln/>
        </p:spPr>
        <p:txBody>
          <a:bodyPr wrap="square" lIns="0" tIns="0" rIns="0" bIns="0" rtlCol="0" anchor="ctr"/>
          <a:lstStyle/>
          <a:p>
            <a:pPr algn="r" indent="0" marL="0">
              <a:buNone/>
            </a:pPr>
            <a:r>
              <a:rPr lang="en-US" sz="1000" b="1" dirty="0">
                <a:solidFill>
                  <a:schemeClr val="accent4"/>
                </a:solidFill>
              </a:rPr>
              <a:t>분봉 2022 ~</a:t>
            </a:r>
            <a:endParaRPr lang="en-US" sz="1000" dirty="0"/>
          </a:p>
        </p:txBody>
      </p:sp>
      <p:sp>
        <p:nvSpPr>
          <p:cNvPr id="14" name="Text 12"/>
          <p:cNvSpPr txBox="1"/>
          <p:nvPr/>
        </p:nvSpPr>
        <p:spPr>
          <a:xfrm>
            <a:off x="110620"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1975</a:t>
            </a:r>
            <a:endParaRPr lang="en-US" sz="1000" dirty="0"/>
          </a:p>
        </p:txBody>
      </p:sp>
      <p:sp>
        <p:nvSpPr>
          <p:cNvPr id="15" name="Text 13"/>
          <p:cNvSpPr txBox="1"/>
          <p:nvPr/>
        </p:nvSpPr>
        <p:spPr>
          <a:xfrm>
            <a:off x="2519284"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1990</a:t>
            </a:r>
            <a:endParaRPr lang="en-US" sz="1000" dirty="0"/>
          </a:p>
        </p:txBody>
      </p:sp>
      <p:sp>
        <p:nvSpPr>
          <p:cNvPr id="16" name="Text 14"/>
          <p:cNvSpPr txBox="1"/>
          <p:nvPr/>
        </p:nvSpPr>
        <p:spPr>
          <a:xfrm>
            <a:off x="4125059"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2000</a:t>
            </a:r>
            <a:endParaRPr lang="en-US" sz="1000" dirty="0"/>
          </a:p>
        </p:txBody>
      </p:sp>
      <p:sp>
        <p:nvSpPr>
          <p:cNvPr id="17" name="Text 15"/>
          <p:cNvSpPr txBox="1"/>
          <p:nvPr/>
        </p:nvSpPr>
        <p:spPr>
          <a:xfrm>
            <a:off x="5730835"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2010</a:t>
            </a:r>
            <a:endParaRPr lang="en-US" sz="1000" dirty="0"/>
          </a:p>
        </p:txBody>
      </p:sp>
      <p:sp>
        <p:nvSpPr>
          <p:cNvPr id="18" name="Text 16"/>
          <p:cNvSpPr txBox="1"/>
          <p:nvPr/>
        </p:nvSpPr>
        <p:spPr>
          <a:xfrm>
            <a:off x="7336610"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2020</a:t>
            </a:r>
            <a:endParaRPr lang="en-US" sz="1000" dirty="0"/>
          </a:p>
        </p:txBody>
      </p:sp>
      <p:sp>
        <p:nvSpPr>
          <p:cNvPr id="19" name="Text 17"/>
          <p:cNvSpPr txBox="1"/>
          <p:nvPr/>
        </p:nvSpPr>
        <p:spPr>
          <a:xfrm>
            <a:off x="8300076"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2026</a:t>
            </a:r>
            <a:endParaRPr lang="en-US" sz="1000" dirty="0"/>
          </a:p>
        </p:txBody>
      </p:sp>
      <p:sp>
        <p:nvSpPr>
          <p:cNvPr id="20" name="takeaway"/>
          <p:cNvSpPr/>
          <p:nvPr/>
        </p:nvSpPr>
        <p:spPr>
          <a:xfrm>
            <a:off x="457200" y="3886200"/>
            <a:ext cx="8229600" cy="685800"/>
          </a:xfrm>
          <a:prstGeom prst="roundRect">
            <a:avLst>
              <a:gd name="adj" fmla="val 10667"/>
            </a:avLst>
          </a:prstGeom>
          <a:solidFill>
            <a:schemeClr val="bg2"/>
          </a:solidFill>
          <a:ln/>
        </p:spPr>
      </p:sp>
      <p:sp>
        <p:nvSpPr>
          <p:cNvPr id="21" name="Text 19"/>
          <p:cNvSpPr txBox="1"/>
          <p:nvPr/>
        </p:nvSpPr>
        <p:spPr>
          <a:xfrm>
            <a:off x="685800" y="3959352"/>
            <a:ext cx="7772400" cy="566928"/>
          </a:xfrm>
          <a:prstGeom prst="rect">
            <a:avLst/>
          </a:prstGeom>
          <a:noFill/>
          <a:ln/>
        </p:spPr>
        <p:txBody>
          <a:bodyPr wrap="square" lIns="0" tIns="0" rIns="0" bIns="0" rtlCol="0" anchor="t"/>
          <a:lstStyle/>
          <a:p>
            <a:pPr indent="0" marL="0">
              <a:buNone/>
            </a:pPr>
            <a:r>
              <a:rPr lang="en-US" sz="1400" b="1" dirty="0">
                <a:solidFill>
                  <a:schemeClr val="tx1"/>
                </a:solidFill>
              </a:rPr>
              <a:t>“1분봉은 최근 몇 주치만 남는다”는 통념과 달랐습니다</a:t>
            </a:r>
            <a:endParaRPr lang="en-US" sz="1400" dirty="0"/>
          </a:p>
          <a:p>
            <a:pPr indent="0" marL="0">
              <a:buNone/>
            </a:pPr>
            <a:r>
              <a:rPr lang="en-US" sz="1200" dirty="0">
                <a:solidFill>
                  <a:schemeClr val="accent6"/>
                </a:solidFill>
              </a:rPr>
              <a:t>서둘러 쌓을 필요 없음. 분봉 4년치는 요청 3,000회, 약 68분 소요라 필요한 구간만 수집</a:t>
            </a:r>
            <a:endParaRPr lang="en-US" sz="14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실측 ② 수집 중 세 가지 문제를 만났습니다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문서만 봐서는 알 수 없었고, 실제로 막힌 뒤에 원인을 찾았습니다</a:t>
            </a:r>
            <a:endParaRPr lang="en-US" sz="1400" dirty="0"/>
          </a:p>
        </p:txBody>
      </p:sp>
      <p:sp>
        <p:nvSpPr>
          <p:cNvPr id="4" name="trap-1"/>
          <p:cNvSpPr/>
          <p:nvPr/>
        </p:nvSpPr>
        <p:spPr>
          <a:xfrm>
            <a:off x="457200" y="1371600"/>
            <a:ext cx="2606040" cy="3200400"/>
          </a:xfrm>
          <a:prstGeom prst="roundRect">
            <a:avLst>
              <a:gd name="adj" fmla="val 2807"/>
            </a:avLst>
          </a:prstGeom>
          <a:solidFill>
            <a:schemeClr val="bg2"/>
          </a:solidFill>
          <a:ln/>
        </p:spPr>
      </p:sp>
      <p:sp>
        <p:nvSpPr>
          <p:cNvPr id="5" name="Shape 3"/>
          <p:cNvSpPr/>
          <p:nvPr/>
        </p:nvSpPr>
        <p:spPr>
          <a:xfrm>
            <a:off x="658368" y="1554480"/>
            <a:ext cx="411480" cy="4114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61238" y="1657350"/>
            <a:ext cx="205740" cy="205740"/>
          </a:xfrm>
          <a:prstGeom prst="rect">
            <a:avLst/>
          </a:prstGeom>
        </p:spPr>
      </p:pic>
      <p:sp>
        <p:nvSpPr>
          <p:cNvPr id="7" name="Text 4"/>
          <p:cNvSpPr txBox="1"/>
          <p:nvPr/>
        </p:nvSpPr>
        <p:spPr>
          <a:xfrm>
            <a:off x="658368" y="2011680"/>
            <a:ext cx="2203704" cy="594360"/>
          </a:xfrm>
          <a:prstGeom prst="rect">
            <a:avLst/>
          </a:prstGeom>
          <a:noFill/>
          <a:ln/>
        </p:spPr>
        <p:txBody>
          <a:bodyPr wrap="square" lIns="0" tIns="0" rIns="0" bIns="0" rtlCol="0" anchor="t"/>
          <a:lstStyle/>
          <a:p>
            <a:pPr indent="0" marL="0">
              <a:buNone/>
            </a:pPr>
            <a:r>
              <a:rPr lang="en-US" sz="4000" b="1" dirty="0">
                <a:solidFill>
                  <a:schemeClr val="accent1"/>
                </a:solidFill>
              </a:rPr>
              <a:t>267</a:t>
            </a:r>
            <a:endParaRPr lang="en-US" sz="4000" dirty="0"/>
          </a:p>
        </p:txBody>
      </p:sp>
      <p:sp>
        <p:nvSpPr>
          <p:cNvPr id="8" name="Text 5"/>
          <p:cNvSpPr txBox="1"/>
          <p:nvPr/>
        </p:nvSpPr>
        <p:spPr>
          <a:xfrm>
            <a:off x="658368" y="2606040"/>
            <a:ext cx="2203704" cy="274320"/>
          </a:xfrm>
          <a:prstGeom prst="rect">
            <a:avLst/>
          </a:prstGeom>
          <a:noFill/>
          <a:ln/>
        </p:spPr>
        <p:txBody>
          <a:bodyPr wrap="square" lIns="0" tIns="0" rIns="0" bIns="0" rtlCol="0" anchor="t"/>
          <a:lstStyle/>
          <a:p>
            <a:pPr indent="0" marL="0">
              <a:buNone/>
            </a:pPr>
            <a:r>
              <a:rPr lang="en-US" sz="1300" b="1" dirty="0">
                <a:solidFill>
                  <a:schemeClr val="tx1"/>
                </a:solidFill>
              </a:rPr>
              <a:t>번 연속 요청에서 차단</a:t>
            </a:r>
            <a:endParaRPr lang="en-US" sz="1300" dirty="0"/>
          </a:p>
        </p:txBody>
      </p:sp>
      <p:sp>
        <p:nvSpPr>
          <p:cNvPr id="9" name="Text 6"/>
          <p:cNvSpPr txBox="1"/>
          <p:nvPr/>
        </p:nvSpPr>
        <p:spPr>
          <a:xfrm>
            <a:off x="658368" y="2944368"/>
            <a:ext cx="2203704" cy="777240"/>
          </a:xfrm>
          <a:prstGeom prst="rect">
            <a:avLst/>
          </a:prstGeom>
          <a:noFill/>
          <a:ln/>
        </p:spPr>
        <p:txBody>
          <a:bodyPr wrap="square" lIns="0" tIns="0" rIns="0" bIns="0" rtlCol="0" anchor="t"/>
          <a:lstStyle/>
          <a:p>
            <a:pPr indent="0" marL="0">
              <a:buNone/>
            </a:pPr>
            <a:r>
              <a:rPr lang="en-US" sz="1100" dirty="0">
                <a:solidFill>
                  <a:schemeClr val="accent6"/>
                </a:solidFill>
              </a:rPr>
              <a:t>평균 속도가 느려도</a:t>
            </a:r>
            <a:endParaRPr lang="en-US" sz="1100" dirty="0"/>
          </a:p>
          <a:p>
            <a:pPr indent="0" marL="0">
              <a:buNone/>
            </a:pPr>
            <a:r>
              <a:rPr lang="en-US" sz="1100" dirty="0">
                <a:solidFill>
                  <a:schemeClr val="accent6"/>
                </a:solidFill>
              </a:rPr>
              <a:t>연속 요청이 몰리면 차단</a:t>
            </a:r>
            <a:endParaRPr lang="en-US" sz="1100" dirty="0"/>
          </a:p>
          <a:p>
            <a:pPr indent="0" marL="0">
              <a:buNone/>
            </a:pPr>
            <a:r>
              <a:rPr lang="en-US" sz="1100" dirty="0">
                <a:solidFill>
                  <a:schemeClr val="accent6"/>
                </a:solidFill>
              </a:rPr>
              <a:t>(쌓인 횟수를 쓰는 토큰 버킷 방식)</a:t>
            </a:r>
            <a:endParaRPr lang="en-US" sz="1100" dirty="0"/>
          </a:p>
        </p:txBody>
      </p:sp>
      <p:sp>
        <p:nvSpPr>
          <p:cNvPr id="10" name="Text 7"/>
          <p:cNvSpPr txBox="1"/>
          <p:nvPr/>
        </p:nvSpPr>
        <p:spPr>
          <a:xfrm>
            <a:off x="658368" y="3794760"/>
            <a:ext cx="2203704" cy="640080"/>
          </a:xfrm>
          <a:prstGeom prst="rect">
            <a:avLst/>
          </a:prstGeom>
          <a:noFill/>
          <a:ln/>
        </p:spPr>
        <p:txBody>
          <a:bodyPr wrap="square" lIns="0" tIns="0" rIns="0" bIns="0" rtlCol="0" anchor="t"/>
          <a:lstStyle/>
          <a:p>
            <a:pPr indent="0" marL="0">
              <a:buNone/>
            </a:pPr>
            <a:r>
              <a:rPr lang="en-US" sz="1200" b="1" dirty="0">
                <a:solidFill>
                  <a:schemeClr val="tx1"/>
                </a:solidFill>
              </a:rPr>
              <a:t>요청 간격 0.3초로</a:t>
            </a:r>
            <a:endParaRPr lang="en-US" sz="1200" dirty="0"/>
          </a:p>
          <a:p>
            <a:pPr indent="0" marL="0">
              <a:buNone/>
            </a:pPr>
            <a:r>
              <a:rPr lang="en-US" sz="1200" b="1" dirty="0">
                <a:solidFill>
                  <a:schemeClr val="tx1"/>
                </a:solidFill>
              </a:rPr>
              <a:t>1,800회 연속 수집 성공</a:t>
            </a:r>
            <a:endParaRPr lang="en-US" sz="1200" dirty="0"/>
          </a:p>
        </p:txBody>
      </p:sp>
      <p:sp>
        <p:nvSpPr>
          <p:cNvPr id="11" name="trap-2"/>
          <p:cNvSpPr/>
          <p:nvPr/>
        </p:nvSpPr>
        <p:spPr>
          <a:xfrm>
            <a:off x="3268980" y="1371600"/>
            <a:ext cx="2606040" cy="3200400"/>
          </a:xfrm>
          <a:prstGeom prst="roundRect">
            <a:avLst>
              <a:gd name="adj" fmla="val 2807"/>
            </a:avLst>
          </a:prstGeom>
          <a:solidFill>
            <a:schemeClr val="bg2"/>
          </a:solidFill>
          <a:ln/>
        </p:spPr>
      </p:sp>
      <p:sp>
        <p:nvSpPr>
          <p:cNvPr id="12" name="Shape 9"/>
          <p:cNvSpPr/>
          <p:nvPr/>
        </p:nvSpPr>
        <p:spPr>
          <a:xfrm>
            <a:off x="3470148" y="1554480"/>
            <a:ext cx="411480" cy="4114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573018" y="1657350"/>
            <a:ext cx="205740" cy="205740"/>
          </a:xfrm>
          <a:prstGeom prst="rect">
            <a:avLst/>
          </a:prstGeom>
        </p:spPr>
      </p:pic>
      <p:sp>
        <p:nvSpPr>
          <p:cNvPr id="14" name="Text 10"/>
          <p:cNvSpPr txBox="1"/>
          <p:nvPr/>
        </p:nvSpPr>
        <p:spPr>
          <a:xfrm>
            <a:off x="3470148" y="2011680"/>
            <a:ext cx="2203704" cy="594360"/>
          </a:xfrm>
          <a:prstGeom prst="rect">
            <a:avLst/>
          </a:prstGeom>
          <a:noFill/>
          <a:ln/>
        </p:spPr>
        <p:txBody>
          <a:bodyPr wrap="square" lIns="0" tIns="0" rIns="0" bIns="0" rtlCol="0" anchor="t"/>
          <a:lstStyle/>
          <a:p>
            <a:pPr indent="0" marL="0">
              <a:buNone/>
            </a:pPr>
            <a:r>
              <a:rPr lang="en-US" sz="4000" b="1" dirty="0">
                <a:solidFill>
                  <a:schemeClr val="accent1"/>
                </a:solidFill>
              </a:rPr>
              <a:t>608</a:t>
            </a:r>
            <a:endParaRPr lang="en-US" sz="4000" dirty="0"/>
          </a:p>
        </p:txBody>
      </p:sp>
      <p:sp>
        <p:nvSpPr>
          <p:cNvPr id="15" name="Text 11"/>
          <p:cNvSpPr txBox="1"/>
          <p:nvPr/>
        </p:nvSpPr>
        <p:spPr>
          <a:xfrm>
            <a:off x="3470148" y="2606040"/>
            <a:ext cx="2203704" cy="274320"/>
          </a:xfrm>
          <a:prstGeom prst="rect">
            <a:avLst/>
          </a:prstGeom>
          <a:noFill/>
          <a:ln/>
        </p:spPr>
        <p:txBody>
          <a:bodyPr wrap="square" lIns="0" tIns="0" rIns="0" bIns="0" rtlCol="0" anchor="t"/>
          <a:lstStyle/>
          <a:p>
            <a:pPr indent="0" marL="0">
              <a:buNone/>
            </a:pPr>
            <a:r>
              <a:rPr lang="en-US" sz="1300" b="1" dirty="0">
                <a:solidFill>
                  <a:schemeClr val="tx1"/>
                </a:solidFill>
              </a:rPr>
              <a:t>번째 요청에서 인증 무효</a:t>
            </a:r>
            <a:endParaRPr lang="en-US" sz="1300" dirty="0"/>
          </a:p>
        </p:txBody>
      </p:sp>
      <p:sp>
        <p:nvSpPr>
          <p:cNvPr id="16" name="Text 12"/>
          <p:cNvSpPr txBox="1"/>
          <p:nvPr/>
        </p:nvSpPr>
        <p:spPr>
          <a:xfrm>
            <a:off x="3470148" y="2944368"/>
            <a:ext cx="2203704" cy="777240"/>
          </a:xfrm>
          <a:prstGeom prst="rect">
            <a:avLst/>
          </a:prstGeom>
          <a:noFill/>
          <a:ln/>
        </p:spPr>
        <p:txBody>
          <a:bodyPr wrap="square" lIns="0" tIns="0" rIns="0" bIns="0" rtlCol="0" anchor="t"/>
          <a:lstStyle/>
          <a:p>
            <a:pPr indent="0" marL="0">
              <a:buNone/>
            </a:pPr>
            <a:r>
              <a:rPr lang="en-US" sz="1100" dirty="0">
                <a:solidFill>
                  <a:schemeClr val="accent6"/>
                </a:solidFill>
              </a:rPr>
              <a:t>유효한 인증 토큰은 하나뿐</a:t>
            </a:r>
            <a:endParaRPr lang="en-US" sz="1100" dirty="0"/>
          </a:p>
          <a:p>
            <a:pPr indent="0" marL="0">
              <a:buNone/>
            </a:pPr>
            <a:r>
              <a:rPr lang="en-US" sz="1100" dirty="0">
                <a:solidFill>
                  <a:schemeClr val="accent6"/>
                </a:solidFill>
              </a:rPr>
              <a:t>수집 두 개를 동시에 돌리자</a:t>
            </a:r>
            <a:endParaRPr lang="en-US" sz="1100" dirty="0"/>
          </a:p>
          <a:p>
            <a:pPr indent="0" marL="0">
              <a:buNone/>
            </a:pPr>
            <a:r>
              <a:rPr lang="en-US" sz="1100" dirty="0">
                <a:solidFill>
                  <a:schemeClr val="accent6"/>
                </a:solidFill>
              </a:rPr>
              <a:t>서로의 토큰이 무효화</a:t>
            </a:r>
            <a:endParaRPr lang="en-US" sz="1100" dirty="0"/>
          </a:p>
        </p:txBody>
      </p:sp>
      <p:sp>
        <p:nvSpPr>
          <p:cNvPr id="17" name="Text 13"/>
          <p:cNvSpPr txBox="1"/>
          <p:nvPr/>
        </p:nvSpPr>
        <p:spPr>
          <a:xfrm>
            <a:off x="3470148" y="3794760"/>
            <a:ext cx="2203704" cy="640080"/>
          </a:xfrm>
          <a:prstGeom prst="rect">
            <a:avLst/>
          </a:prstGeom>
          <a:noFill/>
          <a:ln/>
        </p:spPr>
        <p:txBody>
          <a:bodyPr wrap="square" lIns="0" tIns="0" rIns="0" bIns="0" rtlCol="0" anchor="t"/>
          <a:lstStyle/>
          <a:p>
            <a:pPr indent="0" marL="0">
              <a:buNone/>
            </a:pPr>
            <a:r>
              <a:rPr lang="en-US" sz="1200" b="1" dirty="0">
                <a:solidFill>
                  <a:schemeClr val="tx1"/>
                </a:solidFill>
              </a:rPr>
              <a:t>토큰 재사용,</a:t>
            </a:r>
            <a:endParaRPr lang="en-US" sz="1200" dirty="0"/>
          </a:p>
          <a:p>
            <a:pPr indent="0" marL="0">
              <a:buNone/>
            </a:pPr>
            <a:r>
              <a:rPr lang="en-US" sz="1200" b="1" dirty="0">
                <a:solidFill>
                  <a:schemeClr val="tx1"/>
                </a:solidFill>
              </a:rPr>
              <a:t>수집은 한 번에 하나만</a:t>
            </a:r>
            <a:endParaRPr lang="en-US" sz="1200" dirty="0"/>
          </a:p>
        </p:txBody>
      </p:sp>
      <p:sp>
        <p:nvSpPr>
          <p:cNvPr id="18" name="trap-3"/>
          <p:cNvSpPr/>
          <p:nvPr/>
        </p:nvSpPr>
        <p:spPr>
          <a:xfrm>
            <a:off x="6080760" y="1371600"/>
            <a:ext cx="2606040" cy="3200400"/>
          </a:xfrm>
          <a:prstGeom prst="roundRect">
            <a:avLst>
              <a:gd name="adj" fmla="val 2807"/>
            </a:avLst>
          </a:prstGeom>
          <a:solidFill>
            <a:schemeClr val="bg2"/>
          </a:solidFill>
          <a:ln/>
        </p:spPr>
      </p:sp>
      <p:sp>
        <p:nvSpPr>
          <p:cNvPr id="19" name="Shape 15"/>
          <p:cNvSpPr/>
          <p:nvPr/>
        </p:nvSpPr>
        <p:spPr>
          <a:xfrm>
            <a:off x="6281928" y="1554480"/>
            <a:ext cx="411480" cy="41148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6384798" y="1657350"/>
            <a:ext cx="205740" cy="205740"/>
          </a:xfrm>
          <a:prstGeom prst="rect">
            <a:avLst/>
          </a:prstGeom>
        </p:spPr>
      </p:pic>
      <p:sp>
        <p:nvSpPr>
          <p:cNvPr id="21" name="Text 16"/>
          <p:cNvSpPr txBox="1"/>
          <p:nvPr/>
        </p:nvSpPr>
        <p:spPr>
          <a:xfrm>
            <a:off x="6281928" y="2011680"/>
            <a:ext cx="2203704" cy="594360"/>
          </a:xfrm>
          <a:prstGeom prst="rect">
            <a:avLst/>
          </a:prstGeom>
          <a:noFill/>
          <a:ln/>
        </p:spPr>
        <p:txBody>
          <a:bodyPr wrap="square" lIns="0" tIns="0" rIns="0" bIns="0" rtlCol="0" anchor="t"/>
          <a:lstStyle/>
          <a:p>
            <a:pPr indent="0" marL="0">
              <a:buNone/>
            </a:pPr>
            <a:r>
              <a:rPr lang="en-US" sz="4000" b="1" dirty="0">
                <a:solidFill>
                  <a:schemeClr val="accent1"/>
                </a:solidFill>
              </a:rPr>
              <a:t>403</a:t>
            </a:r>
            <a:endParaRPr lang="en-US" sz="4000" dirty="0"/>
          </a:p>
        </p:txBody>
      </p:sp>
      <p:sp>
        <p:nvSpPr>
          <p:cNvPr id="22" name="Text 17"/>
          <p:cNvSpPr txBox="1"/>
          <p:nvPr/>
        </p:nvSpPr>
        <p:spPr>
          <a:xfrm>
            <a:off x="6281928" y="2606040"/>
            <a:ext cx="2203704" cy="274320"/>
          </a:xfrm>
          <a:prstGeom prst="rect">
            <a:avLst/>
          </a:prstGeom>
          <a:noFill/>
          <a:ln/>
        </p:spPr>
        <p:txBody>
          <a:bodyPr wrap="square" lIns="0" tIns="0" rIns="0" bIns="0" rtlCol="0" anchor="t"/>
          <a:lstStyle/>
          <a:p>
            <a:pPr indent="0" marL="0">
              <a:buNone/>
            </a:pPr>
            <a:r>
              <a:rPr lang="en-US" sz="1300" b="1" dirty="0">
                <a:solidFill>
                  <a:schemeClr val="tx1"/>
                </a:solidFill>
              </a:rPr>
              <a:t>허용되지 않은 IP</a:t>
            </a:r>
            <a:endParaRPr lang="en-US" sz="1300" dirty="0"/>
          </a:p>
        </p:txBody>
      </p:sp>
      <p:sp>
        <p:nvSpPr>
          <p:cNvPr id="23" name="Text 18"/>
          <p:cNvSpPr txBox="1"/>
          <p:nvPr/>
        </p:nvSpPr>
        <p:spPr>
          <a:xfrm>
            <a:off x="6281928" y="2944368"/>
            <a:ext cx="2203704" cy="777240"/>
          </a:xfrm>
          <a:prstGeom prst="rect">
            <a:avLst/>
          </a:prstGeom>
          <a:noFill/>
          <a:ln/>
        </p:spPr>
        <p:txBody>
          <a:bodyPr wrap="square" lIns="0" tIns="0" rIns="0" bIns="0" rtlCol="0" anchor="t"/>
          <a:lstStyle/>
          <a:p>
            <a:pPr indent="0" marL="0">
              <a:buNone/>
            </a:pPr>
            <a:r>
              <a:rPr lang="en-US" sz="1100" dirty="0">
                <a:solidFill>
                  <a:schemeClr val="accent6"/>
                </a:solidFill>
              </a:rPr>
              <a:t>등록된 IP에서만 사용 가능</a:t>
            </a:r>
            <a:endParaRPr lang="en-US" sz="1100" dirty="0"/>
          </a:p>
          <a:p>
            <a:pPr indent="0" marL="0">
              <a:buNone/>
            </a:pPr>
            <a:r>
              <a:rPr lang="en-US" sz="1100" dirty="0">
                <a:solidFill>
                  <a:schemeClr val="accent6"/>
                </a:solidFill>
              </a:rPr>
              <a:t>개발 컴퓨터를 바꾸자</a:t>
            </a:r>
            <a:endParaRPr lang="en-US" sz="1100" dirty="0"/>
          </a:p>
          <a:p>
            <a:pPr indent="0" marL="0">
              <a:buNone/>
            </a:pPr>
            <a:r>
              <a:rPr lang="en-US" sz="1100" dirty="0">
                <a:solidFill>
                  <a:schemeClr val="accent6"/>
                </a:solidFill>
              </a:rPr>
              <a:t>인증부터 차단</a:t>
            </a:r>
            <a:endParaRPr lang="en-US" sz="1100" dirty="0"/>
          </a:p>
        </p:txBody>
      </p:sp>
      <p:sp>
        <p:nvSpPr>
          <p:cNvPr id="24" name="Text 19"/>
          <p:cNvSpPr txBox="1"/>
          <p:nvPr/>
        </p:nvSpPr>
        <p:spPr>
          <a:xfrm>
            <a:off x="6281928" y="3794760"/>
            <a:ext cx="2203704" cy="640080"/>
          </a:xfrm>
          <a:prstGeom prst="rect">
            <a:avLst/>
          </a:prstGeom>
          <a:noFill/>
          <a:ln/>
        </p:spPr>
        <p:txBody>
          <a:bodyPr wrap="square" lIns="0" tIns="0" rIns="0" bIns="0" rtlCol="0" anchor="t"/>
          <a:lstStyle/>
          <a:p>
            <a:pPr indent="0" marL="0">
              <a:buNone/>
            </a:pPr>
            <a:r>
              <a:rPr lang="en-US" sz="1200" b="1" dirty="0">
                <a:solidFill>
                  <a:schemeClr val="tx1"/>
                </a:solidFill>
              </a:rPr>
              <a:t>장소를 옮기면</a:t>
            </a:r>
            <a:endParaRPr lang="en-US" sz="1200" dirty="0"/>
          </a:p>
          <a:p>
            <a:pPr indent="0" marL="0">
              <a:buNone/>
            </a:pPr>
            <a:r>
              <a:rPr lang="en-US" sz="1200" b="1" dirty="0">
                <a:solidFill>
                  <a:schemeClr val="tx1"/>
                </a:solidFill>
              </a:rPr>
              <a:t>IP 먼저 등록</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데이터는 이만큼 확보했습니다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실측은 전 구간으로 했고, 개발에는 필요한 구간만 받아 두었습니다</a:t>
            </a:r>
            <a:endParaRPr lang="en-US" sz="1400" dirty="0"/>
          </a:p>
        </p:txBody>
      </p:sp>
      <p:sp>
        <p:nvSpPr>
          <p:cNvPr id="4" name="Text 2"/>
          <p:cNvSpPr txBox="1"/>
          <p:nvPr/>
        </p:nvSpPr>
        <p:spPr>
          <a:xfrm>
            <a:off x="457200" y="1371600"/>
            <a:ext cx="3931920" cy="274320"/>
          </a:xfrm>
          <a:prstGeom prst="rect">
            <a:avLst/>
          </a:prstGeom>
          <a:noFill/>
          <a:ln/>
        </p:spPr>
        <p:txBody>
          <a:bodyPr wrap="square" lIns="0" tIns="0" rIns="0" bIns="0" rtlCol="0" anchor="t"/>
          <a:lstStyle/>
          <a:p>
            <a:pPr indent="0" marL="0">
              <a:buNone/>
            </a:pPr>
            <a:r>
              <a:rPr lang="en-US" sz="1300" b="1" dirty="0">
                <a:solidFill>
                  <a:schemeClr val="tx1"/>
                </a:solidFill>
              </a:rPr>
              <a:t>종목 3개, 1주 가격 수만 원부터 백만 원대까지</a:t>
            </a:r>
            <a:endParaRPr lang="en-US" sz="1300" dirty="0"/>
          </a:p>
        </p:txBody>
      </p:sp>
      <p:sp>
        <p:nvSpPr>
          <p:cNvPr id="5" name="stock-1"/>
          <p:cNvSpPr/>
          <p:nvPr/>
        </p:nvSpPr>
        <p:spPr>
          <a:xfrm>
            <a:off x="457200" y="1783080"/>
            <a:ext cx="3840480" cy="731520"/>
          </a:xfrm>
          <a:prstGeom prst="roundRect">
            <a:avLst>
              <a:gd name="adj" fmla="val 10000"/>
            </a:avLst>
          </a:prstGeom>
          <a:solidFill>
            <a:schemeClr val="bg2"/>
          </a:solidFill>
          <a:ln/>
        </p:spPr>
      </p:sp>
      <p:sp>
        <p:nvSpPr>
          <p:cNvPr id="6" name="Text 4"/>
          <p:cNvSpPr txBox="1"/>
          <p:nvPr/>
        </p:nvSpPr>
        <p:spPr>
          <a:xfrm>
            <a:off x="685800" y="1783080"/>
            <a:ext cx="2377440" cy="731520"/>
          </a:xfrm>
          <a:prstGeom prst="rect">
            <a:avLst/>
          </a:prstGeom>
          <a:noFill/>
          <a:ln/>
        </p:spPr>
        <p:txBody>
          <a:bodyPr wrap="square" lIns="0" tIns="0" rIns="0" bIns="0" rtlCol="0" anchor="ctr"/>
          <a:lstStyle/>
          <a:p>
            <a:pPr indent="0" marL="0">
              <a:buNone/>
            </a:pPr>
            <a:r>
              <a:rPr lang="en-US" sz="1700" b="1" dirty="0">
                <a:solidFill>
                  <a:schemeClr val="tx1"/>
                </a:solidFill>
              </a:rPr>
              <a:t>삼성전자</a:t>
            </a:r>
            <a:endParaRPr lang="en-US" sz="1700" dirty="0"/>
          </a:p>
        </p:txBody>
      </p:sp>
      <p:sp>
        <p:nvSpPr>
          <p:cNvPr id="7" name="Text 5"/>
          <p:cNvSpPr txBox="1"/>
          <p:nvPr/>
        </p:nvSpPr>
        <p:spPr>
          <a:xfrm>
            <a:off x="3017520" y="1783080"/>
            <a:ext cx="1097280" cy="731520"/>
          </a:xfrm>
          <a:prstGeom prst="rect">
            <a:avLst/>
          </a:prstGeom>
          <a:noFill/>
          <a:ln/>
        </p:spPr>
        <p:txBody>
          <a:bodyPr wrap="square" lIns="0" tIns="0" rIns="0" bIns="0" rtlCol="0" anchor="ctr"/>
          <a:lstStyle/>
          <a:p>
            <a:pPr algn="r" indent="0" marL="0">
              <a:buNone/>
            </a:pPr>
            <a:r>
              <a:rPr lang="en-US" sz="1200" dirty="0">
                <a:solidFill>
                  <a:schemeClr val="accent6"/>
                </a:solidFill>
              </a:rPr>
              <a:t>005930</a:t>
            </a:r>
            <a:endParaRPr lang="en-US" sz="1200" dirty="0"/>
          </a:p>
        </p:txBody>
      </p:sp>
      <p:sp>
        <p:nvSpPr>
          <p:cNvPr id="8" name="stock-2"/>
          <p:cNvSpPr/>
          <p:nvPr/>
        </p:nvSpPr>
        <p:spPr>
          <a:xfrm>
            <a:off x="457200" y="2651760"/>
            <a:ext cx="3840480" cy="731520"/>
          </a:xfrm>
          <a:prstGeom prst="roundRect">
            <a:avLst>
              <a:gd name="adj" fmla="val 10000"/>
            </a:avLst>
          </a:prstGeom>
          <a:solidFill>
            <a:schemeClr val="bg2"/>
          </a:solidFill>
          <a:ln/>
        </p:spPr>
      </p:sp>
      <p:sp>
        <p:nvSpPr>
          <p:cNvPr id="9" name="Text 7"/>
          <p:cNvSpPr txBox="1"/>
          <p:nvPr/>
        </p:nvSpPr>
        <p:spPr>
          <a:xfrm>
            <a:off x="685800" y="2651760"/>
            <a:ext cx="2377440" cy="731520"/>
          </a:xfrm>
          <a:prstGeom prst="rect">
            <a:avLst/>
          </a:prstGeom>
          <a:noFill/>
          <a:ln/>
        </p:spPr>
        <p:txBody>
          <a:bodyPr wrap="square" lIns="0" tIns="0" rIns="0" bIns="0" rtlCol="0" anchor="ctr"/>
          <a:lstStyle/>
          <a:p>
            <a:pPr indent="0" marL="0">
              <a:buNone/>
            </a:pPr>
            <a:r>
              <a:rPr lang="en-US" sz="1700" b="1" dirty="0">
                <a:solidFill>
                  <a:schemeClr val="tx1"/>
                </a:solidFill>
              </a:rPr>
              <a:t>SK하이닉스</a:t>
            </a:r>
            <a:endParaRPr lang="en-US" sz="1700" dirty="0"/>
          </a:p>
        </p:txBody>
      </p:sp>
      <p:sp>
        <p:nvSpPr>
          <p:cNvPr id="10" name="Text 8"/>
          <p:cNvSpPr txBox="1"/>
          <p:nvPr/>
        </p:nvSpPr>
        <p:spPr>
          <a:xfrm>
            <a:off x="3017520" y="2651760"/>
            <a:ext cx="1097280" cy="731520"/>
          </a:xfrm>
          <a:prstGeom prst="rect">
            <a:avLst/>
          </a:prstGeom>
          <a:noFill/>
          <a:ln/>
        </p:spPr>
        <p:txBody>
          <a:bodyPr wrap="square" lIns="0" tIns="0" rIns="0" bIns="0" rtlCol="0" anchor="ctr"/>
          <a:lstStyle/>
          <a:p>
            <a:pPr algn="r" indent="0" marL="0">
              <a:buNone/>
            </a:pPr>
            <a:r>
              <a:rPr lang="en-US" sz="1200" dirty="0">
                <a:solidFill>
                  <a:schemeClr val="accent6"/>
                </a:solidFill>
              </a:rPr>
              <a:t>000660</a:t>
            </a:r>
            <a:endParaRPr lang="en-US" sz="1200" dirty="0"/>
          </a:p>
        </p:txBody>
      </p:sp>
      <p:sp>
        <p:nvSpPr>
          <p:cNvPr id="11" name="stock-3"/>
          <p:cNvSpPr/>
          <p:nvPr/>
        </p:nvSpPr>
        <p:spPr>
          <a:xfrm>
            <a:off x="457200" y="3520440"/>
            <a:ext cx="3840480" cy="731520"/>
          </a:xfrm>
          <a:prstGeom prst="roundRect">
            <a:avLst>
              <a:gd name="adj" fmla="val 10000"/>
            </a:avLst>
          </a:prstGeom>
          <a:solidFill>
            <a:schemeClr val="bg2"/>
          </a:solidFill>
          <a:ln/>
        </p:spPr>
      </p:sp>
      <p:sp>
        <p:nvSpPr>
          <p:cNvPr id="12" name="Text 10"/>
          <p:cNvSpPr txBox="1"/>
          <p:nvPr/>
        </p:nvSpPr>
        <p:spPr>
          <a:xfrm>
            <a:off x="685800" y="3520440"/>
            <a:ext cx="2377440" cy="731520"/>
          </a:xfrm>
          <a:prstGeom prst="rect">
            <a:avLst/>
          </a:prstGeom>
          <a:noFill/>
          <a:ln/>
        </p:spPr>
        <p:txBody>
          <a:bodyPr wrap="square" lIns="0" tIns="0" rIns="0" bIns="0" rtlCol="0" anchor="ctr"/>
          <a:lstStyle/>
          <a:p>
            <a:pPr indent="0" marL="0">
              <a:buNone/>
            </a:pPr>
            <a:r>
              <a:rPr lang="en-US" sz="1700" b="1" dirty="0">
                <a:solidFill>
                  <a:schemeClr val="tx1"/>
                </a:solidFill>
              </a:rPr>
              <a:t>에코프로비엠</a:t>
            </a:r>
            <a:endParaRPr lang="en-US" sz="1700" dirty="0"/>
          </a:p>
        </p:txBody>
      </p:sp>
      <p:sp>
        <p:nvSpPr>
          <p:cNvPr id="13" name="Text 11"/>
          <p:cNvSpPr txBox="1"/>
          <p:nvPr/>
        </p:nvSpPr>
        <p:spPr>
          <a:xfrm>
            <a:off x="3017520" y="3520440"/>
            <a:ext cx="1097280" cy="731520"/>
          </a:xfrm>
          <a:prstGeom prst="rect">
            <a:avLst/>
          </a:prstGeom>
          <a:noFill/>
          <a:ln/>
        </p:spPr>
        <p:txBody>
          <a:bodyPr wrap="square" lIns="0" tIns="0" rIns="0" bIns="0" rtlCol="0" anchor="ctr"/>
          <a:lstStyle/>
          <a:p>
            <a:pPr algn="r" indent="0" marL="0">
              <a:buNone/>
            </a:pPr>
            <a:r>
              <a:rPr lang="en-US" sz="1200" dirty="0">
                <a:solidFill>
                  <a:schemeClr val="accent6"/>
                </a:solidFill>
              </a:rPr>
              <a:t>247540</a:t>
            </a:r>
            <a:endParaRPr lang="en-US" sz="1200" dirty="0"/>
          </a:p>
        </p:txBody>
      </p:sp>
      <p:sp>
        <p:nvSpPr>
          <p:cNvPr id="14" name="data-일봉"/>
          <p:cNvSpPr/>
          <p:nvPr/>
        </p:nvSpPr>
        <p:spPr>
          <a:xfrm>
            <a:off x="4663440" y="1371600"/>
            <a:ext cx="4023360" cy="1188720"/>
          </a:xfrm>
          <a:prstGeom prst="roundRect">
            <a:avLst>
              <a:gd name="adj" fmla="val 6154"/>
            </a:avLst>
          </a:prstGeom>
          <a:solidFill>
            <a:schemeClr val="bg2"/>
          </a:solidFill>
          <a:ln/>
        </p:spPr>
      </p:sp>
      <p:sp>
        <p:nvSpPr>
          <p:cNvPr id="15" name="Text 13"/>
          <p:cNvSpPr txBox="1"/>
          <p:nvPr/>
        </p:nvSpPr>
        <p:spPr>
          <a:xfrm>
            <a:off x="4892040" y="1508760"/>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일봉</a:t>
            </a:r>
            <a:endParaRPr lang="en-US" sz="1200" dirty="0"/>
          </a:p>
        </p:txBody>
      </p:sp>
      <p:sp>
        <p:nvSpPr>
          <p:cNvPr id="16" name="Text 14"/>
          <p:cNvSpPr txBox="1"/>
          <p:nvPr/>
        </p:nvSpPr>
        <p:spPr>
          <a:xfrm>
            <a:off x="4892040" y="1755648"/>
            <a:ext cx="3566160" cy="457200"/>
          </a:xfrm>
          <a:prstGeom prst="rect">
            <a:avLst/>
          </a:prstGeom>
          <a:noFill/>
          <a:ln/>
        </p:spPr>
        <p:txBody>
          <a:bodyPr wrap="square" lIns="0" tIns="0" rIns="0" bIns="0" rtlCol="0" anchor="t"/>
          <a:lstStyle/>
          <a:p>
            <a:pPr indent="0" marL="0">
              <a:buNone/>
            </a:pPr>
            <a:r>
              <a:rPr lang="en-US" sz="2400" b="1" dirty="0">
                <a:solidFill>
                  <a:schemeClr val="tx1"/>
                </a:solidFill>
              </a:rPr>
              <a:t>658봉 × 3종목</a:t>
            </a:r>
            <a:endParaRPr lang="en-US" sz="2400" dirty="0"/>
          </a:p>
        </p:txBody>
      </p:sp>
      <p:sp>
        <p:nvSpPr>
          <p:cNvPr id="17" name="Text 15"/>
          <p:cNvSpPr txBox="1"/>
          <p:nvPr/>
        </p:nvSpPr>
        <p:spPr>
          <a:xfrm>
            <a:off x="4892040" y="2212848"/>
            <a:ext cx="3566160" cy="274320"/>
          </a:xfrm>
          <a:prstGeom prst="rect">
            <a:avLst/>
          </a:prstGeom>
          <a:noFill/>
          <a:ln/>
        </p:spPr>
        <p:txBody>
          <a:bodyPr wrap="square" lIns="0" tIns="0" rIns="0" bIns="0" rtlCol="0" anchor="t"/>
          <a:lstStyle/>
          <a:p>
            <a:pPr indent="0" marL="0">
              <a:buNone/>
            </a:pPr>
            <a:r>
              <a:rPr lang="en-US" sz="1100" dirty="0">
                <a:solidFill>
                  <a:schemeClr val="accent6"/>
                </a:solidFill>
              </a:rPr>
              <a:t>2024-01-02 ~ 2026-09-14, 종목당 약 2년 8개월</a:t>
            </a:r>
            <a:endParaRPr lang="en-US" sz="1100" dirty="0"/>
          </a:p>
        </p:txBody>
      </p:sp>
      <p:sp>
        <p:nvSpPr>
          <p:cNvPr id="18" name="data-분봉"/>
          <p:cNvSpPr/>
          <p:nvPr/>
        </p:nvSpPr>
        <p:spPr>
          <a:xfrm>
            <a:off x="4663440" y="2697480"/>
            <a:ext cx="4023360" cy="1188720"/>
          </a:xfrm>
          <a:prstGeom prst="roundRect">
            <a:avLst>
              <a:gd name="adj" fmla="val 6154"/>
            </a:avLst>
          </a:prstGeom>
          <a:solidFill>
            <a:schemeClr val="bg2"/>
          </a:solidFill>
          <a:ln/>
        </p:spPr>
      </p:sp>
      <p:sp>
        <p:nvSpPr>
          <p:cNvPr id="19" name="Text 17"/>
          <p:cNvSpPr txBox="1"/>
          <p:nvPr/>
        </p:nvSpPr>
        <p:spPr>
          <a:xfrm>
            <a:off x="4892040" y="2834640"/>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분봉</a:t>
            </a:r>
            <a:endParaRPr lang="en-US" sz="1200" dirty="0"/>
          </a:p>
        </p:txBody>
      </p:sp>
      <p:sp>
        <p:nvSpPr>
          <p:cNvPr id="20" name="Text 18"/>
          <p:cNvSpPr txBox="1"/>
          <p:nvPr/>
        </p:nvSpPr>
        <p:spPr>
          <a:xfrm>
            <a:off x="4892040" y="3081528"/>
            <a:ext cx="3566160" cy="457200"/>
          </a:xfrm>
          <a:prstGeom prst="rect">
            <a:avLst/>
          </a:prstGeom>
          <a:noFill/>
          <a:ln/>
        </p:spPr>
        <p:txBody>
          <a:bodyPr wrap="square" lIns="0" tIns="0" rIns="0" bIns="0" rtlCol="0" anchor="t"/>
          <a:lstStyle/>
          <a:p>
            <a:pPr indent="0" marL="0">
              <a:buNone/>
            </a:pPr>
            <a:r>
              <a:rPr lang="en-US" sz="2400" b="1" dirty="0">
                <a:solidFill>
                  <a:schemeClr val="tx1"/>
                </a:solidFill>
              </a:rPr>
              <a:t>14일 × 3종목</a:t>
            </a:r>
            <a:endParaRPr lang="en-US" sz="2400" dirty="0"/>
          </a:p>
        </p:txBody>
      </p:sp>
      <p:sp>
        <p:nvSpPr>
          <p:cNvPr id="21" name="Text 19"/>
          <p:cNvSpPr txBox="1"/>
          <p:nvPr/>
        </p:nvSpPr>
        <p:spPr>
          <a:xfrm>
            <a:off x="4892040" y="3538728"/>
            <a:ext cx="3566160" cy="274320"/>
          </a:xfrm>
          <a:prstGeom prst="rect">
            <a:avLst/>
          </a:prstGeom>
          <a:noFill/>
          <a:ln/>
        </p:spPr>
        <p:txBody>
          <a:bodyPr wrap="square" lIns="0" tIns="0" rIns="0" bIns="0" rtlCol="0" anchor="t"/>
          <a:lstStyle/>
          <a:p>
            <a:pPr indent="0" marL="0">
              <a:buNone/>
            </a:pPr>
            <a:r>
              <a:rPr lang="en-US" sz="1100" dirty="0">
                <a:solidFill>
                  <a:schemeClr val="accent6"/>
                </a:solidFill>
              </a:rPr>
              <a:t>2026-08-25 ~ 09-14 중 정규장이 빠짐없는 날</a:t>
            </a:r>
            <a:endParaRPr lang="en-US" sz="1100" dirty="0"/>
          </a:p>
        </p:txBody>
      </p:sp>
      <p:sp>
        <p:nvSpPr>
          <p:cNvPr id="22" name="Text 20"/>
          <p:cNvSpPr txBox="1"/>
          <p:nvPr/>
        </p:nvSpPr>
        <p:spPr>
          <a:xfrm>
            <a:off x="4663440" y="4023360"/>
            <a:ext cx="4023360" cy="548640"/>
          </a:xfrm>
          <a:prstGeom prst="rect">
            <a:avLst/>
          </a:prstGeom>
          <a:noFill/>
          <a:ln/>
        </p:spPr>
        <p:txBody>
          <a:bodyPr wrap="square" lIns="0" tIns="0" rIns="0" bIns="0" rtlCol="0" anchor="ctr"/>
          <a:lstStyle/>
          <a:p>
            <a:pPr indent="0" marL="0">
              <a:buNone/>
            </a:pPr>
            <a:r>
              <a:rPr lang="en-US" sz="1300" b="1" dirty="0">
                <a:solidFill>
                  <a:schemeClr val="tx1"/>
                </a:solidFill>
              </a:rPr>
              <a:t>같은 수집을 다시 돌려도 중복 없이,</a:t>
            </a:r>
            <a:endParaRPr lang="en-US" sz="1300" dirty="0"/>
          </a:p>
          <a:p>
            <a:pPr indent="0" marL="0">
              <a:buNone/>
            </a:pPr>
            <a:r>
              <a:rPr lang="en-US" sz="1300" b="1" dirty="0">
                <a:solidFill>
                  <a:schemeClr val="accent1"/>
                </a:solidFill>
              </a:rPr>
              <a:t>빠진 구간만 이어 받습니다</a:t>
            </a:r>
            <a:endParaRPr lang="en-US" sz="13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게임 한 판은 시나리오 하나로 진행됩니다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같은 시각의 캔들 241개를 종목별로 묶고, 운영자가 미리 골라 둡니다</a:t>
            </a:r>
            <a:endParaRPr lang="en-US" sz="1400" dirty="0"/>
          </a:p>
        </p:txBody>
      </p:sp>
      <p:sp>
        <p:nvSpPr>
          <p:cNvPr id="4" name="Shape 2"/>
          <p:cNvSpPr/>
          <p:nvPr/>
        </p:nvSpPr>
        <p:spPr>
          <a:xfrm>
            <a:off x="457200" y="1463040"/>
            <a:ext cx="457200" cy="457200"/>
          </a:xfrm>
          <a:prstGeom prst="ellipse">
            <a:avLst/>
          </a:prstGeom>
          <a:solidFill>
            <a:schemeClr val="tx1"/>
          </a:solidFill>
          <a:ln/>
        </p:spPr>
      </p:sp>
      <p:sp>
        <p:nvSpPr>
          <p:cNvPr id="5" name="Text 3"/>
          <p:cNvSpPr txBox="1"/>
          <p:nvPr/>
        </p:nvSpPr>
        <p:spPr>
          <a:xfrm>
            <a:off x="45720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6" name="Shape 4"/>
          <p:cNvSpPr/>
          <p:nvPr/>
        </p:nvSpPr>
        <p:spPr>
          <a:xfrm>
            <a:off x="1097280" y="1536192"/>
            <a:ext cx="411480" cy="310896"/>
          </a:xfrm>
          <a:prstGeom prst="rect">
            <a:avLst/>
          </a:prstGeom>
          <a:solidFill>
            <a:schemeClr val="accent4"/>
          </a:solidFill>
          <a:ln/>
        </p:spPr>
      </p:sp>
      <p:sp>
        <p:nvSpPr>
          <p:cNvPr id="7" name="Shape 5"/>
          <p:cNvSpPr/>
          <p:nvPr/>
        </p:nvSpPr>
        <p:spPr>
          <a:xfrm>
            <a:off x="1554480" y="1536192"/>
            <a:ext cx="3657600" cy="310896"/>
          </a:xfrm>
          <a:prstGeom prst="rect">
            <a:avLst/>
          </a:prstGeom>
          <a:solidFill>
            <a:schemeClr val="accent1"/>
          </a:solidFill>
          <a:ln/>
        </p:spPr>
      </p:sp>
      <p:sp>
        <p:nvSpPr>
          <p:cNvPr id="8" name="Text 6"/>
          <p:cNvSpPr txBox="1"/>
          <p:nvPr/>
        </p:nvSpPr>
        <p:spPr>
          <a:xfrm>
            <a:off x="1097280" y="1536192"/>
            <a:ext cx="411480" cy="310896"/>
          </a:xfrm>
          <a:prstGeom prst="rect">
            <a:avLst/>
          </a:prstGeom>
          <a:noFill/>
          <a:ln/>
        </p:spPr>
        <p:txBody>
          <a:bodyPr wrap="square" lIns="0" tIns="0" rIns="0" bIns="0" rtlCol="0" anchor="ctr"/>
          <a:lstStyle/>
          <a:p>
            <a:pPr algn="ctr" indent="0" marL="0">
              <a:buNone/>
            </a:pPr>
            <a:r>
              <a:rPr lang="en-US" sz="900" b="1" dirty="0">
                <a:solidFill>
                  <a:schemeClr val="tx1"/>
                </a:solidFill>
              </a:rPr>
              <a:t>시작가</a:t>
            </a:r>
            <a:endParaRPr lang="en-US" sz="900" dirty="0"/>
          </a:p>
        </p:txBody>
      </p:sp>
      <p:sp>
        <p:nvSpPr>
          <p:cNvPr id="9" name="Text 7"/>
          <p:cNvSpPr txBox="1"/>
          <p:nvPr/>
        </p:nvSpPr>
        <p:spPr>
          <a:xfrm>
            <a:off x="1554480" y="1536192"/>
            <a:ext cx="3657600" cy="310896"/>
          </a:xfrm>
          <a:prstGeom prst="rect">
            <a:avLst/>
          </a:prstGeom>
          <a:noFill/>
          <a:ln/>
        </p:spPr>
        <p:txBody>
          <a:bodyPr wrap="square" lIns="0" tIns="0" rIns="0" bIns="0" rtlCol="0" anchor="ctr"/>
          <a:lstStyle/>
          <a:p>
            <a:pPr algn="ctr" indent="0" marL="0">
              <a:buNone/>
            </a:pPr>
            <a:r>
              <a:rPr lang="en-US" sz="1100" b="1" dirty="0">
                <a:solidFill>
                  <a:schemeClr val="bg1"/>
                </a:solidFill>
              </a:rPr>
              <a:t>240틱, 1초에 1봉</a:t>
            </a:r>
            <a:endParaRPr lang="en-US" sz="1100" dirty="0"/>
          </a:p>
        </p:txBody>
      </p:sp>
      <p:sp>
        <p:nvSpPr>
          <p:cNvPr id="10" name="Shape 8"/>
          <p:cNvSpPr/>
          <p:nvPr/>
        </p:nvSpPr>
        <p:spPr>
          <a:xfrm>
            <a:off x="457200" y="2121408"/>
            <a:ext cx="457200" cy="457200"/>
          </a:xfrm>
          <a:prstGeom prst="ellipse">
            <a:avLst/>
          </a:prstGeom>
          <a:solidFill>
            <a:schemeClr val="tx1"/>
          </a:solidFill>
          <a:ln/>
        </p:spPr>
      </p:sp>
      <p:sp>
        <p:nvSpPr>
          <p:cNvPr id="11" name="Text 9"/>
          <p:cNvSpPr txBox="1"/>
          <p:nvPr/>
        </p:nvSpPr>
        <p:spPr>
          <a:xfrm>
            <a:off x="457200" y="21214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2" name="Shape 10"/>
          <p:cNvSpPr/>
          <p:nvPr/>
        </p:nvSpPr>
        <p:spPr>
          <a:xfrm>
            <a:off x="1097280" y="2194560"/>
            <a:ext cx="411480" cy="310896"/>
          </a:xfrm>
          <a:prstGeom prst="rect">
            <a:avLst/>
          </a:prstGeom>
          <a:solidFill>
            <a:schemeClr val="accent4"/>
          </a:solidFill>
          <a:ln/>
        </p:spPr>
      </p:sp>
      <p:sp>
        <p:nvSpPr>
          <p:cNvPr id="13" name="Shape 11"/>
          <p:cNvSpPr/>
          <p:nvPr/>
        </p:nvSpPr>
        <p:spPr>
          <a:xfrm>
            <a:off x="1554480" y="2194560"/>
            <a:ext cx="3657600" cy="310896"/>
          </a:xfrm>
          <a:prstGeom prst="rect">
            <a:avLst/>
          </a:prstGeom>
          <a:solidFill>
            <a:schemeClr val="accent1"/>
          </a:solidFill>
          <a:ln/>
        </p:spPr>
      </p:sp>
      <p:sp>
        <p:nvSpPr>
          <p:cNvPr id="14" name="Shape 12"/>
          <p:cNvSpPr/>
          <p:nvPr/>
        </p:nvSpPr>
        <p:spPr>
          <a:xfrm>
            <a:off x="457200" y="2779776"/>
            <a:ext cx="457200" cy="457200"/>
          </a:xfrm>
          <a:prstGeom prst="ellipse">
            <a:avLst/>
          </a:prstGeom>
          <a:solidFill>
            <a:schemeClr val="tx1"/>
          </a:solidFill>
          <a:ln/>
        </p:spPr>
      </p:sp>
      <p:sp>
        <p:nvSpPr>
          <p:cNvPr id="15" name="Text 13"/>
          <p:cNvSpPr txBox="1"/>
          <p:nvPr/>
        </p:nvSpPr>
        <p:spPr>
          <a:xfrm>
            <a:off x="457200" y="27797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6" name="Shape 14"/>
          <p:cNvSpPr/>
          <p:nvPr/>
        </p:nvSpPr>
        <p:spPr>
          <a:xfrm>
            <a:off x="1097280" y="2852928"/>
            <a:ext cx="411480" cy="310896"/>
          </a:xfrm>
          <a:prstGeom prst="rect">
            <a:avLst/>
          </a:prstGeom>
          <a:solidFill>
            <a:schemeClr val="accent4"/>
          </a:solidFill>
          <a:ln/>
        </p:spPr>
      </p:sp>
      <p:sp>
        <p:nvSpPr>
          <p:cNvPr id="17" name="Shape 15"/>
          <p:cNvSpPr/>
          <p:nvPr/>
        </p:nvSpPr>
        <p:spPr>
          <a:xfrm>
            <a:off x="1554480" y="2852928"/>
            <a:ext cx="3657600" cy="310896"/>
          </a:xfrm>
          <a:prstGeom prst="rect">
            <a:avLst/>
          </a:prstGeom>
          <a:solidFill>
            <a:schemeClr val="accent1"/>
          </a:solidFill>
          <a:ln/>
        </p:spPr>
      </p:sp>
      <p:sp>
        <p:nvSpPr>
          <p:cNvPr id="18" name="Text 16"/>
          <p:cNvSpPr txBox="1"/>
          <p:nvPr/>
        </p:nvSpPr>
        <p:spPr>
          <a:xfrm>
            <a:off x="457200" y="3456432"/>
            <a:ext cx="4754880" cy="274320"/>
          </a:xfrm>
          <a:prstGeom prst="rect">
            <a:avLst/>
          </a:prstGeom>
          <a:noFill/>
          <a:ln/>
        </p:spPr>
        <p:txBody>
          <a:bodyPr wrap="square" lIns="0" tIns="0" rIns="0" bIns="0" rtlCol="0" anchor="t"/>
          <a:lstStyle/>
          <a:p>
            <a:pPr indent="0" marL="0">
              <a:buNone/>
            </a:pPr>
            <a:r>
              <a:rPr lang="en-US" sz="1200" dirty="0">
                <a:solidFill>
                  <a:schemeClr val="accent6"/>
                </a:solidFill>
              </a:rPr>
              <a:t>시작가 1봉과 240봉, 총 241봉. 모든 종목의 같은 순번 봉은 같은 시각</a:t>
            </a:r>
            <a:endParaRPr lang="en-US" sz="1200" dirty="0"/>
          </a:p>
        </p:txBody>
      </p:sp>
      <p:sp>
        <p:nvSpPr>
          <p:cNvPr id="19" name="cand-1"/>
          <p:cNvSpPr/>
          <p:nvPr/>
        </p:nvSpPr>
        <p:spPr>
          <a:xfrm>
            <a:off x="457200" y="3840480"/>
            <a:ext cx="2331720" cy="731520"/>
          </a:xfrm>
          <a:prstGeom prst="roundRect">
            <a:avLst>
              <a:gd name="adj" fmla="val 10000"/>
            </a:avLst>
          </a:prstGeom>
          <a:solidFill>
            <a:schemeClr val="bg2"/>
          </a:solidFill>
          <a:ln/>
        </p:spPr>
      </p:sp>
      <p:sp>
        <p:nvSpPr>
          <p:cNvPr id="20" name="Text 18"/>
          <p:cNvSpPr txBox="1"/>
          <p:nvPr/>
        </p:nvSpPr>
        <p:spPr>
          <a:xfrm>
            <a:off x="640080" y="3840480"/>
            <a:ext cx="914400" cy="731520"/>
          </a:xfrm>
          <a:prstGeom prst="rect">
            <a:avLst/>
          </a:prstGeom>
          <a:noFill/>
          <a:ln/>
        </p:spPr>
        <p:txBody>
          <a:bodyPr wrap="square" lIns="0" tIns="0" rIns="0" bIns="0" rtlCol="0" anchor="ctr"/>
          <a:lstStyle/>
          <a:p>
            <a:pPr indent="0" marL="0">
              <a:buNone/>
            </a:pPr>
            <a:r>
              <a:rPr lang="en-US" sz="2600" b="1" dirty="0">
                <a:solidFill>
                  <a:schemeClr val="accent1"/>
                </a:solidFill>
              </a:rPr>
              <a:t>378</a:t>
            </a:r>
            <a:endParaRPr lang="en-US" sz="2600" dirty="0"/>
          </a:p>
        </p:txBody>
      </p:sp>
      <p:sp>
        <p:nvSpPr>
          <p:cNvPr id="21" name="Text 19"/>
          <p:cNvSpPr txBox="1"/>
          <p:nvPr/>
        </p:nvSpPr>
        <p:spPr>
          <a:xfrm>
            <a:off x="1508760" y="3840480"/>
            <a:ext cx="1188720" cy="731520"/>
          </a:xfrm>
          <a:prstGeom prst="rect">
            <a:avLst/>
          </a:prstGeom>
          <a:noFill/>
          <a:ln/>
        </p:spPr>
        <p:txBody>
          <a:bodyPr wrap="square" lIns="0" tIns="0" rIns="0" bIns="0" rtlCol="0" anchor="ctr"/>
          <a:lstStyle/>
          <a:p>
            <a:pPr indent="0" marL="0">
              <a:buNone/>
            </a:pPr>
            <a:r>
              <a:rPr lang="en-US" sz="1200" dirty="0">
                <a:solidFill>
                  <a:schemeClr val="tx1"/>
                </a:solidFill>
              </a:rPr>
              <a:t>일봉 적격 구간</a:t>
            </a:r>
            <a:endParaRPr lang="en-US" sz="1200" dirty="0"/>
          </a:p>
        </p:txBody>
      </p:sp>
      <p:sp>
        <p:nvSpPr>
          <p:cNvPr id="22" name="cand-2"/>
          <p:cNvSpPr/>
          <p:nvPr/>
        </p:nvSpPr>
        <p:spPr>
          <a:xfrm>
            <a:off x="2880360" y="3840480"/>
            <a:ext cx="2331720" cy="731520"/>
          </a:xfrm>
          <a:prstGeom prst="roundRect">
            <a:avLst>
              <a:gd name="adj" fmla="val 10000"/>
            </a:avLst>
          </a:prstGeom>
          <a:solidFill>
            <a:schemeClr val="bg2"/>
          </a:solidFill>
          <a:ln/>
        </p:spPr>
      </p:sp>
      <p:sp>
        <p:nvSpPr>
          <p:cNvPr id="23" name="Text 21"/>
          <p:cNvSpPr txBox="1"/>
          <p:nvPr/>
        </p:nvSpPr>
        <p:spPr>
          <a:xfrm>
            <a:off x="3063240" y="3840480"/>
            <a:ext cx="914400" cy="731520"/>
          </a:xfrm>
          <a:prstGeom prst="rect">
            <a:avLst/>
          </a:prstGeom>
          <a:noFill/>
          <a:ln/>
        </p:spPr>
        <p:txBody>
          <a:bodyPr wrap="square" lIns="0" tIns="0" rIns="0" bIns="0" rtlCol="0" anchor="ctr"/>
          <a:lstStyle/>
          <a:p>
            <a:pPr indent="0" marL="0">
              <a:buNone/>
            </a:pPr>
            <a:r>
              <a:rPr lang="en-US" sz="2600" b="1" dirty="0">
                <a:solidFill>
                  <a:schemeClr val="accent1"/>
                </a:solidFill>
              </a:rPr>
              <a:t>160</a:t>
            </a:r>
            <a:endParaRPr lang="en-US" sz="2600" dirty="0"/>
          </a:p>
        </p:txBody>
      </p:sp>
      <p:sp>
        <p:nvSpPr>
          <p:cNvPr id="24" name="Text 22"/>
          <p:cNvSpPr txBox="1"/>
          <p:nvPr/>
        </p:nvSpPr>
        <p:spPr>
          <a:xfrm>
            <a:off x="3931920" y="3840480"/>
            <a:ext cx="1188720" cy="731520"/>
          </a:xfrm>
          <a:prstGeom prst="rect">
            <a:avLst/>
          </a:prstGeom>
          <a:noFill/>
          <a:ln/>
        </p:spPr>
        <p:txBody>
          <a:bodyPr wrap="square" lIns="0" tIns="0" rIns="0" bIns="0" rtlCol="0" anchor="ctr"/>
          <a:lstStyle/>
          <a:p>
            <a:pPr indent="0" marL="0">
              <a:buNone/>
            </a:pPr>
            <a:r>
              <a:rPr lang="en-US" sz="1200" dirty="0">
                <a:solidFill>
                  <a:schemeClr val="tx1"/>
                </a:solidFill>
              </a:rPr>
              <a:t>분봉 적격 구간</a:t>
            </a:r>
            <a:endParaRPr lang="en-US" sz="1200" dirty="0"/>
          </a:p>
        </p:txBody>
      </p:sp>
      <p:sp>
        <p:nvSpPr>
          <p:cNvPr id="25" name="Shape 23"/>
          <p:cNvSpPr/>
          <p:nvPr/>
        </p:nvSpPr>
        <p:spPr>
          <a:xfrm>
            <a:off x="5440680" y="1371600"/>
            <a:ext cx="438912" cy="438912"/>
          </a:xfrm>
          <a:prstGeom prst="ellipse">
            <a:avLst/>
          </a:prstGeom>
          <a:solidFill>
            <a:schemeClr val="accent1"/>
          </a:solidFill>
          <a:ln/>
        </p:spPr>
      </p:sp>
      <p:pic>
        <p:nvPicPr>
          <p:cNvPr id="26" name="Image 0" descr="preencoded.png">    </p:cNvPr>
          <p:cNvPicPr>
            <a:picLocks noChangeAspect="1"/>
          </p:cNvPicPr>
          <p:nvPr/>
        </p:nvPicPr>
        <p:blipFill>
          <a:blip r:embed="rId1"/>
          <a:stretch>
            <a:fillRect/>
          </a:stretch>
        </p:blipFill>
        <p:spPr>
          <a:xfrm>
            <a:off x="5550408" y="1481328"/>
            <a:ext cx="219456" cy="219456"/>
          </a:xfrm>
          <a:prstGeom prst="rect">
            <a:avLst/>
          </a:prstGeom>
        </p:spPr>
      </p:pic>
      <p:sp>
        <p:nvSpPr>
          <p:cNvPr id="27" name="Text 24"/>
          <p:cNvSpPr txBox="1"/>
          <p:nvPr/>
        </p:nvSpPr>
        <p:spPr>
          <a:xfrm>
            <a:off x="6016752" y="1353312"/>
            <a:ext cx="2670048" cy="292608"/>
          </a:xfrm>
          <a:prstGeom prst="rect">
            <a:avLst/>
          </a:prstGeom>
          <a:noFill/>
          <a:ln/>
        </p:spPr>
        <p:txBody>
          <a:bodyPr wrap="square" lIns="0" tIns="0" rIns="0" bIns="0" rtlCol="0" anchor="t"/>
          <a:lstStyle/>
          <a:p>
            <a:pPr indent="0" marL="0">
              <a:buNone/>
            </a:pPr>
            <a:r>
              <a:rPr lang="en-US" sz="1400" b="1" dirty="0">
                <a:solidFill>
                  <a:schemeClr val="tx1"/>
                </a:solidFill>
              </a:rPr>
              <a:t>종목 이름은 라벨로 가립니다</a:t>
            </a:r>
            <a:endParaRPr lang="en-US" sz="1400" dirty="0"/>
          </a:p>
        </p:txBody>
      </p:sp>
      <p:sp>
        <p:nvSpPr>
          <p:cNvPr id="28" name="Text 25"/>
          <p:cNvSpPr txBox="1"/>
          <p:nvPr/>
        </p:nvSpPr>
        <p:spPr>
          <a:xfrm>
            <a:off x="6016752" y="1645920"/>
            <a:ext cx="2670048" cy="685800"/>
          </a:xfrm>
          <a:prstGeom prst="rect">
            <a:avLst/>
          </a:prstGeom>
          <a:noFill/>
          <a:ln/>
        </p:spPr>
        <p:txBody>
          <a:bodyPr wrap="square" lIns="0" tIns="0" rIns="0" bIns="0" rtlCol="0" anchor="t"/>
          <a:lstStyle/>
          <a:p>
            <a:pPr indent="0" marL="0">
              <a:buNone/>
            </a:pPr>
            <a:r>
              <a:rPr lang="en-US" sz="1100" dirty="0">
                <a:solidFill>
                  <a:schemeClr val="accent6"/>
                </a:solidFill>
              </a:rPr>
              <a:t>A, B, C는 등록 시 무작위 배정</a:t>
            </a:r>
            <a:endParaRPr lang="en-US" sz="1100" dirty="0"/>
          </a:p>
          <a:p>
            <a:pPr indent="0" marL="0">
              <a:buNone/>
            </a:pPr>
            <a:r>
              <a:rPr lang="en-US" sz="1100" dirty="0">
                <a:solidFill>
                  <a:schemeClr val="accent6"/>
                </a:solidFill>
              </a:rPr>
              <a:t>매번 A가 같은 종목이면 가리는 의미 없음</a:t>
            </a:r>
            <a:endParaRPr lang="en-US" sz="1100" dirty="0"/>
          </a:p>
        </p:txBody>
      </p:sp>
      <p:sp>
        <p:nvSpPr>
          <p:cNvPr id="29" name="Shape 26"/>
          <p:cNvSpPr/>
          <p:nvPr/>
        </p:nvSpPr>
        <p:spPr>
          <a:xfrm>
            <a:off x="5440680" y="2450592"/>
            <a:ext cx="438912" cy="438912"/>
          </a:xfrm>
          <a:prstGeom prst="ellipse">
            <a:avLst/>
          </a:prstGeom>
          <a:solidFill>
            <a:schemeClr val="accent1"/>
          </a:solidFill>
          <a:ln/>
        </p:spPr>
      </p:sp>
      <p:pic>
        <p:nvPicPr>
          <p:cNvPr id="30" name="Image 1" descr="preencoded.png">    </p:cNvPr>
          <p:cNvPicPr>
            <a:picLocks noChangeAspect="1"/>
          </p:cNvPicPr>
          <p:nvPr/>
        </p:nvPicPr>
        <p:blipFill>
          <a:blip r:embed="rId2"/>
          <a:stretch>
            <a:fillRect/>
          </a:stretch>
        </p:blipFill>
        <p:spPr>
          <a:xfrm>
            <a:off x="5550408" y="2560320"/>
            <a:ext cx="219456" cy="219456"/>
          </a:xfrm>
          <a:prstGeom prst="rect">
            <a:avLst/>
          </a:prstGeom>
        </p:spPr>
      </p:pic>
      <p:sp>
        <p:nvSpPr>
          <p:cNvPr id="31" name="Text 27"/>
          <p:cNvSpPr txBox="1"/>
          <p:nvPr/>
        </p:nvSpPr>
        <p:spPr>
          <a:xfrm>
            <a:off x="6016752" y="2432304"/>
            <a:ext cx="2670048" cy="292608"/>
          </a:xfrm>
          <a:prstGeom prst="rect">
            <a:avLst/>
          </a:prstGeom>
          <a:noFill/>
          <a:ln/>
        </p:spPr>
        <p:txBody>
          <a:bodyPr wrap="square" lIns="0" tIns="0" rIns="0" bIns="0" rtlCol="0" anchor="t"/>
          <a:lstStyle/>
          <a:p>
            <a:pPr indent="0" marL="0">
              <a:buNone/>
            </a:pPr>
            <a:r>
              <a:rPr lang="en-US" sz="1400" b="1" dirty="0">
                <a:solidFill>
                  <a:schemeClr val="tx1"/>
                </a:solidFill>
              </a:rPr>
              <a:t>날짜가 어긋나면 쓰지 않습니다</a:t>
            </a:r>
            <a:endParaRPr lang="en-US" sz="1400" dirty="0"/>
          </a:p>
        </p:txBody>
      </p:sp>
      <p:sp>
        <p:nvSpPr>
          <p:cNvPr id="32" name="Text 28"/>
          <p:cNvSpPr txBox="1"/>
          <p:nvPr/>
        </p:nvSpPr>
        <p:spPr>
          <a:xfrm>
            <a:off x="6016752" y="2724912"/>
            <a:ext cx="2670048" cy="685800"/>
          </a:xfrm>
          <a:prstGeom prst="rect">
            <a:avLst/>
          </a:prstGeom>
          <a:noFill/>
          <a:ln/>
        </p:spPr>
        <p:txBody>
          <a:bodyPr wrap="square" lIns="0" tIns="0" rIns="0" bIns="0" rtlCol="0" anchor="t"/>
          <a:lstStyle/>
          <a:p>
            <a:pPr indent="0" marL="0">
              <a:buNone/>
            </a:pPr>
            <a:r>
              <a:rPr lang="en-US" sz="1100" dirty="0">
                <a:solidFill>
                  <a:schemeClr val="accent6"/>
                </a:solidFill>
              </a:rPr>
              <a:t>한 종목만 거래정지로 봉이 빠지면</a:t>
            </a:r>
            <a:endParaRPr lang="en-US" sz="1100" dirty="0"/>
          </a:p>
          <a:p>
            <a:pPr indent="0" marL="0">
              <a:buNone/>
            </a:pPr>
            <a:r>
              <a:rPr lang="en-US" sz="1100" dirty="0">
                <a:solidFill>
                  <a:schemeClr val="accent6"/>
                </a:solidFill>
              </a:rPr>
              <a:t>틱마다 종목별 날짜가 달라짐</a:t>
            </a:r>
            <a:endParaRPr lang="en-US" sz="1100" dirty="0"/>
          </a:p>
        </p:txBody>
      </p:sp>
      <p:sp>
        <p:nvSpPr>
          <p:cNvPr id="33" name="Shape 29"/>
          <p:cNvSpPr/>
          <p:nvPr/>
        </p:nvSpPr>
        <p:spPr>
          <a:xfrm>
            <a:off x="5440680" y="3529584"/>
            <a:ext cx="438912" cy="438912"/>
          </a:xfrm>
          <a:prstGeom prst="ellipse">
            <a:avLst/>
          </a:prstGeom>
          <a:solidFill>
            <a:schemeClr val="accent1"/>
          </a:solidFill>
          <a:ln/>
        </p:spPr>
      </p:sp>
      <p:pic>
        <p:nvPicPr>
          <p:cNvPr id="34" name="Image 2" descr="preencoded.png">    </p:cNvPr>
          <p:cNvPicPr>
            <a:picLocks noChangeAspect="1"/>
          </p:cNvPicPr>
          <p:nvPr/>
        </p:nvPicPr>
        <p:blipFill>
          <a:blip r:embed="rId3"/>
          <a:stretch>
            <a:fillRect/>
          </a:stretch>
        </p:blipFill>
        <p:spPr>
          <a:xfrm>
            <a:off x="5550408" y="3639312"/>
            <a:ext cx="219456" cy="219456"/>
          </a:xfrm>
          <a:prstGeom prst="rect">
            <a:avLst/>
          </a:prstGeom>
        </p:spPr>
      </p:pic>
      <p:sp>
        <p:nvSpPr>
          <p:cNvPr id="35" name="Text 30"/>
          <p:cNvSpPr txBox="1"/>
          <p:nvPr/>
        </p:nvSpPr>
        <p:spPr>
          <a:xfrm>
            <a:off x="6016752" y="3511296"/>
            <a:ext cx="2670048" cy="292608"/>
          </a:xfrm>
          <a:prstGeom prst="rect">
            <a:avLst/>
          </a:prstGeom>
          <a:noFill/>
          <a:ln/>
        </p:spPr>
        <p:txBody>
          <a:bodyPr wrap="square" lIns="0" tIns="0" rIns="0" bIns="0" rtlCol="0" anchor="t"/>
          <a:lstStyle/>
          <a:p>
            <a:pPr indent="0" marL="0">
              <a:buNone/>
            </a:pPr>
            <a:r>
              <a:rPr lang="en-US" sz="1400" b="1" dirty="0">
                <a:solidFill>
                  <a:schemeClr val="tx1"/>
                </a:solidFill>
              </a:rPr>
              <a:t>후보는 자동, 선택은 사람이 합니다</a:t>
            </a:r>
            <a:endParaRPr lang="en-US" sz="1400" dirty="0"/>
          </a:p>
        </p:txBody>
      </p:sp>
      <p:sp>
        <p:nvSpPr>
          <p:cNvPr id="36" name="Text 31"/>
          <p:cNvSpPr txBox="1"/>
          <p:nvPr/>
        </p:nvSpPr>
        <p:spPr>
          <a:xfrm>
            <a:off x="6016752" y="3803904"/>
            <a:ext cx="2670048" cy="685800"/>
          </a:xfrm>
          <a:prstGeom prst="rect">
            <a:avLst/>
          </a:prstGeom>
          <a:noFill/>
          <a:ln/>
        </p:spPr>
        <p:txBody>
          <a:bodyPr wrap="square" lIns="0" tIns="0" rIns="0" bIns="0" rtlCol="0" anchor="t"/>
          <a:lstStyle/>
          <a:p>
            <a:pPr indent="0" marL="0">
              <a:buNone/>
            </a:pPr>
            <a:r>
              <a:rPr lang="en-US" sz="1100" dirty="0">
                <a:solidFill>
                  <a:schemeClr val="accent6"/>
                </a:solidFill>
              </a:rPr>
              <a:t>기준 통과 구간을 변동폭 순으로 추림</a:t>
            </a:r>
            <a:endParaRPr lang="en-US" sz="1100" dirty="0"/>
          </a:p>
          <a:p>
            <a:pPr indent="0" marL="0">
              <a:buNone/>
            </a:pPr>
            <a:r>
              <a:rPr lang="en-US" sz="1100" dirty="0">
                <a:solidFill>
                  <a:schemeClr val="accent6"/>
                </a:solidFill>
              </a:rPr>
              <a:t>실제로 쓸 판은 사람이 선택</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분봉은 09:01 ~ 15:20 구간만 사용합니다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API 분봉은 시간외까지 하루 720봉입니다. 시간외와 경계 봉에 거래가 없는 봉이 몰려 있었습니다</a:t>
            </a:r>
            <a:endParaRPr lang="en-US" sz="1400" dirty="0"/>
          </a:p>
        </p:txBody>
      </p:sp>
      <p:sp>
        <p:nvSpPr>
          <p:cNvPr id="4" name="seg-0"/>
          <p:cNvSpPr/>
          <p:nvPr/>
        </p:nvSpPr>
        <p:spPr>
          <a:xfrm>
            <a:off x="464185" y="1600200"/>
            <a:ext cx="405130" cy="457200"/>
          </a:xfrm>
          <a:prstGeom prst="rect">
            <a:avLst/>
          </a:prstGeom>
          <a:solidFill>
            <a:schemeClr val="accent6">
              <a:alpha val="40000"/>
            </a:schemeClr>
          </a:solidFill>
          <a:ln/>
        </p:spPr>
      </p:sp>
      <p:sp>
        <p:nvSpPr>
          <p:cNvPr id="5" name="seg-1"/>
          <p:cNvSpPr/>
          <p:nvPr/>
        </p:nvSpPr>
        <p:spPr>
          <a:xfrm>
            <a:off x="869315" y="1600200"/>
            <a:ext cx="45720" cy="457200"/>
          </a:xfrm>
          <a:prstGeom prst="rect">
            <a:avLst/>
          </a:prstGeom>
          <a:solidFill>
            <a:schemeClr val="accent2"/>
          </a:solidFill>
          <a:ln/>
        </p:spPr>
      </p:sp>
      <p:sp>
        <p:nvSpPr>
          <p:cNvPr id="6" name="seg-2"/>
          <p:cNvSpPr/>
          <p:nvPr/>
        </p:nvSpPr>
        <p:spPr>
          <a:xfrm>
            <a:off x="883285" y="1600200"/>
            <a:ext cx="2647315" cy="457200"/>
          </a:xfrm>
          <a:prstGeom prst="rect">
            <a:avLst/>
          </a:prstGeom>
          <a:solidFill>
            <a:schemeClr val="accent1"/>
          </a:solidFill>
          <a:ln/>
        </p:spPr>
      </p:sp>
      <p:sp>
        <p:nvSpPr>
          <p:cNvPr id="7" name="Text 5"/>
          <p:cNvSpPr txBox="1"/>
          <p:nvPr/>
        </p:nvSpPr>
        <p:spPr>
          <a:xfrm>
            <a:off x="883285" y="1600200"/>
            <a:ext cx="2647315" cy="457200"/>
          </a:xfrm>
          <a:prstGeom prst="rect">
            <a:avLst/>
          </a:prstGeom>
          <a:noFill/>
          <a:ln/>
        </p:spPr>
        <p:txBody>
          <a:bodyPr wrap="square" lIns="0" tIns="0" rIns="0" bIns="0" rtlCol="0" anchor="ctr"/>
          <a:lstStyle/>
          <a:p>
            <a:pPr algn="ctr" indent="0" marL="0">
              <a:buNone/>
            </a:pPr>
            <a:r>
              <a:rPr lang="en-US" sz="1100" b="1" dirty="0">
                <a:solidFill>
                  <a:schemeClr val="bg1"/>
                </a:solidFill>
              </a:rPr>
              <a:t>정규장 09:01 ~ 15:20</a:t>
            </a:r>
            <a:endParaRPr lang="en-US" sz="1100" dirty="0"/>
          </a:p>
        </p:txBody>
      </p:sp>
      <p:sp>
        <p:nvSpPr>
          <p:cNvPr id="8" name="seg-3"/>
          <p:cNvSpPr/>
          <p:nvPr/>
        </p:nvSpPr>
        <p:spPr>
          <a:xfrm>
            <a:off x="3530600" y="1600200"/>
            <a:ext cx="69850" cy="457200"/>
          </a:xfrm>
          <a:prstGeom prst="rect">
            <a:avLst/>
          </a:prstGeom>
          <a:solidFill>
            <a:schemeClr val="accent2"/>
          </a:solidFill>
          <a:ln/>
        </p:spPr>
      </p:sp>
      <p:sp>
        <p:nvSpPr>
          <p:cNvPr id="9" name="seg-4"/>
          <p:cNvSpPr/>
          <p:nvPr/>
        </p:nvSpPr>
        <p:spPr>
          <a:xfrm>
            <a:off x="3600450" y="1600200"/>
            <a:ext cx="1885950" cy="457200"/>
          </a:xfrm>
          <a:prstGeom prst="rect">
            <a:avLst/>
          </a:prstGeom>
          <a:solidFill>
            <a:schemeClr val="accent6">
              <a:alpha val="40000"/>
            </a:schemeClr>
          </a:solidFill>
          <a:ln/>
        </p:spPr>
      </p:sp>
      <p:sp>
        <p:nvSpPr>
          <p:cNvPr id="10" name="Text 8"/>
          <p:cNvSpPr txBox="1"/>
          <p:nvPr/>
        </p:nvSpPr>
        <p:spPr>
          <a:xfrm>
            <a:off x="3600450" y="1600200"/>
            <a:ext cx="1885950" cy="457200"/>
          </a:xfrm>
          <a:prstGeom prst="rect">
            <a:avLst/>
          </a:prstGeom>
          <a:noFill/>
          <a:ln/>
        </p:spPr>
        <p:txBody>
          <a:bodyPr wrap="square" lIns="0" tIns="0" rIns="0" bIns="0" rtlCol="0" anchor="ctr"/>
          <a:lstStyle/>
          <a:p>
            <a:pPr algn="ctr" indent="0" marL="0">
              <a:buNone/>
            </a:pPr>
            <a:r>
              <a:rPr lang="en-US" sz="1100" b="1" dirty="0">
                <a:solidFill>
                  <a:schemeClr val="tx1"/>
                </a:solidFill>
              </a:rPr>
              <a:t>애프터</a:t>
            </a:r>
            <a:endParaRPr lang="en-US" sz="1100" dirty="0"/>
          </a:p>
        </p:txBody>
      </p:sp>
      <p:sp>
        <p:nvSpPr>
          <p:cNvPr id="11" name="Text 9"/>
          <p:cNvSpPr txBox="1"/>
          <p:nvPr/>
        </p:nvSpPr>
        <p:spPr>
          <a:xfrm>
            <a:off x="464820" y="1353312"/>
            <a:ext cx="822960" cy="201168"/>
          </a:xfrm>
          <a:prstGeom prst="rect">
            <a:avLst/>
          </a:prstGeom>
          <a:noFill/>
          <a:ln/>
        </p:spPr>
        <p:txBody>
          <a:bodyPr wrap="square" lIns="0" tIns="0" rIns="0" bIns="0" rtlCol="0" anchor="t"/>
          <a:lstStyle/>
          <a:p>
            <a:pPr algn="ctr" indent="0" marL="0">
              <a:buNone/>
            </a:pPr>
            <a:r>
              <a:rPr lang="en-US" sz="900" b="1" dirty="0">
                <a:solidFill>
                  <a:schemeClr val="accent2"/>
                </a:solidFill>
              </a:rPr>
              <a:t>09:00 봉</a:t>
            </a:r>
            <a:endParaRPr lang="en-US" sz="900" dirty="0"/>
          </a:p>
        </p:txBody>
      </p:sp>
      <p:sp>
        <p:nvSpPr>
          <p:cNvPr id="12" name="Text 10"/>
          <p:cNvSpPr txBox="1"/>
          <p:nvPr/>
        </p:nvSpPr>
        <p:spPr>
          <a:xfrm>
            <a:off x="3062605" y="1353312"/>
            <a:ext cx="1005840" cy="201168"/>
          </a:xfrm>
          <a:prstGeom prst="rect">
            <a:avLst/>
          </a:prstGeom>
          <a:noFill/>
          <a:ln/>
        </p:spPr>
        <p:txBody>
          <a:bodyPr wrap="square" lIns="0" tIns="0" rIns="0" bIns="0" rtlCol="0" anchor="t"/>
          <a:lstStyle/>
          <a:p>
            <a:pPr algn="ctr" indent="0" marL="0">
              <a:buNone/>
            </a:pPr>
            <a:r>
              <a:rPr lang="en-US" sz="900" b="1" dirty="0">
                <a:solidFill>
                  <a:schemeClr val="accent2"/>
                </a:solidFill>
              </a:rPr>
              <a:t>15:21 ~ 15:30</a:t>
            </a:r>
            <a:endParaRPr lang="en-US" sz="900" dirty="0"/>
          </a:p>
        </p:txBody>
      </p:sp>
      <p:sp>
        <p:nvSpPr>
          <p:cNvPr id="13" name="Text 11"/>
          <p:cNvSpPr txBox="1"/>
          <p:nvPr/>
        </p:nvSpPr>
        <p:spPr>
          <a:xfrm>
            <a:off x="1828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8시</a:t>
            </a:r>
            <a:endParaRPr lang="en-US" sz="900" dirty="0"/>
          </a:p>
        </p:txBody>
      </p:sp>
      <p:sp>
        <p:nvSpPr>
          <p:cNvPr id="14" name="Text 12"/>
          <p:cNvSpPr txBox="1"/>
          <p:nvPr/>
        </p:nvSpPr>
        <p:spPr>
          <a:xfrm>
            <a:off x="10210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10시</a:t>
            </a:r>
            <a:endParaRPr lang="en-US" sz="900" dirty="0"/>
          </a:p>
        </p:txBody>
      </p:sp>
      <p:sp>
        <p:nvSpPr>
          <p:cNvPr id="15" name="Text 13"/>
          <p:cNvSpPr txBox="1"/>
          <p:nvPr/>
        </p:nvSpPr>
        <p:spPr>
          <a:xfrm>
            <a:off x="18592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12시</a:t>
            </a:r>
            <a:endParaRPr lang="en-US" sz="900" dirty="0"/>
          </a:p>
        </p:txBody>
      </p:sp>
      <p:sp>
        <p:nvSpPr>
          <p:cNvPr id="16" name="Text 14"/>
          <p:cNvSpPr txBox="1"/>
          <p:nvPr/>
        </p:nvSpPr>
        <p:spPr>
          <a:xfrm>
            <a:off x="26974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14시</a:t>
            </a:r>
            <a:endParaRPr lang="en-US" sz="900" dirty="0"/>
          </a:p>
        </p:txBody>
      </p:sp>
      <p:sp>
        <p:nvSpPr>
          <p:cNvPr id="17" name="Text 15"/>
          <p:cNvSpPr txBox="1"/>
          <p:nvPr/>
        </p:nvSpPr>
        <p:spPr>
          <a:xfrm>
            <a:off x="35356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16시</a:t>
            </a:r>
            <a:endParaRPr lang="en-US" sz="900" dirty="0"/>
          </a:p>
        </p:txBody>
      </p:sp>
      <p:sp>
        <p:nvSpPr>
          <p:cNvPr id="18" name="Text 16"/>
          <p:cNvSpPr txBox="1"/>
          <p:nvPr/>
        </p:nvSpPr>
        <p:spPr>
          <a:xfrm>
            <a:off x="43738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18시</a:t>
            </a:r>
            <a:endParaRPr lang="en-US" sz="900" dirty="0"/>
          </a:p>
        </p:txBody>
      </p:sp>
      <p:sp>
        <p:nvSpPr>
          <p:cNvPr id="19" name="Text 17"/>
          <p:cNvSpPr txBox="1"/>
          <p:nvPr/>
        </p:nvSpPr>
        <p:spPr>
          <a:xfrm>
            <a:off x="52120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20시</a:t>
            </a:r>
            <a:endParaRPr lang="en-US" sz="900" dirty="0"/>
          </a:p>
        </p:txBody>
      </p:sp>
      <p:sp>
        <p:nvSpPr>
          <p:cNvPr id="20" name="Text 18"/>
          <p:cNvSpPr txBox="1"/>
          <p:nvPr/>
        </p:nvSpPr>
        <p:spPr>
          <a:xfrm>
            <a:off x="457200" y="2514600"/>
            <a:ext cx="2926080" cy="292608"/>
          </a:xfrm>
          <a:prstGeom prst="rect">
            <a:avLst/>
          </a:prstGeom>
          <a:noFill/>
          <a:ln/>
        </p:spPr>
        <p:txBody>
          <a:bodyPr wrap="square" lIns="0" tIns="0" rIns="0" bIns="0" rtlCol="0" anchor="t"/>
          <a:lstStyle/>
          <a:p>
            <a:pPr indent="0" marL="0">
              <a:buNone/>
            </a:pPr>
            <a:r>
              <a:rPr lang="en-US" sz="1200" dirty="0">
                <a:solidFill>
                  <a:schemeClr val="tx1"/>
                </a:solidFill>
              </a:rPr>
              <a:t>프리마켓 08시</a:t>
            </a:r>
            <a:endParaRPr lang="en-US" sz="1200" dirty="0"/>
          </a:p>
        </p:txBody>
      </p:sp>
      <p:sp>
        <p:nvSpPr>
          <p:cNvPr id="21" name="Text 19"/>
          <p:cNvSpPr txBox="1"/>
          <p:nvPr/>
        </p:nvSpPr>
        <p:spPr>
          <a:xfrm>
            <a:off x="3383280" y="2514600"/>
            <a:ext cx="2103120" cy="292608"/>
          </a:xfrm>
          <a:prstGeom prst="rect">
            <a:avLst/>
          </a:prstGeom>
          <a:noFill/>
          <a:ln/>
        </p:spPr>
        <p:txBody>
          <a:bodyPr wrap="square" lIns="0" tIns="0" rIns="0" bIns="0" rtlCol="0" anchor="t"/>
          <a:lstStyle/>
          <a:p>
            <a:pPr algn="r" indent="0" marL="0">
              <a:buNone/>
            </a:pPr>
            <a:r>
              <a:rPr lang="en-US" sz="1200" b="1" dirty="0">
                <a:solidFill>
                  <a:schemeClr val="tx1"/>
                </a:solidFill>
              </a:rPr>
              <a:t>무거래 봉 15.3%</a:t>
            </a:r>
            <a:endParaRPr lang="en-US" sz="1200" dirty="0"/>
          </a:p>
        </p:txBody>
      </p:sp>
      <p:sp>
        <p:nvSpPr>
          <p:cNvPr id="22" name="Shape 20"/>
          <p:cNvSpPr/>
          <p:nvPr/>
        </p:nvSpPr>
        <p:spPr>
          <a:xfrm>
            <a:off x="457200" y="2852928"/>
            <a:ext cx="5029200" cy="0"/>
          </a:xfrm>
          <a:prstGeom prst="line">
            <a:avLst/>
          </a:prstGeom>
          <a:noFill/>
          <a:ln w="9525">
            <a:solidFill>
              <a:schemeClr val="bg2"/>
            </a:solidFill>
            <a:prstDash val="solid"/>
          </a:ln>
        </p:spPr>
      </p:sp>
      <p:sp>
        <p:nvSpPr>
          <p:cNvPr id="23" name="Text 21"/>
          <p:cNvSpPr txBox="1"/>
          <p:nvPr/>
        </p:nvSpPr>
        <p:spPr>
          <a:xfrm>
            <a:off x="457200" y="2898648"/>
            <a:ext cx="2926080" cy="292608"/>
          </a:xfrm>
          <a:prstGeom prst="rect">
            <a:avLst/>
          </a:prstGeom>
          <a:noFill/>
          <a:ln/>
        </p:spPr>
        <p:txBody>
          <a:bodyPr wrap="square" lIns="0" tIns="0" rIns="0" bIns="0" rtlCol="0" anchor="t"/>
          <a:lstStyle/>
          <a:p>
            <a:pPr indent="0" marL="0">
              <a:buNone/>
            </a:pPr>
            <a:r>
              <a:rPr lang="en-US" sz="1200" dirty="0">
                <a:solidFill>
                  <a:schemeClr val="tx1"/>
                </a:solidFill>
              </a:rPr>
              <a:t>09:00 봉 (개장 전 1분)</a:t>
            </a:r>
            <a:endParaRPr lang="en-US" sz="1200" dirty="0"/>
          </a:p>
        </p:txBody>
      </p:sp>
      <p:sp>
        <p:nvSpPr>
          <p:cNvPr id="24" name="Text 22"/>
          <p:cNvSpPr txBox="1"/>
          <p:nvPr/>
        </p:nvSpPr>
        <p:spPr>
          <a:xfrm>
            <a:off x="3383280" y="2898648"/>
            <a:ext cx="2103120" cy="292608"/>
          </a:xfrm>
          <a:prstGeom prst="rect">
            <a:avLst/>
          </a:prstGeom>
          <a:noFill/>
          <a:ln/>
        </p:spPr>
        <p:txBody>
          <a:bodyPr wrap="square" lIns="0" tIns="0" rIns="0" bIns="0" rtlCol="0" anchor="t"/>
          <a:lstStyle/>
          <a:p>
            <a:pPr algn="r" indent="0" marL="0">
              <a:buNone/>
            </a:pPr>
            <a:r>
              <a:rPr lang="en-US" sz="1200" b="1" dirty="0">
                <a:solidFill>
                  <a:schemeClr val="accent2"/>
                </a:solidFill>
              </a:rPr>
              <a:t>14일 모두 무거래</a:t>
            </a:r>
            <a:endParaRPr lang="en-US" sz="1200" dirty="0"/>
          </a:p>
        </p:txBody>
      </p:sp>
      <p:sp>
        <p:nvSpPr>
          <p:cNvPr id="25" name="Shape 23"/>
          <p:cNvSpPr/>
          <p:nvPr/>
        </p:nvSpPr>
        <p:spPr>
          <a:xfrm>
            <a:off x="457200" y="3236976"/>
            <a:ext cx="5029200" cy="0"/>
          </a:xfrm>
          <a:prstGeom prst="line">
            <a:avLst/>
          </a:prstGeom>
          <a:noFill/>
          <a:ln w="9525">
            <a:solidFill>
              <a:schemeClr val="bg2"/>
            </a:solidFill>
            <a:prstDash val="solid"/>
          </a:ln>
        </p:spPr>
      </p:sp>
      <p:sp>
        <p:nvSpPr>
          <p:cNvPr id="26" name="Text 24"/>
          <p:cNvSpPr txBox="1"/>
          <p:nvPr/>
        </p:nvSpPr>
        <p:spPr>
          <a:xfrm>
            <a:off x="457200" y="3282696"/>
            <a:ext cx="2926080" cy="292608"/>
          </a:xfrm>
          <a:prstGeom prst="rect">
            <a:avLst/>
          </a:prstGeom>
          <a:noFill/>
          <a:ln/>
        </p:spPr>
        <p:txBody>
          <a:bodyPr wrap="square" lIns="0" tIns="0" rIns="0" bIns="0" rtlCol="0" anchor="t"/>
          <a:lstStyle/>
          <a:p>
            <a:pPr indent="0" marL="0">
              <a:buNone/>
            </a:pPr>
            <a:r>
              <a:rPr lang="en-US" sz="1200" dirty="0">
                <a:solidFill>
                  <a:schemeClr val="tx1"/>
                </a:solidFill>
              </a:rPr>
              <a:t>15:21 ~ 15:30 (종가 단일가)</a:t>
            </a:r>
            <a:endParaRPr lang="en-US" sz="1200" dirty="0"/>
          </a:p>
        </p:txBody>
      </p:sp>
      <p:sp>
        <p:nvSpPr>
          <p:cNvPr id="27" name="Text 25"/>
          <p:cNvSpPr txBox="1"/>
          <p:nvPr/>
        </p:nvSpPr>
        <p:spPr>
          <a:xfrm>
            <a:off x="3383280" y="3282696"/>
            <a:ext cx="2103120" cy="292608"/>
          </a:xfrm>
          <a:prstGeom prst="rect">
            <a:avLst/>
          </a:prstGeom>
          <a:noFill/>
          <a:ln/>
        </p:spPr>
        <p:txBody>
          <a:bodyPr wrap="square" lIns="0" tIns="0" rIns="0" bIns="0" rtlCol="0" anchor="t"/>
          <a:lstStyle/>
          <a:p>
            <a:pPr algn="r" indent="0" marL="0">
              <a:buNone/>
            </a:pPr>
            <a:r>
              <a:rPr lang="en-US" sz="1200" b="1" dirty="0">
                <a:solidFill>
                  <a:schemeClr val="accent2"/>
                </a:solidFill>
              </a:rPr>
              <a:t>14일 모두 무거래</a:t>
            </a:r>
            <a:endParaRPr lang="en-US" sz="1200" dirty="0"/>
          </a:p>
        </p:txBody>
      </p:sp>
      <p:sp>
        <p:nvSpPr>
          <p:cNvPr id="28" name="Shape 26"/>
          <p:cNvSpPr/>
          <p:nvPr/>
        </p:nvSpPr>
        <p:spPr>
          <a:xfrm>
            <a:off x="457200" y="3621024"/>
            <a:ext cx="5029200" cy="0"/>
          </a:xfrm>
          <a:prstGeom prst="line">
            <a:avLst/>
          </a:prstGeom>
          <a:noFill/>
          <a:ln w="9525">
            <a:solidFill>
              <a:schemeClr val="bg2"/>
            </a:solidFill>
            <a:prstDash val="solid"/>
          </a:ln>
        </p:spPr>
      </p:sp>
      <p:sp>
        <p:nvSpPr>
          <p:cNvPr id="29" name="Text 27"/>
          <p:cNvSpPr txBox="1"/>
          <p:nvPr/>
        </p:nvSpPr>
        <p:spPr>
          <a:xfrm>
            <a:off x="457200" y="3666744"/>
            <a:ext cx="2926080" cy="292608"/>
          </a:xfrm>
          <a:prstGeom prst="rect">
            <a:avLst/>
          </a:prstGeom>
          <a:noFill/>
          <a:ln/>
        </p:spPr>
        <p:txBody>
          <a:bodyPr wrap="square" lIns="0" tIns="0" rIns="0" bIns="0" rtlCol="0" anchor="t"/>
          <a:lstStyle/>
          <a:p>
            <a:pPr indent="0" marL="0">
              <a:buNone/>
            </a:pPr>
            <a:r>
              <a:rPr lang="en-US" sz="1200" dirty="0">
                <a:solidFill>
                  <a:schemeClr val="tx1"/>
                </a:solidFill>
              </a:rPr>
              <a:t>애프터 16 ~ 19시</a:t>
            </a:r>
            <a:endParaRPr lang="en-US" sz="1200" dirty="0"/>
          </a:p>
        </p:txBody>
      </p:sp>
      <p:sp>
        <p:nvSpPr>
          <p:cNvPr id="30" name="Text 28"/>
          <p:cNvSpPr txBox="1"/>
          <p:nvPr/>
        </p:nvSpPr>
        <p:spPr>
          <a:xfrm>
            <a:off x="3383280" y="3666744"/>
            <a:ext cx="2103120" cy="292608"/>
          </a:xfrm>
          <a:prstGeom prst="rect">
            <a:avLst/>
          </a:prstGeom>
          <a:noFill/>
          <a:ln/>
        </p:spPr>
        <p:txBody>
          <a:bodyPr wrap="square" lIns="0" tIns="0" rIns="0" bIns="0" rtlCol="0" anchor="t"/>
          <a:lstStyle/>
          <a:p>
            <a:pPr algn="r" indent="0" marL="0">
              <a:buNone/>
            </a:pPr>
            <a:r>
              <a:rPr lang="en-US" sz="1200" b="1" dirty="0">
                <a:solidFill>
                  <a:schemeClr val="tx1"/>
                </a:solidFill>
              </a:rPr>
              <a:t>거래량이 정규장의 약 1/8</a:t>
            </a:r>
            <a:endParaRPr lang="en-US" sz="1200" dirty="0"/>
          </a:p>
        </p:txBody>
      </p:sp>
      <p:sp>
        <p:nvSpPr>
          <p:cNvPr id="31" name="Shape 29"/>
          <p:cNvSpPr/>
          <p:nvPr/>
        </p:nvSpPr>
        <p:spPr>
          <a:xfrm>
            <a:off x="457200" y="4005072"/>
            <a:ext cx="5029200" cy="0"/>
          </a:xfrm>
          <a:prstGeom prst="line">
            <a:avLst/>
          </a:prstGeom>
          <a:noFill/>
          <a:ln w="9525">
            <a:solidFill>
              <a:schemeClr val="bg2"/>
            </a:solidFill>
            <a:prstDash val="solid"/>
          </a:ln>
        </p:spPr>
      </p:sp>
      <p:sp>
        <p:nvSpPr>
          <p:cNvPr id="32" name="Text 30"/>
          <p:cNvSpPr txBox="1"/>
          <p:nvPr/>
        </p:nvSpPr>
        <p:spPr>
          <a:xfrm>
            <a:off x="457200" y="4050792"/>
            <a:ext cx="2926080" cy="292608"/>
          </a:xfrm>
          <a:prstGeom prst="rect">
            <a:avLst/>
          </a:prstGeom>
          <a:noFill/>
          <a:ln/>
        </p:spPr>
        <p:txBody>
          <a:bodyPr wrap="square" lIns="0" tIns="0" rIns="0" bIns="0" rtlCol="0" anchor="t"/>
          <a:lstStyle/>
          <a:p>
            <a:pPr indent="0" marL="0">
              <a:buNone/>
            </a:pPr>
            <a:r>
              <a:rPr lang="en-US" sz="1200" dirty="0">
                <a:solidFill>
                  <a:schemeClr val="tx1"/>
                </a:solidFill>
              </a:rPr>
              <a:t>정규장</a:t>
            </a:r>
            <a:endParaRPr lang="en-US" sz="1200" dirty="0"/>
          </a:p>
        </p:txBody>
      </p:sp>
      <p:sp>
        <p:nvSpPr>
          <p:cNvPr id="33" name="Text 31"/>
          <p:cNvSpPr txBox="1"/>
          <p:nvPr/>
        </p:nvSpPr>
        <p:spPr>
          <a:xfrm>
            <a:off x="3383280" y="4050792"/>
            <a:ext cx="2103120" cy="292608"/>
          </a:xfrm>
          <a:prstGeom prst="rect">
            <a:avLst/>
          </a:prstGeom>
          <a:noFill/>
          <a:ln/>
        </p:spPr>
        <p:txBody>
          <a:bodyPr wrap="square" lIns="0" tIns="0" rIns="0" bIns="0" rtlCol="0" anchor="t"/>
          <a:lstStyle/>
          <a:p>
            <a:pPr algn="r" indent="0" marL="0">
              <a:buNone/>
            </a:pPr>
            <a:r>
              <a:rPr lang="en-US" sz="1200" b="1" dirty="0">
                <a:solidFill>
                  <a:schemeClr val="accent1"/>
                </a:solidFill>
              </a:rPr>
              <a:t>무거래 봉 0 ~ 1.7%</a:t>
            </a:r>
            <a:endParaRPr lang="en-US" sz="1200" dirty="0"/>
          </a:p>
        </p:txBody>
      </p:sp>
      <p:sp>
        <p:nvSpPr>
          <p:cNvPr id="34" name="Shape 32"/>
          <p:cNvSpPr/>
          <p:nvPr/>
        </p:nvSpPr>
        <p:spPr>
          <a:xfrm>
            <a:off x="457200" y="4389120"/>
            <a:ext cx="5029200" cy="0"/>
          </a:xfrm>
          <a:prstGeom prst="line">
            <a:avLst/>
          </a:prstGeom>
          <a:noFill/>
          <a:ln w="9525">
            <a:solidFill>
              <a:schemeClr val="bg2"/>
            </a:solidFill>
            <a:prstDash val="solid"/>
          </a:ln>
        </p:spPr>
      </p:sp>
      <p:sp>
        <p:nvSpPr>
          <p:cNvPr id="35" name="result"/>
          <p:cNvSpPr/>
          <p:nvPr/>
        </p:nvSpPr>
        <p:spPr>
          <a:xfrm>
            <a:off x="5943600" y="1371600"/>
            <a:ext cx="2743200" cy="3200400"/>
          </a:xfrm>
          <a:prstGeom prst="roundRect">
            <a:avLst>
              <a:gd name="adj" fmla="val 2667"/>
            </a:avLst>
          </a:prstGeom>
          <a:solidFill>
            <a:schemeClr val="bg2"/>
          </a:solidFill>
          <a:ln/>
        </p:spPr>
      </p:sp>
      <p:sp>
        <p:nvSpPr>
          <p:cNvPr id="36" name="Text 34"/>
          <p:cNvSpPr txBox="1"/>
          <p:nvPr/>
        </p:nvSpPr>
        <p:spPr>
          <a:xfrm>
            <a:off x="6172200" y="1536192"/>
            <a:ext cx="2286000" cy="274320"/>
          </a:xfrm>
          <a:prstGeom prst="rect">
            <a:avLst/>
          </a:prstGeom>
          <a:noFill/>
          <a:ln/>
        </p:spPr>
        <p:txBody>
          <a:bodyPr wrap="square" lIns="0" tIns="0" rIns="0" bIns="0" rtlCol="0" anchor="t"/>
          <a:lstStyle/>
          <a:p>
            <a:pPr indent="0" marL="0">
              <a:buNone/>
            </a:pPr>
            <a:r>
              <a:rPr lang="en-US" sz="1300" b="1" dirty="0">
                <a:solidFill>
                  <a:schemeClr val="tx1"/>
                </a:solidFill>
              </a:rPr>
              <a:t>두 경계 봉을 빼면</a:t>
            </a:r>
            <a:endParaRPr lang="en-US" sz="1300" dirty="0"/>
          </a:p>
        </p:txBody>
      </p:sp>
      <p:sp>
        <p:nvSpPr>
          <p:cNvPr id="37" name="Text 35"/>
          <p:cNvSpPr txBox="1"/>
          <p:nvPr/>
        </p:nvSpPr>
        <p:spPr>
          <a:xfrm>
            <a:off x="6172200" y="1901952"/>
            <a:ext cx="2286000" cy="548640"/>
          </a:xfrm>
          <a:prstGeom prst="rect">
            <a:avLst/>
          </a:prstGeom>
          <a:noFill/>
          <a:ln/>
        </p:spPr>
        <p:txBody>
          <a:bodyPr wrap="square" lIns="0" tIns="0" rIns="0" bIns="0" rtlCol="0" anchor="ctr"/>
          <a:lstStyle/>
          <a:p>
            <a:pPr indent="0" marL="0">
              <a:buNone/>
            </a:pPr>
            <a:r>
              <a:rPr lang="en-US" sz="2400" b="1" dirty="0">
                <a:solidFill>
                  <a:schemeClr val="accent6"/>
                </a:solidFill>
              </a:rPr>
              <a:t>2.8%</a:t>
            </a:r>
            <a:pPr indent="0" marL="0">
              <a:buNone/>
            </a:pPr>
            <a:r>
              <a:rPr lang="en-US" sz="2400" b="1" dirty="0">
                <a:solidFill>
                  <a:schemeClr val="accent6"/>
                </a:solidFill>
              </a:rPr>
              <a:t> → </a:t>
            </a:r>
            <a:pPr indent="0" marL="0">
              <a:buNone/>
            </a:pPr>
            <a:r>
              <a:rPr lang="en-US" sz="2400" b="1" dirty="0">
                <a:solidFill>
                  <a:schemeClr val="accent1"/>
                </a:solidFill>
              </a:rPr>
              <a:t>0.3%</a:t>
            </a:r>
            <a:endParaRPr lang="en-US" sz="2400" dirty="0"/>
          </a:p>
        </p:txBody>
      </p:sp>
      <p:sp>
        <p:nvSpPr>
          <p:cNvPr id="38" name="Text 36"/>
          <p:cNvSpPr txBox="1"/>
          <p:nvPr/>
        </p:nvSpPr>
        <p:spPr>
          <a:xfrm>
            <a:off x="6172200" y="2450592"/>
            <a:ext cx="2286000" cy="256032"/>
          </a:xfrm>
          <a:prstGeom prst="rect">
            <a:avLst/>
          </a:prstGeom>
          <a:noFill/>
          <a:ln/>
        </p:spPr>
        <p:txBody>
          <a:bodyPr wrap="square" lIns="0" tIns="0" rIns="0" bIns="0" rtlCol="0" anchor="t"/>
          <a:lstStyle/>
          <a:p>
            <a:pPr indent="0" marL="0">
              <a:buNone/>
            </a:pPr>
            <a:r>
              <a:rPr lang="en-US" sz="1100" dirty="0">
                <a:solidFill>
                  <a:schemeClr val="accent6"/>
                </a:solidFill>
              </a:rPr>
              <a:t>무거래 봉 비율</a:t>
            </a:r>
            <a:endParaRPr lang="en-US" sz="1100" dirty="0"/>
          </a:p>
        </p:txBody>
      </p:sp>
      <p:sp>
        <p:nvSpPr>
          <p:cNvPr id="39" name="Text 37"/>
          <p:cNvSpPr txBox="1"/>
          <p:nvPr/>
        </p:nvSpPr>
        <p:spPr>
          <a:xfrm>
            <a:off x="6172200" y="2788920"/>
            <a:ext cx="2286000" cy="548640"/>
          </a:xfrm>
          <a:prstGeom prst="rect">
            <a:avLst/>
          </a:prstGeom>
          <a:noFill/>
          <a:ln/>
        </p:spPr>
        <p:txBody>
          <a:bodyPr wrap="square" lIns="0" tIns="0" rIns="0" bIns="0" rtlCol="0" anchor="ctr"/>
          <a:lstStyle/>
          <a:p>
            <a:pPr indent="0" marL="0">
              <a:buNone/>
            </a:pPr>
            <a:r>
              <a:rPr lang="en-US" sz="2400" b="1" dirty="0">
                <a:solidFill>
                  <a:schemeClr val="accent6"/>
                </a:solidFill>
              </a:rPr>
              <a:t>11봉</a:t>
            </a:r>
            <a:pPr indent="0" marL="0">
              <a:buNone/>
            </a:pPr>
            <a:r>
              <a:rPr lang="en-US" sz="2400" b="1" dirty="0">
                <a:solidFill>
                  <a:schemeClr val="accent6"/>
                </a:solidFill>
              </a:rPr>
              <a:t> → </a:t>
            </a:r>
            <a:pPr indent="0" marL="0">
              <a:buNone/>
            </a:pPr>
            <a:r>
              <a:rPr lang="en-US" sz="2400" b="1" dirty="0">
                <a:solidFill>
                  <a:schemeClr val="accent1"/>
                </a:solidFill>
              </a:rPr>
              <a:t>1봉</a:t>
            </a:r>
            <a:endParaRPr lang="en-US" sz="2400" dirty="0"/>
          </a:p>
        </p:txBody>
      </p:sp>
      <p:sp>
        <p:nvSpPr>
          <p:cNvPr id="40" name="Text 38"/>
          <p:cNvSpPr txBox="1"/>
          <p:nvPr/>
        </p:nvSpPr>
        <p:spPr>
          <a:xfrm>
            <a:off x="6172200" y="3337560"/>
            <a:ext cx="2286000" cy="256032"/>
          </a:xfrm>
          <a:prstGeom prst="rect">
            <a:avLst/>
          </a:prstGeom>
          <a:noFill/>
          <a:ln/>
        </p:spPr>
        <p:txBody>
          <a:bodyPr wrap="square" lIns="0" tIns="0" rIns="0" bIns="0" rtlCol="0" anchor="t"/>
          <a:lstStyle/>
          <a:p>
            <a:pPr indent="0" marL="0">
              <a:buNone/>
            </a:pPr>
            <a:r>
              <a:rPr lang="en-US" sz="1100" dirty="0">
                <a:solidFill>
                  <a:schemeClr val="accent6"/>
                </a:solidFill>
              </a:rPr>
              <a:t>최대 연속 정지 (1틱 = 1초, 11초 정지)</a:t>
            </a:r>
            <a:endParaRPr lang="en-US" sz="1100" dirty="0"/>
          </a:p>
        </p:txBody>
      </p:sp>
      <p:sp>
        <p:nvSpPr>
          <p:cNvPr id="41" name="Text 39"/>
          <p:cNvSpPr txBox="1"/>
          <p:nvPr/>
        </p:nvSpPr>
        <p:spPr>
          <a:xfrm>
            <a:off x="6172200" y="3767328"/>
            <a:ext cx="2286000" cy="685800"/>
          </a:xfrm>
          <a:prstGeom prst="rect">
            <a:avLst/>
          </a:prstGeom>
          <a:noFill/>
          <a:ln/>
        </p:spPr>
        <p:txBody>
          <a:bodyPr wrap="square" lIns="0" tIns="0" rIns="0" bIns="0" rtlCol="0" anchor="t"/>
          <a:lstStyle/>
          <a:p>
            <a:pPr indent="0" marL="0">
              <a:buNone/>
            </a:pPr>
            <a:r>
              <a:rPr lang="en-US" sz="1100" dirty="0">
                <a:solidFill>
                  <a:schemeClr val="tx1"/>
                </a:solidFill>
              </a:rPr>
              <a:t>하루 380봉, 판 시작점 140개</a:t>
            </a:r>
            <a:endParaRPr lang="en-US" sz="1100" dirty="0"/>
          </a:p>
          <a:p>
            <a:pPr indent="0" marL="0">
              <a:buNone/>
            </a:pPr>
            <a:r>
              <a:rPr lang="en-US" sz="1100" dirty="0">
                <a:solidFill>
                  <a:schemeClr val="tx1"/>
                </a:solidFill>
              </a:rPr>
              <a:t>날짜를 넘기지 않음 (밤사이 가격 공백)</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적격성 검사로 쓸 구간을 거릅니다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하나라도 넘으면 게임에 쓰지 않습니다. 기준값은 플레이해 보며 조정할 수 있게 열어 두었습니다</a:t>
            </a:r>
            <a:endParaRPr lang="en-US" sz="1400" dirty="0"/>
          </a:p>
        </p:txBody>
      </p:sp>
      <p:sp>
        <p:nvSpPr>
          <p:cNvPr id="4" name="check-1"/>
          <p:cNvSpPr/>
          <p:nvPr/>
        </p:nvSpPr>
        <p:spPr>
          <a:xfrm>
            <a:off x="457200" y="1371600"/>
            <a:ext cx="4114800" cy="932688"/>
          </a:xfrm>
          <a:prstGeom prst="roundRect">
            <a:avLst>
              <a:gd name="adj" fmla="val 7843"/>
            </a:avLst>
          </a:prstGeom>
          <a:solidFill>
            <a:schemeClr val="bg2"/>
          </a:solidFill>
          <a:ln/>
        </p:spPr>
      </p:sp>
      <p:sp>
        <p:nvSpPr>
          <p:cNvPr id="5" name="Text 3"/>
          <p:cNvSpPr txBox="1"/>
          <p:nvPr/>
        </p:nvSpPr>
        <p:spPr>
          <a:xfrm>
            <a:off x="658368" y="1499616"/>
            <a:ext cx="1828800" cy="274320"/>
          </a:xfrm>
          <a:prstGeom prst="rect">
            <a:avLst/>
          </a:prstGeom>
          <a:noFill/>
          <a:ln/>
        </p:spPr>
        <p:txBody>
          <a:bodyPr wrap="square" lIns="0" tIns="0" rIns="0" bIns="0" rtlCol="0" anchor="t"/>
          <a:lstStyle/>
          <a:p>
            <a:pPr indent="0" marL="0">
              <a:buNone/>
            </a:pPr>
            <a:r>
              <a:rPr lang="en-US" sz="1400" b="1" dirty="0">
                <a:solidFill>
                  <a:schemeClr val="tx1"/>
                </a:solidFill>
              </a:rPr>
              <a:t>무거래 봉 비율</a:t>
            </a:r>
            <a:endParaRPr lang="en-US" sz="1400" dirty="0"/>
          </a:p>
        </p:txBody>
      </p:sp>
      <p:sp>
        <p:nvSpPr>
          <p:cNvPr id="6" name="Text 4"/>
          <p:cNvSpPr txBox="1"/>
          <p:nvPr/>
        </p:nvSpPr>
        <p:spPr>
          <a:xfrm>
            <a:off x="2286000" y="1463040"/>
            <a:ext cx="2103120" cy="347472"/>
          </a:xfrm>
          <a:prstGeom prst="rect">
            <a:avLst/>
          </a:prstGeom>
          <a:noFill/>
          <a:ln/>
        </p:spPr>
        <p:txBody>
          <a:bodyPr wrap="square" lIns="0" tIns="0" rIns="0" bIns="0" rtlCol="0" anchor="t"/>
          <a:lstStyle/>
          <a:p>
            <a:pPr algn="r" indent="0" marL="0">
              <a:buNone/>
            </a:pPr>
            <a:r>
              <a:rPr lang="en-US" sz="1700" b="1" dirty="0">
                <a:solidFill>
                  <a:schemeClr val="accent1"/>
                </a:solidFill>
              </a:rPr>
              <a:t>5% 이하</a:t>
            </a:r>
            <a:endParaRPr lang="en-US" sz="1700" dirty="0"/>
          </a:p>
        </p:txBody>
      </p:sp>
      <p:sp>
        <p:nvSpPr>
          <p:cNvPr id="7" name="Text 5"/>
          <p:cNvSpPr txBox="1"/>
          <p:nvPr/>
        </p:nvSpPr>
        <p:spPr>
          <a:xfrm>
            <a:off x="658368" y="1847088"/>
            <a:ext cx="3712464" cy="411480"/>
          </a:xfrm>
          <a:prstGeom prst="rect">
            <a:avLst/>
          </a:prstGeom>
          <a:noFill/>
          <a:ln/>
        </p:spPr>
        <p:txBody>
          <a:bodyPr wrap="square" lIns="0" tIns="0" rIns="0" bIns="0" rtlCol="0" anchor="t"/>
          <a:lstStyle/>
          <a:p>
            <a:pPr indent="0" marL="0">
              <a:buNone/>
            </a:pPr>
            <a:r>
              <a:rPr lang="en-US" sz="1100" dirty="0">
                <a:solidFill>
                  <a:schemeClr val="accent6"/>
                </a:solidFill>
              </a:rPr>
              <a:t>정상 구간 실측 0.3%로 여유 있게 통과</a:t>
            </a:r>
            <a:endParaRPr lang="en-US" sz="1100" dirty="0"/>
          </a:p>
        </p:txBody>
      </p:sp>
      <p:sp>
        <p:nvSpPr>
          <p:cNvPr id="8" name="check-2"/>
          <p:cNvSpPr/>
          <p:nvPr/>
        </p:nvSpPr>
        <p:spPr>
          <a:xfrm>
            <a:off x="457200" y="2441448"/>
            <a:ext cx="4114800" cy="932688"/>
          </a:xfrm>
          <a:prstGeom prst="roundRect">
            <a:avLst>
              <a:gd name="adj" fmla="val 7843"/>
            </a:avLst>
          </a:prstGeom>
          <a:solidFill>
            <a:schemeClr val="bg2"/>
          </a:solidFill>
          <a:ln/>
        </p:spPr>
      </p:sp>
      <p:sp>
        <p:nvSpPr>
          <p:cNvPr id="9" name="Text 7"/>
          <p:cNvSpPr txBox="1"/>
          <p:nvPr/>
        </p:nvSpPr>
        <p:spPr>
          <a:xfrm>
            <a:off x="658368" y="2569464"/>
            <a:ext cx="1828800" cy="274320"/>
          </a:xfrm>
          <a:prstGeom prst="rect">
            <a:avLst/>
          </a:prstGeom>
          <a:noFill/>
          <a:ln/>
        </p:spPr>
        <p:txBody>
          <a:bodyPr wrap="square" lIns="0" tIns="0" rIns="0" bIns="0" rtlCol="0" anchor="t"/>
          <a:lstStyle/>
          <a:p>
            <a:pPr indent="0" marL="0">
              <a:buNone/>
            </a:pPr>
            <a:r>
              <a:rPr lang="en-US" sz="1400" b="1" dirty="0">
                <a:solidFill>
                  <a:schemeClr val="tx1"/>
                </a:solidFill>
              </a:rPr>
              <a:t>연속 정지</a:t>
            </a:r>
            <a:endParaRPr lang="en-US" sz="1400" dirty="0"/>
          </a:p>
        </p:txBody>
      </p:sp>
      <p:sp>
        <p:nvSpPr>
          <p:cNvPr id="10" name="Text 8"/>
          <p:cNvSpPr txBox="1"/>
          <p:nvPr/>
        </p:nvSpPr>
        <p:spPr>
          <a:xfrm>
            <a:off x="2286000" y="2532888"/>
            <a:ext cx="2103120" cy="347472"/>
          </a:xfrm>
          <a:prstGeom prst="rect">
            <a:avLst/>
          </a:prstGeom>
          <a:noFill/>
          <a:ln/>
        </p:spPr>
        <p:txBody>
          <a:bodyPr wrap="square" lIns="0" tIns="0" rIns="0" bIns="0" rtlCol="0" anchor="t"/>
          <a:lstStyle/>
          <a:p>
            <a:pPr algn="r" indent="0" marL="0">
              <a:buNone/>
            </a:pPr>
            <a:r>
              <a:rPr lang="en-US" sz="1700" b="1" dirty="0">
                <a:solidFill>
                  <a:schemeClr val="accent1"/>
                </a:solidFill>
              </a:rPr>
              <a:t>5봉 이하</a:t>
            </a:r>
            <a:endParaRPr lang="en-US" sz="1700" dirty="0"/>
          </a:p>
        </p:txBody>
      </p:sp>
      <p:sp>
        <p:nvSpPr>
          <p:cNvPr id="11" name="Text 9"/>
          <p:cNvSpPr txBox="1"/>
          <p:nvPr/>
        </p:nvSpPr>
        <p:spPr>
          <a:xfrm>
            <a:off x="658368" y="2916936"/>
            <a:ext cx="3712464" cy="411480"/>
          </a:xfrm>
          <a:prstGeom prst="rect">
            <a:avLst/>
          </a:prstGeom>
          <a:noFill/>
          <a:ln/>
        </p:spPr>
        <p:txBody>
          <a:bodyPr wrap="square" lIns="0" tIns="0" rIns="0" bIns="0" rtlCol="0" anchor="t"/>
          <a:lstStyle/>
          <a:p>
            <a:pPr indent="0" marL="0">
              <a:buNone/>
            </a:pPr>
            <a:r>
              <a:rPr lang="en-US" sz="1100" dirty="0">
                <a:solidFill>
                  <a:schemeClr val="accent6"/>
                </a:solidFill>
              </a:rPr>
              <a:t>시간외가 섞인 구간은 비율 4.6%로 통과하지만</a:t>
            </a:r>
            <a:endParaRPr lang="en-US" sz="1100" dirty="0"/>
          </a:p>
          <a:p>
            <a:pPr indent="0" marL="0">
              <a:buNone/>
            </a:pPr>
            <a:r>
              <a:rPr lang="en-US" sz="1100" dirty="0">
                <a:solidFill>
                  <a:schemeClr val="accent6"/>
                </a:solidFill>
              </a:rPr>
              <a:t>연속 11봉에서 걸림. 비율만으로는 못 거름</a:t>
            </a:r>
            <a:endParaRPr lang="en-US" sz="1100" dirty="0"/>
          </a:p>
        </p:txBody>
      </p:sp>
      <p:sp>
        <p:nvSpPr>
          <p:cNvPr id="12" name="check-3"/>
          <p:cNvSpPr/>
          <p:nvPr/>
        </p:nvSpPr>
        <p:spPr>
          <a:xfrm>
            <a:off x="457200" y="3511296"/>
            <a:ext cx="4114800" cy="932688"/>
          </a:xfrm>
          <a:prstGeom prst="roundRect">
            <a:avLst>
              <a:gd name="adj" fmla="val 7843"/>
            </a:avLst>
          </a:prstGeom>
          <a:solidFill>
            <a:schemeClr val="bg2"/>
          </a:solidFill>
          <a:ln/>
        </p:spPr>
      </p:sp>
      <p:sp>
        <p:nvSpPr>
          <p:cNvPr id="13" name="Text 11"/>
          <p:cNvSpPr txBox="1"/>
          <p:nvPr/>
        </p:nvSpPr>
        <p:spPr>
          <a:xfrm>
            <a:off x="658368" y="3639312"/>
            <a:ext cx="1828800" cy="274320"/>
          </a:xfrm>
          <a:prstGeom prst="rect">
            <a:avLst/>
          </a:prstGeom>
          <a:noFill/>
          <a:ln/>
        </p:spPr>
        <p:txBody>
          <a:bodyPr wrap="square" lIns="0" tIns="0" rIns="0" bIns="0" rtlCol="0" anchor="t"/>
          <a:lstStyle/>
          <a:p>
            <a:pPr indent="0" marL="0">
              <a:buNone/>
            </a:pPr>
            <a:r>
              <a:rPr lang="en-US" sz="1400" b="1" dirty="0">
                <a:solidFill>
                  <a:schemeClr val="tx1"/>
                </a:solidFill>
              </a:rPr>
              <a:t>최소 이동폭</a:t>
            </a:r>
            <a:endParaRPr lang="en-US" sz="1400" dirty="0"/>
          </a:p>
        </p:txBody>
      </p:sp>
      <p:sp>
        <p:nvSpPr>
          <p:cNvPr id="14" name="Text 12"/>
          <p:cNvSpPr txBox="1"/>
          <p:nvPr/>
        </p:nvSpPr>
        <p:spPr>
          <a:xfrm>
            <a:off x="2286000" y="3602736"/>
            <a:ext cx="2103120" cy="347472"/>
          </a:xfrm>
          <a:prstGeom prst="rect">
            <a:avLst/>
          </a:prstGeom>
          <a:noFill/>
          <a:ln/>
        </p:spPr>
        <p:txBody>
          <a:bodyPr wrap="square" lIns="0" tIns="0" rIns="0" bIns="0" rtlCol="0" anchor="t"/>
          <a:lstStyle/>
          <a:p>
            <a:pPr algn="r" indent="0" marL="0">
              <a:buNone/>
            </a:pPr>
            <a:r>
              <a:rPr lang="en-US" sz="1700" b="1" dirty="0">
                <a:solidFill>
                  <a:schemeClr val="accent1"/>
                </a:solidFill>
              </a:rPr>
              <a:t>분봉 2.5%, 일봉 30%</a:t>
            </a:r>
            <a:endParaRPr lang="en-US" sz="1700" dirty="0"/>
          </a:p>
        </p:txBody>
      </p:sp>
      <p:sp>
        <p:nvSpPr>
          <p:cNvPr id="15" name="Text 13"/>
          <p:cNvSpPr txBox="1"/>
          <p:nvPr/>
        </p:nvSpPr>
        <p:spPr>
          <a:xfrm>
            <a:off x="658368" y="3986784"/>
            <a:ext cx="3712464" cy="411480"/>
          </a:xfrm>
          <a:prstGeom prst="rect">
            <a:avLst/>
          </a:prstGeom>
          <a:noFill/>
          <a:ln/>
        </p:spPr>
        <p:txBody>
          <a:bodyPr wrap="square" lIns="0" tIns="0" rIns="0" bIns="0" rtlCol="0" anchor="t"/>
          <a:lstStyle/>
          <a:p>
            <a:pPr indent="0" marL="0">
              <a:buNone/>
            </a:pPr>
            <a:r>
              <a:rPr lang="en-US" sz="1100" dirty="0">
                <a:solidFill>
                  <a:schemeClr val="accent6"/>
                </a:solidFill>
              </a:rPr>
              <a:t>시작가 대비 최대 이동 폭. 너무 잔잔한 판 제외</a:t>
            </a:r>
            <a:endParaRPr lang="en-US" sz="1100" dirty="0"/>
          </a:p>
        </p:txBody>
      </p:sp>
      <p:sp>
        <p:nvSpPr>
          <p:cNvPr id="16" name="Text 14"/>
          <p:cNvSpPr txBox="1"/>
          <p:nvPr/>
        </p:nvSpPr>
        <p:spPr>
          <a:xfrm>
            <a:off x="4846320" y="1371600"/>
            <a:ext cx="3840480" cy="274320"/>
          </a:xfrm>
          <a:prstGeom prst="rect">
            <a:avLst/>
          </a:prstGeom>
          <a:noFill/>
          <a:ln/>
        </p:spPr>
        <p:txBody>
          <a:bodyPr wrap="square" lIns="0" tIns="0" rIns="0" bIns="0" rtlCol="0" anchor="t"/>
          <a:lstStyle/>
          <a:p>
            <a:pPr indent="0" marL="0">
              <a:buNone/>
            </a:pPr>
            <a:r>
              <a:rPr lang="en-US" sz="1300" b="1" dirty="0">
                <a:solidFill>
                  <a:schemeClr val="tx1"/>
                </a:solidFill>
              </a:rPr>
              <a:t>시작가 대비 최대 이동폭 분포 (240봉 구간)</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846320" y="1737360"/>
          <a:ext cx="3840480" cy="914400"/>
        </p:xfrm>
        <a:graphic>
          <a:graphicData uri="http://schemas.openxmlformats.org/drawingml/2006/table">
            <a:tbl>
              <a:tblPr/>
              <a:tblGrid>
                <a:gridCol w="1382573"/>
                <a:gridCol w="1228954"/>
                <a:gridCol w="1228954"/>
              </a:tblGrid>
              <a:tr h="329184">
                <a:tc>
                  <a:txBody>
                    <a:bodyPr/>
                    <a:lstStyle/>
                    <a:p>
                      <a:pPr algn="ctr" indent="0" marL="0">
                        <a:buNone/>
                      </a:pPr>
                      <a:r>
                        <a:rPr lang="en-US" sz="1200" b="1" dirty="0">
                          <a:solidFill>
                            <a:srgbClr val="FFFFFF"/>
                          </a:solidFill>
                        </a:rPr>
                        <a:t>백분위</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분봉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일봉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r>
              <a:tr h="329184">
                <a:tc>
                  <a:txBody>
                    <a:bodyPr/>
                    <a:lstStyle/>
                    <a:p>
                      <a:pPr algn="ctr" indent="0" marL="0">
                        <a:buNone/>
                      </a:pPr>
                      <a:r>
                        <a:rPr lang="en-US" sz="1200" dirty="0">
                          <a:solidFill>
                            <a:srgbClr val="0B0E14"/>
                          </a:solidFill>
                        </a:rPr>
                        <a:t>하위 10%</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0.99%</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22.59%</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29184">
                <a:tc>
                  <a:txBody>
                    <a:bodyPr/>
                    <a:lstStyle/>
                    <a:p>
                      <a:pPr algn="ctr" indent="0" marL="0">
                        <a:buNone/>
                      </a:pPr>
                      <a:r>
                        <a:rPr lang="en-US" sz="1200" dirty="0">
                          <a:solidFill>
                            <a:srgbClr val="0B0E14"/>
                          </a:solidFill>
                        </a:rPr>
                        <a:t>하위 25%</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1.38%</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29.63%</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29184">
                <a:tc>
                  <a:txBody>
                    <a:bodyPr/>
                    <a:lstStyle/>
                    <a:p>
                      <a:pPr algn="ctr" indent="0" marL="0">
                        <a:buNone/>
                      </a:pPr>
                      <a:r>
                        <a:rPr lang="en-US" sz="1200" b="1" dirty="0">
                          <a:solidFill>
                            <a:srgbClr val="0B0E14"/>
                          </a:solidFill>
                        </a:rPr>
                        <a:t>중앙값</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b="1" dirty="0">
                          <a:solidFill>
                            <a:srgbClr val="0B0E14"/>
                          </a:solidFill>
                        </a:rPr>
                        <a:t>1.95%</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b="1" dirty="0">
                          <a:solidFill>
                            <a:srgbClr val="0B0E14"/>
                          </a:solidFill>
                        </a:rPr>
                        <a:t>46.27%</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29184">
                <a:tc>
                  <a:txBody>
                    <a:bodyPr/>
                    <a:lstStyle/>
                    <a:p>
                      <a:pPr algn="ctr" indent="0" marL="0">
                        <a:buNone/>
                      </a:pPr>
                      <a:r>
                        <a:rPr lang="en-US" sz="1200" dirty="0">
                          <a:solidFill>
                            <a:srgbClr val="0B0E14"/>
                          </a:solidFill>
                        </a:rPr>
                        <a:t>상위 25%</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2.81%</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89.66%</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18" name="Text 15"/>
          <p:cNvSpPr txBox="1"/>
          <p:nvPr/>
        </p:nvSpPr>
        <p:spPr>
          <a:xfrm>
            <a:off x="4846320" y="3520440"/>
            <a:ext cx="3840480" cy="1051560"/>
          </a:xfrm>
          <a:prstGeom prst="rect">
            <a:avLst/>
          </a:prstGeom>
          <a:noFill/>
          <a:ln/>
        </p:spPr>
        <p:txBody>
          <a:bodyPr wrap="square" lIns="0" tIns="0" rIns="0" bIns="0" rtlCol="0" anchor="t"/>
          <a:lstStyle/>
          <a:p>
            <a:pPr indent="0" marL="0">
              <a:buNone/>
            </a:pPr>
            <a:r>
              <a:rPr lang="en-US" sz="1100" b="1" dirty="0">
                <a:solidFill>
                  <a:schemeClr val="tx1"/>
                </a:solidFill>
              </a:rPr>
              <a:t>스케일이 20배 넘게 달라 단위별로 기준을 따로 둡니다.</a:t>
            </a:r>
            <a:endParaRPr lang="en-US" sz="1100" dirty="0"/>
          </a:p>
          <a:p>
            <a:pPr indent="0" marL="0">
              <a:buNone/>
            </a:pPr>
            <a:r>
              <a:rPr lang="en-US" sz="1100" dirty="0">
                <a:solidFill>
                  <a:schemeClr val="accent6"/>
                </a:solidFill>
              </a:rPr>
              <a:t>분봉 하한은 하위 25%(1.38%)가 아닌 2.5%로 상향. 1.5%면 배율 10에서도 자산 변동이 15%에 그쳐 4분 판이 밋밋함</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밸런스는 배율이 아니라 시나리오로 맞춥니다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240봉 구간을 한 봉씩 밀어 가며, 청산이 한 번이라도 나는 구간의 비율을 전부 셌습니다</a:t>
            </a:r>
            <a:endParaRPr lang="en-US" sz="1400" dirty="0"/>
          </a:p>
        </p:txBody>
      </p:sp>
      <p:sp>
        <p:nvSpPr>
          <p:cNvPr id="4" name="Text 2"/>
          <p:cNvSpPr txBox="1"/>
          <p:nvPr/>
        </p:nvSpPr>
        <p:spPr>
          <a:xfrm>
            <a:off x="457200" y="1325880"/>
            <a:ext cx="2926080" cy="274320"/>
          </a:xfrm>
          <a:prstGeom prst="rect">
            <a:avLst/>
          </a:prstGeom>
          <a:noFill/>
          <a:ln/>
        </p:spPr>
        <p:txBody>
          <a:bodyPr wrap="square" lIns="0" tIns="0" rIns="0" bIns="0" rtlCol="0" anchor="t"/>
          <a:lstStyle/>
          <a:p>
            <a:pPr indent="0" marL="0">
              <a:buNone/>
            </a:pPr>
            <a:r>
              <a:rPr lang="en-US" sz="1300" b="1" dirty="0">
                <a:solidFill>
                  <a:schemeClr val="tx1"/>
                </a:solidFill>
              </a:rPr>
              <a:t>배율별 청산 발생 구간 비율</a:t>
            </a:r>
            <a:endParaRPr lang="en-US" sz="1300" dirty="0"/>
          </a:p>
        </p:txBody>
      </p:sp>
      <p:sp>
        <p:nvSpPr>
          <p:cNvPr id="5" name="Shape 3"/>
          <p:cNvSpPr/>
          <p:nvPr/>
        </p:nvSpPr>
        <p:spPr>
          <a:xfrm>
            <a:off x="3429000" y="1417320"/>
            <a:ext cx="128016" cy="128016"/>
          </a:xfrm>
          <a:prstGeom prst="rect">
            <a:avLst/>
          </a:prstGeom>
          <a:solidFill>
            <a:schemeClr val="accent1"/>
          </a:solidFill>
          <a:ln/>
        </p:spPr>
      </p:sp>
      <p:sp>
        <p:nvSpPr>
          <p:cNvPr id="6" name="Text 4"/>
          <p:cNvSpPr txBox="1"/>
          <p:nvPr/>
        </p:nvSpPr>
        <p:spPr>
          <a:xfrm>
            <a:off x="3611880" y="1353312"/>
            <a:ext cx="868680" cy="256032"/>
          </a:xfrm>
          <a:prstGeom prst="rect">
            <a:avLst/>
          </a:prstGeom>
          <a:noFill/>
          <a:ln/>
        </p:spPr>
        <p:txBody>
          <a:bodyPr wrap="square" lIns="0" tIns="0" rIns="0" bIns="0" rtlCol="0" anchor="ctr"/>
          <a:lstStyle/>
          <a:p>
            <a:pPr indent="0" marL="0">
              <a:buNone/>
            </a:pPr>
            <a:r>
              <a:rPr lang="en-US" sz="900" dirty="0">
                <a:solidFill>
                  <a:schemeClr val="accent6"/>
                </a:solidFill>
              </a:rPr>
              <a:t>일봉 6,878구간</a:t>
            </a:r>
            <a:endParaRPr lang="en-US" sz="900" dirty="0"/>
          </a:p>
        </p:txBody>
      </p:sp>
      <p:sp>
        <p:nvSpPr>
          <p:cNvPr id="7" name="Shape 5"/>
          <p:cNvSpPr/>
          <p:nvPr/>
        </p:nvSpPr>
        <p:spPr>
          <a:xfrm>
            <a:off x="4480560" y="1417320"/>
            <a:ext cx="128016" cy="128016"/>
          </a:xfrm>
          <a:prstGeom prst="rect">
            <a:avLst/>
          </a:prstGeom>
          <a:solidFill>
            <a:schemeClr val="accent4"/>
          </a:solidFill>
          <a:ln/>
        </p:spPr>
      </p:sp>
      <p:sp>
        <p:nvSpPr>
          <p:cNvPr id="8" name="Text 6"/>
          <p:cNvSpPr txBox="1"/>
          <p:nvPr/>
        </p:nvSpPr>
        <p:spPr>
          <a:xfrm>
            <a:off x="4663440" y="1353312"/>
            <a:ext cx="868680" cy="256032"/>
          </a:xfrm>
          <a:prstGeom prst="rect">
            <a:avLst/>
          </a:prstGeom>
          <a:noFill/>
          <a:ln/>
        </p:spPr>
        <p:txBody>
          <a:bodyPr wrap="square" lIns="0" tIns="0" rIns="0" bIns="0" rtlCol="0" anchor="ctr"/>
          <a:lstStyle/>
          <a:p>
            <a:pPr indent="0" marL="0">
              <a:buNone/>
            </a:pPr>
            <a:r>
              <a:rPr lang="en-US" sz="900" dirty="0">
                <a:solidFill>
                  <a:schemeClr val="accent6"/>
                </a:solidFill>
              </a:rPr>
              <a:t>분봉 5,922구간</a:t>
            </a:r>
            <a:endParaRPr lang="en-US" sz="900" dirty="0"/>
          </a:p>
        </p:txBody>
      </p:sp>
      <p:sp>
        <p:nvSpPr>
          <p:cNvPr id="9" name="Shape 7"/>
          <p:cNvSpPr/>
          <p:nvPr/>
        </p:nvSpPr>
        <p:spPr>
          <a:xfrm>
            <a:off x="548640" y="4069080"/>
            <a:ext cx="4846320" cy="0"/>
          </a:xfrm>
          <a:prstGeom prst="line">
            <a:avLst/>
          </a:prstGeom>
          <a:noFill/>
          <a:ln w="12700">
            <a:solidFill>
              <a:schemeClr val="accent6"/>
            </a:solidFill>
            <a:prstDash val="solid"/>
          </a:ln>
        </p:spPr>
      </p:sp>
      <p:sp>
        <p:nvSpPr>
          <p:cNvPr id="10" name="bar-×3-accent1"/>
          <p:cNvSpPr/>
          <p:nvPr/>
        </p:nvSpPr>
        <p:spPr>
          <a:xfrm>
            <a:off x="704088" y="3776947"/>
            <a:ext cx="310896" cy="292133"/>
          </a:xfrm>
          <a:prstGeom prst="rect">
            <a:avLst/>
          </a:prstGeom>
          <a:solidFill>
            <a:schemeClr val="accent1"/>
          </a:solidFill>
          <a:ln/>
        </p:spPr>
      </p:sp>
      <p:sp>
        <p:nvSpPr>
          <p:cNvPr id="11" name="Text 9"/>
          <p:cNvSpPr txBox="1"/>
          <p:nvPr/>
        </p:nvSpPr>
        <p:spPr>
          <a:xfrm>
            <a:off x="566928" y="3539203"/>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13.0%</a:t>
            </a:r>
            <a:endParaRPr lang="en-US" sz="1000" dirty="0"/>
          </a:p>
        </p:txBody>
      </p:sp>
      <p:sp>
        <p:nvSpPr>
          <p:cNvPr id="12" name="bar-×3-accent4"/>
          <p:cNvSpPr/>
          <p:nvPr/>
        </p:nvSpPr>
        <p:spPr>
          <a:xfrm>
            <a:off x="1051560" y="4050792"/>
            <a:ext cx="310896" cy="18288"/>
          </a:xfrm>
          <a:prstGeom prst="rect">
            <a:avLst/>
          </a:prstGeom>
          <a:solidFill>
            <a:schemeClr val="accent4"/>
          </a:solidFill>
          <a:ln/>
        </p:spPr>
      </p:sp>
      <p:sp>
        <p:nvSpPr>
          <p:cNvPr id="13" name="Text 11"/>
          <p:cNvSpPr txBox="1"/>
          <p:nvPr/>
        </p:nvSpPr>
        <p:spPr>
          <a:xfrm>
            <a:off x="914400"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14" name="Text 12"/>
          <p:cNvSpPr txBox="1"/>
          <p:nvPr/>
        </p:nvSpPr>
        <p:spPr>
          <a:xfrm>
            <a:off x="667512"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×3</a:t>
            </a:r>
            <a:endParaRPr lang="en-US" sz="1200" dirty="0"/>
          </a:p>
        </p:txBody>
      </p:sp>
      <p:sp>
        <p:nvSpPr>
          <p:cNvPr id="15" name="bar-×5-accent1"/>
          <p:cNvSpPr/>
          <p:nvPr/>
        </p:nvSpPr>
        <p:spPr>
          <a:xfrm>
            <a:off x="1673352" y="3221806"/>
            <a:ext cx="310896" cy="847274"/>
          </a:xfrm>
          <a:prstGeom prst="rect">
            <a:avLst/>
          </a:prstGeom>
          <a:solidFill>
            <a:schemeClr val="accent1"/>
          </a:solidFill>
          <a:ln/>
        </p:spPr>
      </p:sp>
      <p:sp>
        <p:nvSpPr>
          <p:cNvPr id="16" name="Text 14"/>
          <p:cNvSpPr txBox="1"/>
          <p:nvPr/>
        </p:nvSpPr>
        <p:spPr>
          <a:xfrm>
            <a:off x="1536192" y="2984062"/>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37.8%</a:t>
            </a:r>
            <a:endParaRPr lang="en-US" sz="1000" dirty="0"/>
          </a:p>
        </p:txBody>
      </p:sp>
      <p:sp>
        <p:nvSpPr>
          <p:cNvPr id="17" name="bar-×5-accent4"/>
          <p:cNvSpPr/>
          <p:nvPr/>
        </p:nvSpPr>
        <p:spPr>
          <a:xfrm>
            <a:off x="2020824" y="4050792"/>
            <a:ext cx="310896" cy="18288"/>
          </a:xfrm>
          <a:prstGeom prst="rect">
            <a:avLst/>
          </a:prstGeom>
          <a:solidFill>
            <a:schemeClr val="accent4"/>
          </a:solidFill>
          <a:ln/>
        </p:spPr>
      </p:sp>
      <p:sp>
        <p:nvSpPr>
          <p:cNvPr id="18" name="Text 16"/>
          <p:cNvSpPr txBox="1"/>
          <p:nvPr/>
        </p:nvSpPr>
        <p:spPr>
          <a:xfrm>
            <a:off x="1883664"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19" name="Text 17"/>
          <p:cNvSpPr txBox="1"/>
          <p:nvPr/>
        </p:nvSpPr>
        <p:spPr>
          <a:xfrm>
            <a:off x="1636776"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×5</a:t>
            </a:r>
            <a:endParaRPr lang="en-US" sz="1200" dirty="0"/>
          </a:p>
        </p:txBody>
      </p:sp>
      <p:sp>
        <p:nvSpPr>
          <p:cNvPr id="20" name="bar-×10-accent1"/>
          <p:cNvSpPr/>
          <p:nvPr/>
        </p:nvSpPr>
        <p:spPr>
          <a:xfrm>
            <a:off x="2642616" y="2720879"/>
            <a:ext cx="310896" cy="1348201"/>
          </a:xfrm>
          <a:prstGeom prst="rect">
            <a:avLst/>
          </a:prstGeom>
          <a:solidFill>
            <a:schemeClr val="accent1"/>
          </a:solidFill>
          <a:ln/>
        </p:spPr>
      </p:sp>
      <p:sp>
        <p:nvSpPr>
          <p:cNvPr id="21" name="Text 19"/>
          <p:cNvSpPr txBox="1"/>
          <p:nvPr/>
        </p:nvSpPr>
        <p:spPr>
          <a:xfrm>
            <a:off x="2505456" y="2483135"/>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60.2%</a:t>
            </a:r>
            <a:endParaRPr lang="en-US" sz="1000" dirty="0"/>
          </a:p>
        </p:txBody>
      </p:sp>
      <p:sp>
        <p:nvSpPr>
          <p:cNvPr id="22" name="bar-×10-accent4"/>
          <p:cNvSpPr/>
          <p:nvPr/>
        </p:nvSpPr>
        <p:spPr>
          <a:xfrm>
            <a:off x="2990088" y="4050792"/>
            <a:ext cx="310896" cy="18288"/>
          </a:xfrm>
          <a:prstGeom prst="rect">
            <a:avLst/>
          </a:prstGeom>
          <a:solidFill>
            <a:schemeClr val="accent4"/>
          </a:solidFill>
          <a:ln/>
        </p:spPr>
      </p:sp>
      <p:sp>
        <p:nvSpPr>
          <p:cNvPr id="23" name="Text 21"/>
          <p:cNvSpPr txBox="1"/>
          <p:nvPr/>
        </p:nvSpPr>
        <p:spPr>
          <a:xfrm>
            <a:off x="2852928"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24" name="Text 22"/>
          <p:cNvSpPr txBox="1"/>
          <p:nvPr/>
        </p:nvSpPr>
        <p:spPr>
          <a:xfrm>
            <a:off x="2606040"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×10</a:t>
            </a:r>
            <a:endParaRPr lang="en-US" sz="1200" dirty="0"/>
          </a:p>
        </p:txBody>
      </p:sp>
      <p:sp>
        <p:nvSpPr>
          <p:cNvPr id="25" name="bar-×20-accent1"/>
          <p:cNvSpPr/>
          <p:nvPr/>
        </p:nvSpPr>
        <p:spPr>
          <a:xfrm>
            <a:off x="3611880" y="2426731"/>
            <a:ext cx="310896" cy="1642349"/>
          </a:xfrm>
          <a:prstGeom prst="rect">
            <a:avLst/>
          </a:prstGeom>
          <a:solidFill>
            <a:schemeClr val="accent1"/>
          </a:solidFill>
          <a:ln/>
        </p:spPr>
      </p:sp>
      <p:sp>
        <p:nvSpPr>
          <p:cNvPr id="26" name="Text 24"/>
          <p:cNvSpPr txBox="1"/>
          <p:nvPr/>
        </p:nvSpPr>
        <p:spPr>
          <a:xfrm>
            <a:off x="3474720" y="2188987"/>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73.3%</a:t>
            </a:r>
            <a:endParaRPr lang="en-US" sz="1000" dirty="0"/>
          </a:p>
        </p:txBody>
      </p:sp>
      <p:sp>
        <p:nvSpPr>
          <p:cNvPr id="27" name="bar-×20-accent4"/>
          <p:cNvSpPr/>
          <p:nvPr/>
        </p:nvSpPr>
        <p:spPr>
          <a:xfrm>
            <a:off x="3959352" y="4050792"/>
            <a:ext cx="310896" cy="18288"/>
          </a:xfrm>
          <a:prstGeom prst="rect">
            <a:avLst/>
          </a:prstGeom>
          <a:solidFill>
            <a:schemeClr val="accent4"/>
          </a:solidFill>
          <a:ln/>
        </p:spPr>
      </p:sp>
      <p:sp>
        <p:nvSpPr>
          <p:cNvPr id="28" name="Text 26"/>
          <p:cNvSpPr txBox="1"/>
          <p:nvPr/>
        </p:nvSpPr>
        <p:spPr>
          <a:xfrm>
            <a:off x="3822192"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29" name="Text 27"/>
          <p:cNvSpPr txBox="1"/>
          <p:nvPr/>
        </p:nvSpPr>
        <p:spPr>
          <a:xfrm>
            <a:off x="3575304"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×20</a:t>
            </a:r>
            <a:endParaRPr lang="en-US" sz="1200" dirty="0"/>
          </a:p>
        </p:txBody>
      </p:sp>
      <p:sp>
        <p:nvSpPr>
          <p:cNvPr id="30" name="bar-×30-accent1"/>
          <p:cNvSpPr/>
          <p:nvPr/>
        </p:nvSpPr>
        <p:spPr>
          <a:xfrm>
            <a:off x="4581144" y="2283801"/>
            <a:ext cx="310896" cy="1785279"/>
          </a:xfrm>
          <a:prstGeom prst="rect">
            <a:avLst/>
          </a:prstGeom>
          <a:solidFill>
            <a:schemeClr val="accent1"/>
          </a:solidFill>
          <a:ln/>
        </p:spPr>
      </p:sp>
      <p:sp>
        <p:nvSpPr>
          <p:cNvPr id="31" name="Text 29"/>
          <p:cNvSpPr txBox="1"/>
          <p:nvPr/>
        </p:nvSpPr>
        <p:spPr>
          <a:xfrm>
            <a:off x="4443984" y="2046057"/>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79.7%</a:t>
            </a:r>
            <a:endParaRPr lang="en-US" sz="1000" dirty="0"/>
          </a:p>
        </p:txBody>
      </p:sp>
      <p:sp>
        <p:nvSpPr>
          <p:cNvPr id="32" name="bar-×30-accent4"/>
          <p:cNvSpPr/>
          <p:nvPr/>
        </p:nvSpPr>
        <p:spPr>
          <a:xfrm>
            <a:off x="4928616" y="3947209"/>
            <a:ext cx="310896" cy="121871"/>
          </a:xfrm>
          <a:prstGeom prst="rect">
            <a:avLst/>
          </a:prstGeom>
          <a:solidFill>
            <a:schemeClr val="accent4"/>
          </a:solidFill>
          <a:ln/>
        </p:spPr>
      </p:sp>
      <p:sp>
        <p:nvSpPr>
          <p:cNvPr id="33" name="Text 31"/>
          <p:cNvSpPr txBox="1"/>
          <p:nvPr/>
        </p:nvSpPr>
        <p:spPr>
          <a:xfrm>
            <a:off x="4791456" y="3709465"/>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5.4%</a:t>
            </a:r>
            <a:endParaRPr lang="en-US" sz="1000" dirty="0"/>
          </a:p>
        </p:txBody>
      </p:sp>
      <p:sp>
        <p:nvSpPr>
          <p:cNvPr id="34" name="Text 32"/>
          <p:cNvSpPr txBox="1"/>
          <p:nvPr/>
        </p:nvSpPr>
        <p:spPr>
          <a:xfrm>
            <a:off x="4544568"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×30</a:t>
            </a:r>
            <a:endParaRPr lang="en-US" sz="1200" dirty="0"/>
          </a:p>
        </p:txBody>
      </p:sp>
      <p:sp>
        <p:nvSpPr>
          <p:cNvPr id="35" name="Text 33"/>
          <p:cNvSpPr txBox="1"/>
          <p:nvPr/>
        </p:nvSpPr>
        <p:spPr>
          <a:xfrm>
            <a:off x="457200" y="4389120"/>
            <a:ext cx="4937760" cy="219456"/>
          </a:xfrm>
          <a:prstGeom prst="rect">
            <a:avLst/>
          </a:prstGeom>
          <a:noFill/>
          <a:ln/>
        </p:spPr>
        <p:txBody>
          <a:bodyPr wrap="square" lIns="0" tIns="0" rIns="0" bIns="0" rtlCol="0" anchor="t"/>
          <a:lstStyle/>
          <a:p>
            <a:pPr indent="0" marL="0">
              <a:buNone/>
            </a:pPr>
            <a:r>
              <a:rPr lang="en-US" sz="900" dirty="0">
                <a:solidFill>
                  <a:schemeClr val="accent6"/>
                </a:solidFill>
              </a:rPr>
              <a:t>청산이 한 번이라도 나는 240봉 구간의 비율 (2026-09-14 실측)</a:t>
            </a:r>
            <a:endParaRPr lang="en-US" sz="900" dirty="0"/>
          </a:p>
        </p:txBody>
      </p:sp>
      <p:sp>
        <p:nvSpPr>
          <p:cNvPr id="36" name="Shape 34"/>
          <p:cNvSpPr/>
          <p:nvPr/>
        </p:nvSpPr>
        <p:spPr>
          <a:xfrm>
            <a:off x="5669280" y="1371600"/>
            <a:ext cx="329184" cy="329184"/>
          </a:xfrm>
          <a:prstGeom prst="ellipse">
            <a:avLst/>
          </a:prstGeom>
          <a:solidFill>
            <a:schemeClr val="accent1"/>
          </a:solidFill>
          <a:ln/>
        </p:spPr>
      </p:sp>
      <p:sp>
        <p:nvSpPr>
          <p:cNvPr id="37" name="Text 35"/>
          <p:cNvSpPr txBox="1"/>
          <p:nvPr/>
        </p:nvSpPr>
        <p:spPr>
          <a:xfrm>
            <a:off x="5669280" y="137160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8" name="Text 36"/>
          <p:cNvSpPr txBox="1"/>
          <p:nvPr/>
        </p:nvSpPr>
        <p:spPr>
          <a:xfrm>
            <a:off x="6126480" y="1362456"/>
            <a:ext cx="2560320" cy="292608"/>
          </a:xfrm>
          <a:prstGeom prst="rect">
            <a:avLst/>
          </a:prstGeom>
          <a:noFill/>
          <a:ln/>
        </p:spPr>
        <p:txBody>
          <a:bodyPr wrap="square" lIns="0" tIns="0" rIns="0" bIns="0" rtlCol="0" anchor="t"/>
          <a:lstStyle/>
          <a:p>
            <a:pPr indent="0" marL="0">
              <a:buNone/>
            </a:pPr>
            <a:r>
              <a:rPr lang="en-US" sz="1400" b="1" dirty="0">
                <a:solidFill>
                  <a:schemeClr val="tx1"/>
                </a:solidFill>
              </a:rPr>
              <a:t>분봉은 ×20까지 청산 0%</a:t>
            </a:r>
            <a:endParaRPr lang="en-US" sz="1400" dirty="0"/>
          </a:p>
        </p:txBody>
      </p:sp>
      <p:sp>
        <p:nvSpPr>
          <p:cNvPr id="39" name="Text 37"/>
          <p:cNvSpPr txBox="1"/>
          <p:nvPr/>
        </p:nvSpPr>
        <p:spPr>
          <a:xfrm>
            <a:off x="6126480" y="1673352"/>
            <a:ext cx="2560320" cy="685800"/>
          </a:xfrm>
          <a:prstGeom prst="rect">
            <a:avLst/>
          </a:prstGeom>
          <a:noFill/>
          <a:ln/>
        </p:spPr>
        <p:txBody>
          <a:bodyPr wrap="square" lIns="0" tIns="0" rIns="0" bIns="0" rtlCol="0" anchor="t"/>
          <a:lstStyle/>
          <a:p>
            <a:pPr indent="0" marL="0">
              <a:buNone/>
            </a:pPr>
            <a:r>
              <a:rPr lang="en-US" sz="1100" dirty="0">
                <a:solidFill>
                  <a:schemeClr val="accent6"/>
                </a:solidFill>
              </a:rPr>
              <a:t>하루 시가 대비 저가 −10% 이하는</a:t>
            </a:r>
            <a:endParaRPr lang="en-US" sz="1100" dirty="0"/>
          </a:p>
          <a:p>
            <a:pPr indent="0" marL="0">
              <a:buNone/>
            </a:pPr>
            <a:r>
              <a:rPr lang="en-US" sz="1100" dirty="0">
                <a:solidFill>
                  <a:schemeClr val="accent6"/>
                </a:solidFill>
              </a:rPr>
              <a:t>169일에 한 번</a:t>
            </a:r>
            <a:endParaRPr lang="en-US" sz="1100" dirty="0"/>
          </a:p>
          <a:p>
            <a:pPr indent="0" marL="0">
              <a:buNone/>
            </a:pPr>
            <a:r>
              <a:rPr lang="en-US" sz="1100" dirty="0">
                <a:solidFill>
                  <a:schemeClr val="accent6"/>
                </a:solidFill>
              </a:rPr>
              <a:t>배율을 올려도 손실 위험이 생기지 않음</a:t>
            </a:r>
            <a:endParaRPr lang="en-US" sz="1100" dirty="0"/>
          </a:p>
        </p:txBody>
      </p:sp>
      <p:sp>
        <p:nvSpPr>
          <p:cNvPr id="40" name="Shape 38"/>
          <p:cNvSpPr/>
          <p:nvPr/>
        </p:nvSpPr>
        <p:spPr>
          <a:xfrm>
            <a:off x="5669280" y="2450592"/>
            <a:ext cx="329184" cy="329184"/>
          </a:xfrm>
          <a:prstGeom prst="ellipse">
            <a:avLst/>
          </a:prstGeom>
          <a:solidFill>
            <a:schemeClr val="accent1"/>
          </a:solidFill>
          <a:ln/>
        </p:spPr>
      </p:sp>
      <p:sp>
        <p:nvSpPr>
          <p:cNvPr id="41" name="Text 39"/>
          <p:cNvSpPr txBox="1"/>
          <p:nvPr/>
        </p:nvSpPr>
        <p:spPr>
          <a:xfrm>
            <a:off x="5669280" y="245059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2" name="Text 40"/>
          <p:cNvSpPr txBox="1"/>
          <p:nvPr/>
        </p:nvSpPr>
        <p:spPr>
          <a:xfrm>
            <a:off x="6126480" y="2441448"/>
            <a:ext cx="2560320" cy="292608"/>
          </a:xfrm>
          <a:prstGeom prst="rect">
            <a:avLst/>
          </a:prstGeom>
          <a:noFill/>
          <a:ln/>
        </p:spPr>
        <p:txBody>
          <a:bodyPr wrap="square" lIns="0" tIns="0" rIns="0" bIns="0" rtlCol="0" anchor="t"/>
          <a:lstStyle/>
          <a:p>
            <a:pPr indent="0" marL="0">
              <a:buNone/>
            </a:pPr>
            <a:r>
              <a:rPr lang="en-US" sz="1400" b="1" dirty="0">
                <a:solidFill>
                  <a:schemeClr val="tx1"/>
                </a:solidFill>
              </a:rPr>
              <a:t>종목 차이가 배율 차이보다 큼</a:t>
            </a:r>
            <a:endParaRPr lang="en-US" sz="1400" dirty="0"/>
          </a:p>
        </p:txBody>
      </p:sp>
      <p:sp>
        <p:nvSpPr>
          <p:cNvPr id="43" name="Text 41"/>
          <p:cNvSpPr txBox="1"/>
          <p:nvPr/>
        </p:nvSpPr>
        <p:spPr>
          <a:xfrm>
            <a:off x="6126480" y="2752344"/>
            <a:ext cx="2560320" cy="685800"/>
          </a:xfrm>
          <a:prstGeom prst="rect">
            <a:avLst/>
          </a:prstGeom>
          <a:noFill/>
          <a:ln/>
        </p:spPr>
        <p:txBody>
          <a:bodyPr wrap="square" lIns="0" tIns="0" rIns="0" bIns="0" rtlCol="0" anchor="t"/>
          <a:lstStyle/>
          <a:p>
            <a:pPr indent="0" marL="0">
              <a:buNone/>
            </a:pPr>
            <a:r>
              <a:rPr lang="en-US" sz="1100" dirty="0">
                <a:solidFill>
                  <a:schemeClr val="accent6"/>
                </a:solidFill>
              </a:rPr>
              <a:t>−5% 기준 에코프로비엠 11.89%,</a:t>
            </a:r>
            <a:endParaRPr lang="en-US" sz="1100" dirty="0"/>
          </a:p>
          <a:p>
            <a:pPr indent="0" marL="0">
              <a:buNone/>
            </a:pPr>
            <a:r>
              <a:rPr lang="en-US" sz="1100" dirty="0">
                <a:solidFill>
                  <a:schemeClr val="accent6"/>
                </a:solidFill>
              </a:rPr>
              <a:t>삼성전자 1.60%로 약 7배</a:t>
            </a:r>
            <a:endParaRPr lang="en-US" sz="1100" dirty="0"/>
          </a:p>
        </p:txBody>
      </p:sp>
      <p:sp>
        <p:nvSpPr>
          <p:cNvPr id="44" name="Shape 42"/>
          <p:cNvSpPr/>
          <p:nvPr/>
        </p:nvSpPr>
        <p:spPr>
          <a:xfrm>
            <a:off x="5669280" y="3529584"/>
            <a:ext cx="329184" cy="329184"/>
          </a:xfrm>
          <a:prstGeom prst="ellipse">
            <a:avLst/>
          </a:prstGeom>
          <a:solidFill>
            <a:schemeClr val="accent1"/>
          </a:solidFill>
          <a:ln/>
        </p:spPr>
      </p:sp>
      <p:sp>
        <p:nvSpPr>
          <p:cNvPr id="45" name="Text 43"/>
          <p:cNvSpPr txBox="1"/>
          <p:nvPr/>
        </p:nvSpPr>
        <p:spPr>
          <a:xfrm>
            <a:off x="5669280" y="3529584"/>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6" name="Text 44"/>
          <p:cNvSpPr txBox="1"/>
          <p:nvPr/>
        </p:nvSpPr>
        <p:spPr>
          <a:xfrm>
            <a:off x="6126480" y="3520440"/>
            <a:ext cx="2560320" cy="292608"/>
          </a:xfrm>
          <a:prstGeom prst="rect">
            <a:avLst/>
          </a:prstGeom>
          <a:noFill/>
          <a:ln/>
        </p:spPr>
        <p:txBody>
          <a:bodyPr wrap="square" lIns="0" tIns="0" rIns="0" bIns="0" rtlCol="0" anchor="t"/>
          <a:lstStyle/>
          <a:p>
            <a:pPr indent="0" marL="0">
              <a:buNone/>
            </a:pPr>
            <a:r>
              <a:rPr lang="en-US" sz="1400" b="1" dirty="0">
                <a:solidFill>
                  <a:schemeClr val="tx1"/>
                </a:solidFill>
              </a:rPr>
              <a:t>그래서 변동이 큰 구간을 고릅니다</a:t>
            </a:r>
            <a:endParaRPr lang="en-US" sz="1400" dirty="0"/>
          </a:p>
        </p:txBody>
      </p:sp>
      <p:sp>
        <p:nvSpPr>
          <p:cNvPr id="47" name="Text 45"/>
          <p:cNvSpPr txBox="1"/>
          <p:nvPr/>
        </p:nvSpPr>
        <p:spPr>
          <a:xfrm>
            <a:off x="6126480" y="3831336"/>
            <a:ext cx="2560320" cy="685800"/>
          </a:xfrm>
          <a:prstGeom prst="rect">
            <a:avLst/>
          </a:prstGeom>
          <a:noFill/>
          <a:ln/>
        </p:spPr>
        <p:txBody>
          <a:bodyPr wrap="square" lIns="0" tIns="0" rIns="0" bIns="0" rtlCol="0" anchor="t"/>
          <a:lstStyle/>
          <a:p>
            <a:pPr indent="0" marL="0">
              <a:buNone/>
            </a:pPr>
            <a:r>
              <a:rPr lang="en-US" sz="1100" dirty="0">
                <a:solidFill>
                  <a:schemeClr val="accent6"/>
                </a:solidFill>
              </a:rPr>
              <a:t>평범한 날 대신 변동이 큰 구간 선택</a:t>
            </a:r>
            <a:endParaRPr lang="en-US" sz="1100" dirty="0"/>
          </a:p>
          <a:p>
            <a:pPr indent="0" marL="0">
              <a:buNone/>
            </a:pPr>
            <a:r>
              <a:rPr lang="en-US" sz="1100" dirty="0">
                <a:solidFill>
                  <a:schemeClr val="accent6"/>
                </a:solidFill>
              </a:rPr>
              <a:t>적격성 검사의 이동폭 하한으로 반영</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lIns="0" tIns="0" rIns="0" bIns="0" rtlCol="0"/>
          <a:lstStyle/>
          <a:p>
            <a:pPr algn="l" indent="0" marL="0">
              <a:buNone/>
            </a:pPr>
            <a:r>
              <a:rPr lang="en-US" sz="1400" b="1" dirty="0">
                <a:solidFill>
                  <a:schemeClr val="accent1"/>
                </a:solidFill>
              </a:rPr>
              <a:t>정리</a:t>
            </a: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lIns="0" tIns="0" rIns="0" bIns="0" rtlCol="0" anchor="t"/>
          <a:lstStyle/>
          <a:p>
            <a:pPr algn="l" indent="0" marL="0">
              <a:buNone/>
            </a:pPr>
            <a:r>
              <a:rPr lang="en-US" sz="3200" b="1" dirty="0">
                <a:solidFill>
                  <a:schemeClr val="bg1"/>
                </a:solidFill>
              </a:rPr>
              <a:t>지금까지 이렇게 확인했습니다</a:t>
            </a:r>
            <a:endParaRPr lang="en-US" sz="3200" dirty="0"/>
          </a:p>
        </p:txBody>
      </p:sp>
      <p:sp>
        <p:nvSpPr>
          <p:cNvPr id="4" name="Shape 2"/>
          <p:cNvSpPr/>
          <p:nvPr/>
        </p:nvSpPr>
        <p:spPr>
          <a:xfrm>
            <a:off x="457200" y="1783080"/>
            <a:ext cx="411480" cy="411480"/>
          </a:xfrm>
          <a:prstGeom prst="ellipse">
            <a:avLst/>
          </a:prstGeom>
          <a:solidFill>
            <a:schemeClr val="accent1"/>
          </a:solidFill>
          <a:ln/>
        </p:spPr>
      </p:sp>
      <p:sp>
        <p:nvSpPr>
          <p:cNvPr id="5" name="Text 3"/>
          <p:cNvSpPr txBox="1"/>
          <p:nvPr/>
        </p:nvSpPr>
        <p:spPr>
          <a:xfrm>
            <a:off x="457200"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51560" y="1746504"/>
            <a:ext cx="5029200" cy="310896"/>
          </a:xfrm>
          <a:prstGeom prst="rect">
            <a:avLst/>
          </a:prstGeom>
          <a:noFill/>
          <a:ln/>
        </p:spPr>
        <p:txBody>
          <a:bodyPr wrap="square" lIns="0" tIns="0" rIns="0" bIns="0" rtlCol="0" anchor="t"/>
          <a:lstStyle/>
          <a:p>
            <a:pPr indent="0" marL="0">
              <a:buNone/>
            </a:pPr>
            <a:r>
              <a:rPr lang="en-US" sz="1600" b="1" dirty="0">
                <a:solidFill>
                  <a:schemeClr val="bg1"/>
                </a:solidFill>
              </a:rPr>
              <a:t>데이터 조건 네 가지를 실측으로 확인했습니다</a:t>
            </a:r>
            <a:endParaRPr lang="en-US" sz="1600" dirty="0"/>
          </a:p>
        </p:txBody>
      </p:sp>
      <p:sp>
        <p:nvSpPr>
          <p:cNvPr id="7" name="Text 5"/>
          <p:cNvSpPr txBox="1"/>
          <p:nvPr/>
        </p:nvSpPr>
        <p:spPr>
          <a:xfrm>
            <a:off x="1051560" y="2084832"/>
            <a:ext cx="5029200" cy="274320"/>
          </a:xfrm>
          <a:prstGeom prst="rect">
            <a:avLst/>
          </a:prstGeom>
          <a:noFill/>
          <a:ln/>
        </p:spPr>
        <p:txBody>
          <a:bodyPr wrap="square" lIns="0" tIns="0" rIns="0" bIns="0" rtlCol="0" anchor="t"/>
          <a:lstStyle/>
          <a:p>
            <a:pPr indent="0" marL="0">
              <a:buNone/>
            </a:pPr>
            <a:r>
              <a:rPr lang="en-US" sz="1200" dirty="0">
                <a:solidFill>
                  <a:schemeClr val="bg2"/>
                </a:solidFill>
              </a:rPr>
              <a:t>수정주가, 조회 범위, 무거래 봉, 변동폭</a:t>
            </a:r>
            <a:endParaRPr lang="en-US" sz="1200" dirty="0"/>
          </a:p>
        </p:txBody>
      </p:sp>
      <p:sp>
        <p:nvSpPr>
          <p:cNvPr id="8" name="Shape 6"/>
          <p:cNvSpPr/>
          <p:nvPr/>
        </p:nvSpPr>
        <p:spPr>
          <a:xfrm>
            <a:off x="457200" y="2651760"/>
            <a:ext cx="411480" cy="411480"/>
          </a:xfrm>
          <a:prstGeom prst="ellipse">
            <a:avLst/>
          </a:prstGeom>
          <a:solidFill>
            <a:schemeClr val="accent1"/>
          </a:solidFill>
          <a:ln/>
        </p:spPr>
      </p:sp>
      <p:sp>
        <p:nvSpPr>
          <p:cNvPr id="9" name="Text 7"/>
          <p:cNvSpPr txBox="1"/>
          <p:nvPr/>
        </p:nvSpPr>
        <p:spPr>
          <a:xfrm>
            <a:off x="457200" y="2651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615184"/>
            <a:ext cx="5029200" cy="310896"/>
          </a:xfrm>
          <a:prstGeom prst="rect">
            <a:avLst/>
          </a:prstGeom>
          <a:noFill/>
          <a:ln/>
        </p:spPr>
        <p:txBody>
          <a:bodyPr wrap="square" lIns="0" tIns="0" rIns="0" bIns="0" rtlCol="0" anchor="t"/>
          <a:lstStyle/>
          <a:p>
            <a:pPr indent="0" marL="0">
              <a:buNone/>
            </a:pPr>
            <a:r>
              <a:rPr lang="en-US" sz="1600" b="1" dirty="0">
                <a:solidFill>
                  <a:schemeClr val="bg1"/>
                </a:solidFill>
              </a:rPr>
              <a:t>수집을 막은 문제 세 가지를 해결했습니다</a:t>
            </a:r>
            <a:endParaRPr lang="en-US" sz="1600" dirty="0"/>
          </a:p>
        </p:txBody>
      </p:sp>
      <p:sp>
        <p:nvSpPr>
          <p:cNvPr id="11" name="Text 9"/>
          <p:cNvSpPr txBox="1"/>
          <p:nvPr/>
        </p:nvSpPr>
        <p:spPr>
          <a:xfrm>
            <a:off x="1051560" y="2953512"/>
            <a:ext cx="5029200" cy="274320"/>
          </a:xfrm>
          <a:prstGeom prst="rect">
            <a:avLst/>
          </a:prstGeom>
          <a:noFill/>
          <a:ln/>
        </p:spPr>
        <p:txBody>
          <a:bodyPr wrap="square" lIns="0" tIns="0" rIns="0" bIns="0" rtlCol="0" anchor="t"/>
          <a:lstStyle/>
          <a:p>
            <a:pPr indent="0" marL="0">
              <a:buNone/>
            </a:pPr>
            <a:r>
              <a:rPr lang="en-US" sz="1200" dirty="0">
                <a:solidFill>
                  <a:schemeClr val="bg2"/>
                </a:solidFill>
              </a:rPr>
              <a:t>연속 요청 차단, 토큰 무효, IP 제한</a:t>
            </a:r>
            <a:endParaRPr lang="en-US" sz="1200" dirty="0"/>
          </a:p>
        </p:txBody>
      </p:sp>
      <p:sp>
        <p:nvSpPr>
          <p:cNvPr id="12" name="Shape 10"/>
          <p:cNvSpPr/>
          <p:nvPr/>
        </p:nvSpPr>
        <p:spPr>
          <a:xfrm>
            <a:off x="457200" y="3520440"/>
            <a:ext cx="411480" cy="411480"/>
          </a:xfrm>
          <a:prstGeom prst="ellipse">
            <a:avLst/>
          </a:prstGeom>
          <a:solidFill>
            <a:schemeClr val="accent1"/>
          </a:solidFill>
          <a:ln/>
        </p:spPr>
      </p:sp>
      <p:sp>
        <p:nvSpPr>
          <p:cNvPr id="13" name="Text 11"/>
          <p:cNvSpPr txBox="1"/>
          <p:nvPr/>
        </p:nvSpPr>
        <p:spPr>
          <a:xfrm>
            <a:off x="457200" y="3520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51560" y="3483864"/>
            <a:ext cx="5029200" cy="310896"/>
          </a:xfrm>
          <a:prstGeom prst="rect">
            <a:avLst/>
          </a:prstGeom>
          <a:noFill/>
          <a:ln/>
        </p:spPr>
        <p:txBody>
          <a:bodyPr wrap="square" lIns="0" tIns="0" rIns="0" bIns="0" rtlCol="0" anchor="t"/>
          <a:lstStyle/>
          <a:p>
            <a:pPr indent="0" marL="0">
              <a:buNone/>
            </a:pPr>
            <a:r>
              <a:rPr lang="en-US" sz="1600" b="1" dirty="0">
                <a:solidFill>
                  <a:schemeClr val="bg1"/>
                </a:solidFill>
              </a:rPr>
              <a:t>게임 구간을 고르는 기준을 숫자로 정했습니다</a:t>
            </a:r>
            <a:endParaRPr lang="en-US" sz="1600" dirty="0"/>
          </a:p>
        </p:txBody>
      </p:sp>
      <p:sp>
        <p:nvSpPr>
          <p:cNvPr id="15" name="Text 13"/>
          <p:cNvSpPr txBox="1"/>
          <p:nvPr/>
        </p:nvSpPr>
        <p:spPr>
          <a:xfrm>
            <a:off x="1051560" y="3822192"/>
            <a:ext cx="5029200" cy="274320"/>
          </a:xfrm>
          <a:prstGeom prst="rect">
            <a:avLst/>
          </a:prstGeom>
          <a:noFill/>
          <a:ln/>
        </p:spPr>
        <p:txBody>
          <a:bodyPr wrap="square" lIns="0" tIns="0" rIns="0" bIns="0" rtlCol="0" anchor="t"/>
          <a:lstStyle/>
          <a:p>
            <a:pPr indent="0" marL="0">
              <a:buNone/>
            </a:pPr>
            <a:r>
              <a:rPr lang="en-US" sz="1200" dirty="0">
                <a:solidFill>
                  <a:schemeClr val="bg2"/>
                </a:solidFill>
              </a:rPr>
              <a:t>정규장 09:01 ~ 15:20, 적격성 검사, 배율별 청산 분석</a:t>
            </a:r>
            <a:endParaRPr lang="en-US" sz="1200" dirty="0"/>
          </a:p>
        </p:txBody>
      </p:sp>
      <p:sp>
        <p:nvSpPr>
          <p:cNvPr id="16" name="limit"/>
          <p:cNvSpPr/>
          <p:nvPr/>
        </p:nvSpPr>
        <p:spPr>
          <a:xfrm>
            <a:off x="6035040" y="1691640"/>
            <a:ext cx="2651760" cy="1417320"/>
          </a:xfrm>
          <a:prstGeom prst="roundRect">
            <a:avLst>
              <a:gd name="adj" fmla="val 5161"/>
            </a:avLst>
          </a:prstGeom>
          <a:solidFill>
            <a:srgbClr val="1B2233"/>
          </a:solidFill>
          <a:ln/>
        </p:spPr>
      </p:sp>
      <p:sp>
        <p:nvSpPr>
          <p:cNvPr id="17" name="Text 15"/>
          <p:cNvSpPr txBox="1"/>
          <p:nvPr/>
        </p:nvSpPr>
        <p:spPr>
          <a:xfrm>
            <a:off x="6217920" y="1828800"/>
            <a:ext cx="2286000" cy="1188720"/>
          </a:xfrm>
          <a:prstGeom prst="rect">
            <a:avLst/>
          </a:prstGeom>
          <a:noFill/>
          <a:ln/>
        </p:spPr>
        <p:txBody>
          <a:bodyPr wrap="square" lIns="0" tIns="0" rIns="0" bIns="0" rtlCol="0" anchor="t"/>
          <a:lstStyle/>
          <a:p>
            <a:pPr indent="0" marL="0">
              <a:buNone/>
            </a:pPr>
            <a:r>
              <a:rPr lang="en-US" sz="1300" b="1" dirty="0">
                <a:solidFill>
                  <a:srgbClr val="F5B83D"/>
                </a:solidFill>
              </a:rPr>
              <a:t>현재 한계</a:t>
            </a:r>
            <a:endParaRPr lang="en-US" sz="1400" dirty="0"/>
          </a:p>
          <a:p>
            <a:pPr indent="0" marL="0">
              <a:buNone/>
            </a:pPr>
            <a:r>
              <a:rPr lang="en-US" sz="1100" dirty="0">
                <a:solidFill>
                  <a:srgbClr val="F2F3F7"/>
                </a:solidFill>
              </a:rPr>
              <a:t>저장 데이터 2년 8개월치, 3종목</a:t>
            </a:r>
            <a:endParaRPr lang="en-US" sz="1400" dirty="0"/>
          </a:p>
          <a:p>
            <a:pPr indent="0" marL="0">
              <a:buNone/>
            </a:pPr>
            <a:r>
              <a:rPr lang="en-US" sz="1100" dirty="0">
                <a:solidFill>
                  <a:srgbClr val="F2F3F7"/>
                </a:solidFill>
              </a:rPr>
              <a:t>겹치지 않는 판은</a:t>
            </a:r>
            <a:endParaRPr lang="en-US" sz="1400" dirty="0"/>
          </a:p>
          <a:p>
            <a:pPr indent="0" marL="0">
              <a:buNone/>
            </a:pPr>
            <a:r>
              <a:rPr lang="en-US" sz="1100" dirty="0">
                <a:solidFill>
                  <a:srgbClr val="F2F3F7"/>
                </a:solidFill>
              </a:rPr>
              <a:t>일봉 2개, 분봉 6개</a:t>
            </a:r>
            <a:endParaRPr lang="en-US" sz="1400" dirty="0"/>
          </a:p>
        </p:txBody>
      </p:sp>
      <p:sp>
        <p:nvSpPr>
          <p:cNvPr id="18" name="message"/>
          <p:cNvSpPr/>
          <p:nvPr/>
        </p:nvSpPr>
        <p:spPr>
          <a:xfrm>
            <a:off x="6035040" y="3291840"/>
            <a:ext cx="2651760" cy="1188720"/>
          </a:xfrm>
          <a:prstGeom prst="roundRect">
            <a:avLst>
              <a:gd name="adj" fmla="val 6154"/>
            </a:avLst>
          </a:prstGeom>
          <a:solidFill>
            <a:schemeClr val="accent1"/>
          </a:solidFill>
          <a:ln/>
        </p:spPr>
      </p:sp>
      <p:sp>
        <p:nvSpPr>
          <p:cNvPr id="19" name="Text 17"/>
          <p:cNvSpPr txBox="1"/>
          <p:nvPr/>
        </p:nvSpPr>
        <p:spPr>
          <a:xfrm>
            <a:off x="6217920" y="3401568"/>
            <a:ext cx="2286000" cy="1005840"/>
          </a:xfrm>
          <a:prstGeom prst="rect">
            <a:avLst/>
          </a:prstGeom>
          <a:noFill/>
          <a:ln/>
        </p:spPr>
        <p:txBody>
          <a:bodyPr wrap="square" lIns="0" tIns="0" rIns="0" bIns="0" rtlCol="0" anchor="t"/>
          <a:lstStyle/>
          <a:p>
            <a:pPr indent="0" marL="0">
              <a:buNone/>
            </a:pPr>
            <a:r>
              <a:rPr lang="en-US" sz="1200" b="1" dirty="0">
                <a:solidFill>
                  <a:schemeClr val="bg1"/>
                </a:solidFill>
              </a:rPr>
              <a:t>한 줄 요약</a:t>
            </a:r>
            <a:endParaRPr lang="en-US" sz="1400" dirty="0"/>
          </a:p>
          <a:p>
            <a:pPr indent="0" marL="0">
              <a:buNone/>
            </a:pPr>
            <a:r>
              <a:rPr lang="en-US" sz="1800" b="1" dirty="0">
                <a:solidFill>
                  <a:schemeClr val="bg1"/>
                </a:solidFill>
              </a:rPr>
              <a:t>감이 아니라</a:t>
            </a:r>
            <a:endParaRPr lang="en-US" sz="1400" dirty="0"/>
          </a:p>
          <a:p>
            <a:pPr indent="0" marL="0">
              <a:buNone/>
            </a:pPr>
            <a:r>
              <a:rPr lang="en-US" sz="1800" b="1" dirty="0">
                <a:solidFill>
                  <a:schemeClr val="bg1"/>
                </a:solidFill>
              </a:rPr>
              <a:t>실측으로 정했습니다</a:t>
            </a:r>
            <a:endParaRPr lang="en-US" sz="1400" dirty="0"/>
          </a:p>
        </p:txBody>
      </p:sp>
    </p:spTree>
  </p:cSld>
  <p:clrMapOvr>
    <a:masterClrMapping/>
  </p:clrMapOvr>
</p:sld>
</file>

<file path=ppt/theme/theme1.xml><?xml version="1.0" encoding="utf-8"?>
<a:theme xmlns:a="http://schemas.openxmlformats.org/drawingml/2006/main" name="MoneyGame">
  <a:themeElements>
    <a:clrScheme name="MoneyGame">
      <a:dk1>
        <a:srgbClr val="0B0E14"/>
      </a:dk1>
      <a:lt1>
        <a:srgbClr val="FFFFFF"/>
      </a:lt1>
      <a:dk2>
        <a:srgbClr val="121722"/>
      </a:dk2>
      <a:lt2>
        <a:srgbClr val="F2F3F7"/>
      </a:lt2>
      <a:accent1>
        <a:srgbClr val="7C5CFF"/>
      </a:accent1>
      <a:accent2>
        <a:srgbClr val="F04452"/>
      </a:accent2>
      <a:accent3>
        <a:srgbClr val="3B82F6"/>
      </a:accent3>
      <a:accent4>
        <a:srgbClr val="F5B83D"/>
      </a:accent4>
      <a:accent5>
        <a:srgbClr val="2FBF71"/>
      </a:accent5>
      <a:accent6>
        <a:srgbClr val="6B7385"/>
      </a:accent6>
      <a:hlink>
        <a:srgbClr val="7C5CFF"/>
      </a:hlink>
      <a:folHlink>
        <a:srgbClr val="5B3FD6"/>
      </a:folHlink>
    </a:clrScheme>
    <a:fontScheme name="MoneyGame">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머니게임: 실제 시세를 게임 재료로 만들기</dc:title>
  <dc:subject>과거 시세 압축 재생 투자 게임, 데이터 확보와 게임 구간 선정</dc:subject>
  <dc:creator>머니게임</dc:creator>
  <cp:lastModifiedBy>머니게임</cp:lastModifiedBy>
  <cp:revision>1</cp:revision>
  <dcterms:created xsi:type="dcterms:W3CDTF">2026-10-09T16:05:43Z</dcterms:created>
  <dcterms:modified xsi:type="dcterms:W3CDTF">2026-10-09T16:05:43Z</dcterms:modified>
</cp:coreProperties>
</file>