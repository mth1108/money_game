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d38ab7c6-6ca0-7327-d53e-6a3ad2fc448a}">
          <p14:sldIdLst>
            <p14:sldId id="256"/>
            <p14:sldId id="257"/>
            <p14:sldId id="258"/>
          </p14:sldIdLst>
        </p14:section>
        <p14:section name="원칙과 구조" id="{eba04f9b-857a-4de6-948b-7dc814c9eb9b}">
          <p14:sldIdLst>
            <p14:sldId id="259"/>
            <p14:sldId id="260"/>
          </p14:sldIdLst>
        </p14:section>
        <p14:section name="토스 API 실측" id="{a0395966-2057-e159-1a4b-f3a0c4bfb003}">
          <p14:sldIdLst>
            <p14:sldId id="261"/>
            <p14:sldId id="262"/>
            <p14:sldId id="263"/>
          </p14:sldIdLst>
        </p14:section>
        <p14:section name="데이터 파이프라인" id="{b196a4d2-0ef2-73b8-4afa-4fdd35fb009c}">
          <p14:sldIdLst>
            <p14:sldId id="264"/>
            <p14:sldId id="265"/>
            <p14:sldId id="266"/>
          </p14:sldIdLst>
        </p14:section>
        <p14:section name="시나리오 품질" id="{34995f53-5537-8278-0219-2aa1a79b757e}">
          <p14:sldIdLst>
            <p14:sldId id="267"/>
            <p14:sldId id="268"/>
            <p14:sldId id="269"/>
          </p14:sldIdLst>
        </p14:section>
        <p14:section name="정리" id="{213a8fa3-2e76-6748-a34b-9c4b7712a954}">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머니게임은 여러 명이 같은 방에서 실제 과거 시세를 압축 재생한 구간을 거래하고, 끝날 때 남은 자산으로 순위를 가리는 웹게임입니다. 세 번의 발표 중 첫 번째로, 게임의 재료가 되는 시세 데이터를 어떻게 확보하고 다듬었는지 이야기합니다.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판의 흐름입니다. 참가자가 방에 모여 준비하면, 실제 과거 시세를 1초에 캔들 하나씩 재생합니다. 종목 이름과 날짜는 가리고 A, B, C 로만 보여줍니다. 배율을 걸면 손익이 커지지만 증거금만큼 잃으면 강제 청산됩니다. 끝나면 남은 자산으로 순위를 매기고 실제 종목을 공개합니다. 그래서 이 게임에는 실제 시세 데이터가 반드시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세 번에 걸쳐 진행합니다. 오늘은 데이터, 두 번째는 게임 서버, 세 번째는 실제로 플레이해보고 고친 것들입니다. 오늘은 먼저 정한 규칙, 토스 API 를 직접 측정한 결과, 수집기, 시세 저장소, 시나리오 순서로 이야기합니다.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코드를 쓰기 전에 깨지 않을 규칙 세 가지를 먼저 정했습니다. 첫째, 토스 API 토큰은 실계좌 주문까지 열리는 자격증명이라 주문이나 계좌 관련 API 는 아예 호출하지 않습니다. 둘째, 게임이 진행되는 동안에는 DB 나 외부 API 에 접근하지 않습니다. 셋째, 잔고처럼 계속 바뀌는 상태를 테이블에 두지 않고 서버 메모리에만 둡니다. 이 규칙들이 다음 장의 구조를 결정했습니다.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구조를 이렇게 나눴습니다. 토스 API 를 부르는 건 시세 수집기뿐이고, 수집기는 필요할 때만 배치로 실행됩니다. 게임 서버는 외부 API 를 전혀 모르고 DB 에서 시세를 읽기만 합니다. 엔티티와 설정을 같이 쓰려고 프로젝트는 하나로 두되, Spring 프로파일로 실행 경로를 나눠 게임 서버에서는 수집 코드가 아예 만들어지지 않게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토스 API 문서에는 데이터를 얼마나 오래 보관하는지 나와 있지 않습니다. 그래서 직접 끝까지 받아 봤습니다. 일봉은 1975년 6월까지, 51년 넘게 나오고 마지막 페이지 표시로 경계도 확인했습니다. 분봉은 3천 번을 요청해도 끝에 닿지 않아 최소 4년 5개월입니다. 흔히 1분봉은 최근 몇 주치만 남는다고 하는데 사실이 아니었고, 덕분에 데이터를 서둘러 쌓지 않고 필요한 구간만 받는 쪽으로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응답이 어떻게 동작하는지도 하나씩 확인했습니다. 페이지를 넘길 때 nextBefore 를 그대로 넘기면 겹치는 봉이 없습니다. 같은 명령을 두 번 돌려도 중복 행이 생기지 않는다는 완료 조건이 여기에 달려 있습니다. 수정주가는 액면분할 전후로 정확히 50배 차이가 나서 기본값을 그대로 씁니다. 응답이 최신순이라 오름차순으로 뒤집는 곳을 정해 두었고, 1분봉은 대체거래소까지 합쳐 하루 720봉이라 시나리오에서 정규장만 잘라야 한다는 걸 알게 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수집을 실제로 멈춰 세운 문제가 세 가지 있었습니다. 첫째, 속도 제한이 초당 몇 회가 아니라 토큰 버킷이라 평균 속도가 낮아도 연속 요청이 쌓이면 막힙니다. 요청 사이에 0.3초를 두고 429 를 받으면 물러섰다 다시 시도합니다. 둘째, 토큰은 클라이언트당 하나만 살아 있어서 수집기 두 개를 동시에 돌리면 서로의 토큰을 죽입니다. 셋째, 허용 IP 목록이 있어서 노트북을 바꾸자마자 토큰 발급부터 막혔습니다. 세 가지 모두 수집기의 필수 구현 사항과 운영 수칙으로 문서에 남겼습니다.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수집기의 목표는 몇 번을 돌려도 같은 결과입니다. 토큰을 아껴 쓰고, 200봉씩 과거 방향으로 페이지를 넘기고, 속도를 조절하면서, 배치 upsert 로 저장합니다. 받은 구간은 수집 이력으로 남겨서, 다음 실행 때는 이미 받은 구간을 건너뛰고 빠진 곳만 최신부터 다시 받습니다. 이 동작은 가짜 시세 출처로 단위 테스트를 마쳤고, 실제 API 로 한 번 더 확인하는 일만 남았습니다.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게임 서버가 시세를 읽는 길은 이 인터페이스 하나뿐입니다. 구현체는 CSV 와 DB 두 개이고 설정 한 줄로 바꿉니다. 규칙도 정해 두었습니다. 시각은 한국 시간에 양끝 포함, 결과는 항상 오름차순, 그리고 정규장 자르기 같은 게임 규칙은 여기서 하지 않습니다. 지금은 API 계정 사정으로 저장해 둔 CSV 로 진행하고 있고, DB 구현체는 임시 데이터로만 검증한 상태라는 점도 솔직히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시나리오는 한 판에 쓰는 시세 묶음입니다. 종목 1개에서 4개까지, 각각 시작가 1봉과 240틱을 합친 241봉을 씁니다. 종목 이름을 가리려고 라벨을 붙이는데, 등록할 때 무작위로 붙입니다. 모든 종목의 같은 순번 봉은 같은 시각이어야 하고, 하나라도 어긋나면 판을 시작하지 않습니다. 후보는 관리 커맨드가 보여주지만, 등록은 사람이 고릅니다.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분봉은 대체거래소까지 합쳐 하루 720봉이지만 전부 쓰면 안 됩니다. 시간대별로 재보니 프리마켓에는 거래량 0 봉이 15% 섞여 있고, 애프터는 거래가 정규장의 8분의 1 수준입니다. 특히 9시 봉과 15시 21분부터 30분까지는 14일 내내 거래량이 0 이었습니다. timestamp 가 봉이 끝난 시각이라 9시 봉은 사실 개장 전 1분이고, 15시 21분부터는 종가 단일가 구간이기 때문입니다. 이 두 경계를 빼면 거래량 0 봉이 2.8% 에서 0.3% 로, 최대 연속 정지가 11봉에서 1봉으로 줄어듭니다. 1틱이 1초라서 11봉 정지는 화면이 11초 멈추는 것과 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시나리오로 쓰기 전에 적격성 검사를 합니다. 거래량 0 봉 비율은 5% 이하, 연속으로 멈추는 건 5봉 이하여야 합니다. 비율만 보면 흩어진 12봉과 12초 연속 정지를 구분할 수 없어서 연속 검사를 따로 둡니다. 변동성 하한은 분봉과 일봉을 따로 둡니다. 오른쪽 표처럼 중앙값이 분봉 2%, 일봉 46% 로 스케일이 완전히 다르기 때문입니다. 값은 확정이 아니라 상수로 빼 두고 플레이하며 조정하고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배율 상한을 어떻게 정할지 고민하다가 직접 계산해 봤습니다. 240봉 구간을 한 봉씩 밀어 가며, 배율별로 청산이 한 번이라도 나는 구간이 얼마나 되는지 셌습니다. 일봉은 배율 3 에서도 13% 구간에서 청산이 나지만, 분봉은 배율 20 까지도 0% 였습니다. 하루 안에서 10% 넘게 빠지는 날 자체가 169일에 한 번뿐이기 때문입니다. 또 같은 조건에서 종목 간 차이가 7배나 났습니다. 그래서 밸런스는 배율이 아니라 변동이 큰 구간을 골라 시나리오로 맞추기로 했고, 이 그래프는 세 번째 발표에서 분봉 모드를 동결한 이유로 다시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첫째, 코드를 쓰기 전에 깨지 않을 규칙을 먼저 정했습니다. 둘째, 문서에 없거나 애매한 것은 직접 측정해서 결정했습니다. 셋째, 그 결과로 시세를 받아 저장하고, 검사해서 시나리오로 만드는 길이 완성됐습니다. 남은 과제는 데이터를 더 넓히는 것입니다. 다음 발표에서는 이 시나리오를 받아 실제로 게임을 돌리는 서버를 이야기하겠습니다.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172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1234440"/>
            <a:ext cx="5669280" cy="365760"/>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457200" y="1645920"/>
            <a:ext cx="585216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457200" y="3154680"/>
            <a:ext cx="5669280" cy="82296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OP">
    <p:bg>
      <p:bgPr>
        <a:solidFill>
          <a:srgbClr val="12172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5486400" cy="320040"/>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457200" y="749808"/>
            <a:ext cx="5486400"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rtlCol="0"/>
          <a:lstStyle>
            <a:lvl1pPr algn="l" indent="0" marL="0">
              <a:buNone/>
              <a:defRPr lang="en-US" sz="1400" dirty="0">
                <a:solidFill>
                  <a:schemeClr val="accent6"/>
                </a:solidFill>
              </a:defRPr>
            </a:lvl1pPr>
          </a:lstStyle>
          <a:p>
            <a:pPr algn="l" indent="0" marL="0">
              <a:buNone/>
            </a:pPr>
            <a:endParaRPr lang="en-US" sz="1400" dirty="0"/>
          </a:p>
        </p:txBody>
      </p:sp>
      <p:sp>
        <p:nvSpPr>
          <p:cNvPr id="4" name="Text 0"/>
          <p:cNvSpPr/>
          <p:nvPr/>
        </p:nvSpPr>
        <p:spPr>
          <a:xfrm>
            <a:off x="457200" y="4800600"/>
            <a:ext cx="4572000" cy="201168"/>
          </a:xfrm>
          <a:prstGeom prst="rect">
            <a:avLst/>
          </a:prstGeom>
          <a:noFill/>
          <a:ln/>
        </p:spPr>
        <p:txBody>
          <a:bodyPr wrap="square" lIns="0" tIns="0" rIns="0" bIns="0" rtlCol="0" anchor="ctr"/>
          <a:lstStyle/>
          <a:p>
            <a:pPr indent="0" marL="0">
              <a:buNone/>
            </a:pPr>
            <a:r>
              <a:rPr lang="en-US" sz="900" dirty="0">
                <a:solidFill>
                  <a:schemeClr val="accent6"/>
                </a:solidFill>
              </a:rPr>
              <a:t>머니게임 · 발표 1  실제 시세를 게임 재료로</a:t>
            </a:r>
            <a:endParaRPr lang="en-US" sz="9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1234440"/>
            <a:ext cx="5669280" cy="365760"/>
          </a:xfrm>
          <a:prstGeom prst="rect">
            <a:avLst/>
          </a:prstGeom>
          <a:noFill/>
          <a:ln/>
        </p:spPr>
        <p:txBody>
          <a:bodyPr wrap="square" lIns="0" tIns="0" rIns="0" bIns="0" rtlCol="0"/>
          <a:lstStyle/>
          <a:p>
            <a:pPr algn="l" indent="0" marL="0">
              <a:buNone/>
            </a:pPr>
            <a:r>
              <a:rPr lang="en-US" sz="1400" b="1" dirty="0">
                <a:solidFill>
                  <a:schemeClr val="accent1"/>
                </a:solidFill>
              </a:rPr>
              <a:t>머니게임 · 발표 1 / 3</a:t>
            </a:r>
            <a:endParaRPr lang="en-US" sz="1400" dirty="0"/>
          </a:p>
        </p:txBody>
      </p:sp>
      <p:sp>
        <p:nvSpPr>
          <p:cNvPr id="3" name="Text 0"/>
          <p:cNvSpPr/>
          <p:nvPr>
            <p:ph idx="101" type="title" hasCustomPrompt="1"/>
          </p:nvPr>
        </p:nvSpPr>
        <p:spPr>
          <a:xfrm>
            <a:off x="457200" y="1645920"/>
            <a:ext cx="5852160" cy="1371600"/>
          </a:xfrm>
          <a:prstGeom prst="rect">
            <a:avLst/>
          </a:prstGeom>
          <a:noFill/>
          <a:ln/>
        </p:spPr>
        <p:txBody>
          <a:bodyPr wrap="square" lIns="0" tIns="0" rIns="0" bIns="0" rtlCol="0" anchor="t"/>
          <a:lstStyle/>
          <a:p>
            <a:pPr algn="l" indent="0" marL="0">
              <a:buNone/>
            </a:pPr>
            <a:r>
              <a:rPr lang="en-US" sz="4000" b="1" dirty="0">
                <a:solidFill>
                  <a:schemeClr val="bg1"/>
                </a:solidFill>
              </a:rPr>
              <a:t>실제 시세를</a:t>
            </a:r>
            <a:endParaRPr lang="en-US" sz="4000" dirty="0"/>
          </a:p>
          <a:p>
            <a:pPr algn="l" indent="0" marL="0">
              <a:buNone/>
            </a:pPr>
            <a:r>
              <a:rPr lang="en-US" sz="4000" b="1" dirty="0">
                <a:solidFill>
                  <a:schemeClr val="bg1"/>
                </a:solidFill>
              </a:rPr>
              <a:t>게임 재료로 만들기</a:t>
            </a:r>
            <a:endParaRPr lang="en-US" sz="4000" dirty="0"/>
          </a:p>
        </p:txBody>
      </p:sp>
      <p:sp>
        <p:nvSpPr>
          <p:cNvPr id="4" name="Text 0"/>
          <p:cNvSpPr/>
          <p:nvPr>
            <p:ph idx="102" type="body" hasCustomPrompt="1"/>
          </p:nvPr>
        </p:nvSpPr>
        <p:spPr>
          <a:xfrm>
            <a:off x="457200" y="3154680"/>
            <a:ext cx="5669280" cy="822960"/>
          </a:xfrm>
          <a:prstGeom prst="rect">
            <a:avLst/>
          </a:prstGeom>
          <a:noFill/>
          <a:ln/>
        </p:spPr>
        <p:txBody>
          <a:bodyPr wrap="square" lIns="0" tIns="0" rIns="0" bIns="0" rtlCol="0" anchor="t"/>
          <a:lstStyle/>
          <a:p>
            <a:pPr algn="l" indent="0" marL="0">
              <a:buNone/>
            </a:pPr>
            <a:r>
              <a:rPr lang="en-US" sz="1600" dirty="0">
                <a:solidFill>
                  <a:schemeClr val="bg2"/>
                </a:solidFill>
              </a:rPr>
              <a:t>토스증권 API 실측부터 수집기 · 시세 저장소 · 시나리오까지</a:t>
            </a:r>
            <a:endParaRPr lang="en-US" sz="1600" dirty="0"/>
          </a:p>
        </p:txBody>
      </p:sp>
      <p:sp>
        <p:nvSpPr>
          <p:cNvPr id="5" name="Shape 3"/>
          <p:cNvSpPr/>
          <p:nvPr/>
        </p:nvSpPr>
        <p:spPr>
          <a:xfrm>
            <a:off x="6460236" y="3154680"/>
            <a:ext cx="18288" cy="548640"/>
          </a:xfrm>
          <a:prstGeom prst="rect">
            <a:avLst/>
          </a:prstGeom>
          <a:solidFill>
            <a:schemeClr val="accent3"/>
          </a:solidFill>
          <a:ln/>
        </p:spPr>
      </p:sp>
      <p:sp>
        <p:nvSpPr>
          <p:cNvPr id="6" name="Shape 4"/>
          <p:cNvSpPr/>
          <p:nvPr/>
        </p:nvSpPr>
        <p:spPr>
          <a:xfrm>
            <a:off x="6400800" y="3291840"/>
            <a:ext cx="137160" cy="320040"/>
          </a:xfrm>
          <a:prstGeom prst="rect">
            <a:avLst/>
          </a:prstGeom>
          <a:solidFill>
            <a:schemeClr val="accent3"/>
          </a:solidFill>
          <a:ln/>
        </p:spPr>
      </p:sp>
      <p:sp>
        <p:nvSpPr>
          <p:cNvPr id="7" name="Shape 5"/>
          <p:cNvSpPr/>
          <p:nvPr/>
        </p:nvSpPr>
        <p:spPr>
          <a:xfrm>
            <a:off x="6661404" y="3108960"/>
            <a:ext cx="18288" cy="548640"/>
          </a:xfrm>
          <a:prstGeom prst="rect">
            <a:avLst/>
          </a:prstGeom>
          <a:solidFill>
            <a:schemeClr val="accent2"/>
          </a:solidFill>
          <a:ln/>
        </p:spPr>
      </p:sp>
      <p:sp>
        <p:nvSpPr>
          <p:cNvPr id="8" name="Shape 6"/>
          <p:cNvSpPr/>
          <p:nvPr/>
        </p:nvSpPr>
        <p:spPr>
          <a:xfrm>
            <a:off x="6601968" y="3246120"/>
            <a:ext cx="137160" cy="320040"/>
          </a:xfrm>
          <a:prstGeom prst="rect">
            <a:avLst/>
          </a:prstGeom>
          <a:solidFill>
            <a:schemeClr val="accent2"/>
          </a:solidFill>
          <a:ln/>
        </p:spPr>
      </p:sp>
      <p:sp>
        <p:nvSpPr>
          <p:cNvPr id="9" name="Shape 7"/>
          <p:cNvSpPr/>
          <p:nvPr/>
        </p:nvSpPr>
        <p:spPr>
          <a:xfrm>
            <a:off x="6862572" y="2834640"/>
            <a:ext cx="18288" cy="548640"/>
          </a:xfrm>
          <a:prstGeom prst="rect">
            <a:avLst/>
          </a:prstGeom>
          <a:solidFill>
            <a:schemeClr val="accent2"/>
          </a:solidFill>
          <a:ln/>
        </p:spPr>
      </p:sp>
      <p:sp>
        <p:nvSpPr>
          <p:cNvPr id="10" name="Shape 8"/>
          <p:cNvSpPr/>
          <p:nvPr/>
        </p:nvSpPr>
        <p:spPr>
          <a:xfrm>
            <a:off x="6803136" y="2926080"/>
            <a:ext cx="137160" cy="320040"/>
          </a:xfrm>
          <a:prstGeom prst="rect">
            <a:avLst/>
          </a:prstGeom>
          <a:solidFill>
            <a:schemeClr val="accent2"/>
          </a:solidFill>
          <a:ln/>
        </p:spPr>
      </p:sp>
      <p:sp>
        <p:nvSpPr>
          <p:cNvPr id="11" name="Shape 9"/>
          <p:cNvSpPr/>
          <p:nvPr/>
        </p:nvSpPr>
        <p:spPr>
          <a:xfrm>
            <a:off x="7063740" y="2788920"/>
            <a:ext cx="18288" cy="365760"/>
          </a:xfrm>
          <a:prstGeom prst="rect">
            <a:avLst/>
          </a:prstGeom>
          <a:solidFill>
            <a:schemeClr val="accent3"/>
          </a:solidFill>
          <a:ln/>
        </p:spPr>
      </p:sp>
      <p:sp>
        <p:nvSpPr>
          <p:cNvPr id="12" name="Shape 10"/>
          <p:cNvSpPr/>
          <p:nvPr/>
        </p:nvSpPr>
        <p:spPr>
          <a:xfrm>
            <a:off x="7004304" y="2926080"/>
            <a:ext cx="137160" cy="137160"/>
          </a:xfrm>
          <a:prstGeom prst="rect">
            <a:avLst/>
          </a:prstGeom>
          <a:solidFill>
            <a:schemeClr val="accent3"/>
          </a:solidFill>
          <a:ln/>
        </p:spPr>
      </p:sp>
      <p:sp>
        <p:nvSpPr>
          <p:cNvPr id="13" name="Shape 11"/>
          <p:cNvSpPr/>
          <p:nvPr/>
        </p:nvSpPr>
        <p:spPr>
          <a:xfrm>
            <a:off x="7264908" y="2560320"/>
            <a:ext cx="18288" cy="594360"/>
          </a:xfrm>
          <a:prstGeom prst="rect">
            <a:avLst/>
          </a:prstGeom>
          <a:solidFill>
            <a:schemeClr val="accent2"/>
          </a:solidFill>
          <a:ln/>
        </p:spPr>
      </p:sp>
      <p:sp>
        <p:nvSpPr>
          <p:cNvPr id="14" name="Shape 12"/>
          <p:cNvSpPr/>
          <p:nvPr/>
        </p:nvSpPr>
        <p:spPr>
          <a:xfrm>
            <a:off x="7205472" y="2651760"/>
            <a:ext cx="137160" cy="411480"/>
          </a:xfrm>
          <a:prstGeom prst="rect">
            <a:avLst/>
          </a:prstGeom>
          <a:solidFill>
            <a:schemeClr val="accent2"/>
          </a:solidFill>
          <a:ln/>
        </p:spPr>
      </p:sp>
      <p:sp>
        <p:nvSpPr>
          <p:cNvPr id="15" name="Shape 13"/>
          <p:cNvSpPr/>
          <p:nvPr/>
        </p:nvSpPr>
        <p:spPr>
          <a:xfrm>
            <a:off x="7466076" y="2194560"/>
            <a:ext cx="18288" cy="548640"/>
          </a:xfrm>
          <a:prstGeom prst="rect">
            <a:avLst/>
          </a:prstGeom>
          <a:solidFill>
            <a:schemeClr val="accent2"/>
          </a:solidFill>
          <a:ln/>
        </p:spPr>
      </p:sp>
      <p:sp>
        <p:nvSpPr>
          <p:cNvPr id="16" name="Shape 14"/>
          <p:cNvSpPr/>
          <p:nvPr/>
        </p:nvSpPr>
        <p:spPr>
          <a:xfrm>
            <a:off x="7406640" y="2331720"/>
            <a:ext cx="137160" cy="320040"/>
          </a:xfrm>
          <a:prstGeom prst="rect">
            <a:avLst/>
          </a:prstGeom>
          <a:solidFill>
            <a:schemeClr val="accent2"/>
          </a:solidFill>
          <a:ln/>
        </p:spPr>
      </p:sp>
      <p:sp>
        <p:nvSpPr>
          <p:cNvPr id="17" name="Shape 15"/>
          <p:cNvSpPr/>
          <p:nvPr/>
        </p:nvSpPr>
        <p:spPr>
          <a:xfrm>
            <a:off x="7667244" y="2240280"/>
            <a:ext cx="18288" cy="365760"/>
          </a:xfrm>
          <a:prstGeom prst="rect">
            <a:avLst/>
          </a:prstGeom>
          <a:solidFill>
            <a:schemeClr val="accent3"/>
          </a:solidFill>
          <a:ln/>
        </p:spPr>
      </p:sp>
      <p:sp>
        <p:nvSpPr>
          <p:cNvPr id="18" name="Shape 16"/>
          <p:cNvSpPr/>
          <p:nvPr/>
        </p:nvSpPr>
        <p:spPr>
          <a:xfrm>
            <a:off x="7607808" y="2331720"/>
            <a:ext cx="137160" cy="182880"/>
          </a:xfrm>
          <a:prstGeom prst="rect">
            <a:avLst/>
          </a:prstGeom>
          <a:solidFill>
            <a:schemeClr val="accent3"/>
          </a:solidFill>
          <a:ln/>
        </p:spPr>
      </p:sp>
      <p:sp>
        <p:nvSpPr>
          <p:cNvPr id="19" name="Shape 17"/>
          <p:cNvSpPr/>
          <p:nvPr/>
        </p:nvSpPr>
        <p:spPr>
          <a:xfrm>
            <a:off x="7868412" y="2011680"/>
            <a:ext cx="18288" cy="594360"/>
          </a:xfrm>
          <a:prstGeom prst="rect">
            <a:avLst/>
          </a:prstGeom>
          <a:solidFill>
            <a:schemeClr val="accent2"/>
          </a:solidFill>
          <a:ln/>
        </p:spPr>
      </p:sp>
      <p:sp>
        <p:nvSpPr>
          <p:cNvPr id="20" name="Shape 18"/>
          <p:cNvSpPr/>
          <p:nvPr/>
        </p:nvSpPr>
        <p:spPr>
          <a:xfrm>
            <a:off x="7808976" y="2103120"/>
            <a:ext cx="137160" cy="411480"/>
          </a:xfrm>
          <a:prstGeom prst="rect">
            <a:avLst/>
          </a:prstGeom>
          <a:solidFill>
            <a:schemeClr val="accent2"/>
          </a:solidFill>
          <a:ln/>
        </p:spPr>
      </p:sp>
      <p:sp>
        <p:nvSpPr>
          <p:cNvPr id="21" name="Shape 19"/>
          <p:cNvSpPr/>
          <p:nvPr/>
        </p:nvSpPr>
        <p:spPr>
          <a:xfrm>
            <a:off x="8069580" y="1645920"/>
            <a:ext cx="18288" cy="548640"/>
          </a:xfrm>
          <a:prstGeom prst="rect">
            <a:avLst/>
          </a:prstGeom>
          <a:solidFill>
            <a:schemeClr val="accent2"/>
          </a:solidFill>
          <a:ln/>
        </p:spPr>
      </p:sp>
      <p:sp>
        <p:nvSpPr>
          <p:cNvPr id="22" name="Shape 20"/>
          <p:cNvSpPr/>
          <p:nvPr/>
        </p:nvSpPr>
        <p:spPr>
          <a:xfrm>
            <a:off x="8010144" y="1783080"/>
            <a:ext cx="137160" cy="320040"/>
          </a:xfrm>
          <a:prstGeom prst="rect">
            <a:avLst/>
          </a:prstGeom>
          <a:solidFill>
            <a:schemeClr val="accent2"/>
          </a:solidFill>
          <a:ln/>
        </p:spPr>
      </p:sp>
      <p:sp>
        <p:nvSpPr>
          <p:cNvPr id="23" name="Shape 21"/>
          <p:cNvSpPr/>
          <p:nvPr/>
        </p:nvSpPr>
        <p:spPr>
          <a:xfrm>
            <a:off x="8270748" y="1691640"/>
            <a:ext cx="18288" cy="365760"/>
          </a:xfrm>
          <a:prstGeom prst="rect">
            <a:avLst/>
          </a:prstGeom>
          <a:solidFill>
            <a:schemeClr val="accent3"/>
          </a:solidFill>
          <a:ln/>
        </p:spPr>
      </p:sp>
      <p:sp>
        <p:nvSpPr>
          <p:cNvPr id="24" name="Shape 22"/>
          <p:cNvSpPr/>
          <p:nvPr/>
        </p:nvSpPr>
        <p:spPr>
          <a:xfrm>
            <a:off x="8211312" y="1783080"/>
            <a:ext cx="137160" cy="182880"/>
          </a:xfrm>
          <a:prstGeom prst="rect">
            <a:avLst/>
          </a:prstGeom>
          <a:solidFill>
            <a:schemeClr val="accent3"/>
          </a:solidFill>
          <a:ln/>
        </p:spPr>
      </p:sp>
      <p:sp>
        <p:nvSpPr>
          <p:cNvPr id="25" name="Shape 23"/>
          <p:cNvSpPr/>
          <p:nvPr/>
        </p:nvSpPr>
        <p:spPr>
          <a:xfrm>
            <a:off x="8471916" y="1325880"/>
            <a:ext cx="18288" cy="685800"/>
          </a:xfrm>
          <a:prstGeom prst="rect">
            <a:avLst/>
          </a:prstGeom>
          <a:solidFill>
            <a:schemeClr val="accent2"/>
          </a:solidFill>
          <a:ln/>
        </p:spPr>
      </p:sp>
      <p:sp>
        <p:nvSpPr>
          <p:cNvPr id="26" name="Shape 24"/>
          <p:cNvSpPr/>
          <p:nvPr/>
        </p:nvSpPr>
        <p:spPr>
          <a:xfrm>
            <a:off x="8412480" y="1463040"/>
            <a:ext cx="137160" cy="502920"/>
          </a:xfrm>
          <a:prstGeom prst="rect">
            <a:avLst/>
          </a:prstGeom>
          <a:solidFill>
            <a:schemeClr val="accent2"/>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한 판은 이렇게 흘러갑니다</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과거 시세를 빠르게 재생하고, 배율을 걸어 사고팔고, 남은 자산으로 순위를 가립니다</a:t>
            </a:r>
            <a:endParaRPr lang="en-US" sz="1400" dirty="0"/>
          </a:p>
        </p:txBody>
      </p:sp>
      <p:sp>
        <p:nvSpPr>
          <p:cNvPr id="4" name="step-1"/>
          <p:cNvSpPr/>
          <p:nvPr/>
        </p:nvSpPr>
        <p:spPr>
          <a:xfrm>
            <a:off x="457200" y="1417320"/>
            <a:ext cx="1828800" cy="1965960"/>
          </a:xfrm>
          <a:prstGeom prst="roundRect">
            <a:avLst>
              <a:gd name="adj" fmla="val 4000"/>
            </a:avLst>
          </a:prstGeom>
          <a:solidFill>
            <a:schemeClr val="bg2"/>
          </a:solidFill>
          <a:ln/>
        </p:spPr>
      </p:sp>
      <p:sp>
        <p:nvSpPr>
          <p:cNvPr id="5" name="Shape 3"/>
          <p:cNvSpPr/>
          <p:nvPr/>
        </p:nvSpPr>
        <p:spPr>
          <a:xfrm>
            <a:off x="640080" y="1618488"/>
            <a:ext cx="502920" cy="50292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765810" y="1744218"/>
            <a:ext cx="251460" cy="251460"/>
          </a:xfrm>
          <a:prstGeom prst="rect">
            <a:avLst/>
          </a:prstGeom>
        </p:spPr>
      </p:pic>
      <p:sp>
        <p:nvSpPr>
          <p:cNvPr id="7" name="Text 4"/>
          <p:cNvSpPr txBox="1"/>
          <p:nvPr/>
        </p:nvSpPr>
        <p:spPr>
          <a:xfrm>
            <a:off x="640080" y="2286000"/>
            <a:ext cx="1463040" cy="320040"/>
          </a:xfrm>
          <a:prstGeom prst="rect">
            <a:avLst/>
          </a:prstGeom>
          <a:noFill/>
          <a:ln/>
        </p:spPr>
        <p:txBody>
          <a:bodyPr wrap="square" lIns="0" tIns="0" rIns="0" bIns="0" rtlCol="0" anchor="t"/>
          <a:lstStyle/>
          <a:p>
            <a:pPr indent="0" marL="0">
              <a:buNone/>
            </a:pPr>
            <a:r>
              <a:rPr lang="en-US" sz="1500" b="1" dirty="0">
                <a:solidFill>
                  <a:schemeClr val="tx1"/>
                </a:solidFill>
              </a:rPr>
              <a:t>1. 방에 모인다</a:t>
            </a:r>
            <a:endParaRPr lang="en-US" sz="1500" dirty="0"/>
          </a:p>
        </p:txBody>
      </p:sp>
      <p:sp>
        <p:nvSpPr>
          <p:cNvPr id="8" name="Text 5"/>
          <p:cNvSpPr txBox="1"/>
          <p:nvPr/>
        </p:nvSpPr>
        <p:spPr>
          <a:xfrm>
            <a:off x="640080" y="2651760"/>
            <a:ext cx="1463040" cy="640080"/>
          </a:xfrm>
          <a:prstGeom prst="rect">
            <a:avLst/>
          </a:prstGeom>
          <a:noFill/>
          <a:ln/>
        </p:spPr>
        <p:txBody>
          <a:bodyPr wrap="square" lIns="0" tIns="0" rIns="0" bIns="0" rtlCol="0" anchor="t"/>
          <a:lstStyle/>
          <a:p>
            <a:pPr indent="0" marL="0">
              <a:buNone/>
            </a:pPr>
            <a:r>
              <a:rPr lang="en-US" sz="1200" dirty="0">
                <a:solidFill>
                  <a:schemeClr val="accent6"/>
                </a:solidFill>
              </a:rPr>
              <a:t>최대 8명, 혼자면</a:t>
            </a:r>
            <a:endParaRPr lang="en-US" sz="1200" dirty="0"/>
          </a:p>
          <a:p>
            <a:pPr indent="0" marL="0">
              <a:buNone/>
            </a:pPr>
            <a:r>
              <a:rPr lang="en-US" sz="1200" dirty="0">
                <a:solidFill>
                  <a:schemeClr val="accent6"/>
                </a:solidFill>
              </a:rPr>
              <a:t>존버 봇과 겨룬다</a:t>
            </a:r>
            <a:endParaRPr lang="en-US" sz="1200" dirty="0"/>
          </a:p>
        </p:txBody>
      </p:sp>
      <p:sp>
        <p:nvSpPr>
          <p:cNvPr id="9" name="Shape 6"/>
          <p:cNvSpPr/>
          <p:nvPr/>
        </p:nvSpPr>
        <p:spPr>
          <a:xfrm>
            <a:off x="2331720" y="2395728"/>
            <a:ext cx="213055" cy="914"/>
          </a:xfrm>
          <a:prstGeom prst="line">
            <a:avLst/>
          </a:prstGeom>
          <a:noFill/>
          <a:ln w="19050">
            <a:solidFill>
              <a:schemeClr val="accent6"/>
            </a:solidFill>
            <a:prstDash val="solid"/>
            <a:tailEnd type="triangle"/>
          </a:ln>
        </p:spPr>
      </p:sp>
      <p:sp>
        <p:nvSpPr>
          <p:cNvPr id="10" name="step-2"/>
          <p:cNvSpPr/>
          <p:nvPr/>
        </p:nvSpPr>
        <p:spPr>
          <a:xfrm>
            <a:off x="2590495" y="1417320"/>
            <a:ext cx="1828800" cy="1965960"/>
          </a:xfrm>
          <a:prstGeom prst="roundRect">
            <a:avLst>
              <a:gd name="adj" fmla="val 4000"/>
            </a:avLst>
          </a:prstGeom>
          <a:solidFill>
            <a:schemeClr val="bg2"/>
          </a:solidFill>
          <a:ln/>
        </p:spPr>
      </p:sp>
      <p:sp>
        <p:nvSpPr>
          <p:cNvPr id="11" name="Shape 8"/>
          <p:cNvSpPr/>
          <p:nvPr/>
        </p:nvSpPr>
        <p:spPr>
          <a:xfrm>
            <a:off x="2773375" y="1618488"/>
            <a:ext cx="502920" cy="50292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2899105" y="1744218"/>
            <a:ext cx="251460" cy="251460"/>
          </a:xfrm>
          <a:prstGeom prst="rect">
            <a:avLst/>
          </a:prstGeom>
        </p:spPr>
      </p:pic>
      <p:sp>
        <p:nvSpPr>
          <p:cNvPr id="13" name="Text 9"/>
          <p:cNvSpPr txBox="1"/>
          <p:nvPr/>
        </p:nvSpPr>
        <p:spPr>
          <a:xfrm>
            <a:off x="2773375" y="2286000"/>
            <a:ext cx="1463040" cy="320040"/>
          </a:xfrm>
          <a:prstGeom prst="rect">
            <a:avLst/>
          </a:prstGeom>
          <a:noFill/>
          <a:ln/>
        </p:spPr>
        <p:txBody>
          <a:bodyPr wrap="square" lIns="0" tIns="0" rIns="0" bIns="0" rtlCol="0" anchor="t"/>
          <a:lstStyle/>
          <a:p>
            <a:pPr indent="0" marL="0">
              <a:buNone/>
            </a:pPr>
            <a:r>
              <a:rPr lang="en-US" sz="1500" b="1" dirty="0">
                <a:solidFill>
                  <a:schemeClr val="tx1"/>
                </a:solidFill>
              </a:rPr>
              <a:t>2. 시세 재생</a:t>
            </a:r>
            <a:endParaRPr lang="en-US" sz="1500" dirty="0"/>
          </a:p>
        </p:txBody>
      </p:sp>
      <p:sp>
        <p:nvSpPr>
          <p:cNvPr id="14" name="Text 10"/>
          <p:cNvSpPr txBox="1"/>
          <p:nvPr/>
        </p:nvSpPr>
        <p:spPr>
          <a:xfrm>
            <a:off x="2773375" y="2651760"/>
            <a:ext cx="1463040" cy="640080"/>
          </a:xfrm>
          <a:prstGeom prst="rect">
            <a:avLst/>
          </a:prstGeom>
          <a:noFill/>
          <a:ln/>
        </p:spPr>
        <p:txBody>
          <a:bodyPr wrap="square" lIns="0" tIns="0" rIns="0" bIns="0" rtlCol="0" anchor="t"/>
          <a:lstStyle/>
          <a:p>
            <a:pPr indent="0" marL="0">
              <a:buNone/>
            </a:pPr>
            <a:r>
              <a:rPr lang="en-US" sz="1200" dirty="0">
                <a:solidFill>
                  <a:schemeClr val="accent6"/>
                </a:solidFill>
              </a:rPr>
              <a:t>1초에 캔들 1개,</a:t>
            </a:r>
            <a:endParaRPr lang="en-US" sz="1200" dirty="0"/>
          </a:p>
          <a:p>
            <a:pPr indent="0" marL="0">
              <a:buNone/>
            </a:pPr>
            <a:r>
              <a:rPr lang="en-US" sz="1200" dirty="0">
                <a:solidFill>
                  <a:schemeClr val="accent6"/>
                </a:solidFill>
              </a:rPr>
              <a:t>종목 이름은 A · B · C</a:t>
            </a:r>
            <a:endParaRPr lang="en-US" sz="1200" dirty="0"/>
          </a:p>
        </p:txBody>
      </p:sp>
      <p:sp>
        <p:nvSpPr>
          <p:cNvPr id="15" name="Shape 11"/>
          <p:cNvSpPr/>
          <p:nvPr/>
        </p:nvSpPr>
        <p:spPr>
          <a:xfrm>
            <a:off x="4465015" y="2395728"/>
            <a:ext cx="213055" cy="914"/>
          </a:xfrm>
          <a:prstGeom prst="line">
            <a:avLst/>
          </a:prstGeom>
          <a:noFill/>
          <a:ln w="19050">
            <a:solidFill>
              <a:schemeClr val="accent6"/>
            </a:solidFill>
            <a:prstDash val="solid"/>
            <a:tailEnd type="triangle"/>
          </a:ln>
        </p:spPr>
      </p:sp>
      <p:sp>
        <p:nvSpPr>
          <p:cNvPr id="16" name="step-3"/>
          <p:cNvSpPr/>
          <p:nvPr/>
        </p:nvSpPr>
        <p:spPr>
          <a:xfrm>
            <a:off x="4723790" y="1417320"/>
            <a:ext cx="1828800" cy="1965960"/>
          </a:xfrm>
          <a:prstGeom prst="roundRect">
            <a:avLst>
              <a:gd name="adj" fmla="val 4000"/>
            </a:avLst>
          </a:prstGeom>
          <a:solidFill>
            <a:schemeClr val="bg2"/>
          </a:solidFill>
          <a:ln/>
        </p:spPr>
      </p:sp>
      <p:sp>
        <p:nvSpPr>
          <p:cNvPr id="17" name="Shape 13"/>
          <p:cNvSpPr/>
          <p:nvPr/>
        </p:nvSpPr>
        <p:spPr>
          <a:xfrm>
            <a:off x="4906670" y="1618488"/>
            <a:ext cx="502920" cy="502920"/>
          </a:xfrm>
          <a:prstGeom prst="ellipse">
            <a:avLst/>
          </a:prstGeom>
          <a:solidFill>
            <a:schemeClr val="accent1"/>
          </a:solidFill>
          <a:ln/>
        </p:spPr>
      </p:sp>
      <p:pic>
        <p:nvPicPr>
          <p:cNvPr id="18" name="Image 2" descr="preencoded.png">    </p:cNvPr>
          <p:cNvPicPr>
            <a:picLocks noChangeAspect="1"/>
          </p:cNvPicPr>
          <p:nvPr/>
        </p:nvPicPr>
        <p:blipFill>
          <a:blip r:embed="rId3"/>
          <a:stretch>
            <a:fillRect/>
          </a:stretch>
        </p:blipFill>
        <p:spPr>
          <a:xfrm>
            <a:off x="5032400" y="1744218"/>
            <a:ext cx="251460" cy="251460"/>
          </a:xfrm>
          <a:prstGeom prst="rect">
            <a:avLst/>
          </a:prstGeom>
        </p:spPr>
      </p:pic>
      <p:sp>
        <p:nvSpPr>
          <p:cNvPr id="19" name="Text 14"/>
          <p:cNvSpPr txBox="1"/>
          <p:nvPr/>
        </p:nvSpPr>
        <p:spPr>
          <a:xfrm>
            <a:off x="4906670" y="2286000"/>
            <a:ext cx="1463040" cy="320040"/>
          </a:xfrm>
          <a:prstGeom prst="rect">
            <a:avLst/>
          </a:prstGeom>
          <a:noFill/>
          <a:ln/>
        </p:spPr>
        <p:txBody>
          <a:bodyPr wrap="square" lIns="0" tIns="0" rIns="0" bIns="0" rtlCol="0" anchor="t"/>
          <a:lstStyle/>
          <a:p>
            <a:pPr indent="0" marL="0">
              <a:buNone/>
            </a:pPr>
            <a:r>
              <a:rPr lang="en-US" sz="1500" b="1" dirty="0">
                <a:solidFill>
                  <a:schemeClr val="tx1"/>
                </a:solidFill>
              </a:rPr>
              <a:t>3. 배율 걸고 거래</a:t>
            </a:r>
            <a:endParaRPr lang="en-US" sz="1500" dirty="0"/>
          </a:p>
        </p:txBody>
      </p:sp>
      <p:sp>
        <p:nvSpPr>
          <p:cNvPr id="20" name="Text 15"/>
          <p:cNvSpPr txBox="1"/>
          <p:nvPr/>
        </p:nvSpPr>
        <p:spPr>
          <a:xfrm>
            <a:off x="4906670" y="2651760"/>
            <a:ext cx="1463040" cy="640080"/>
          </a:xfrm>
          <a:prstGeom prst="rect">
            <a:avLst/>
          </a:prstGeom>
          <a:noFill/>
          <a:ln/>
        </p:spPr>
        <p:txBody>
          <a:bodyPr wrap="square" lIns="0" tIns="0" rIns="0" bIns="0" rtlCol="0" anchor="t"/>
          <a:lstStyle/>
          <a:p>
            <a:pPr indent="0" marL="0">
              <a:buNone/>
            </a:pPr>
            <a:r>
              <a:rPr lang="en-US" sz="1200" dirty="0">
                <a:solidFill>
                  <a:schemeClr val="accent6"/>
                </a:solidFill>
              </a:rPr>
              <a:t>손익이 커지는 만큼</a:t>
            </a:r>
            <a:endParaRPr lang="en-US" sz="1200" dirty="0"/>
          </a:p>
          <a:p>
            <a:pPr indent="0" marL="0">
              <a:buNone/>
            </a:pPr>
            <a:r>
              <a:rPr lang="en-US" sz="1200" dirty="0">
                <a:solidFill>
                  <a:schemeClr val="accent6"/>
                </a:solidFill>
              </a:rPr>
              <a:t>청산 위험도 커진다</a:t>
            </a:r>
            <a:endParaRPr lang="en-US" sz="1200" dirty="0"/>
          </a:p>
        </p:txBody>
      </p:sp>
      <p:sp>
        <p:nvSpPr>
          <p:cNvPr id="21" name="Shape 16"/>
          <p:cNvSpPr/>
          <p:nvPr/>
        </p:nvSpPr>
        <p:spPr>
          <a:xfrm>
            <a:off x="6598310" y="2395728"/>
            <a:ext cx="213055" cy="914"/>
          </a:xfrm>
          <a:prstGeom prst="line">
            <a:avLst/>
          </a:prstGeom>
          <a:noFill/>
          <a:ln w="19050">
            <a:solidFill>
              <a:schemeClr val="accent6"/>
            </a:solidFill>
            <a:prstDash val="solid"/>
            <a:tailEnd type="triangle"/>
          </a:ln>
        </p:spPr>
      </p:sp>
      <p:sp>
        <p:nvSpPr>
          <p:cNvPr id="22" name="step-4"/>
          <p:cNvSpPr/>
          <p:nvPr/>
        </p:nvSpPr>
        <p:spPr>
          <a:xfrm>
            <a:off x="6857086" y="1417320"/>
            <a:ext cx="1828800" cy="1965960"/>
          </a:xfrm>
          <a:prstGeom prst="roundRect">
            <a:avLst>
              <a:gd name="adj" fmla="val 4000"/>
            </a:avLst>
          </a:prstGeom>
          <a:solidFill>
            <a:schemeClr val="bg2"/>
          </a:solidFill>
          <a:ln/>
        </p:spPr>
      </p:sp>
      <p:sp>
        <p:nvSpPr>
          <p:cNvPr id="23" name="Shape 18"/>
          <p:cNvSpPr/>
          <p:nvPr/>
        </p:nvSpPr>
        <p:spPr>
          <a:xfrm>
            <a:off x="7039966" y="1618488"/>
            <a:ext cx="502920" cy="502920"/>
          </a:xfrm>
          <a:prstGeom prst="ellipse">
            <a:avLst/>
          </a:prstGeom>
          <a:solidFill>
            <a:schemeClr val="accent1"/>
          </a:solidFill>
          <a:ln/>
        </p:spPr>
      </p:sp>
      <p:pic>
        <p:nvPicPr>
          <p:cNvPr id="24" name="Image 3" descr="preencoded.png">    </p:cNvPr>
          <p:cNvPicPr>
            <a:picLocks noChangeAspect="1"/>
          </p:cNvPicPr>
          <p:nvPr/>
        </p:nvPicPr>
        <p:blipFill>
          <a:blip r:embed="rId4"/>
          <a:stretch>
            <a:fillRect/>
          </a:stretch>
        </p:blipFill>
        <p:spPr>
          <a:xfrm>
            <a:off x="7165696" y="1744218"/>
            <a:ext cx="251460" cy="251460"/>
          </a:xfrm>
          <a:prstGeom prst="rect">
            <a:avLst/>
          </a:prstGeom>
        </p:spPr>
      </p:pic>
      <p:sp>
        <p:nvSpPr>
          <p:cNvPr id="25" name="Text 19"/>
          <p:cNvSpPr txBox="1"/>
          <p:nvPr/>
        </p:nvSpPr>
        <p:spPr>
          <a:xfrm>
            <a:off x="7039966" y="2286000"/>
            <a:ext cx="1463040" cy="320040"/>
          </a:xfrm>
          <a:prstGeom prst="rect">
            <a:avLst/>
          </a:prstGeom>
          <a:noFill/>
          <a:ln/>
        </p:spPr>
        <p:txBody>
          <a:bodyPr wrap="square" lIns="0" tIns="0" rIns="0" bIns="0" rtlCol="0" anchor="t"/>
          <a:lstStyle/>
          <a:p>
            <a:pPr indent="0" marL="0">
              <a:buNone/>
            </a:pPr>
            <a:r>
              <a:rPr lang="en-US" sz="1500" b="1" dirty="0">
                <a:solidFill>
                  <a:schemeClr val="tx1"/>
                </a:solidFill>
              </a:rPr>
              <a:t>4. 자산으로 순위</a:t>
            </a:r>
            <a:endParaRPr lang="en-US" sz="1500" dirty="0"/>
          </a:p>
        </p:txBody>
      </p:sp>
      <p:sp>
        <p:nvSpPr>
          <p:cNvPr id="26" name="Text 20"/>
          <p:cNvSpPr txBox="1"/>
          <p:nvPr/>
        </p:nvSpPr>
        <p:spPr>
          <a:xfrm>
            <a:off x="7039966" y="2651760"/>
            <a:ext cx="1463040" cy="640080"/>
          </a:xfrm>
          <a:prstGeom prst="rect">
            <a:avLst/>
          </a:prstGeom>
          <a:noFill/>
          <a:ln/>
        </p:spPr>
        <p:txBody>
          <a:bodyPr wrap="square" lIns="0" tIns="0" rIns="0" bIns="0" rtlCol="0" anchor="t"/>
          <a:lstStyle/>
          <a:p>
            <a:pPr indent="0" marL="0">
              <a:buNone/>
            </a:pPr>
            <a:r>
              <a:rPr lang="en-US" sz="1200" dirty="0">
                <a:solidFill>
                  <a:schemeClr val="accent6"/>
                </a:solidFill>
              </a:rPr>
              <a:t>끝나면 실제 종목과</a:t>
            </a:r>
            <a:endParaRPr lang="en-US" sz="1200" dirty="0"/>
          </a:p>
          <a:p>
            <a:pPr indent="0" marL="0">
              <a:buNone/>
            </a:pPr>
            <a:r>
              <a:rPr lang="en-US" sz="1200" dirty="0">
                <a:solidFill>
                  <a:schemeClr val="accent6"/>
                </a:solidFill>
              </a:rPr>
              <a:t>기간을 공개한다</a:t>
            </a:r>
            <a:endParaRPr lang="en-US" sz="1200" dirty="0"/>
          </a:p>
        </p:txBody>
      </p:sp>
      <p:sp>
        <p:nvSpPr>
          <p:cNvPr id="27" name="Text 21"/>
          <p:cNvSpPr txBox="1"/>
          <p:nvPr/>
        </p:nvSpPr>
        <p:spPr>
          <a:xfrm>
            <a:off x="457200" y="3657600"/>
            <a:ext cx="2560320" cy="548640"/>
          </a:xfrm>
          <a:prstGeom prst="rect">
            <a:avLst/>
          </a:prstGeom>
          <a:noFill/>
          <a:ln/>
        </p:spPr>
        <p:txBody>
          <a:bodyPr wrap="square" lIns="0" tIns="0" rIns="0" bIns="0" rtlCol="0" anchor="t"/>
          <a:lstStyle/>
          <a:p>
            <a:pPr indent="0" marL="0">
              <a:buNone/>
            </a:pPr>
            <a:r>
              <a:rPr lang="en-US" sz="3200" b="1" dirty="0">
                <a:solidFill>
                  <a:schemeClr val="accent1"/>
                </a:solidFill>
              </a:rPr>
              <a:t>240틱</a:t>
            </a:r>
            <a:endParaRPr lang="en-US" sz="3200" dirty="0"/>
          </a:p>
        </p:txBody>
      </p:sp>
      <p:sp>
        <p:nvSpPr>
          <p:cNvPr id="28" name="Text 22"/>
          <p:cNvSpPr txBox="1"/>
          <p:nvPr/>
        </p:nvSpPr>
        <p:spPr>
          <a:xfrm>
            <a:off x="457200" y="4224528"/>
            <a:ext cx="2560320" cy="274320"/>
          </a:xfrm>
          <a:prstGeom prst="rect">
            <a:avLst/>
          </a:prstGeom>
          <a:noFill/>
          <a:ln/>
        </p:spPr>
        <p:txBody>
          <a:bodyPr wrap="square" lIns="0" tIns="0" rIns="0" bIns="0" rtlCol="0" anchor="t"/>
          <a:lstStyle/>
          <a:p>
            <a:pPr indent="0" marL="0">
              <a:buNone/>
            </a:pPr>
            <a:r>
              <a:rPr lang="en-US" sz="1200" dirty="0">
                <a:solidFill>
                  <a:schemeClr val="accent6"/>
                </a:solidFill>
              </a:rPr>
              <a:t>한 판 = 4분 (1틱 = 1초)</a:t>
            </a:r>
            <a:endParaRPr lang="en-US" sz="1200" dirty="0"/>
          </a:p>
        </p:txBody>
      </p:sp>
      <p:sp>
        <p:nvSpPr>
          <p:cNvPr id="29" name="Text 23"/>
          <p:cNvSpPr txBox="1"/>
          <p:nvPr/>
        </p:nvSpPr>
        <p:spPr>
          <a:xfrm>
            <a:off x="3200400" y="3657600"/>
            <a:ext cx="2560320" cy="548640"/>
          </a:xfrm>
          <a:prstGeom prst="rect">
            <a:avLst/>
          </a:prstGeom>
          <a:noFill/>
          <a:ln/>
        </p:spPr>
        <p:txBody>
          <a:bodyPr wrap="square" lIns="0" tIns="0" rIns="0" bIns="0" rtlCol="0" anchor="t"/>
          <a:lstStyle/>
          <a:p>
            <a:pPr indent="0" marL="0">
              <a:buNone/>
            </a:pPr>
            <a:r>
              <a:rPr lang="en-US" sz="3200" b="1" dirty="0">
                <a:solidFill>
                  <a:schemeClr val="accent1"/>
                </a:solidFill>
              </a:rPr>
              <a:t>×1 ~ ×3</a:t>
            </a:r>
            <a:endParaRPr lang="en-US" sz="3200" dirty="0"/>
          </a:p>
        </p:txBody>
      </p:sp>
      <p:sp>
        <p:nvSpPr>
          <p:cNvPr id="30" name="Text 24"/>
          <p:cNvSpPr txBox="1"/>
          <p:nvPr/>
        </p:nvSpPr>
        <p:spPr>
          <a:xfrm>
            <a:off x="3200400" y="4224528"/>
            <a:ext cx="2560320" cy="274320"/>
          </a:xfrm>
          <a:prstGeom prst="rect">
            <a:avLst/>
          </a:prstGeom>
          <a:noFill/>
          <a:ln/>
        </p:spPr>
        <p:txBody>
          <a:bodyPr wrap="square" lIns="0" tIns="0" rIns="0" bIns="0" rtlCol="0" anchor="t"/>
          <a:lstStyle/>
          <a:p>
            <a:pPr indent="0" marL="0">
              <a:buNone/>
            </a:pPr>
            <a:r>
              <a:rPr lang="en-US" sz="1200" dirty="0">
                <a:solidFill>
                  <a:schemeClr val="accent6"/>
                </a:solidFill>
              </a:rPr>
              <a:t>일봉 모드 배율</a:t>
            </a:r>
            <a:endParaRPr lang="en-US" sz="1200" dirty="0"/>
          </a:p>
        </p:txBody>
      </p:sp>
      <p:sp>
        <p:nvSpPr>
          <p:cNvPr id="31" name="Text 25"/>
          <p:cNvSpPr txBox="1"/>
          <p:nvPr/>
        </p:nvSpPr>
        <p:spPr>
          <a:xfrm>
            <a:off x="5943600" y="3657600"/>
            <a:ext cx="2560320" cy="548640"/>
          </a:xfrm>
          <a:prstGeom prst="rect">
            <a:avLst/>
          </a:prstGeom>
          <a:noFill/>
          <a:ln/>
        </p:spPr>
        <p:txBody>
          <a:bodyPr wrap="square" lIns="0" tIns="0" rIns="0" bIns="0" rtlCol="0" anchor="t"/>
          <a:lstStyle/>
          <a:p>
            <a:pPr indent="0" marL="0">
              <a:buNone/>
            </a:pPr>
            <a:r>
              <a:rPr lang="en-US" sz="3200" b="1" dirty="0">
                <a:solidFill>
                  <a:schemeClr val="accent1"/>
                </a:solidFill>
              </a:rPr>
              <a:t>1억 원</a:t>
            </a:r>
            <a:endParaRPr lang="en-US" sz="3200" dirty="0"/>
          </a:p>
        </p:txBody>
      </p:sp>
      <p:sp>
        <p:nvSpPr>
          <p:cNvPr id="32" name="Text 26"/>
          <p:cNvSpPr txBox="1"/>
          <p:nvPr/>
        </p:nvSpPr>
        <p:spPr>
          <a:xfrm>
            <a:off x="5943600" y="4224528"/>
            <a:ext cx="2560320" cy="274320"/>
          </a:xfrm>
          <a:prstGeom prst="rect">
            <a:avLst/>
          </a:prstGeom>
          <a:noFill/>
          <a:ln/>
        </p:spPr>
        <p:txBody>
          <a:bodyPr wrap="square" lIns="0" tIns="0" rIns="0" bIns="0" rtlCol="0" anchor="t"/>
          <a:lstStyle/>
          <a:p>
            <a:pPr indent="0" marL="0">
              <a:buNone/>
            </a:pPr>
            <a:r>
              <a:rPr lang="en-US" sz="1200" dirty="0">
                <a:solidFill>
                  <a:schemeClr val="accent6"/>
                </a:solidFill>
              </a:rPr>
              <a:t>시드머니</a:t>
            </a:r>
            <a:endParaRPr lang="en-US" sz="12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세 번의 발표, 오늘은 데이터</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프로젝트가 진행된 순서대로 나눴습니다</a:t>
            </a:r>
            <a:endParaRPr lang="en-US" sz="1400" dirty="0"/>
          </a:p>
        </p:txBody>
      </p:sp>
      <p:sp>
        <p:nvSpPr>
          <p:cNvPr id="4" name="talk-1"/>
          <p:cNvSpPr/>
          <p:nvPr/>
        </p:nvSpPr>
        <p:spPr>
          <a:xfrm>
            <a:off x="457200" y="1417320"/>
            <a:ext cx="2606040" cy="2011680"/>
          </a:xfrm>
          <a:prstGeom prst="roundRect">
            <a:avLst>
              <a:gd name="adj" fmla="val 3636"/>
            </a:avLst>
          </a:prstGeom>
          <a:solidFill>
            <a:schemeClr val="accent1"/>
          </a:solidFill>
          <a:ln/>
        </p:spPr>
      </p:sp>
      <p:sp>
        <p:nvSpPr>
          <p:cNvPr id="5" name="Text 3"/>
          <p:cNvSpPr txBox="1"/>
          <p:nvPr/>
        </p:nvSpPr>
        <p:spPr>
          <a:xfrm>
            <a:off x="685800" y="1627632"/>
            <a:ext cx="2148840" cy="274320"/>
          </a:xfrm>
          <a:prstGeom prst="rect">
            <a:avLst/>
          </a:prstGeom>
          <a:noFill/>
          <a:ln/>
        </p:spPr>
        <p:txBody>
          <a:bodyPr wrap="square" lIns="0" tIns="0" rIns="0" bIns="0" rtlCol="0" anchor="t"/>
          <a:lstStyle/>
          <a:p>
            <a:pPr indent="0" marL="0">
              <a:buNone/>
            </a:pPr>
            <a:r>
              <a:rPr lang="en-US" sz="1200" b="1" dirty="0">
                <a:solidFill>
                  <a:schemeClr val="bg1"/>
                </a:solidFill>
              </a:rPr>
              <a:t>발표 1 · 오늘</a:t>
            </a:r>
            <a:endParaRPr lang="en-US" sz="1200" dirty="0"/>
          </a:p>
        </p:txBody>
      </p:sp>
      <p:sp>
        <p:nvSpPr>
          <p:cNvPr id="6" name="Text 4"/>
          <p:cNvSpPr txBox="1"/>
          <p:nvPr/>
        </p:nvSpPr>
        <p:spPr>
          <a:xfrm>
            <a:off x="685800" y="1938528"/>
            <a:ext cx="2148840" cy="685800"/>
          </a:xfrm>
          <a:prstGeom prst="rect">
            <a:avLst/>
          </a:prstGeom>
          <a:noFill/>
          <a:ln/>
        </p:spPr>
        <p:txBody>
          <a:bodyPr wrap="square" lIns="0" tIns="0" rIns="0" bIns="0" rtlCol="0" anchor="t"/>
          <a:lstStyle/>
          <a:p>
            <a:pPr indent="0" marL="0">
              <a:buNone/>
            </a:pPr>
            <a:r>
              <a:rPr lang="en-US" sz="1700" b="1" dirty="0">
                <a:solidFill>
                  <a:schemeClr val="bg1"/>
                </a:solidFill>
              </a:rPr>
              <a:t>실제 시세를</a:t>
            </a:r>
            <a:endParaRPr lang="en-US" sz="1700" dirty="0"/>
          </a:p>
          <a:p>
            <a:pPr indent="0" marL="0">
              <a:buNone/>
            </a:pPr>
            <a:r>
              <a:rPr lang="en-US" sz="1700" b="1" dirty="0">
                <a:solidFill>
                  <a:schemeClr val="bg1"/>
                </a:solidFill>
              </a:rPr>
              <a:t>게임 재료로</a:t>
            </a:r>
            <a:endParaRPr lang="en-US" sz="1700" dirty="0"/>
          </a:p>
        </p:txBody>
      </p:sp>
      <p:sp>
        <p:nvSpPr>
          <p:cNvPr id="7" name="Text 5"/>
          <p:cNvSpPr txBox="1"/>
          <p:nvPr/>
        </p:nvSpPr>
        <p:spPr>
          <a:xfrm>
            <a:off x="685800" y="2651760"/>
            <a:ext cx="2148840" cy="685800"/>
          </a:xfrm>
          <a:prstGeom prst="rect">
            <a:avLst/>
          </a:prstGeom>
          <a:noFill/>
          <a:ln/>
        </p:spPr>
        <p:txBody>
          <a:bodyPr wrap="square" lIns="0" tIns="0" rIns="0" bIns="0" rtlCol="0" anchor="t"/>
          <a:lstStyle/>
          <a:p>
            <a:pPr indent="0" marL="0">
              <a:buNone/>
            </a:pPr>
            <a:r>
              <a:rPr lang="en-US" sz="1200" dirty="0">
                <a:solidFill>
                  <a:schemeClr val="bg2"/>
                </a:solidFill>
              </a:rPr>
              <a:t>토스 API 실측 → 수집기 → 시세 저장소 → 시나리오</a:t>
            </a:r>
            <a:endParaRPr lang="en-US" sz="1200" dirty="0"/>
          </a:p>
        </p:txBody>
      </p:sp>
      <p:sp>
        <p:nvSpPr>
          <p:cNvPr id="8" name="talk-2"/>
          <p:cNvSpPr/>
          <p:nvPr/>
        </p:nvSpPr>
        <p:spPr>
          <a:xfrm>
            <a:off x="3268980" y="1417320"/>
            <a:ext cx="2606040" cy="2011680"/>
          </a:xfrm>
          <a:prstGeom prst="roundRect">
            <a:avLst>
              <a:gd name="adj" fmla="val 3636"/>
            </a:avLst>
          </a:prstGeom>
          <a:solidFill>
            <a:schemeClr val="bg2"/>
          </a:solidFill>
          <a:ln/>
        </p:spPr>
      </p:sp>
      <p:sp>
        <p:nvSpPr>
          <p:cNvPr id="9" name="Text 7"/>
          <p:cNvSpPr txBox="1"/>
          <p:nvPr/>
        </p:nvSpPr>
        <p:spPr>
          <a:xfrm>
            <a:off x="3497580" y="1627632"/>
            <a:ext cx="2148840" cy="274320"/>
          </a:xfrm>
          <a:prstGeom prst="rect">
            <a:avLst/>
          </a:prstGeom>
          <a:noFill/>
          <a:ln/>
        </p:spPr>
        <p:txBody>
          <a:bodyPr wrap="square" lIns="0" tIns="0" rIns="0" bIns="0" rtlCol="0" anchor="t"/>
          <a:lstStyle/>
          <a:p>
            <a:pPr indent="0" marL="0">
              <a:buNone/>
            </a:pPr>
            <a:r>
              <a:rPr lang="en-US" sz="1200" b="1" dirty="0">
                <a:solidFill>
                  <a:schemeClr val="accent1"/>
                </a:solidFill>
              </a:rPr>
              <a:t>발표 2</a:t>
            </a:r>
            <a:endParaRPr lang="en-US" sz="1200" dirty="0"/>
          </a:p>
        </p:txBody>
      </p:sp>
      <p:sp>
        <p:nvSpPr>
          <p:cNvPr id="10" name="Text 8"/>
          <p:cNvSpPr txBox="1"/>
          <p:nvPr/>
        </p:nvSpPr>
        <p:spPr>
          <a:xfrm>
            <a:off x="3497580" y="1938528"/>
            <a:ext cx="2148840" cy="685800"/>
          </a:xfrm>
          <a:prstGeom prst="rect">
            <a:avLst/>
          </a:prstGeom>
          <a:noFill/>
          <a:ln/>
        </p:spPr>
        <p:txBody>
          <a:bodyPr wrap="square" lIns="0" tIns="0" rIns="0" bIns="0" rtlCol="0" anchor="t"/>
          <a:lstStyle/>
          <a:p>
            <a:pPr indent="0" marL="0">
              <a:buNone/>
            </a:pPr>
            <a:r>
              <a:rPr lang="en-US" sz="1700" b="1" dirty="0">
                <a:solidFill>
                  <a:schemeClr val="tx1"/>
                </a:solidFill>
              </a:rPr>
              <a:t>정확하고 공정한</a:t>
            </a:r>
            <a:endParaRPr lang="en-US" sz="1700" dirty="0"/>
          </a:p>
          <a:p>
            <a:pPr indent="0" marL="0">
              <a:buNone/>
            </a:pPr>
            <a:r>
              <a:rPr lang="en-US" sz="1700" b="1" dirty="0">
                <a:solidFill>
                  <a:schemeClr val="tx1"/>
                </a:solidFill>
              </a:rPr>
              <a:t>게임 서버</a:t>
            </a:r>
            <a:endParaRPr lang="en-US" sz="1700" dirty="0"/>
          </a:p>
        </p:txBody>
      </p:sp>
      <p:sp>
        <p:nvSpPr>
          <p:cNvPr id="11" name="Text 9"/>
          <p:cNvSpPr txBox="1"/>
          <p:nvPr/>
        </p:nvSpPr>
        <p:spPr>
          <a:xfrm>
            <a:off x="3497580" y="2651760"/>
            <a:ext cx="2148840" cy="685800"/>
          </a:xfrm>
          <a:prstGeom prst="rect">
            <a:avLst/>
          </a:prstGeom>
          <a:noFill/>
          <a:ln/>
        </p:spPr>
        <p:txBody>
          <a:bodyPr wrap="square" lIns="0" tIns="0" rIns="0" bIns="0" rtlCol="0" anchor="t"/>
          <a:lstStyle/>
          <a:p>
            <a:pPr indent="0" marL="0">
              <a:buNone/>
            </a:pPr>
            <a:r>
              <a:rPr lang="en-US" sz="1200" dirty="0">
                <a:solidFill>
                  <a:schemeClr val="accent6"/>
                </a:solidFill>
              </a:rPr>
              <a:t>금액 계산 · 청산 → 방 단위 직렬 처리 → 실시간 통신 · 결과 저장</a:t>
            </a:r>
            <a:endParaRPr lang="en-US" sz="1200" dirty="0"/>
          </a:p>
        </p:txBody>
      </p:sp>
      <p:sp>
        <p:nvSpPr>
          <p:cNvPr id="12" name="talk-3"/>
          <p:cNvSpPr/>
          <p:nvPr/>
        </p:nvSpPr>
        <p:spPr>
          <a:xfrm>
            <a:off x="6080760" y="1417320"/>
            <a:ext cx="2606040" cy="2011680"/>
          </a:xfrm>
          <a:prstGeom prst="roundRect">
            <a:avLst>
              <a:gd name="adj" fmla="val 3636"/>
            </a:avLst>
          </a:prstGeom>
          <a:solidFill>
            <a:schemeClr val="bg2"/>
          </a:solidFill>
          <a:ln/>
        </p:spPr>
      </p:sp>
      <p:sp>
        <p:nvSpPr>
          <p:cNvPr id="13" name="Text 11"/>
          <p:cNvSpPr txBox="1"/>
          <p:nvPr/>
        </p:nvSpPr>
        <p:spPr>
          <a:xfrm>
            <a:off x="6309360" y="1627632"/>
            <a:ext cx="2148840" cy="274320"/>
          </a:xfrm>
          <a:prstGeom prst="rect">
            <a:avLst/>
          </a:prstGeom>
          <a:noFill/>
          <a:ln/>
        </p:spPr>
        <p:txBody>
          <a:bodyPr wrap="square" lIns="0" tIns="0" rIns="0" bIns="0" rtlCol="0" anchor="t"/>
          <a:lstStyle/>
          <a:p>
            <a:pPr indent="0" marL="0">
              <a:buNone/>
            </a:pPr>
            <a:r>
              <a:rPr lang="en-US" sz="1200" b="1" dirty="0">
                <a:solidFill>
                  <a:schemeClr val="accent1"/>
                </a:solidFill>
              </a:rPr>
              <a:t>발표 3</a:t>
            </a:r>
            <a:endParaRPr lang="en-US" sz="1200" dirty="0"/>
          </a:p>
        </p:txBody>
      </p:sp>
      <p:sp>
        <p:nvSpPr>
          <p:cNvPr id="14" name="Text 12"/>
          <p:cNvSpPr txBox="1"/>
          <p:nvPr/>
        </p:nvSpPr>
        <p:spPr>
          <a:xfrm>
            <a:off x="6309360" y="1938528"/>
            <a:ext cx="2148840" cy="685800"/>
          </a:xfrm>
          <a:prstGeom prst="rect">
            <a:avLst/>
          </a:prstGeom>
          <a:noFill/>
          <a:ln/>
        </p:spPr>
        <p:txBody>
          <a:bodyPr wrap="square" lIns="0" tIns="0" rIns="0" bIns="0" rtlCol="0" anchor="t"/>
          <a:lstStyle/>
          <a:p>
            <a:pPr indent="0" marL="0">
              <a:buNone/>
            </a:pPr>
            <a:r>
              <a:rPr lang="en-US" sz="1700" b="1" dirty="0">
                <a:solidFill>
                  <a:schemeClr val="tx1"/>
                </a:solidFill>
              </a:rPr>
              <a:t>플레이해보고</a:t>
            </a:r>
            <a:endParaRPr lang="en-US" sz="1700" dirty="0"/>
          </a:p>
          <a:p>
            <a:pPr indent="0" marL="0">
              <a:buNone/>
            </a:pPr>
            <a:r>
              <a:rPr lang="en-US" sz="1700" b="1" dirty="0">
                <a:solidFill>
                  <a:schemeClr val="tx1"/>
                </a:solidFill>
              </a:rPr>
              <a:t>고친 것들</a:t>
            </a:r>
            <a:endParaRPr lang="en-US" sz="1700" dirty="0"/>
          </a:p>
        </p:txBody>
      </p:sp>
      <p:sp>
        <p:nvSpPr>
          <p:cNvPr id="15" name="Text 13"/>
          <p:cNvSpPr txBox="1"/>
          <p:nvPr/>
        </p:nvSpPr>
        <p:spPr>
          <a:xfrm>
            <a:off x="6309360" y="2651760"/>
            <a:ext cx="2148840" cy="685800"/>
          </a:xfrm>
          <a:prstGeom prst="rect">
            <a:avLst/>
          </a:prstGeom>
          <a:noFill/>
          <a:ln/>
        </p:spPr>
        <p:txBody>
          <a:bodyPr wrap="square" lIns="0" tIns="0" rIns="0" bIns="0" rtlCol="0" anchor="t"/>
          <a:lstStyle/>
          <a:p>
            <a:pPr indent="0" marL="0">
              <a:buNone/>
            </a:pPr>
            <a:r>
              <a:rPr lang="en-US" sz="1200" dirty="0">
                <a:solidFill>
                  <a:schemeClr val="accent6"/>
                </a:solidFill>
              </a:rPr>
              <a:t>화면 · 봇 · 임시 공개 → 데이터로 내린 결정 → 남은 과제</a:t>
            </a:r>
            <a:endParaRPr lang="en-US" sz="1200" dirty="0"/>
          </a:p>
        </p:txBody>
      </p:sp>
      <p:sp>
        <p:nvSpPr>
          <p:cNvPr id="16" name="Text 14"/>
          <p:cNvSpPr txBox="1"/>
          <p:nvPr/>
        </p:nvSpPr>
        <p:spPr>
          <a:xfrm>
            <a:off x="457200" y="3703320"/>
            <a:ext cx="1828800" cy="274320"/>
          </a:xfrm>
          <a:prstGeom prst="rect">
            <a:avLst/>
          </a:prstGeom>
          <a:noFill/>
          <a:ln/>
        </p:spPr>
        <p:txBody>
          <a:bodyPr wrap="square" lIns="0" tIns="0" rIns="0" bIns="0" rtlCol="0" anchor="t"/>
          <a:lstStyle/>
          <a:p>
            <a:pPr indent="0" marL="0">
              <a:buNone/>
            </a:pPr>
            <a:r>
              <a:rPr lang="en-US" sz="1200" b="1" dirty="0">
                <a:solidFill>
                  <a:schemeClr val="accent6"/>
                </a:solidFill>
              </a:rPr>
              <a:t>오늘의 순서</a:t>
            </a:r>
            <a:endParaRPr lang="en-US" sz="1200" dirty="0"/>
          </a:p>
        </p:txBody>
      </p:sp>
      <p:sp>
        <p:nvSpPr>
          <p:cNvPr id="17" name="Shape 15"/>
          <p:cNvSpPr/>
          <p:nvPr/>
        </p:nvSpPr>
        <p:spPr>
          <a:xfrm>
            <a:off x="457200" y="4041648"/>
            <a:ext cx="347472" cy="347472"/>
          </a:xfrm>
          <a:prstGeom prst="ellipse">
            <a:avLst/>
          </a:prstGeom>
          <a:solidFill>
            <a:schemeClr val="accent1"/>
          </a:solidFill>
          <a:ln/>
        </p:spPr>
      </p:sp>
      <p:sp>
        <p:nvSpPr>
          <p:cNvPr id="18" name="Text 16"/>
          <p:cNvSpPr txBox="1"/>
          <p:nvPr/>
        </p:nvSpPr>
        <p:spPr>
          <a:xfrm>
            <a:off x="457200" y="4041648"/>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9" name="Text 17"/>
          <p:cNvSpPr txBox="1"/>
          <p:nvPr/>
        </p:nvSpPr>
        <p:spPr>
          <a:xfrm>
            <a:off x="896112" y="4041648"/>
            <a:ext cx="1188720" cy="347472"/>
          </a:xfrm>
          <a:prstGeom prst="rect">
            <a:avLst/>
          </a:prstGeom>
          <a:noFill/>
          <a:ln/>
        </p:spPr>
        <p:txBody>
          <a:bodyPr wrap="square" lIns="0" tIns="0" rIns="0" bIns="0" rtlCol="0" anchor="ctr"/>
          <a:lstStyle/>
          <a:p>
            <a:pPr indent="0" marL="0">
              <a:buNone/>
            </a:pPr>
            <a:r>
              <a:rPr lang="en-US" sz="1300" b="1" dirty="0">
                <a:solidFill>
                  <a:schemeClr val="tx1"/>
                </a:solidFill>
              </a:rPr>
              <a:t>먼저 정한 규칙</a:t>
            </a:r>
            <a:endParaRPr lang="en-US" sz="1300" dirty="0"/>
          </a:p>
        </p:txBody>
      </p:sp>
      <p:sp>
        <p:nvSpPr>
          <p:cNvPr id="20" name="Shape 18"/>
          <p:cNvSpPr/>
          <p:nvPr/>
        </p:nvSpPr>
        <p:spPr>
          <a:xfrm>
            <a:off x="2121408" y="4041648"/>
            <a:ext cx="347472" cy="347472"/>
          </a:xfrm>
          <a:prstGeom prst="ellipse">
            <a:avLst/>
          </a:prstGeom>
          <a:solidFill>
            <a:schemeClr val="accent1"/>
          </a:solidFill>
          <a:ln/>
        </p:spPr>
      </p:sp>
      <p:sp>
        <p:nvSpPr>
          <p:cNvPr id="21" name="Text 19"/>
          <p:cNvSpPr txBox="1"/>
          <p:nvPr/>
        </p:nvSpPr>
        <p:spPr>
          <a:xfrm>
            <a:off x="2121408" y="4041648"/>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2" name="Text 20"/>
          <p:cNvSpPr txBox="1"/>
          <p:nvPr/>
        </p:nvSpPr>
        <p:spPr>
          <a:xfrm>
            <a:off x="2560320" y="4041648"/>
            <a:ext cx="1188720" cy="347472"/>
          </a:xfrm>
          <a:prstGeom prst="rect">
            <a:avLst/>
          </a:prstGeom>
          <a:noFill/>
          <a:ln/>
        </p:spPr>
        <p:txBody>
          <a:bodyPr wrap="square" lIns="0" tIns="0" rIns="0" bIns="0" rtlCol="0" anchor="ctr"/>
          <a:lstStyle/>
          <a:p>
            <a:pPr indent="0" marL="0">
              <a:buNone/>
            </a:pPr>
            <a:r>
              <a:rPr lang="en-US" sz="1300" b="1" dirty="0">
                <a:solidFill>
                  <a:schemeClr val="tx1"/>
                </a:solidFill>
              </a:rPr>
              <a:t>토스 API 실측</a:t>
            </a:r>
            <a:endParaRPr lang="en-US" sz="1300" dirty="0"/>
          </a:p>
        </p:txBody>
      </p:sp>
      <p:sp>
        <p:nvSpPr>
          <p:cNvPr id="23" name="Shape 21"/>
          <p:cNvSpPr/>
          <p:nvPr/>
        </p:nvSpPr>
        <p:spPr>
          <a:xfrm>
            <a:off x="3785616" y="4041648"/>
            <a:ext cx="347472" cy="347472"/>
          </a:xfrm>
          <a:prstGeom prst="ellipse">
            <a:avLst/>
          </a:prstGeom>
          <a:solidFill>
            <a:schemeClr val="accent1"/>
          </a:solidFill>
          <a:ln/>
        </p:spPr>
      </p:sp>
      <p:sp>
        <p:nvSpPr>
          <p:cNvPr id="24" name="Text 22"/>
          <p:cNvSpPr txBox="1"/>
          <p:nvPr/>
        </p:nvSpPr>
        <p:spPr>
          <a:xfrm>
            <a:off x="3785616" y="4041648"/>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5" name="Text 23"/>
          <p:cNvSpPr txBox="1"/>
          <p:nvPr/>
        </p:nvSpPr>
        <p:spPr>
          <a:xfrm>
            <a:off x="4224528" y="4041648"/>
            <a:ext cx="1188720" cy="347472"/>
          </a:xfrm>
          <a:prstGeom prst="rect">
            <a:avLst/>
          </a:prstGeom>
          <a:noFill/>
          <a:ln/>
        </p:spPr>
        <p:txBody>
          <a:bodyPr wrap="square" lIns="0" tIns="0" rIns="0" bIns="0" rtlCol="0" anchor="ctr"/>
          <a:lstStyle/>
          <a:p>
            <a:pPr indent="0" marL="0">
              <a:buNone/>
            </a:pPr>
            <a:r>
              <a:rPr lang="en-US" sz="1300" b="1" dirty="0">
                <a:solidFill>
                  <a:schemeClr val="tx1"/>
                </a:solidFill>
              </a:rPr>
              <a:t>수집기</a:t>
            </a:r>
            <a:endParaRPr lang="en-US" sz="1300" dirty="0"/>
          </a:p>
        </p:txBody>
      </p:sp>
      <p:sp>
        <p:nvSpPr>
          <p:cNvPr id="26" name="Shape 24"/>
          <p:cNvSpPr/>
          <p:nvPr/>
        </p:nvSpPr>
        <p:spPr>
          <a:xfrm>
            <a:off x="5449824" y="4041648"/>
            <a:ext cx="347472" cy="347472"/>
          </a:xfrm>
          <a:prstGeom prst="ellipse">
            <a:avLst/>
          </a:prstGeom>
          <a:solidFill>
            <a:schemeClr val="accent1"/>
          </a:solidFill>
          <a:ln/>
        </p:spPr>
      </p:sp>
      <p:sp>
        <p:nvSpPr>
          <p:cNvPr id="27" name="Text 25"/>
          <p:cNvSpPr txBox="1"/>
          <p:nvPr/>
        </p:nvSpPr>
        <p:spPr>
          <a:xfrm>
            <a:off x="5449824" y="4041648"/>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6"/>
          <p:cNvSpPr txBox="1"/>
          <p:nvPr/>
        </p:nvSpPr>
        <p:spPr>
          <a:xfrm>
            <a:off x="5888736" y="4041648"/>
            <a:ext cx="1188720" cy="347472"/>
          </a:xfrm>
          <a:prstGeom prst="rect">
            <a:avLst/>
          </a:prstGeom>
          <a:noFill/>
          <a:ln/>
        </p:spPr>
        <p:txBody>
          <a:bodyPr wrap="square" lIns="0" tIns="0" rIns="0" bIns="0" rtlCol="0" anchor="ctr"/>
          <a:lstStyle/>
          <a:p>
            <a:pPr indent="0" marL="0">
              <a:buNone/>
            </a:pPr>
            <a:r>
              <a:rPr lang="en-US" sz="1300" b="1" dirty="0">
                <a:solidFill>
                  <a:schemeClr val="tx1"/>
                </a:solidFill>
              </a:rPr>
              <a:t>시세 저장소</a:t>
            </a:r>
            <a:endParaRPr lang="en-US" sz="1300" dirty="0"/>
          </a:p>
        </p:txBody>
      </p:sp>
      <p:sp>
        <p:nvSpPr>
          <p:cNvPr id="29" name="Shape 27"/>
          <p:cNvSpPr/>
          <p:nvPr/>
        </p:nvSpPr>
        <p:spPr>
          <a:xfrm>
            <a:off x="7114032" y="4041648"/>
            <a:ext cx="347472" cy="347472"/>
          </a:xfrm>
          <a:prstGeom prst="ellipse">
            <a:avLst/>
          </a:prstGeom>
          <a:solidFill>
            <a:schemeClr val="accent1"/>
          </a:solidFill>
          <a:ln/>
        </p:spPr>
      </p:sp>
      <p:sp>
        <p:nvSpPr>
          <p:cNvPr id="30" name="Text 28"/>
          <p:cNvSpPr txBox="1"/>
          <p:nvPr/>
        </p:nvSpPr>
        <p:spPr>
          <a:xfrm>
            <a:off x="7114032" y="4041648"/>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1" name="Text 29"/>
          <p:cNvSpPr txBox="1"/>
          <p:nvPr/>
        </p:nvSpPr>
        <p:spPr>
          <a:xfrm>
            <a:off x="7552944" y="4041648"/>
            <a:ext cx="1188720" cy="347472"/>
          </a:xfrm>
          <a:prstGeom prst="rect">
            <a:avLst/>
          </a:prstGeom>
          <a:noFill/>
          <a:ln/>
        </p:spPr>
        <p:txBody>
          <a:bodyPr wrap="square" lIns="0" tIns="0" rIns="0" bIns="0" rtlCol="0" anchor="ctr"/>
          <a:lstStyle/>
          <a:p>
            <a:pPr indent="0" marL="0">
              <a:buNone/>
            </a:pPr>
            <a:r>
              <a:rPr lang="en-US" sz="1300" b="1" dirty="0">
                <a:solidFill>
                  <a:schemeClr val="tx1"/>
                </a:solidFill>
              </a:rPr>
              <a:t>시나리오</a:t>
            </a:r>
            <a:endParaRPr lang="en-US" sz="13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코드보다 먼저 정한 세 가지 규칙</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규칙을 깨는 코드는 쓰지 않습니다. 충돌하는 요청은 먼저 지적합니다</a:t>
            </a:r>
            <a:endParaRPr lang="en-US" sz="1400" dirty="0"/>
          </a:p>
        </p:txBody>
      </p:sp>
      <p:sp>
        <p:nvSpPr>
          <p:cNvPr id="4" name="rule-1"/>
          <p:cNvSpPr/>
          <p:nvPr/>
        </p:nvSpPr>
        <p:spPr>
          <a:xfrm>
            <a:off x="457200" y="1371600"/>
            <a:ext cx="2606040" cy="2743200"/>
          </a:xfrm>
          <a:prstGeom prst="roundRect">
            <a:avLst>
              <a:gd name="adj" fmla="val 2807"/>
            </a:avLst>
          </a:prstGeom>
          <a:solidFill>
            <a:schemeClr val="bg2"/>
          </a:solidFill>
          <a:ln/>
        </p:spPr>
      </p:sp>
      <p:sp>
        <p:nvSpPr>
          <p:cNvPr id="5" name="Shape 3"/>
          <p:cNvSpPr/>
          <p:nvPr/>
        </p:nvSpPr>
        <p:spPr>
          <a:xfrm>
            <a:off x="685800" y="1572768"/>
            <a:ext cx="502920" cy="50292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811530" y="1698498"/>
            <a:ext cx="251460" cy="251460"/>
          </a:xfrm>
          <a:prstGeom prst="rect">
            <a:avLst/>
          </a:prstGeom>
        </p:spPr>
      </p:pic>
      <p:sp>
        <p:nvSpPr>
          <p:cNvPr id="7" name="Text 4"/>
          <p:cNvSpPr txBox="1"/>
          <p:nvPr/>
        </p:nvSpPr>
        <p:spPr>
          <a:xfrm>
            <a:off x="1325880" y="1572768"/>
            <a:ext cx="1600200" cy="502920"/>
          </a:xfrm>
          <a:prstGeom prst="rect">
            <a:avLst/>
          </a:prstGeom>
          <a:noFill/>
          <a:ln/>
        </p:spPr>
        <p:txBody>
          <a:bodyPr wrap="square" lIns="0" tIns="0" rIns="0" bIns="0" rtlCol="0" anchor="ctr"/>
          <a:lstStyle/>
          <a:p>
            <a:pPr indent="0" marL="0">
              <a:buNone/>
            </a:pPr>
            <a:r>
              <a:rPr lang="en-US" sz="1700" b="1" dirty="0">
                <a:solidFill>
                  <a:schemeClr val="tx1"/>
                </a:solidFill>
              </a:rPr>
              <a:t>실계좌 보호</a:t>
            </a:r>
            <a:endParaRPr lang="en-US" sz="1700" dirty="0"/>
          </a:p>
        </p:txBody>
      </p:sp>
      <p:sp>
        <p:nvSpPr>
          <p:cNvPr id="8" name="Text 5"/>
          <p:cNvSpPr txBox="1"/>
          <p:nvPr/>
        </p:nvSpPr>
        <p:spPr>
          <a:xfrm>
            <a:off x="685800" y="2240280"/>
            <a:ext cx="2148840" cy="868680"/>
          </a:xfrm>
          <a:prstGeom prst="rect">
            <a:avLst/>
          </a:prstGeom>
          <a:noFill/>
          <a:ln/>
        </p:spPr>
        <p:txBody>
          <a:bodyPr wrap="square" lIns="0" tIns="0" rIns="0" bIns="0" rtlCol="0" anchor="t"/>
          <a:lstStyle/>
          <a:p>
            <a:pPr indent="0" marL="0">
              <a:buNone/>
            </a:pPr>
            <a:r>
              <a:rPr lang="en-US" sz="1400" b="1" dirty="0">
                <a:solidFill>
                  <a:schemeClr val="tx1"/>
                </a:solidFill>
              </a:rPr>
              <a:t>주문 · 계좌 · 잔고 API 를</a:t>
            </a:r>
            <a:endParaRPr lang="en-US" sz="1400" dirty="0"/>
          </a:p>
          <a:p>
            <a:pPr indent="0" marL="0">
              <a:buNone/>
            </a:pPr>
            <a:r>
              <a:rPr lang="en-US" sz="1400" b="1" dirty="0">
                <a:solidFill>
                  <a:schemeClr val="tx1"/>
                </a:solidFill>
              </a:rPr>
              <a:t>호출하는 코드는</a:t>
            </a:r>
            <a:endParaRPr lang="en-US" sz="1400" dirty="0"/>
          </a:p>
          <a:p>
            <a:pPr indent="0" marL="0">
              <a:buNone/>
            </a:pPr>
            <a:r>
              <a:rPr lang="en-US" sz="1400" b="1" dirty="0">
                <a:solidFill>
                  <a:schemeClr val="tx1"/>
                </a:solidFill>
              </a:rPr>
              <a:t>어떤 이유로도 쓰지 않는다</a:t>
            </a:r>
            <a:endParaRPr lang="en-US" sz="1400" dirty="0"/>
          </a:p>
        </p:txBody>
      </p:sp>
      <p:sp>
        <p:nvSpPr>
          <p:cNvPr id="9" name="Text 6"/>
          <p:cNvSpPr txBox="1"/>
          <p:nvPr/>
        </p:nvSpPr>
        <p:spPr>
          <a:xfrm>
            <a:off x="685800" y="3154680"/>
            <a:ext cx="2148840" cy="868680"/>
          </a:xfrm>
          <a:prstGeom prst="rect">
            <a:avLst/>
          </a:prstGeom>
          <a:noFill/>
          <a:ln/>
        </p:spPr>
        <p:txBody>
          <a:bodyPr wrap="square" lIns="0" tIns="0" rIns="0" bIns="0" rtlCol="0" anchor="t"/>
          <a:lstStyle/>
          <a:p>
            <a:pPr indent="0" marL="0">
              <a:buNone/>
            </a:pPr>
            <a:r>
              <a:rPr lang="en-US" sz="1200" dirty="0">
                <a:solidFill>
                  <a:schemeClr val="accent6"/>
                </a:solidFill>
              </a:rPr>
              <a:t>토큰 하나로 실제 주문이</a:t>
            </a:r>
            <a:endParaRPr lang="en-US" sz="1200" dirty="0"/>
          </a:p>
          <a:p>
            <a:pPr indent="0" marL="0">
              <a:buNone/>
            </a:pPr>
            <a:r>
              <a:rPr lang="en-US" sz="1200" dirty="0">
                <a:solidFill>
                  <a:schemeClr val="accent6"/>
                </a:solidFill>
              </a:rPr>
              <a:t>나갈 수 있다. 쓰는 API 는</a:t>
            </a:r>
            <a:endParaRPr lang="en-US" sz="1200" dirty="0"/>
          </a:p>
          <a:p>
            <a:pPr indent="0" marL="0">
              <a:buNone/>
            </a:pPr>
            <a:r>
              <a:rPr lang="en-US" sz="1200" dirty="0">
                <a:solidFill>
                  <a:schemeClr val="accent6"/>
                </a:solidFill>
              </a:rPr>
              <a:t>토큰 · 캔들 · 종목 정보뿐</a:t>
            </a:r>
            <a:endParaRPr lang="en-US" sz="1200" dirty="0"/>
          </a:p>
        </p:txBody>
      </p:sp>
      <p:sp>
        <p:nvSpPr>
          <p:cNvPr id="10" name="rule-2"/>
          <p:cNvSpPr/>
          <p:nvPr/>
        </p:nvSpPr>
        <p:spPr>
          <a:xfrm>
            <a:off x="3268980" y="1371600"/>
            <a:ext cx="2606040" cy="2743200"/>
          </a:xfrm>
          <a:prstGeom prst="roundRect">
            <a:avLst>
              <a:gd name="adj" fmla="val 2807"/>
            </a:avLst>
          </a:prstGeom>
          <a:solidFill>
            <a:schemeClr val="bg2"/>
          </a:solidFill>
          <a:ln/>
        </p:spPr>
      </p:sp>
      <p:sp>
        <p:nvSpPr>
          <p:cNvPr id="11" name="Shape 8"/>
          <p:cNvSpPr/>
          <p:nvPr/>
        </p:nvSpPr>
        <p:spPr>
          <a:xfrm>
            <a:off x="3497580" y="1572768"/>
            <a:ext cx="502920" cy="50292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3623310" y="1698498"/>
            <a:ext cx="251460" cy="251460"/>
          </a:xfrm>
          <a:prstGeom prst="rect">
            <a:avLst/>
          </a:prstGeom>
        </p:spPr>
      </p:pic>
      <p:sp>
        <p:nvSpPr>
          <p:cNvPr id="13" name="Text 9"/>
          <p:cNvSpPr txBox="1"/>
          <p:nvPr/>
        </p:nvSpPr>
        <p:spPr>
          <a:xfrm>
            <a:off x="4137660" y="1572768"/>
            <a:ext cx="1600200" cy="502920"/>
          </a:xfrm>
          <a:prstGeom prst="rect">
            <a:avLst/>
          </a:prstGeom>
          <a:noFill/>
          <a:ln/>
        </p:spPr>
        <p:txBody>
          <a:bodyPr wrap="square" lIns="0" tIns="0" rIns="0" bIns="0" rtlCol="0" anchor="ctr"/>
          <a:lstStyle/>
          <a:p>
            <a:pPr indent="0" marL="0">
              <a:buNone/>
            </a:pPr>
            <a:r>
              <a:rPr lang="en-US" sz="1700" b="1" dirty="0">
                <a:solidFill>
                  <a:schemeClr val="tx1"/>
                </a:solidFill>
              </a:rPr>
              <a:t>게임 중 I/O 금지</a:t>
            </a:r>
            <a:endParaRPr lang="en-US" sz="1700" dirty="0"/>
          </a:p>
        </p:txBody>
      </p:sp>
      <p:sp>
        <p:nvSpPr>
          <p:cNvPr id="14" name="Text 10"/>
          <p:cNvSpPr txBox="1"/>
          <p:nvPr/>
        </p:nvSpPr>
        <p:spPr>
          <a:xfrm>
            <a:off x="3497580" y="2240280"/>
            <a:ext cx="2148840" cy="868680"/>
          </a:xfrm>
          <a:prstGeom prst="rect">
            <a:avLst/>
          </a:prstGeom>
          <a:noFill/>
          <a:ln/>
        </p:spPr>
        <p:txBody>
          <a:bodyPr wrap="square" lIns="0" tIns="0" rIns="0" bIns="0" rtlCol="0" anchor="t"/>
          <a:lstStyle/>
          <a:p>
            <a:pPr indent="0" marL="0">
              <a:buNone/>
            </a:pPr>
            <a:r>
              <a:rPr lang="en-US" sz="1400" b="1" dirty="0">
                <a:solidFill>
                  <a:schemeClr val="tx1"/>
                </a:solidFill>
              </a:rPr>
              <a:t>틱 루프가 도는 동안</a:t>
            </a:r>
            <a:endParaRPr lang="en-US" sz="1400" dirty="0"/>
          </a:p>
          <a:p>
            <a:pPr indent="0" marL="0">
              <a:buNone/>
            </a:pPr>
            <a:r>
              <a:rPr lang="en-US" sz="1400" b="1" dirty="0">
                <a:solidFill>
                  <a:schemeClr val="tx1"/>
                </a:solidFill>
              </a:rPr>
              <a:t>DB 쓰기도, 외부 API</a:t>
            </a:r>
            <a:endParaRPr lang="en-US" sz="1400" dirty="0"/>
          </a:p>
          <a:p>
            <a:pPr indent="0" marL="0">
              <a:buNone/>
            </a:pPr>
            <a:r>
              <a:rPr lang="en-US" sz="1400" b="1" dirty="0">
                <a:solidFill>
                  <a:schemeClr val="tx1"/>
                </a:solidFill>
              </a:rPr>
              <a:t>호출도 하지 않는다</a:t>
            </a:r>
            <a:endParaRPr lang="en-US" sz="1400" dirty="0"/>
          </a:p>
        </p:txBody>
      </p:sp>
      <p:sp>
        <p:nvSpPr>
          <p:cNvPr id="15" name="Text 11"/>
          <p:cNvSpPr txBox="1"/>
          <p:nvPr/>
        </p:nvSpPr>
        <p:spPr>
          <a:xfrm>
            <a:off x="3497580" y="3154680"/>
            <a:ext cx="2148840" cy="868680"/>
          </a:xfrm>
          <a:prstGeom prst="rect">
            <a:avLst/>
          </a:prstGeom>
          <a:noFill/>
          <a:ln/>
        </p:spPr>
        <p:txBody>
          <a:bodyPr wrap="square" lIns="0" tIns="0" rIns="0" bIns="0" rtlCol="0" anchor="t"/>
          <a:lstStyle/>
          <a:p>
            <a:pPr indent="0" marL="0">
              <a:buNone/>
            </a:pPr>
            <a:r>
              <a:rPr lang="en-US" sz="1200" dirty="0">
                <a:solidFill>
                  <a:schemeClr val="accent6"/>
                </a:solidFill>
              </a:rPr>
              <a:t>DB 는 판 시작 때 읽기,</a:t>
            </a:r>
            <a:endParaRPr lang="en-US" sz="1200" dirty="0"/>
          </a:p>
          <a:p>
            <a:pPr indent="0" marL="0">
              <a:buNone/>
            </a:pPr>
            <a:r>
              <a:rPr lang="en-US" sz="1200" dirty="0">
                <a:solidFill>
                  <a:schemeClr val="accent6"/>
                </a:solidFill>
              </a:rPr>
              <a:t>판 종료 때 쓰기 — 두 순간뿐</a:t>
            </a:r>
            <a:endParaRPr lang="en-US" sz="1200" dirty="0"/>
          </a:p>
        </p:txBody>
      </p:sp>
      <p:sp>
        <p:nvSpPr>
          <p:cNvPr id="16" name="rule-3"/>
          <p:cNvSpPr/>
          <p:nvPr/>
        </p:nvSpPr>
        <p:spPr>
          <a:xfrm>
            <a:off x="6080760" y="1371600"/>
            <a:ext cx="2606040" cy="2743200"/>
          </a:xfrm>
          <a:prstGeom prst="roundRect">
            <a:avLst>
              <a:gd name="adj" fmla="val 2807"/>
            </a:avLst>
          </a:prstGeom>
          <a:solidFill>
            <a:schemeClr val="bg2"/>
          </a:solidFill>
          <a:ln/>
        </p:spPr>
      </p:sp>
      <p:sp>
        <p:nvSpPr>
          <p:cNvPr id="17" name="Shape 13"/>
          <p:cNvSpPr/>
          <p:nvPr/>
        </p:nvSpPr>
        <p:spPr>
          <a:xfrm>
            <a:off x="6309360" y="1572768"/>
            <a:ext cx="502920" cy="502920"/>
          </a:xfrm>
          <a:prstGeom prst="ellipse">
            <a:avLst/>
          </a:prstGeom>
          <a:solidFill>
            <a:schemeClr val="accent1"/>
          </a:solidFill>
          <a:ln/>
        </p:spPr>
      </p:sp>
      <p:pic>
        <p:nvPicPr>
          <p:cNvPr id="18" name="Image 2" descr="preencoded.png">    </p:cNvPr>
          <p:cNvPicPr>
            <a:picLocks noChangeAspect="1"/>
          </p:cNvPicPr>
          <p:nvPr/>
        </p:nvPicPr>
        <p:blipFill>
          <a:blip r:embed="rId3"/>
          <a:stretch>
            <a:fillRect/>
          </a:stretch>
        </p:blipFill>
        <p:spPr>
          <a:xfrm>
            <a:off x="6435090" y="1698498"/>
            <a:ext cx="251460" cy="251460"/>
          </a:xfrm>
          <a:prstGeom prst="rect">
            <a:avLst/>
          </a:prstGeom>
        </p:spPr>
      </p:pic>
      <p:sp>
        <p:nvSpPr>
          <p:cNvPr id="19" name="Text 14"/>
          <p:cNvSpPr txBox="1"/>
          <p:nvPr/>
        </p:nvSpPr>
        <p:spPr>
          <a:xfrm>
            <a:off x="6949440" y="1572768"/>
            <a:ext cx="1600200" cy="502920"/>
          </a:xfrm>
          <a:prstGeom prst="rect">
            <a:avLst/>
          </a:prstGeom>
          <a:noFill/>
          <a:ln/>
        </p:spPr>
        <p:txBody>
          <a:bodyPr wrap="square" lIns="0" tIns="0" rIns="0" bIns="0" rtlCol="0" anchor="ctr"/>
          <a:lstStyle/>
          <a:p>
            <a:pPr indent="0" marL="0">
              <a:buNone/>
            </a:pPr>
            <a:r>
              <a:rPr lang="en-US" sz="1700" b="1" dirty="0">
                <a:solidFill>
                  <a:schemeClr val="tx1"/>
                </a:solidFill>
              </a:rPr>
              <a:t>상태 테이블 금지</a:t>
            </a:r>
            <a:endParaRPr lang="en-US" sz="1700" dirty="0"/>
          </a:p>
        </p:txBody>
      </p:sp>
      <p:sp>
        <p:nvSpPr>
          <p:cNvPr id="20" name="Text 15"/>
          <p:cNvSpPr txBox="1"/>
          <p:nvPr/>
        </p:nvSpPr>
        <p:spPr>
          <a:xfrm>
            <a:off x="6309360" y="2240280"/>
            <a:ext cx="2148840" cy="868680"/>
          </a:xfrm>
          <a:prstGeom prst="rect">
            <a:avLst/>
          </a:prstGeom>
          <a:noFill/>
          <a:ln/>
        </p:spPr>
        <p:txBody>
          <a:bodyPr wrap="square" lIns="0" tIns="0" rIns="0" bIns="0" rtlCol="0" anchor="t"/>
          <a:lstStyle/>
          <a:p>
            <a:pPr indent="0" marL="0">
              <a:buNone/>
            </a:pPr>
            <a:r>
              <a:rPr lang="en-US" sz="1400" b="1" dirty="0">
                <a:solidFill>
                  <a:schemeClr val="tx1"/>
                </a:solidFill>
              </a:rPr>
              <a:t>잔고 · 보유 종목 같은</a:t>
            </a:r>
            <a:endParaRPr lang="en-US" sz="1400" dirty="0"/>
          </a:p>
          <a:p>
            <a:pPr indent="0" marL="0">
              <a:buNone/>
            </a:pPr>
            <a:r>
              <a:rPr lang="en-US" sz="1400" b="1" dirty="0">
                <a:solidFill>
                  <a:schemeClr val="tx1"/>
                </a:solidFill>
              </a:rPr>
              <a:t>「지금 상태」 테이블을</a:t>
            </a:r>
            <a:endParaRPr lang="en-US" sz="1400" dirty="0"/>
          </a:p>
          <a:p>
            <a:pPr indent="0" marL="0">
              <a:buNone/>
            </a:pPr>
            <a:r>
              <a:rPr lang="en-US" sz="1400" b="1" dirty="0">
                <a:solidFill>
                  <a:schemeClr val="tx1"/>
                </a:solidFill>
              </a:rPr>
              <a:t>만들지 않는다</a:t>
            </a:r>
            <a:endParaRPr lang="en-US" sz="1400" dirty="0"/>
          </a:p>
        </p:txBody>
      </p:sp>
      <p:sp>
        <p:nvSpPr>
          <p:cNvPr id="21" name="Text 16"/>
          <p:cNvSpPr txBox="1"/>
          <p:nvPr/>
        </p:nvSpPr>
        <p:spPr>
          <a:xfrm>
            <a:off x="6309360" y="3154680"/>
            <a:ext cx="2148840" cy="868680"/>
          </a:xfrm>
          <a:prstGeom prst="rect">
            <a:avLst/>
          </a:prstGeom>
          <a:noFill/>
          <a:ln/>
        </p:spPr>
        <p:txBody>
          <a:bodyPr wrap="square" lIns="0" tIns="0" rIns="0" bIns="0" rtlCol="0" anchor="t"/>
          <a:lstStyle/>
          <a:p>
            <a:pPr indent="0" marL="0">
              <a:buNone/>
            </a:pPr>
            <a:r>
              <a:rPr lang="en-US" sz="1200" dirty="0">
                <a:solidFill>
                  <a:schemeClr val="accent6"/>
                </a:solidFill>
              </a:rPr>
              <a:t>매 거래 UPDATE 가 생기면</a:t>
            </a:r>
            <a:endParaRPr lang="en-US" sz="1200" dirty="0"/>
          </a:p>
          <a:p>
            <a:pPr indent="0" marL="0">
              <a:buNone/>
            </a:pPr>
            <a:r>
              <a:rPr lang="en-US" sz="1200" dirty="0">
                <a:solidFill>
                  <a:schemeClr val="accent6"/>
                </a:solidFill>
              </a:rPr>
              <a:t>설계가 무너진다.</a:t>
            </a:r>
            <a:endParaRPr lang="en-US" sz="1200" dirty="0"/>
          </a:p>
          <a:p>
            <a:pPr indent="0" marL="0">
              <a:buNone/>
            </a:pPr>
            <a:r>
              <a:rPr lang="en-US" sz="1200" dirty="0">
                <a:solidFill>
                  <a:schemeClr val="accent6"/>
                </a:solidFill>
              </a:rPr>
              <a:t>상태는 서버 메모리에만</a:t>
            </a:r>
            <a:endParaRPr lang="en-US" sz="1200" dirty="0"/>
          </a:p>
        </p:txBody>
      </p:sp>
      <p:sp>
        <p:nvSpPr>
          <p:cNvPr id="22" name="Text 17"/>
          <p:cNvSpPr txBox="1"/>
          <p:nvPr/>
        </p:nvSpPr>
        <p:spPr>
          <a:xfrm>
            <a:off x="457200" y="4279392"/>
            <a:ext cx="8229600" cy="320040"/>
          </a:xfrm>
          <a:prstGeom prst="rect">
            <a:avLst/>
          </a:prstGeom>
          <a:noFill/>
          <a:ln/>
        </p:spPr>
        <p:txBody>
          <a:bodyPr wrap="square" lIns="0" tIns="0" rIns="0" bIns="0" rtlCol="0" anchor="t"/>
          <a:lstStyle/>
          <a:p>
            <a:pPr indent="0" marL="0">
              <a:buNone/>
            </a:pPr>
            <a:r>
              <a:rPr lang="en-US" sz="1400" b="1" dirty="0">
                <a:solidFill>
                  <a:schemeClr val="accent1"/>
                </a:solidFill>
              </a:rPr>
              <a:t>→ 이 규칙들 때문에 시세 수집기를 게임 서버와 떼어 놓았습니다</a:t>
            </a:r>
            <a:endParaRPr lang="en-US" sz="14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수집기와 게임 서버를 떼어 놓았다</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게임 서버는 외부 API 를 모릅니다. 시세는 DB 에서만 읽습니다</a:t>
            </a:r>
            <a:endParaRPr lang="en-US" sz="1400" dirty="0"/>
          </a:p>
        </p:txBody>
      </p:sp>
      <p:sp>
        <p:nvSpPr>
          <p:cNvPr id="4" name="토스증권 API"/>
          <p:cNvSpPr/>
          <p:nvPr/>
        </p:nvSpPr>
        <p:spPr>
          <a:xfrm>
            <a:off x="457200" y="1463040"/>
            <a:ext cx="1554480" cy="1051560"/>
          </a:xfrm>
          <a:prstGeom prst="roundRect">
            <a:avLst>
              <a:gd name="adj" fmla="val 6957"/>
            </a:avLst>
          </a:prstGeom>
          <a:solidFill>
            <a:schemeClr val="bg2"/>
          </a:solidFill>
          <a:ln/>
        </p:spPr>
      </p:sp>
      <p:sp>
        <p:nvSpPr>
          <p:cNvPr id="5" name="Text 3"/>
          <p:cNvSpPr txBox="1"/>
          <p:nvPr/>
        </p:nvSpPr>
        <p:spPr>
          <a:xfrm>
            <a:off x="594360" y="1627632"/>
            <a:ext cx="1280160" cy="320040"/>
          </a:xfrm>
          <a:prstGeom prst="rect">
            <a:avLst/>
          </a:prstGeom>
          <a:noFill/>
          <a:ln/>
        </p:spPr>
        <p:txBody>
          <a:bodyPr wrap="square" lIns="0" tIns="0" rIns="0" bIns="0" rtlCol="0" anchor="t"/>
          <a:lstStyle/>
          <a:p>
            <a:pPr algn="ctr" indent="0" marL="0">
              <a:buNone/>
            </a:pPr>
            <a:r>
              <a:rPr lang="en-US" sz="1500" b="1" dirty="0">
                <a:solidFill>
                  <a:schemeClr val="tx1"/>
                </a:solidFill>
              </a:rPr>
              <a:t>토스증권 API</a:t>
            </a:r>
            <a:endParaRPr lang="en-US" sz="1500" dirty="0"/>
          </a:p>
        </p:txBody>
      </p:sp>
      <p:sp>
        <p:nvSpPr>
          <p:cNvPr id="6" name="Text 4"/>
          <p:cNvSpPr txBox="1"/>
          <p:nvPr/>
        </p:nvSpPr>
        <p:spPr>
          <a:xfrm>
            <a:off x="594360" y="1965960"/>
            <a:ext cx="1280160" cy="457200"/>
          </a:xfrm>
          <a:prstGeom prst="rect">
            <a:avLst/>
          </a:prstGeom>
          <a:noFill/>
          <a:ln/>
        </p:spPr>
        <p:txBody>
          <a:bodyPr wrap="square" lIns="0" tIns="0" rIns="0" bIns="0" rtlCol="0" anchor="t"/>
          <a:lstStyle/>
          <a:p>
            <a:pPr algn="ctr" indent="0" marL="0">
              <a:buNone/>
            </a:pPr>
            <a:r>
              <a:rPr lang="en-US" sz="1100" dirty="0">
                <a:solidFill>
                  <a:schemeClr val="accent6"/>
                </a:solidFill>
              </a:rPr>
              <a:t>시세 조회만</a:t>
            </a:r>
            <a:endParaRPr lang="en-US" sz="1100" dirty="0"/>
          </a:p>
          <a:p>
            <a:pPr algn="ctr" indent="0" marL="0">
              <a:buNone/>
            </a:pPr>
            <a:r>
              <a:rPr lang="en-US" sz="1100" dirty="0">
                <a:solidFill>
                  <a:schemeClr val="accent6"/>
                </a:solidFill>
              </a:rPr>
              <a:t>(캔들 · 종목 정보)</a:t>
            </a:r>
            <a:endParaRPr lang="en-US" sz="1100" dirty="0"/>
          </a:p>
        </p:txBody>
      </p:sp>
      <p:sp>
        <p:nvSpPr>
          <p:cNvPr id="7" name="시세 수집기"/>
          <p:cNvSpPr/>
          <p:nvPr/>
        </p:nvSpPr>
        <p:spPr>
          <a:xfrm>
            <a:off x="2514600" y="1463040"/>
            <a:ext cx="1737360" cy="1051560"/>
          </a:xfrm>
          <a:prstGeom prst="roundRect">
            <a:avLst>
              <a:gd name="adj" fmla="val 6957"/>
            </a:avLst>
          </a:prstGeom>
          <a:solidFill>
            <a:schemeClr val="bg2"/>
          </a:solidFill>
          <a:ln/>
        </p:spPr>
      </p:sp>
      <p:sp>
        <p:nvSpPr>
          <p:cNvPr id="8" name="Text 6"/>
          <p:cNvSpPr txBox="1"/>
          <p:nvPr/>
        </p:nvSpPr>
        <p:spPr>
          <a:xfrm>
            <a:off x="2651760" y="1627632"/>
            <a:ext cx="1463040" cy="320040"/>
          </a:xfrm>
          <a:prstGeom prst="rect">
            <a:avLst/>
          </a:prstGeom>
          <a:noFill/>
          <a:ln/>
        </p:spPr>
        <p:txBody>
          <a:bodyPr wrap="square" lIns="0" tIns="0" rIns="0" bIns="0" rtlCol="0" anchor="t"/>
          <a:lstStyle/>
          <a:p>
            <a:pPr algn="ctr" indent="0" marL="0">
              <a:buNone/>
            </a:pPr>
            <a:r>
              <a:rPr lang="en-US" sz="1500" b="1" dirty="0">
                <a:solidFill>
                  <a:schemeClr val="tx1"/>
                </a:solidFill>
              </a:rPr>
              <a:t>시세 수집기</a:t>
            </a:r>
            <a:endParaRPr lang="en-US" sz="1500" dirty="0"/>
          </a:p>
        </p:txBody>
      </p:sp>
      <p:sp>
        <p:nvSpPr>
          <p:cNvPr id="9" name="Text 7"/>
          <p:cNvSpPr txBox="1"/>
          <p:nvPr/>
        </p:nvSpPr>
        <p:spPr>
          <a:xfrm>
            <a:off x="2651760" y="1965960"/>
            <a:ext cx="1463040" cy="457200"/>
          </a:xfrm>
          <a:prstGeom prst="rect">
            <a:avLst/>
          </a:prstGeom>
          <a:noFill/>
          <a:ln/>
        </p:spPr>
        <p:txBody>
          <a:bodyPr wrap="square" lIns="0" tIns="0" rIns="0" bIns="0" rtlCol="0" anchor="t"/>
          <a:lstStyle/>
          <a:p>
            <a:pPr algn="ctr" indent="0" marL="0">
              <a:buNone/>
            </a:pPr>
            <a:r>
              <a:rPr lang="en-US" sz="1100" dirty="0">
                <a:solidFill>
                  <a:schemeClr val="accent6"/>
                </a:solidFill>
              </a:rPr>
              <a:t>collector 프로파일</a:t>
            </a:r>
            <a:endParaRPr lang="en-US" sz="1100" dirty="0"/>
          </a:p>
          <a:p>
            <a:pPr algn="ctr" indent="0" marL="0">
              <a:buNone/>
            </a:pPr>
            <a:r>
              <a:rPr lang="en-US" sz="1100" dirty="0">
                <a:solidFill>
                  <a:schemeClr val="accent6"/>
                </a:solidFill>
              </a:rPr>
              <a:t>필요할 때 배치 실행</a:t>
            </a:r>
            <a:endParaRPr lang="en-US" sz="1100" dirty="0"/>
          </a:p>
        </p:txBody>
      </p:sp>
      <p:sp>
        <p:nvSpPr>
          <p:cNvPr id="10" name="MySQL"/>
          <p:cNvSpPr/>
          <p:nvPr/>
        </p:nvSpPr>
        <p:spPr>
          <a:xfrm>
            <a:off x="4572000" y="1463040"/>
            <a:ext cx="1737360" cy="1051560"/>
          </a:xfrm>
          <a:prstGeom prst="roundRect">
            <a:avLst>
              <a:gd name="adj" fmla="val 6957"/>
            </a:avLst>
          </a:prstGeom>
          <a:solidFill>
            <a:schemeClr val="accent1"/>
          </a:solidFill>
          <a:ln/>
        </p:spPr>
      </p:sp>
      <p:sp>
        <p:nvSpPr>
          <p:cNvPr id="11" name="Text 9"/>
          <p:cNvSpPr txBox="1"/>
          <p:nvPr/>
        </p:nvSpPr>
        <p:spPr>
          <a:xfrm>
            <a:off x="4709160" y="1627632"/>
            <a:ext cx="1463040" cy="320040"/>
          </a:xfrm>
          <a:prstGeom prst="rect">
            <a:avLst/>
          </a:prstGeom>
          <a:noFill/>
          <a:ln/>
        </p:spPr>
        <p:txBody>
          <a:bodyPr wrap="square" lIns="0" tIns="0" rIns="0" bIns="0" rtlCol="0" anchor="t"/>
          <a:lstStyle/>
          <a:p>
            <a:pPr algn="ctr" indent="0" marL="0">
              <a:buNone/>
            </a:pPr>
            <a:r>
              <a:rPr lang="en-US" sz="1500" b="1" dirty="0">
                <a:solidFill>
                  <a:schemeClr val="bg1"/>
                </a:solidFill>
              </a:rPr>
              <a:t>MySQL</a:t>
            </a:r>
            <a:endParaRPr lang="en-US" sz="1500" dirty="0"/>
          </a:p>
        </p:txBody>
      </p:sp>
      <p:sp>
        <p:nvSpPr>
          <p:cNvPr id="12" name="Text 10"/>
          <p:cNvSpPr txBox="1"/>
          <p:nvPr/>
        </p:nvSpPr>
        <p:spPr>
          <a:xfrm>
            <a:off x="4709160" y="1965960"/>
            <a:ext cx="1463040" cy="457200"/>
          </a:xfrm>
          <a:prstGeom prst="rect">
            <a:avLst/>
          </a:prstGeom>
          <a:noFill/>
          <a:ln/>
        </p:spPr>
        <p:txBody>
          <a:bodyPr wrap="square" lIns="0" tIns="0" rIns="0" bIns="0" rtlCol="0" anchor="t"/>
          <a:lstStyle/>
          <a:p>
            <a:pPr algn="ctr" indent="0" marL="0">
              <a:buNone/>
            </a:pPr>
            <a:r>
              <a:rPr lang="en-US" sz="1100" dirty="0">
                <a:solidFill>
                  <a:schemeClr val="bg2"/>
                </a:solidFill>
              </a:rPr>
              <a:t>시세 · 시나리오 · 결과</a:t>
            </a:r>
            <a:endParaRPr lang="en-US" sz="1100" dirty="0"/>
          </a:p>
        </p:txBody>
      </p:sp>
      <p:sp>
        <p:nvSpPr>
          <p:cNvPr id="13" name="게임 서버"/>
          <p:cNvSpPr/>
          <p:nvPr/>
        </p:nvSpPr>
        <p:spPr>
          <a:xfrm>
            <a:off x="6720840" y="1463040"/>
            <a:ext cx="1965960" cy="1051560"/>
          </a:xfrm>
          <a:prstGeom prst="roundRect">
            <a:avLst>
              <a:gd name="adj" fmla="val 6957"/>
            </a:avLst>
          </a:prstGeom>
          <a:solidFill>
            <a:schemeClr val="bg2"/>
          </a:solidFill>
          <a:ln/>
        </p:spPr>
      </p:sp>
      <p:sp>
        <p:nvSpPr>
          <p:cNvPr id="14" name="Text 12"/>
          <p:cNvSpPr txBox="1"/>
          <p:nvPr/>
        </p:nvSpPr>
        <p:spPr>
          <a:xfrm>
            <a:off x="6858000" y="1627632"/>
            <a:ext cx="1691640" cy="320040"/>
          </a:xfrm>
          <a:prstGeom prst="rect">
            <a:avLst/>
          </a:prstGeom>
          <a:noFill/>
          <a:ln/>
        </p:spPr>
        <p:txBody>
          <a:bodyPr wrap="square" lIns="0" tIns="0" rIns="0" bIns="0" rtlCol="0" anchor="t"/>
          <a:lstStyle/>
          <a:p>
            <a:pPr algn="ctr" indent="0" marL="0">
              <a:buNone/>
            </a:pPr>
            <a:r>
              <a:rPr lang="en-US" sz="1500" b="1" dirty="0">
                <a:solidFill>
                  <a:schemeClr val="tx1"/>
                </a:solidFill>
              </a:rPr>
              <a:t>게임 서버</a:t>
            </a:r>
            <a:endParaRPr lang="en-US" sz="1500" dirty="0"/>
          </a:p>
        </p:txBody>
      </p:sp>
      <p:sp>
        <p:nvSpPr>
          <p:cNvPr id="15" name="Text 13"/>
          <p:cNvSpPr txBox="1"/>
          <p:nvPr/>
        </p:nvSpPr>
        <p:spPr>
          <a:xfrm>
            <a:off x="6858000" y="1965960"/>
            <a:ext cx="1691640" cy="457200"/>
          </a:xfrm>
          <a:prstGeom prst="rect">
            <a:avLst/>
          </a:prstGeom>
          <a:noFill/>
          <a:ln/>
        </p:spPr>
        <p:txBody>
          <a:bodyPr wrap="square" lIns="0" tIns="0" rIns="0" bIns="0" rtlCol="0" anchor="t"/>
          <a:lstStyle/>
          <a:p>
            <a:pPr algn="ctr" indent="0" marL="0">
              <a:buNone/>
            </a:pPr>
            <a:r>
              <a:rPr lang="en-US" sz="1100" dirty="0">
                <a:solidFill>
                  <a:schemeClr val="accent6"/>
                </a:solidFill>
              </a:rPr>
              <a:t>기본 프로파일, 상주</a:t>
            </a:r>
            <a:endParaRPr lang="en-US" sz="1100" dirty="0"/>
          </a:p>
          <a:p>
            <a:pPr algn="ctr" indent="0" marL="0">
              <a:buNone/>
            </a:pPr>
            <a:r>
              <a:rPr lang="en-US" sz="1100" dirty="0">
                <a:solidFill>
                  <a:schemeClr val="accent6"/>
                </a:solidFill>
              </a:rPr>
              <a:t>판 시작 읽기 · 종료 쓰기</a:t>
            </a:r>
            <a:endParaRPr lang="en-US" sz="1100" dirty="0"/>
          </a:p>
        </p:txBody>
      </p:sp>
      <p:sp>
        <p:nvSpPr>
          <p:cNvPr id="16" name="Shape 14"/>
          <p:cNvSpPr/>
          <p:nvPr/>
        </p:nvSpPr>
        <p:spPr>
          <a:xfrm>
            <a:off x="2057400" y="1993392"/>
            <a:ext cx="411480" cy="914"/>
          </a:xfrm>
          <a:prstGeom prst="line">
            <a:avLst/>
          </a:prstGeom>
          <a:noFill/>
          <a:ln w="19050">
            <a:solidFill>
              <a:schemeClr val="accent6"/>
            </a:solidFill>
            <a:prstDash val="solid"/>
            <a:tailEnd type="triangle"/>
          </a:ln>
        </p:spPr>
      </p:sp>
      <p:sp>
        <p:nvSpPr>
          <p:cNvPr id="17" name="Shape 15"/>
          <p:cNvSpPr/>
          <p:nvPr/>
        </p:nvSpPr>
        <p:spPr>
          <a:xfrm>
            <a:off x="4297680" y="1993392"/>
            <a:ext cx="228600" cy="914"/>
          </a:xfrm>
          <a:prstGeom prst="line">
            <a:avLst/>
          </a:prstGeom>
          <a:noFill/>
          <a:ln w="19050">
            <a:solidFill>
              <a:schemeClr val="accent6"/>
            </a:solidFill>
            <a:prstDash val="solid"/>
            <a:tailEnd type="triangle"/>
          </a:ln>
        </p:spPr>
      </p:sp>
      <p:sp>
        <p:nvSpPr>
          <p:cNvPr id="18" name="Shape 16"/>
          <p:cNvSpPr/>
          <p:nvPr/>
        </p:nvSpPr>
        <p:spPr>
          <a:xfrm flipH="1">
            <a:off x="6355080" y="1993392"/>
            <a:ext cx="320040" cy="914"/>
          </a:xfrm>
          <a:prstGeom prst="line">
            <a:avLst/>
          </a:prstGeom>
          <a:noFill/>
          <a:ln w="19050">
            <a:solidFill>
              <a:schemeClr val="accent6"/>
            </a:solidFill>
            <a:prstDash val="solid"/>
            <a:tailEnd type="triangle"/>
          </a:ln>
        </p:spPr>
      </p:sp>
      <p:sp>
        <p:nvSpPr>
          <p:cNvPr id="19" name="browser"/>
          <p:cNvSpPr/>
          <p:nvPr/>
        </p:nvSpPr>
        <p:spPr>
          <a:xfrm>
            <a:off x="6720840" y="3017520"/>
            <a:ext cx="1965960" cy="685800"/>
          </a:xfrm>
          <a:prstGeom prst="roundRect">
            <a:avLst>
              <a:gd name="adj" fmla="val 10667"/>
            </a:avLst>
          </a:prstGeom>
          <a:solidFill>
            <a:schemeClr val="bg2"/>
          </a:solidFill>
          <a:ln/>
        </p:spPr>
      </p:sp>
      <p:sp>
        <p:nvSpPr>
          <p:cNvPr id="20" name="Text 18"/>
          <p:cNvSpPr txBox="1"/>
          <p:nvPr/>
        </p:nvSpPr>
        <p:spPr>
          <a:xfrm>
            <a:off x="6812280" y="3017520"/>
            <a:ext cx="1783080" cy="685800"/>
          </a:xfrm>
          <a:prstGeom prst="rect">
            <a:avLst/>
          </a:prstGeom>
          <a:noFill/>
          <a:ln/>
        </p:spPr>
        <p:txBody>
          <a:bodyPr wrap="square" lIns="0" tIns="0" rIns="0" bIns="0" rtlCol="0" anchor="ctr"/>
          <a:lstStyle/>
          <a:p>
            <a:pPr algn="ctr" indent="0" marL="0">
              <a:buNone/>
            </a:pPr>
            <a:r>
              <a:rPr lang="en-US" sz="1400" b="1" dirty="0">
                <a:solidFill>
                  <a:schemeClr val="tx1"/>
                </a:solidFill>
              </a:rPr>
              <a:t>브라우저 (React)</a:t>
            </a:r>
            <a:endParaRPr lang="en-US" sz="1400" dirty="0"/>
          </a:p>
        </p:txBody>
      </p:sp>
      <p:sp>
        <p:nvSpPr>
          <p:cNvPr id="21" name="Shape 19"/>
          <p:cNvSpPr/>
          <p:nvPr/>
        </p:nvSpPr>
        <p:spPr>
          <a:xfrm>
            <a:off x="7699248" y="2560320"/>
            <a:ext cx="914" cy="411480"/>
          </a:xfrm>
          <a:prstGeom prst="line">
            <a:avLst/>
          </a:prstGeom>
          <a:noFill/>
          <a:ln w="19050">
            <a:solidFill>
              <a:schemeClr val="accent6"/>
            </a:solidFill>
            <a:prstDash val="solid"/>
            <a:tailEnd type="triangle"/>
          </a:ln>
        </p:spPr>
      </p:sp>
      <p:sp>
        <p:nvSpPr>
          <p:cNvPr id="22" name="Shape 20"/>
          <p:cNvSpPr/>
          <p:nvPr/>
        </p:nvSpPr>
        <p:spPr>
          <a:xfrm flipV="1">
            <a:off x="7845552" y="2560320"/>
            <a:ext cx="914" cy="411480"/>
          </a:xfrm>
          <a:prstGeom prst="line">
            <a:avLst/>
          </a:prstGeom>
          <a:noFill/>
          <a:ln w="19050">
            <a:solidFill>
              <a:schemeClr val="accent6"/>
            </a:solidFill>
            <a:prstDash val="solid"/>
            <a:tailEnd type="triangle"/>
          </a:ln>
        </p:spPr>
      </p:sp>
      <p:sp>
        <p:nvSpPr>
          <p:cNvPr id="23" name="Text 21"/>
          <p:cNvSpPr txBox="1"/>
          <p:nvPr/>
        </p:nvSpPr>
        <p:spPr>
          <a:xfrm>
            <a:off x="7955280" y="2606040"/>
            <a:ext cx="822960" cy="274320"/>
          </a:xfrm>
          <a:prstGeom prst="rect">
            <a:avLst/>
          </a:prstGeom>
          <a:noFill/>
          <a:ln/>
        </p:spPr>
        <p:txBody>
          <a:bodyPr wrap="square" lIns="0" tIns="0" rIns="0" bIns="0" rtlCol="0" anchor="t"/>
          <a:lstStyle/>
          <a:p>
            <a:pPr indent="0" marL="0">
              <a:buNone/>
            </a:pPr>
            <a:r>
              <a:rPr lang="en-US" sz="900" dirty="0">
                <a:solidFill>
                  <a:schemeClr val="accent6"/>
                </a:solidFill>
              </a:rPr>
              <a:t>REST · WebSocket</a:t>
            </a:r>
            <a:endParaRPr lang="en-US" sz="900" dirty="0"/>
          </a:p>
        </p:txBody>
      </p:sp>
      <p:sp>
        <p:nvSpPr>
          <p:cNvPr id="24" name="Shape 22"/>
          <p:cNvSpPr/>
          <p:nvPr/>
        </p:nvSpPr>
        <p:spPr>
          <a:xfrm>
            <a:off x="457200" y="2971800"/>
            <a:ext cx="347472" cy="347472"/>
          </a:xfrm>
          <a:prstGeom prst="ellipse">
            <a:avLst/>
          </a:prstGeom>
          <a:solidFill>
            <a:schemeClr val="accent1"/>
          </a:solidFill>
          <a:ln/>
        </p:spPr>
      </p:sp>
      <p:sp>
        <p:nvSpPr>
          <p:cNvPr id="25" name="Text 23"/>
          <p:cNvSpPr txBox="1"/>
          <p:nvPr/>
        </p:nvSpPr>
        <p:spPr>
          <a:xfrm>
            <a:off x="457200" y="297180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6" name="Text 24"/>
          <p:cNvSpPr txBox="1"/>
          <p:nvPr/>
        </p:nvSpPr>
        <p:spPr>
          <a:xfrm>
            <a:off x="960120" y="2953512"/>
            <a:ext cx="5669280" cy="274320"/>
          </a:xfrm>
          <a:prstGeom prst="rect">
            <a:avLst/>
          </a:prstGeom>
          <a:noFill/>
          <a:ln/>
        </p:spPr>
        <p:txBody>
          <a:bodyPr wrap="square" lIns="0" tIns="0" rIns="0" bIns="0" rtlCol="0" anchor="t"/>
          <a:lstStyle/>
          <a:p>
            <a:pPr indent="0" marL="0">
              <a:buNone/>
            </a:pPr>
            <a:r>
              <a:rPr lang="en-US" sz="1400" b="1" dirty="0">
                <a:solidFill>
                  <a:schemeClr val="tx1"/>
                </a:solidFill>
              </a:rPr>
              <a:t>하나의 Spring Boot 앱, 두 가지 실행</a:t>
            </a:r>
            <a:endParaRPr lang="en-US" sz="1400" dirty="0"/>
          </a:p>
        </p:txBody>
      </p:sp>
      <p:sp>
        <p:nvSpPr>
          <p:cNvPr id="27" name="Text 25"/>
          <p:cNvSpPr txBox="1"/>
          <p:nvPr/>
        </p:nvSpPr>
        <p:spPr>
          <a:xfrm>
            <a:off x="960120" y="3246120"/>
            <a:ext cx="5669280" cy="411480"/>
          </a:xfrm>
          <a:prstGeom prst="rect">
            <a:avLst/>
          </a:prstGeom>
          <a:noFill/>
          <a:ln/>
        </p:spPr>
        <p:txBody>
          <a:bodyPr wrap="square" lIns="0" tIns="0" rIns="0" bIns="0" rtlCol="0" anchor="t"/>
          <a:lstStyle/>
          <a:p>
            <a:pPr indent="0" marL="0">
              <a:buNone/>
            </a:pPr>
            <a:r>
              <a:rPr lang="en-US" sz="1200" dirty="0">
                <a:solidFill>
                  <a:schemeClr val="accent6"/>
                </a:solidFill>
              </a:rPr>
              <a:t>엔티티 · 설정을 함께 쓰려고 프로젝트는 하나. 수집은 collector 프로파일로만 실행된다</a:t>
            </a:r>
            <a:endParaRPr lang="en-US" sz="1200" dirty="0"/>
          </a:p>
        </p:txBody>
      </p:sp>
      <p:sp>
        <p:nvSpPr>
          <p:cNvPr id="28" name="Shape 26"/>
          <p:cNvSpPr/>
          <p:nvPr/>
        </p:nvSpPr>
        <p:spPr>
          <a:xfrm>
            <a:off x="457200" y="3749040"/>
            <a:ext cx="347472" cy="347472"/>
          </a:xfrm>
          <a:prstGeom prst="ellipse">
            <a:avLst/>
          </a:prstGeom>
          <a:solidFill>
            <a:schemeClr val="accent1"/>
          </a:solidFill>
          <a:ln/>
        </p:spPr>
      </p:sp>
      <p:sp>
        <p:nvSpPr>
          <p:cNvPr id="29" name="Text 27"/>
          <p:cNvSpPr txBox="1"/>
          <p:nvPr/>
        </p:nvSpPr>
        <p:spPr>
          <a:xfrm>
            <a:off x="457200" y="374904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0" name="Text 28"/>
          <p:cNvSpPr txBox="1"/>
          <p:nvPr/>
        </p:nvSpPr>
        <p:spPr>
          <a:xfrm>
            <a:off x="960120" y="3730752"/>
            <a:ext cx="5669280" cy="274320"/>
          </a:xfrm>
          <a:prstGeom prst="rect">
            <a:avLst/>
          </a:prstGeom>
          <a:noFill/>
          <a:ln/>
        </p:spPr>
        <p:txBody>
          <a:bodyPr wrap="square" lIns="0" tIns="0" rIns="0" bIns="0" rtlCol="0" anchor="t"/>
          <a:lstStyle/>
          <a:p>
            <a:pPr indent="0" marL="0">
              <a:buNone/>
            </a:pPr>
            <a:r>
              <a:rPr lang="en-US" sz="1400" b="1" dirty="0">
                <a:solidFill>
                  <a:schemeClr val="tx1"/>
                </a:solidFill>
              </a:rPr>
              <a:t>게임 서버는 수집 코드를 타지 않는다</a:t>
            </a:r>
            <a:endParaRPr lang="en-US" sz="1400" dirty="0"/>
          </a:p>
        </p:txBody>
      </p:sp>
      <p:sp>
        <p:nvSpPr>
          <p:cNvPr id="31" name="Text 29"/>
          <p:cNvSpPr txBox="1"/>
          <p:nvPr/>
        </p:nvSpPr>
        <p:spPr>
          <a:xfrm>
            <a:off x="960120" y="4023360"/>
            <a:ext cx="5669280" cy="411480"/>
          </a:xfrm>
          <a:prstGeom prst="rect">
            <a:avLst/>
          </a:prstGeom>
          <a:noFill/>
          <a:ln/>
        </p:spPr>
        <p:txBody>
          <a:bodyPr wrap="square" lIns="0" tIns="0" rIns="0" bIns="0" rtlCol="0" anchor="t"/>
          <a:lstStyle/>
          <a:p>
            <a:pPr indent="0" marL="0">
              <a:buNone/>
            </a:pPr>
            <a:r>
              <a:rPr lang="en-US" sz="1200" dirty="0">
                <a:solidFill>
                  <a:schemeClr val="accent6"/>
                </a:solidFill>
              </a:rPr>
              <a:t>수집기 빈은 전부 @Profile("collector") — 게임 서버에서는 만들어지지도 않는다</a:t>
            </a:r>
            <a:endParaRPr lang="en-US" sz="12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실측 ① 얼마나 오래된 시세까지 받을 수 있나</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문서에 보존 기간이 없어서, 삼성전자(005930)를 끝까지 받아 봤습니다</a:t>
            </a:r>
            <a:endParaRPr lang="en-US" sz="1400" dirty="0"/>
          </a:p>
        </p:txBody>
      </p:sp>
      <p:sp>
        <p:nvSpPr>
          <p:cNvPr id="4" name="Text 2"/>
          <p:cNvSpPr txBox="1"/>
          <p:nvPr/>
        </p:nvSpPr>
        <p:spPr>
          <a:xfrm>
            <a:off x="457200" y="1371600"/>
            <a:ext cx="3840480" cy="777240"/>
          </a:xfrm>
          <a:prstGeom prst="rect">
            <a:avLst/>
          </a:prstGeom>
          <a:noFill/>
          <a:ln/>
        </p:spPr>
        <p:txBody>
          <a:bodyPr wrap="square" lIns="0" tIns="0" rIns="0" bIns="0" rtlCol="0" anchor="t"/>
          <a:lstStyle/>
          <a:p>
            <a:pPr indent="0" marL="0">
              <a:buNone/>
            </a:pPr>
            <a:r>
              <a:rPr lang="en-US" sz="4800" b="1" dirty="0">
                <a:solidFill>
                  <a:schemeClr val="accent1"/>
                </a:solidFill>
              </a:rPr>
              <a:t>51년 3개월</a:t>
            </a:r>
            <a:endParaRPr lang="en-US" sz="4800" dirty="0"/>
          </a:p>
        </p:txBody>
      </p:sp>
      <p:sp>
        <p:nvSpPr>
          <p:cNvPr id="5" name="Text 3"/>
          <p:cNvSpPr txBox="1"/>
          <p:nvPr/>
        </p:nvSpPr>
        <p:spPr>
          <a:xfrm>
            <a:off x="457200" y="2148840"/>
            <a:ext cx="3840480" cy="292608"/>
          </a:xfrm>
          <a:prstGeom prst="rect">
            <a:avLst/>
          </a:prstGeom>
          <a:noFill/>
          <a:ln/>
        </p:spPr>
        <p:txBody>
          <a:bodyPr wrap="square" lIns="0" tIns="0" rIns="0" bIns="0" rtlCol="0" anchor="t"/>
          <a:lstStyle/>
          <a:p>
            <a:pPr indent="0" marL="0">
              <a:buNone/>
            </a:pPr>
            <a:r>
              <a:rPr lang="en-US" sz="1600" b="1" dirty="0">
                <a:solidFill>
                  <a:schemeClr val="tx1"/>
                </a:solidFill>
              </a:rPr>
              <a:t>일봉 — 1975-06-12부터</a:t>
            </a:r>
            <a:endParaRPr lang="en-US" sz="1600" dirty="0"/>
          </a:p>
        </p:txBody>
      </p:sp>
      <p:sp>
        <p:nvSpPr>
          <p:cNvPr id="6" name="Text 4"/>
          <p:cNvSpPr txBox="1"/>
          <p:nvPr/>
        </p:nvSpPr>
        <p:spPr>
          <a:xfrm>
            <a:off x="457200" y="2450592"/>
            <a:ext cx="3840480" cy="292608"/>
          </a:xfrm>
          <a:prstGeom prst="rect">
            <a:avLst/>
          </a:prstGeom>
          <a:noFill/>
          <a:ln/>
        </p:spPr>
        <p:txBody>
          <a:bodyPr wrap="square" lIns="0" tIns="0" rIns="0" bIns="0" rtlCol="0" anchor="t"/>
          <a:lstStyle/>
          <a:p>
            <a:pPr indent="0" marL="0">
              <a:buNone/>
            </a:pPr>
            <a:r>
              <a:rPr lang="en-US" sz="1200" dirty="0">
                <a:solidFill>
                  <a:schemeClr val="accent6"/>
                </a:solidFill>
              </a:rPr>
              <a:t>13,735봉 · 마지막 페이지까지 확인 (경계 확정)</a:t>
            </a:r>
            <a:endParaRPr lang="en-US" sz="1200" dirty="0"/>
          </a:p>
        </p:txBody>
      </p:sp>
      <p:sp>
        <p:nvSpPr>
          <p:cNvPr id="7" name="Text 5"/>
          <p:cNvSpPr txBox="1"/>
          <p:nvPr/>
        </p:nvSpPr>
        <p:spPr>
          <a:xfrm>
            <a:off x="4754880" y="1371600"/>
            <a:ext cx="3840480" cy="777240"/>
          </a:xfrm>
          <a:prstGeom prst="rect">
            <a:avLst/>
          </a:prstGeom>
          <a:noFill/>
          <a:ln/>
        </p:spPr>
        <p:txBody>
          <a:bodyPr wrap="square" lIns="0" tIns="0" rIns="0" bIns="0" rtlCol="0" anchor="t"/>
          <a:lstStyle/>
          <a:p>
            <a:pPr indent="0" marL="0">
              <a:buNone/>
            </a:pPr>
            <a:r>
              <a:rPr lang="en-US" sz="4800" b="1" dirty="0">
                <a:solidFill>
                  <a:schemeClr val="accent1"/>
                </a:solidFill>
              </a:rPr>
              <a:t>4년 5개월+</a:t>
            </a:r>
            <a:endParaRPr lang="en-US" sz="4800" dirty="0"/>
          </a:p>
        </p:txBody>
      </p:sp>
      <p:sp>
        <p:nvSpPr>
          <p:cNvPr id="8" name="Text 6"/>
          <p:cNvSpPr txBox="1"/>
          <p:nvPr/>
        </p:nvSpPr>
        <p:spPr>
          <a:xfrm>
            <a:off x="4754880" y="2148840"/>
            <a:ext cx="3840480" cy="292608"/>
          </a:xfrm>
          <a:prstGeom prst="rect">
            <a:avLst/>
          </a:prstGeom>
          <a:noFill/>
          <a:ln/>
        </p:spPr>
        <p:txBody>
          <a:bodyPr wrap="square" lIns="0" tIns="0" rIns="0" bIns="0" rtlCol="0" anchor="t"/>
          <a:lstStyle/>
          <a:p>
            <a:pPr indent="0" marL="0">
              <a:buNone/>
            </a:pPr>
            <a:r>
              <a:rPr lang="en-US" sz="1600" b="1" dirty="0">
                <a:solidFill>
                  <a:schemeClr val="tx1"/>
                </a:solidFill>
              </a:rPr>
              <a:t>분봉 — 2022-04-19 이전부터</a:t>
            </a:r>
            <a:endParaRPr lang="en-US" sz="1600" dirty="0"/>
          </a:p>
        </p:txBody>
      </p:sp>
      <p:sp>
        <p:nvSpPr>
          <p:cNvPr id="9" name="Text 7"/>
          <p:cNvSpPr txBox="1"/>
          <p:nvPr/>
        </p:nvSpPr>
        <p:spPr>
          <a:xfrm>
            <a:off x="4754880" y="2450592"/>
            <a:ext cx="3840480" cy="292608"/>
          </a:xfrm>
          <a:prstGeom prst="rect">
            <a:avLst/>
          </a:prstGeom>
          <a:noFill/>
          <a:ln/>
        </p:spPr>
        <p:txBody>
          <a:bodyPr wrap="square" lIns="0" tIns="0" rIns="0" bIns="0" rtlCol="0" anchor="t"/>
          <a:lstStyle/>
          <a:p>
            <a:pPr indent="0" marL="0">
              <a:buNone/>
            </a:pPr>
            <a:r>
              <a:rPr lang="en-US" sz="1200" dirty="0">
                <a:solidFill>
                  <a:schemeClr val="accent6"/>
                </a:solidFill>
              </a:rPr>
              <a:t>775,000봉+ · 3,000요청 상한에도 끝 미도달</a:t>
            </a:r>
            <a:endParaRPr lang="en-US" sz="1200" dirty="0"/>
          </a:p>
        </p:txBody>
      </p:sp>
      <p:sp>
        <p:nvSpPr>
          <p:cNvPr id="10" name="Shape 8"/>
          <p:cNvSpPr/>
          <p:nvPr/>
        </p:nvSpPr>
        <p:spPr>
          <a:xfrm>
            <a:off x="457200" y="3017520"/>
            <a:ext cx="8229600" cy="201168"/>
          </a:xfrm>
          <a:prstGeom prst="rect">
            <a:avLst/>
          </a:prstGeom>
          <a:solidFill>
            <a:schemeClr val="accent1"/>
          </a:solidFill>
          <a:ln/>
        </p:spPr>
      </p:sp>
      <p:sp>
        <p:nvSpPr>
          <p:cNvPr id="11" name="Shape 9"/>
          <p:cNvSpPr/>
          <p:nvPr/>
        </p:nvSpPr>
        <p:spPr>
          <a:xfrm>
            <a:off x="7980259" y="3310128"/>
            <a:ext cx="706541" cy="201168"/>
          </a:xfrm>
          <a:prstGeom prst="rect">
            <a:avLst/>
          </a:prstGeom>
          <a:solidFill>
            <a:schemeClr val="accent4"/>
          </a:solidFill>
          <a:ln/>
        </p:spPr>
      </p:sp>
      <p:sp>
        <p:nvSpPr>
          <p:cNvPr id="12" name="Text 10"/>
          <p:cNvSpPr txBox="1"/>
          <p:nvPr/>
        </p:nvSpPr>
        <p:spPr>
          <a:xfrm>
            <a:off x="548640" y="3017520"/>
            <a:ext cx="1828800" cy="201168"/>
          </a:xfrm>
          <a:prstGeom prst="rect">
            <a:avLst/>
          </a:prstGeom>
          <a:noFill/>
          <a:ln/>
        </p:spPr>
        <p:txBody>
          <a:bodyPr wrap="square" lIns="0" tIns="0" rIns="0" bIns="0" rtlCol="0" anchor="ctr"/>
          <a:lstStyle/>
          <a:p>
            <a:pPr indent="0" marL="0">
              <a:buNone/>
            </a:pPr>
            <a:r>
              <a:rPr lang="en-US" sz="1000" b="1" dirty="0">
                <a:solidFill>
                  <a:schemeClr val="bg1"/>
                </a:solidFill>
              </a:rPr>
              <a:t>일봉 1975 ~</a:t>
            </a:r>
            <a:endParaRPr lang="en-US" sz="1000" dirty="0"/>
          </a:p>
        </p:txBody>
      </p:sp>
      <p:sp>
        <p:nvSpPr>
          <p:cNvPr id="13" name="Text 11"/>
          <p:cNvSpPr txBox="1"/>
          <p:nvPr/>
        </p:nvSpPr>
        <p:spPr>
          <a:xfrm>
            <a:off x="7020139" y="3310128"/>
            <a:ext cx="914400" cy="201168"/>
          </a:xfrm>
          <a:prstGeom prst="rect">
            <a:avLst/>
          </a:prstGeom>
          <a:noFill/>
          <a:ln/>
        </p:spPr>
        <p:txBody>
          <a:bodyPr wrap="square" lIns="0" tIns="0" rIns="0" bIns="0" rtlCol="0" anchor="ctr"/>
          <a:lstStyle/>
          <a:p>
            <a:pPr algn="r" indent="0" marL="0">
              <a:buNone/>
            </a:pPr>
            <a:r>
              <a:rPr lang="en-US" sz="1000" b="1" dirty="0">
                <a:solidFill>
                  <a:schemeClr val="accent4"/>
                </a:solidFill>
              </a:rPr>
              <a:t>분봉 2022 ~</a:t>
            </a:r>
            <a:endParaRPr lang="en-US" sz="1000" dirty="0"/>
          </a:p>
        </p:txBody>
      </p:sp>
      <p:sp>
        <p:nvSpPr>
          <p:cNvPr id="14" name="Text 12"/>
          <p:cNvSpPr txBox="1"/>
          <p:nvPr/>
        </p:nvSpPr>
        <p:spPr>
          <a:xfrm>
            <a:off x="110620" y="3584448"/>
            <a:ext cx="548640" cy="201168"/>
          </a:xfrm>
          <a:prstGeom prst="rect">
            <a:avLst/>
          </a:prstGeom>
          <a:noFill/>
          <a:ln/>
        </p:spPr>
        <p:txBody>
          <a:bodyPr wrap="square" lIns="0" tIns="0" rIns="0" bIns="0" rtlCol="0" anchor="t"/>
          <a:lstStyle/>
          <a:p>
            <a:pPr algn="ctr" indent="0" marL="0">
              <a:buNone/>
            </a:pPr>
            <a:r>
              <a:rPr lang="en-US" sz="1000" dirty="0">
                <a:solidFill>
                  <a:schemeClr val="accent6"/>
                </a:solidFill>
              </a:rPr>
              <a:t>1975</a:t>
            </a:r>
            <a:endParaRPr lang="en-US" sz="1000" dirty="0"/>
          </a:p>
        </p:txBody>
      </p:sp>
      <p:sp>
        <p:nvSpPr>
          <p:cNvPr id="15" name="Text 13"/>
          <p:cNvSpPr txBox="1"/>
          <p:nvPr/>
        </p:nvSpPr>
        <p:spPr>
          <a:xfrm>
            <a:off x="2519284" y="3584448"/>
            <a:ext cx="548640" cy="201168"/>
          </a:xfrm>
          <a:prstGeom prst="rect">
            <a:avLst/>
          </a:prstGeom>
          <a:noFill/>
          <a:ln/>
        </p:spPr>
        <p:txBody>
          <a:bodyPr wrap="square" lIns="0" tIns="0" rIns="0" bIns="0" rtlCol="0" anchor="t"/>
          <a:lstStyle/>
          <a:p>
            <a:pPr algn="ctr" indent="0" marL="0">
              <a:buNone/>
            </a:pPr>
            <a:r>
              <a:rPr lang="en-US" sz="1000" dirty="0">
                <a:solidFill>
                  <a:schemeClr val="accent6"/>
                </a:solidFill>
              </a:rPr>
              <a:t>1990</a:t>
            </a:r>
            <a:endParaRPr lang="en-US" sz="1000" dirty="0"/>
          </a:p>
        </p:txBody>
      </p:sp>
      <p:sp>
        <p:nvSpPr>
          <p:cNvPr id="16" name="Text 14"/>
          <p:cNvSpPr txBox="1"/>
          <p:nvPr/>
        </p:nvSpPr>
        <p:spPr>
          <a:xfrm>
            <a:off x="4125059" y="3584448"/>
            <a:ext cx="548640" cy="201168"/>
          </a:xfrm>
          <a:prstGeom prst="rect">
            <a:avLst/>
          </a:prstGeom>
          <a:noFill/>
          <a:ln/>
        </p:spPr>
        <p:txBody>
          <a:bodyPr wrap="square" lIns="0" tIns="0" rIns="0" bIns="0" rtlCol="0" anchor="t"/>
          <a:lstStyle/>
          <a:p>
            <a:pPr algn="ctr" indent="0" marL="0">
              <a:buNone/>
            </a:pPr>
            <a:r>
              <a:rPr lang="en-US" sz="1000" dirty="0">
                <a:solidFill>
                  <a:schemeClr val="accent6"/>
                </a:solidFill>
              </a:rPr>
              <a:t>2000</a:t>
            </a:r>
            <a:endParaRPr lang="en-US" sz="1000" dirty="0"/>
          </a:p>
        </p:txBody>
      </p:sp>
      <p:sp>
        <p:nvSpPr>
          <p:cNvPr id="17" name="Text 15"/>
          <p:cNvSpPr txBox="1"/>
          <p:nvPr/>
        </p:nvSpPr>
        <p:spPr>
          <a:xfrm>
            <a:off x="5730835" y="3584448"/>
            <a:ext cx="548640" cy="201168"/>
          </a:xfrm>
          <a:prstGeom prst="rect">
            <a:avLst/>
          </a:prstGeom>
          <a:noFill/>
          <a:ln/>
        </p:spPr>
        <p:txBody>
          <a:bodyPr wrap="square" lIns="0" tIns="0" rIns="0" bIns="0" rtlCol="0" anchor="t"/>
          <a:lstStyle/>
          <a:p>
            <a:pPr algn="ctr" indent="0" marL="0">
              <a:buNone/>
            </a:pPr>
            <a:r>
              <a:rPr lang="en-US" sz="1000" dirty="0">
                <a:solidFill>
                  <a:schemeClr val="accent6"/>
                </a:solidFill>
              </a:rPr>
              <a:t>2010</a:t>
            </a:r>
            <a:endParaRPr lang="en-US" sz="1000" dirty="0"/>
          </a:p>
        </p:txBody>
      </p:sp>
      <p:sp>
        <p:nvSpPr>
          <p:cNvPr id="18" name="Text 16"/>
          <p:cNvSpPr txBox="1"/>
          <p:nvPr/>
        </p:nvSpPr>
        <p:spPr>
          <a:xfrm>
            <a:off x="7336610" y="3584448"/>
            <a:ext cx="548640" cy="201168"/>
          </a:xfrm>
          <a:prstGeom prst="rect">
            <a:avLst/>
          </a:prstGeom>
          <a:noFill/>
          <a:ln/>
        </p:spPr>
        <p:txBody>
          <a:bodyPr wrap="square" lIns="0" tIns="0" rIns="0" bIns="0" rtlCol="0" anchor="t"/>
          <a:lstStyle/>
          <a:p>
            <a:pPr algn="ctr" indent="0" marL="0">
              <a:buNone/>
            </a:pPr>
            <a:r>
              <a:rPr lang="en-US" sz="1000" dirty="0">
                <a:solidFill>
                  <a:schemeClr val="accent6"/>
                </a:solidFill>
              </a:rPr>
              <a:t>2020</a:t>
            </a:r>
            <a:endParaRPr lang="en-US" sz="1000" dirty="0"/>
          </a:p>
        </p:txBody>
      </p:sp>
      <p:sp>
        <p:nvSpPr>
          <p:cNvPr id="19" name="Text 17"/>
          <p:cNvSpPr txBox="1"/>
          <p:nvPr/>
        </p:nvSpPr>
        <p:spPr>
          <a:xfrm>
            <a:off x="8300076" y="3584448"/>
            <a:ext cx="548640" cy="201168"/>
          </a:xfrm>
          <a:prstGeom prst="rect">
            <a:avLst/>
          </a:prstGeom>
          <a:noFill/>
          <a:ln/>
        </p:spPr>
        <p:txBody>
          <a:bodyPr wrap="square" lIns="0" tIns="0" rIns="0" bIns="0" rtlCol="0" anchor="t"/>
          <a:lstStyle/>
          <a:p>
            <a:pPr algn="ctr" indent="0" marL="0">
              <a:buNone/>
            </a:pPr>
            <a:r>
              <a:rPr lang="en-US" sz="1000" dirty="0">
                <a:solidFill>
                  <a:schemeClr val="accent6"/>
                </a:solidFill>
              </a:rPr>
              <a:t>2026</a:t>
            </a:r>
            <a:endParaRPr lang="en-US" sz="1000" dirty="0"/>
          </a:p>
        </p:txBody>
      </p:sp>
      <p:sp>
        <p:nvSpPr>
          <p:cNvPr id="20" name="takeaway"/>
          <p:cNvSpPr/>
          <p:nvPr/>
        </p:nvSpPr>
        <p:spPr>
          <a:xfrm>
            <a:off x="457200" y="3886200"/>
            <a:ext cx="8229600" cy="685800"/>
          </a:xfrm>
          <a:prstGeom prst="roundRect">
            <a:avLst>
              <a:gd name="adj" fmla="val 10667"/>
            </a:avLst>
          </a:prstGeom>
          <a:solidFill>
            <a:schemeClr val="bg2"/>
          </a:solidFill>
          <a:ln/>
        </p:spPr>
      </p:sp>
      <p:sp>
        <p:nvSpPr>
          <p:cNvPr id="21" name="Text 19"/>
          <p:cNvSpPr txBox="1"/>
          <p:nvPr/>
        </p:nvSpPr>
        <p:spPr>
          <a:xfrm>
            <a:off x="685800" y="3959352"/>
            <a:ext cx="7772400" cy="566928"/>
          </a:xfrm>
          <a:prstGeom prst="rect">
            <a:avLst/>
          </a:prstGeom>
          <a:noFill/>
          <a:ln/>
        </p:spPr>
        <p:txBody>
          <a:bodyPr wrap="square" lIns="0" tIns="0" rIns="0" bIns="0" rtlCol="0" anchor="t"/>
          <a:lstStyle/>
          <a:p>
            <a:pPr indent="0" marL="0">
              <a:buNone/>
            </a:pPr>
            <a:r>
              <a:rPr lang="en-US" sz="1400" b="1" dirty="0">
                <a:solidFill>
                  <a:schemeClr val="tx1"/>
                </a:solidFill>
              </a:rPr>
              <a:t>「1분봉은 최근 몇 주치만 남는다」는 통념은 틀렸다</a:t>
            </a:r>
            <a:endParaRPr lang="en-US" sz="1400" dirty="0"/>
          </a:p>
          <a:p>
            <a:pPr indent="0" marL="0">
              <a:buNone/>
            </a:pPr>
            <a:r>
              <a:rPr lang="en-US" sz="1200" dirty="0">
                <a:solidFill>
                  <a:schemeClr val="accent6"/>
                </a:solidFill>
              </a:rPr>
              <a:t>→ 서둘러 쌓을 필요가 없다. 4년치 = 3,000요청 · 68분이라, 전부 훑지 말고 시나리오에 필요한 구간만 좁혀 받는다</a:t>
            </a:r>
            <a:endParaRPr lang="en-US" sz="14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실측 ② 응답은 이렇게 동작한다</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추측으로 코드를 짜지 않고, 각각 실제 요청으로 확인했습니다</a:t>
            </a:r>
            <a:endParaRPr lang="en-US" sz="1400" dirty="0"/>
          </a:p>
        </p:txBody>
      </p:sp>
      <p:sp>
        <p:nvSpPr>
          <p:cNvPr id="4" name="fact-1"/>
          <p:cNvSpPr/>
          <p:nvPr/>
        </p:nvSpPr>
        <p:spPr>
          <a:xfrm>
            <a:off x="457200" y="1371600"/>
            <a:ext cx="4023360" cy="1463040"/>
          </a:xfrm>
          <a:prstGeom prst="roundRect">
            <a:avLst>
              <a:gd name="adj" fmla="val 5000"/>
            </a:avLst>
          </a:prstGeom>
          <a:solidFill>
            <a:schemeClr val="bg2"/>
          </a:solidFill>
          <a:ln/>
        </p:spPr>
      </p:sp>
      <p:sp>
        <p:nvSpPr>
          <p:cNvPr id="5" name="Shape 3"/>
          <p:cNvSpPr/>
          <p:nvPr/>
        </p:nvSpPr>
        <p:spPr>
          <a:xfrm>
            <a:off x="658368" y="1572768"/>
            <a:ext cx="457200" cy="45720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772668" y="1687068"/>
            <a:ext cx="228600" cy="228600"/>
          </a:xfrm>
          <a:prstGeom prst="rect">
            <a:avLst/>
          </a:prstGeom>
        </p:spPr>
      </p:pic>
      <p:sp>
        <p:nvSpPr>
          <p:cNvPr id="7" name="Text 4"/>
          <p:cNvSpPr txBox="1"/>
          <p:nvPr/>
        </p:nvSpPr>
        <p:spPr>
          <a:xfrm>
            <a:off x="1280160" y="1572768"/>
            <a:ext cx="3017520" cy="457200"/>
          </a:xfrm>
          <a:prstGeom prst="rect">
            <a:avLst/>
          </a:prstGeom>
          <a:noFill/>
          <a:ln/>
        </p:spPr>
        <p:txBody>
          <a:bodyPr wrap="square" lIns="0" tIns="0" rIns="0" bIns="0" rtlCol="0" anchor="ctr"/>
          <a:lstStyle/>
          <a:p>
            <a:pPr indent="0" marL="0">
              <a:buNone/>
            </a:pPr>
            <a:r>
              <a:rPr lang="en-US" sz="1600" b="1" dirty="0">
                <a:solidFill>
                  <a:schemeClr val="tx1"/>
                </a:solidFill>
              </a:rPr>
              <a:t>중복 없이 이어지는 페이지</a:t>
            </a:r>
            <a:endParaRPr lang="en-US" sz="1600" dirty="0"/>
          </a:p>
        </p:txBody>
      </p:sp>
      <p:sp>
        <p:nvSpPr>
          <p:cNvPr id="8" name="Text 5"/>
          <p:cNvSpPr txBox="1"/>
          <p:nvPr/>
        </p:nvSpPr>
        <p:spPr>
          <a:xfrm>
            <a:off x="658368" y="2121408"/>
            <a:ext cx="3621024" cy="658368"/>
          </a:xfrm>
          <a:prstGeom prst="rect">
            <a:avLst/>
          </a:prstGeom>
          <a:noFill/>
          <a:ln/>
        </p:spPr>
        <p:txBody>
          <a:bodyPr wrap="square" lIns="0" tIns="0" rIns="0" bIns="0" rtlCol="0" anchor="t"/>
          <a:lstStyle/>
          <a:p>
            <a:pPr indent="0" marL="0">
              <a:buNone/>
            </a:pPr>
            <a:r>
              <a:rPr lang="en-US" sz="1200" dirty="0">
                <a:solidFill>
                  <a:schemeClr val="accent6"/>
                </a:solidFill>
              </a:rPr>
              <a:t>before 는 그 시각을 포함한다. 응답의 nextBefore 를</a:t>
            </a:r>
            <a:endParaRPr lang="en-US" sz="1200" dirty="0"/>
          </a:p>
          <a:p>
            <a:pPr indent="0" marL="0">
              <a:buNone/>
            </a:pPr>
            <a:r>
              <a:rPr lang="en-US" sz="1200" dirty="0">
                <a:solidFill>
                  <a:schemeClr val="accent6"/>
                </a:solidFill>
              </a:rPr>
              <a:t>그대로 넘기면 겹치지 않는다</a:t>
            </a:r>
            <a:endParaRPr lang="en-US" sz="1200" dirty="0"/>
          </a:p>
          <a:p>
            <a:pPr indent="0" marL="0">
              <a:buNone/>
            </a:pPr>
            <a:r>
              <a:rPr lang="en-US" sz="1200" dirty="0">
                <a:solidFill>
                  <a:schemeClr val="accent6"/>
                </a:solidFill>
              </a:rPr>
              <a:t>예) 끝 봉 11-20 → nextBefore = 다음 첫 봉 11-19</a:t>
            </a:r>
            <a:endParaRPr lang="en-US" sz="1200" dirty="0"/>
          </a:p>
        </p:txBody>
      </p:sp>
      <p:sp>
        <p:nvSpPr>
          <p:cNvPr id="9" name="fact-2"/>
          <p:cNvSpPr/>
          <p:nvPr/>
        </p:nvSpPr>
        <p:spPr>
          <a:xfrm>
            <a:off x="4663440" y="1371600"/>
            <a:ext cx="4023360" cy="1463040"/>
          </a:xfrm>
          <a:prstGeom prst="roundRect">
            <a:avLst>
              <a:gd name="adj" fmla="val 5000"/>
            </a:avLst>
          </a:prstGeom>
          <a:solidFill>
            <a:schemeClr val="bg2"/>
          </a:solidFill>
          <a:ln/>
        </p:spPr>
      </p:sp>
      <p:sp>
        <p:nvSpPr>
          <p:cNvPr id="10" name="Shape 7"/>
          <p:cNvSpPr/>
          <p:nvPr/>
        </p:nvSpPr>
        <p:spPr>
          <a:xfrm>
            <a:off x="4864608" y="1572768"/>
            <a:ext cx="457200" cy="45720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4978908" y="1687068"/>
            <a:ext cx="228600" cy="228600"/>
          </a:xfrm>
          <a:prstGeom prst="rect">
            <a:avLst/>
          </a:prstGeom>
        </p:spPr>
      </p:pic>
      <p:sp>
        <p:nvSpPr>
          <p:cNvPr id="12" name="Text 8"/>
          <p:cNvSpPr txBox="1"/>
          <p:nvPr/>
        </p:nvSpPr>
        <p:spPr>
          <a:xfrm>
            <a:off x="5486400" y="1572768"/>
            <a:ext cx="3017520" cy="457200"/>
          </a:xfrm>
          <a:prstGeom prst="rect">
            <a:avLst/>
          </a:prstGeom>
          <a:noFill/>
          <a:ln/>
        </p:spPr>
        <p:txBody>
          <a:bodyPr wrap="square" lIns="0" tIns="0" rIns="0" bIns="0" rtlCol="0" anchor="ctr"/>
          <a:lstStyle/>
          <a:p>
            <a:pPr indent="0" marL="0">
              <a:buNone/>
            </a:pPr>
            <a:r>
              <a:rPr lang="en-US" sz="1600" b="1" dirty="0">
                <a:solidFill>
                  <a:schemeClr val="tx1"/>
                </a:solidFill>
              </a:rPr>
              <a:t>수정주가는 정확하다</a:t>
            </a:r>
            <a:endParaRPr lang="en-US" sz="1600" dirty="0"/>
          </a:p>
        </p:txBody>
      </p:sp>
      <p:sp>
        <p:nvSpPr>
          <p:cNvPr id="13" name="Text 9"/>
          <p:cNvSpPr txBox="1"/>
          <p:nvPr/>
        </p:nvSpPr>
        <p:spPr>
          <a:xfrm>
            <a:off x="4864608" y="2121408"/>
            <a:ext cx="3621024" cy="658368"/>
          </a:xfrm>
          <a:prstGeom prst="rect">
            <a:avLst/>
          </a:prstGeom>
          <a:noFill/>
          <a:ln/>
        </p:spPr>
        <p:txBody>
          <a:bodyPr wrap="square" lIns="0" tIns="0" rIns="0" bIns="0" rtlCol="0" anchor="t"/>
          <a:lstStyle/>
          <a:p>
            <a:pPr indent="0" marL="0">
              <a:buNone/>
            </a:pPr>
            <a:r>
              <a:rPr lang="en-US" sz="1200" dirty="0">
                <a:solidFill>
                  <a:schemeClr val="accent6"/>
                </a:solidFill>
              </a:rPr>
              <a:t>삼성전자 액면분할(2018-05-04, 50:1) 이전 종가가</a:t>
            </a:r>
            <a:endParaRPr lang="en-US" sz="1200" dirty="0"/>
          </a:p>
          <a:p>
            <a:pPr indent="0" marL="0">
              <a:buNone/>
            </a:pPr>
            <a:r>
              <a:rPr lang="en-US" sz="1200" dirty="0">
                <a:solidFill>
                  <a:schemeClr val="accent6"/>
                </a:solidFill>
              </a:rPr>
              <a:t>adjusted=false 에서 정확히 50배</a:t>
            </a:r>
            <a:endParaRPr lang="en-US" sz="1200" dirty="0"/>
          </a:p>
          <a:p>
            <a:pPr indent="0" marL="0">
              <a:buNone/>
            </a:pPr>
            <a:r>
              <a:rPr lang="en-US" sz="1200" dirty="0">
                <a:solidFill>
                  <a:schemeClr val="accent6"/>
                </a:solidFill>
              </a:rPr>
              <a:t>→ 기본값 true 를 그대로 쓴다</a:t>
            </a:r>
            <a:endParaRPr lang="en-US" sz="1200" dirty="0"/>
          </a:p>
        </p:txBody>
      </p:sp>
      <p:sp>
        <p:nvSpPr>
          <p:cNvPr id="14" name="fact-3"/>
          <p:cNvSpPr/>
          <p:nvPr/>
        </p:nvSpPr>
        <p:spPr>
          <a:xfrm>
            <a:off x="457200" y="3017520"/>
            <a:ext cx="4023360" cy="1463040"/>
          </a:xfrm>
          <a:prstGeom prst="roundRect">
            <a:avLst>
              <a:gd name="adj" fmla="val 5000"/>
            </a:avLst>
          </a:prstGeom>
          <a:solidFill>
            <a:schemeClr val="bg2"/>
          </a:solidFill>
          <a:ln/>
        </p:spPr>
      </p:sp>
      <p:sp>
        <p:nvSpPr>
          <p:cNvPr id="15" name="Shape 11"/>
          <p:cNvSpPr/>
          <p:nvPr/>
        </p:nvSpPr>
        <p:spPr>
          <a:xfrm>
            <a:off x="658368" y="3218688"/>
            <a:ext cx="457200" cy="45720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772668" y="3332988"/>
            <a:ext cx="228600" cy="228600"/>
          </a:xfrm>
          <a:prstGeom prst="rect">
            <a:avLst/>
          </a:prstGeom>
        </p:spPr>
      </p:pic>
      <p:sp>
        <p:nvSpPr>
          <p:cNvPr id="17" name="Text 12"/>
          <p:cNvSpPr txBox="1"/>
          <p:nvPr/>
        </p:nvSpPr>
        <p:spPr>
          <a:xfrm>
            <a:off x="1280160" y="3218688"/>
            <a:ext cx="3017520" cy="457200"/>
          </a:xfrm>
          <a:prstGeom prst="rect">
            <a:avLst/>
          </a:prstGeom>
          <a:noFill/>
          <a:ln/>
        </p:spPr>
        <p:txBody>
          <a:bodyPr wrap="square" lIns="0" tIns="0" rIns="0" bIns="0" rtlCol="0" anchor="ctr"/>
          <a:lstStyle/>
          <a:p>
            <a:pPr indent="0" marL="0">
              <a:buNone/>
            </a:pPr>
            <a:r>
              <a:rPr lang="en-US" sz="1600" b="1" dirty="0">
                <a:solidFill>
                  <a:schemeClr val="tx1"/>
                </a:solidFill>
              </a:rPr>
              <a:t>최신순으로 온다</a:t>
            </a:r>
            <a:endParaRPr lang="en-US" sz="1600" dirty="0"/>
          </a:p>
        </p:txBody>
      </p:sp>
      <p:sp>
        <p:nvSpPr>
          <p:cNvPr id="18" name="Text 13"/>
          <p:cNvSpPr txBox="1"/>
          <p:nvPr/>
        </p:nvSpPr>
        <p:spPr>
          <a:xfrm>
            <a:off x="658368" y="3767328"/>
            <a:ext cx="3621024" cy="658368"/>
          </a:xfrm>
          <a:prstGeom prst="rect">
            <a:avLst/>
          </a:prstGeom>
          <a:noFill/>
          <a:ln/>
        </p:spPr>
        <p:txBody>
          <a:bodyPr wrap="square" lIns="0" tIns="0" rIns="0" bIns="0" rtlCol="0" anchor="t"/>
          <a:lstStyle/>
          <a:p>
            <a:pPr indent="0" marL="0">
              <a:buNone/>
            </a:pPr>
            <a:r>
              <a:rPr lang="en-US" sz="1200" dirty="0">
                <a:solidFill>
                  <a:schemeClr val="accent6"/>
                </a:solidFill>
              </a:rPr>
              <a:t>응답은 시간 내림차순, 게임은 오름차순이 필요하다</a:t>
            </a:r>
            <a:endParaRPr lang="en-US" sz="1200" dirty="0"/>
          </a:p>
          <a:p>
            <a:pPr indent="0" marL="0">
              <a:buNone/>
            </a:pPr>
            <a:r>
              <a:rPr lang="en-US" sz="1200" dirty="0">
                <a:solidFill>
                  <a:schemeClr val="accent6"/>
                </a:solidFill>
              </a:rPr>
              <a:t>→ 뒤집는 책임은 시세 저장소(M2)에 둔다</a:t>
            </a:r>
            <a:endParaRPr lang="en-US" sz="1200" dirty="0"/>
          </a:p>
        </p:txBody>
      </p:sp>
      <p:sp>
        <p:nvSpPr>
          <p:cNvPr id="19" name="fact-4"/>
          <p:cNvSpPr/>
          <p:nvPr/>
        </p:nvSpPr>
        <p:spPr>
          <a:xfrm>
            <a:off x="4663440" y="3017520"/>
            <a:ext cx="4023360" cy="1463040"/>
          </a:xfrm>
          <a:prstGeom prst="roundRect">
            <a:avLst>
              <a:gd name="adj" fmla="val 5000"/>
            </a:avLst>
          </a:prstGeom>
          <a:solidFill>
            <a:schemeClr val="bg2"/>
          </a:solidFill>
          <a:ln/>
        </p:spPr>
      </p:sp>
      <p:sp>
        <p:nvSpPr>
          <p:cNvPr id="20" name="Shape 15"/>
          <p:cNvSpPr/>
          <p:nvPr/>
        </p:nvSpPr>
        <p:spPr>
          <a:xfrm>
            <a:off x="4864608" y="3218688"/>
            <a:ext cx="457200" cy="457200"/>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4978908" y="3332988"/>
            <a:ext cx="228600" cy="228600"/>
          </a:xfrm>
          <a:prstGeom prst="rect">
            <a:avLst/>
          </a:prstGeom>
        </p:spPr>
      </p:pic>
      <p:sp>
        <p:nvSpPr>
          <p:cNvPr id="22" name="Text 16"/>
          <p:cNvSpPr txBox="1"/>
          <p:nvPr/>
        </p:nvSpPr>
        <p:spPr>
          <a:xfrm>
            <a:off x="5486400" y="3218688"/>
            <a:ext cx="3017520" cy="457200"/>
          </a:xfrm>
          <a:prstGeom prst="rect">
            <a:avLst/>
          </a:prstGeom>
          <a:noFill/>
          <a:ln/>
        </p:spPr>
        <p:txBody>
          <a:bodyPr wrap="square" lIns="0" tIns="0" rIns="0" bIns="0" rtlCol="0" anchor="ctr"/>
          <a:lstStyle/>
          <a:p>
            <a:pPr indent="0" marL="0">
              <a:buNone/>
            </a:pPr>
            <a:r>
              <a:rPr lang="en-US" sz="1600" b="1" dirty="0">
                <a:solidFill>
                  <a:schemeClr val="tx1"/>
                </a:solidFill>
              </a:rPr>
              <a:t>분봉은 하루 720봉</a:t>
            </a:r>
            <a:endParaRPr lang="en-US" sz="1600" dirty="0"/>
          </a:p>
        </p:txBody>
      </p:sp>
      <p:sp>
        <p:nvSpPr>
          <p:cNvPr id="23" name="Text 17"/>
          <p:cNvSpPr txBox="1"/>
          <p:nvPr/>
        </p:nvSpPr>
        <p:spPr>
          <a:xfrm>
            <a:off x="4864608" y="3767328"/>
            <a:ext cx="3621024" cy="658368"/>
          </a:xfrm>
          <a:prstGeom prst="rect">
            <a:avLst/>
          </a:prstGeom>
          <a:noFill/>
          <a:ln/>
        </p:spPr>
        <p:txBody>
          <a:bodyPr wrap="square" lIns="0" tIns="0" rIns="0" bIns="0" rtlCol="0" anchor="t"/>
          <a:lstStyle/>
          <a:p>
            <a:pPr indent="0" marL="0">
              <a:buNone/>
            </a:pPr>
            <a:r>
              <a:rPr lang="en-US" sz="1200" dirty="0">
                <a:solidFill>
                  <a:schemeClr val="accent6"/>
                </a:solidFill>
              </a:rPr>
              <a:t>KRX + NXT 통합이라 08:01 ~ 20:00</a:t>
            </a:r>
            <a:endParaRPr lang="en-US" sz="1200" dirty="0"/>
          </a:p>
          <a:p>
            <a:pPr indent="0" marL="0">
              <a:buNone/>
            </a:pPr>
            <a:r>
              <a:rPr lang="en-US" sz="1200" dirty="0">
                <a:solidFill>
                  <a:schemeClr val="accent6"/>
                </a:solidFill>
              </a:rPr>
              <a:t>정규장 390분이 아니다. timestamp 는 봉이 「끝난」 시각</a:t>
            </a:r>
            <a:endParaRPr lang="en-US" sz="12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실측 ③ 수집을 멈춰 세운 함정 세 가지</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모두 문서만 봐서는 알 수 없었고, 실제로 막힌 뒤에 원인을 찾았습니다</a:t>
            </a:r>
            <a:endParaRPr lang="en-US" sz="1400" dirty="0"/>
          </a:p>
        </p:txBody>
      </p:sp>
      <p:sp>
        <p:nvSpPr>
          <p:cNvPr id="4" name="trap-1"/>
          <p:cNvSpPr/>
          <p:nvPr/>
        </p:nvSpPr>
        <p:spPr>
          <a:xfrm>
            <a:off x="457200" y="1371600"/>
            <a:ext cx="2606040" cy="3200400"/>
          </a:xfrm>
          <a:prstGeom prst="roundRect">
            <a:avLst>
              <a:gd name="adj" fmla="val 2807"/>
            </a:avLst>
          </a:prstGeom>
          <a:solidFill>
            <a:schemeClr val="bg2"/>
          </a:solidFill>
          <a:ln/>
        </p:spPr>
      </p:sp>
      <p:sp>
        <p:nvSpPr>
          <p:cNvPr id="5" name="Shape 3"/>
          <p:cNvSpPr/>
          <p:nvPr/>
        </p:nvSpPr>
        <p:spPr>
          <a:xfrm>
            <a:off x="658368" y="1554480"/>
            <a:ext cx="411480" cy="41148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761238" y="1657350"/>
            <a:ext cx="205740" cy="205740"/>
          </a:xfrm>
          <a:prstGeom prst="rect">
            <a:avLst/>
          </a:prstGeom>
        </p:spPr>
      </p:pic>
      <p:sp>
        <p:nvSpPr>
          <p:cNvPr id="7" name="Text 4"/>
          <p:cNvSpPr txBox="1"/>
          <p:nvPr/>
        </p:nvSpPr>
        <p:spPr>
          <a:xfrm>
            <a:off x="658368" y="2011680"/>
            <a:ext cx="2203704" cy="594360"/>
          </a:xfrm>
          <a:prstGeom prst="rect">
            <a:avLst/>
          </a:prstGeom>
          <a:noFill/>
          <a:ln/>
        </p:spPr>
        <p:txBody>
          <a:bodyPr wrap="square" lIns="0" tIns="0" rIns="0" bIns="0" rtlCol="0" anchor="t"/>
          <a:lstStyle/>
          <a:p>
            <a:pPr indent="0" marL="0">
              <a:buNone/>
            </a:pPr>
            <a:r>
              <a:rPr lang="en-US" sz="4000" b="1" dirty="0">
                <a:solidFill>
                  <a:schemeClr val="accent1"/>
                </a:solidFill>
              </a:rPr>
              <a:t>267</a:t>
            </a:r>
            <a:endParaRPr lang="en-US" sz="4000" dirty="0"/>
          </a:p>
        </p:txBody>
      </p:sp>
      <p:sp>
        <p:nvSpPr>
          <p:cNvPr id="8" name="Text 5"/>
          <p:cNvSpPr txBox="1"/>
          <p:nvPr/>
        </p:nvSpPr>
        <p:spPr>
          <a:xfrm>
            <a:off x="658368" y="2606040"/>
            <a:ext cx="2203704" cy="274320"/>
          </a:xfrm>
          <a:prstGeom prst="rect">
            <a:avLst/>
          </a:prstGeom>
          <a:noFill/>
          <a:ln/>
        </p:spPr>
        <p:txBody>
          <a:bodyPr wrap="square" lIns="0" tIns="0" rIns="0" bIns="0" rtlCol="0" anchor="t"/>
          <a:lstStyle/>
          <a:p>
            <a:pPr indent="0" marL="0">
              <a:buNone/>
            </a:pPr>
            <a:r>
              <a:rPr lang="en-US" sz="1300" b="1" dirty="0">
                <a:solidFill>
                  <a:schemeClr val="tx1"/>
                </a:solidFill>
              </a:rPr>
              <a:t>번 연속이면 429</a:t>
            </a:r>
            <a:endParaRPr lang="en-US" sz="1300" dirty="0"/>
          </a:p>
        </p:txBody>
      </p:sp>
      <p:sp>
        <p:nvSpPr>
          <p:cNvPr id="9" name="Text 6"/>
          <p:cNvSpPr txBox="1"/>
          <p:nvPr/>
        </p:nvSpPr>
        <p:spPr>
          <a:xfrm>
            <a:off x="658368" y="2944368"/>
            <a:ext cx="2203704" cy="777240"/>
          </a:xfrm>
          <a:prstGeom prst="rect">
            <a:avLst/>
          </a:prstGeom>
          <a:noFill/>
          <a:ln/>
        </p:spPr>
        <p:txBody>
          <a:bodyPr wrap="square" lIns="0" tIns="0" rIns="0" bIns="0" rtlCol="0" anchor="t"/>
          <a:lstStyle/>
          <a:p>
            <a:pPr indent="0" marL="0">
              <a:buNone/>
            </a:pPr>
            <a:r>
              <a:rPr lang="en-US" sz="1100" dirty="0">
                <a:solidFill>
                  <a:schemeClr val="accent6"/>
                </a:solidFill>
              </a:rPr>
              <a:t>속도 제한은 「초당 20회」가</a:t>
            </a:r>
            <a:endParaRPr lang="en-US" sz="1100" dirty="0"/>
          </a:p>
          <a:p>
            <a:pPr indent="0" marL="0">
              <a:buNone/>
            </a:pPr>
            <a:r>
              <a:rPr lang="en-US" sz="1100" dirty="0">
                <a:solidFill>
                  <a:schemeClr val="accent6"/>
                </a:solidFill>
              </a:rPr>
              <a:t>아니라 토큰 버킷. 평균</a:t>
            </a:r>
            <a:endParaRPr lang="en-US" sz="1100" dirty="0"/>
          </a:p>
          <a:p>
            <a:pPr indent="0" marL="0">
              <a:buNone/>
            </a:pPr>
            <a:r>
              <a:rPr lang="en-US" sz="1100" dirty="0">
                <a:solidFill>
                  <a:schemeClr val="accent6"/>
                </a:solidFill>
              </a:rPr>
              <a:t>1.35 TPS 로도 버킷이 마른다</a:t>
            </a:r>
            <a:endParaRPr lang="en-US" sz="1100" dirty="0"/>
          </a:p>
        </p:txBody>
      </p:sp>
      <p:sp>
        <p:nvSpPr>
          <p:cNvPr id="10" name="Text 7"/>
          <p:cNvSpPr txBox="1"/>
          <p:nvPr/>
        </p:nvSpPr>
        <p:spPr>
          <a:xfrm>
            <a:off x="658368" y="3749040"/>
            <a:ext cx="2203704" cy="731520"/>
          </a:xfrm>
          <a:prstGeom prst="rect">
            <a:avLst/>
          </a:prstGeom>
          <a:noFill/>
          <a:ln/>
        </p:spPr>
        <p:txBody>
          <a:bodyPr wrap="square" lIns="0" tIns="0" rIns="0" bIns="0" rtlCol="0" anchor="t"/>
          <a:lstStyle/>
          <a:p>
            <a:pPr indent="0" marL="0">
              <a:buNone/>
            </a:pPr>
            <a:r>
              <a:rPr lang="en-US" sz="1100" b="1" dirty="0">
                <a:solidFill>
                  <a:schemeClr val="tx1"/>
                </a:solidFill>
              </a:rPr>
              <a:t>요청 사이 0.3초 → 잔량 19/20</a:t>
            </a:r>
            <a:endParaRPr lang="en-US" sz="1100" dirty="0"/>
          </a:p>
          <a:p>
            <a:pPr indent="0" marL="0">
              <a:buNone/>
            </a:pPr>
            <a:r>
              <a:rPr lang="en-US" sz="1100" b="1" dirty="0">
                <a:solidFill>
                  <a:schemeClr val="tx1"/>
                </a:solidFill>
              </a:rPr>
              <a:t>1,800요청 무사고</a:t>
            </a:r>
            <a:endParaRPr lang="en-US" sz="1100" dirty="0"/>
          </a:p>
          <a:p>
            <a:pPr indent="0" marL="0">
              <a:buNone/>
            </a:pPr>
            <a:r>
              <a:rPr lang="en-US" sz="1100" b="1" dirty="0">
                <a:solidFill>
                  <a:schemeClr val="tx1"/>
                </a:solidFill>
              </a:rPr>
              <a:t>429 → Retry-After · 백오프</a:t>
            </a:r>
            <a:endParaRPr lang="en-US" sz="1100" dirty="0"/>
          </a:p>
        </p:txBody>
      </p:sp>
      <p:sp>
        <p:nvSpPr>
          <p:cNvPr id="11" name="trap-2"/>
          <p:cNvSpPr/>
          <p:nvPr/>
        </p:nvSpPr>
        <p:spPr>
          <a:xfrm>
            <a:off x="3268980" y="1371600"/>
            <a:ext cx="2606040" cy="3200400"/>
          </a:xfrm>
          <a:prstGeom prst="roundRect">
            <a:avLst>
              <a:gd name="adj" fmla="val 2807"/>
            </a:avLst>
          </a:prstGeom>
          <a:solidFill>
            <a:schemeClr val="bg2"/>
          </a:solidFill>
          <a:ln/>
        </p:spPr>
      </p:sp>
      <p:sp>
        <p:nvSpPr>
          <p:cNvPr id="12" name="Shape 9"/>
          <p:cNvSpPr/>
          <p:nvPr/>
        </p:nvSpPr>
        <p:spPr>
          <a:xfrm>
            <a:off x="3470148" y="1554480"/>
            <a:ext cx="411480" cy="411480"/>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3573018" y="1657350"/>
            <a:ext cx="205740" cy="205740"/>
          </a:xfrm>
          <a:prstGeom prst="rect">
            <a:avLst/>
          </a:prstGeom>
        </p:spPr>
      </p:pic>
      <p:sp>
        <p:nvSpPr>
          <p:cNvPr id="14" name="Text 10"/>
          <p:cNvSpPr txBox="1"/>
          <p:nvPr/>
        </p:nvSpPr>
        <p:spPr>
          <a:xfrm>
            <a:off x="3470148" y="2011680"/>
            <a:ext cx="2203704" cy="594360"/>
          </a:xfrm>
          <a:prstGeom prst="rect">
            <a:avLst/>
          </a:prstGeom>
          <a:noFill/>
          <a:ln/>
        </p:spPr>
        <p:txBody>
          <a:bodyPr wrap="square" lIns="0" tIns="0" rIns="0" bIns="0" rtlCol="0" anchor="t"/>
          <a:lstStyle/>
          <a:p>
            <a:pPr indent="0" marL="0">
              <a:buNone/>
            </a:pPr>
            <a:r>
              <a:rPr lang="en-US" sz="4000" b="1" dirty="0">
                <a:solidFill>
                  <a:schemeClr val="accent1"/>
                </a:solidFill>
              </a:rPr>
              <a:t>608</a:t>
            </a:r>
            <a:endParaRPr lang="en-US" sz="4000" dirty="0"/>
          </a:p>
        </p:txBody>
      </p:sp>
      <p:sp>
        <p:nvSpPr>
          <p:cNvPr id="15" name="Text 11"/>
          <p:cNvSpPr txBox="1"/>
          <p:nvPr/>
        </p:nvSpPr>
        <p:spPr>
          <a:xfrm>
            <a:off x="3470148" y="2606040"/>
            <a:ext cx="2203704" cy="274320"/>
          </a:xfrm>
          <a:prstGeom prst="rect">
            <a:avLst/>
          </a:prstGeom>
          <a:noFill/>
          <a:ln/>
        </p:spPr>
        <p:txBody>
          <a:bodyPr wrap="square" lIns="0" tIns="0" rIns="0" bIns="0" rtlCol="0" anchor="t"/>
          <a:lstStyle/>
          <a:p>
            <a:pPr indent="0" marL="0">
              <a:buNone/>
            </a:pPr>
            <a:r>
              <a:rPr lang="en-US" sz="1300" b="1" dirty="0">
                <a:solidFill>
                  <a:schemeClr val="tx1"/>
                </a:solidFill>
              </a:rPr>
              <a:t>번째에 token-revoked</a:t>
            </a:r>
            <a:endParaRPr lang="en-US" sz="1300" dirty="0"/>
          </a:p>
        </p:txBody>
      </p:sp>
      <p:sp>
        <p:nvSpPr>
          <p:cNvPr id="16" name="Text 12"/>
          <p:cNvSpPr txBox="1"/>
          <p:nvPr/>
        </p:nvSpPr>
        <p:spPr>
          <a:xfrm>
            <a:off x="3470148" y="2944368"/>
            <a:ext cx="2203704" cy="777240"/>
          </a:xfrm>
          <a:prstGeom prst="rect">
            <a:avLst/>
          </a:prstGeom>
          <a:noFill/>
          <a:ln/>
        </p:spPr>
        <p:txBody>
          <a:bodyPr wrap="square" lIns="0" tIns="0" rIns="0" bIns="0" rtlCol="0" anchor="t"/>
          <a:lstStyle/>
          <a:p>
            <a:pPr indent="0" marL="0">
              <a:buNone/>
            </a:pPr>
            <a:r>
              <a:rPr lang="en-US" sz="1100" dirty="0">
                <a:solidFill>
                  <a:schemeClr val="accent6"/>
                </a:solidFill>
              </a:rPr>
              <a:t>클라이언트당 유효 토큰은 1개</a:t>
            </a:r>
            <a:endParaRPr lang="en-US" sz="1100" dirty="0"/>
          </a:p>
          <a:p>
            <a:pPr indent="0" marL="0">
              <a:buNone/>
            </a:pPr>
            <a:r>
              <a:rPr lang="en-US" sz="1100" dirty="0">
                <a:solidFill>
                  <a:schemeClr val="accent6"/>
                </a:solidFill>
              </a:rPr>
              <a:t>다시 발급하면 이전 토큰이</a:t>
            </a:r>
            <a:endParaRPr lang="en-US" sz="1100" dirty="0"/>
          </a:p>
          <a:p>
            <a:pPr indent="0" marL="0">
              <a:buNone/>
            </a:pPr>
            <a:r>
              <a:rPr lang="en-US" sz="1100" dirty="0">
                <a:solidFill>
                  <a:schemeClr val="accent6"/>
                </a:solidFill>
              </a:rPr>
              <a:t>즉시 죽는다 (동시 실행 탓)</a:t>
            </a:r>
            <a:endParaRPr lang="en-US" sz="1100" dirty="0"/>
          </a:p>
        </p:txBody>
      </p:sp>
      <p:sp>
        <p:nvSpPr>
          <p:cNvPr id="17" name="Text 13"/>
          <p:cNvSpPr txBox="1"/>
          <p:nvPr/>
        </p:nvSpPr>
        <p:spPr>
          <a:xfrm>
            <a:off x="3470148" y="3749040"/>
            <a:ext cx="2203704" cy="731520"/>
          </a:xfrm>
          <a:prstGeom prst="rect">
            <a:avLst/>
          </a:prstGeom>
          <a:noFill/>
          <a:ln/>
        </p:spPr>
        <p:txBody>
          <a:bodyPr wrap="square" lIns="0" tIns="0" rIns="0" bIns="0" rtlCol="0" anchor="t"/>
          <a:lstStyle/>
          <a:p>
            <a:pPr indent="0" marL="0">
              <a:buNone/>
            </a:pPr>
            <a:r>
              <a:rPr lang="en-US" sz="1100" b="1" dirty="0">
                <a:solidFill>
                  <a:schemeClr val="tx1"/>
                </a:solidFill>
              </a:rPr>
              <a:t>토큰을 캐시해 재사용하고</a:t>
            </a:r>
            <a:endParaRPr lang="en-US" sz="1100" dirty="0"/>
          </a:p>
          <a:p>
            <a:pPr indent="0" marL="0">
              <a:buNone/>
            </a:pPr>
            <a:r>
              <a:rPr lang="en-US" sz="1100" b="1" dirty="0">
                <a:solidFill>
                  <a:schemeClr val="tx1"/>
                </a:solidFill>
              </a:rPr>
              <a:t>만료 직전에만 재발급</a:t>
            </a:r>
            <a:endParaRPr lang="en-US" sz="1100" dirty="0"/>
          </a:p>
          <a:p>
            <a:pPr indent="0" marL="0">
              <a:buNone/>
            </a:pPr>
            <a:r>
              <a:rPr lang="en-US" sz="1100" b="1" dirty="0">
                <a:solidFill>
                  <a:schemeClr val="tx1"/>
                </a:solidFill>
              </a:rPr>
              <a:t>수집기는 하나만 띄운다</a:t>
            </a:r>
            <a:endParaRPr lang="en-US" sz="1100" dirty="0"/>
          </a:p>
        </p:txBody>
      </p:sp>
      <p:sp>
        <p:nvSpPr>
          <p:cNvPr id="18" name="trap-3"/>
          <p:cNvSpPr/>
          <p:nvPr/>
        </p:nvSpPr>
        <p:spPr>
          <a:xfrm>
            <a:off x="6080760" y="1371600"/>
            <a:ext cx="2606040" cy="3200400"/>
          </a:xfrm>
          <a:prstGeom prst="roundRect">
            <a:avLst>
              <a:gd name="adj" fmla="val 2807"/>
            </a:avLst>
          </a:prstGeom>
          <a:solidFill>
            <a:schemeClr val="bg2"/>
          </a:solidFill>
          <a:ln/>
        </p:spPr>
      </p:sp>
      <p:sp>
        <p:nvSpPr>
          <p:cNvPr id="19" name="Shape 15"/>
          <p:cNvSpPr/>
          <p:nvPr/>
        </p:nvSpPr>
        <p:spPr>
          <a:xfrm>
            <a:off x="6281928" y="1554480"/>
            <a:ext cx="411480" cy="411480"/>
          </a:xfrm>
          <a:prstGeom prst="ellipse">
            <a:avLst/>
          </a:prstGeom>
          <a:solidFill>
            <a:schemeClr val="accent1"/>
          </a:solidFill>
          <a:ln/>
        </p:spPr>
      </p:sp>
      <p:pic>
        <p:nvPicPr>
          <p:cNvPr id="20" name="Image 2" descr="preencoded.png">    </p:cNvPr>
          <p:cNvPicPr>
            <a:picLocks noChangeAspect="1"/>
          </p:cNvPicPr>
          <p:nvPr/>
        </p:nvPicPr>
        <p:blipFill>
          <a:blip r:embed="rId3"/>
          <a:stretch>
            <a:fillRect/>
          </a:stretch>
        </p:blipFill>
        <p:spPr>
          <a:xfrm>
            <a:off x="6384798" y="1657350"/>
            <a:ext cx="205740" cy="205740"/>
          </a:xfrm>
          <a:prstGeom prst="rect">
            <a:avLst/>
          </a:prstGeom>
        </p:spPr>
      </p:pic>
      <p:sp>
        <p:nvSpPr>
          <p:cNvPr id="21" name="Text 16"/>
          <p:cNvSpPr txBox="1"/>
          <p:nvPr/>
        </p:nvSpPr>
        <p:spPr>
          <a:xfrm>
            <a:off x="6281928" y="2011680"/>
            <a:ext cx="2203704" cy="594360"/>
          </a:xfrm>
          <a:prstGeom prst="rect">
            <a:avLst/>
          </a:prstGeom>
          <a:noFill/>
          <a:ln/>
        </p:spPr>
        <p:txBody>
          <a:bodyPr wrap="square" lIns="0" tIns="0" rIns="0" bIns="0" rtlCol="0" anchor="t"/>
          <a:lstStyle/>
          <a:p>
            <a:pPr indent="0" marL="0">
              <a:buNone/>
            </a:pPr>
            <a:r>
              <a:rPr lang="en-US" sz="4000" b="1" dirty="0">
                <a:solidFill>
                  <a:schemeClr val="accent1"/>
                </a:solidFill>
              </a:rPr>
              <a:t>403</a:t>
            </a:r>
            <a:endParaRPr lang="en-US" sz="4000" dirty="0"/>
          </a:p>
        </p:txBody>
      </p:sp>
      <p:sp>
        <p:nvSpPr>
          <p:cNvPr id="22" name="Text 17"/>
          <p:cNvSpPr txBox="1"/>
          <p:nvPr/>
        </p:nvSpPr>
        <p:spPr>
          <a:xfrm>
            <a:off x="6281928" y="2606040"/>
            <a:ext cx="2203704" cy="274320"/>
          </a:xfrm>
          <a:prstGeom prst="rect">
            <a:avLst/>
          </a:prstGeom>
          <a:noFill/>
          <a:ln/>
        </p:spPr>
        <p:txBody>
          <a:bodyPr wrap="square" lIns="0" tIns="0" rIns="0" bIns="0" rtlCol="0" anchor="t"/>
          <a:lstStyle/>
          <a:p>
            <a:pPr indent="0" marL="0">
              <a:buNone/>
            </a:pPr>
            <a:r>
              <a:rPr lang="en-US" sz="1300" b="1" dirty="0">
                <a:solidFill>
                  <a:schemeClr val="tx1"/>
                </a:solidFill>
              </a:rPr>
              <a:t>IP address not allowed</a:t>
            </a:r>
            <a:endParaRPr lang="en-US" sz="1300" dirty="0"/>
          </a:p>
        </p:txBody>
      </p:sp>
      <p:sp>
        <p:nvSpPr>
          <p:cNvPr id="23" name="Text 18"/>
          <p:cNvSpPr txBox="1"/>
          <p:nvPr/>
        </p:nvSpPr>
        <p:spPr>
          <a:xfrm>
            <a:off x="6281928" y="2944368"/>
            <a:ext cx="2203704" cy="777240"/>
          </a:xfrm>
          <a:prstGeom prst="rect">
            <a:avLst/>
          </a:prstGeom>
          <a:noFill/>
          <a:ln/>
        </p:spPr>
        <p:txBody>
          <a:bodyPr wrap="square" lIns="0" tIns="0" rIns="0" bIns="0" rtlCol="0" anchor="t"/>
          <a:lstStyle/>
          <a:p>
            <a:pPr indent="0" marL="0">
              <a:buNone/>
            </a:pPr>
            <a:r>
              <a:rPr lang="en-US" sz="1100" dirty="0">
                <a:solidFill>
                  <a:schemeClr val="accent6"/>
                </a:solidFill>
              </a:rPr>
              <a:t>허용 IP 화이트리스트</a:t>
            </a:r>
            <a:endParaRPr lang="en-US" sz="1100" dirty="0"/>
          </a:p>
          <a:p>
            <a:pPr indent="0" marL="0">
              <a:buNone/>
            </a:pPr>
            <a:r>
              <a:rPr lang="en-US" sz="1100" dirty="0">
                <a:solidFill>
                  <a:schemeClr val="accent6"/>
                </a:solidFill>
              </a:rPr>
              <a:t>Mac 으로 옮기자 토큰 발급부터</a:t>
            </a:r>
            <a:endParaRPr lang="en-US" sz="1100" dirty="0"/>
          </a:p>
          <a:p>
            <a:pPr indent="0" marL="0">
              <a:buNone/>
            </a:pPr>
            <a:r>
              <a:rPr lang="en-US" sz="1100" dirty="0">
                <a:solidFill>
                  <a:schemeClr val="accent6"/>
                </a:solidFill>
              </a:rPr>
              <a:t>막혔다. 오류 본문은 gzip</a:t>
            </a:r>
            <a:endParaRPr lang="en-US" sz="1100" dirty="0"/>
          </a:p>
        </p:txBody>
      </p:sp>
      <p:sp>
        <p:nvSpPr>
          <p:cNvPr id="24" name="Text 19"/>
          <p:cNvSpPr txBox="1"/>
          <p:nvPr/>
        </p:nvSpPr>
        <p:spPr>
          <a:xfrm>
            <a:off x="6281928" y="3749040"/>
            <a:ext cx="2203704" cy="731520"/>
          </a:xfrm>
          <a:prstGeom prst="rect">
            <a:avLst/>
          </a:prstGeom>
          <a:noFill/>
          <a:ln/>
        </p:spPr>
        <p:txBody>
          <a:bodyPr wrap="square" lIns="0" tIns="0" rIns="0" bIns="0" rtlCol="0" anchor="t"/>
          <a:lstStyle/>
          <a:p>
            <a:pPr indent="0" marL="0">
              <a:buNone/>
            </a:pPr>
            <a:r>
              <a:rPr lang="en-US" sz="1100" b="1" dirty="0">
                <a:solidFill>
                  <a:schemeClr val="tx1"/>
                </a:solidFill>
              </a:rPr>
              <a:t>머신 · 네트워크를 옮기면</a:t>
            </a:r>
            <a:endParaRPr lang="en-US" sz="1100" dirty="0"/>
          </a:p>
          <a:p>
            <a:pPr indent="0" marL="0">
              <a:buNone/>
            </a:pPr>
            <a:r>
              <a:rPr lang="en-US" sz="1100" b="1" dirty="0">
                <a:solidFill>
                  <a:schemeClr val="tx1"/>
                </a:solidFill>
              </a:rPr>
              <a:t>개발자 콘솔에 공인 IP 부터</a:t>
            </a:r>
            <a:endParaRPr lang="en-US" sz="11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수집기 — 몇 번을 돌려도 같은 결과</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완료 조건: 같은 명령을 두 번 실행해도 중복 행이 생기지 않는다</a:t>
            </a:r>
            <a:endParaRPr lang="en-US" sz="1400" dirty="0"/>
          </a:p>
        </p:txBody>
      </p:sp>
      <p:sp>
        <p:nvSpPr>
          <p:cNvPr id="4" name="collect-1"/>
          <p:cNvSpPr/>
          <p:nvPr/>
        </p:nvSpPr>
        <p:spPr>
          <a:xfrm>
            <a:off x="457200" y="1417320"/>
            <a:ext cx="1481328" cy="1234440"/>
          </a:xfrm>
          <a:prstGeom prst="roundRect">
            <a:avLst>
              <a:gd name="adj" fmla="val 5926"/>
            </a:avLst>
          </a:prstGeom>
          <a:solidFill>
            <a:schemeClr val="bg2"/>
          </a:solidFill>
          <a:ln/>
        </p:spPr>
      </p:sp>
      <p:sp>
        <p:nvSpPr>
          <p:cNvPr id="5" name="Shape 3"/>
          <p:cNvSpPr/>
          <p:nvPr/>
        </p:nvSpPr>
        <p:spPr>
          <a:xfrm>
            <a:off x="594360" y="1554480"/>
            <a:ext cx="329184" cy="329184"/>
          </a:xfrm>
          <a:prstGeom prst="ellipse">
            <a:avLst/>
          </a:prstGeom>
          <a:solidFill>
            <a:schemeClr val="accent1"/>
          </a:solidFill>
          <a:ln/>
        </p:spPr>
      </p:sp>
      <p:sp>
        <p:nvSpPr>
          <p:cNvPr id="6" name="Text 4"/>
          <p:cNvSpPr txBox="1"/>
          <p:nvPr/>
        </p:nvSpPr>
        <p:spPr>
          <a:xfrm>
            <a:off x="594360" y="1554480"/>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594360" y="1947672"/>
            <a:ext cx="1207008" cy="274320"/>
          </a:xfrm>
          <a:prstGeom prst="rect">
            <a:avLst/>
          </a:prstGeom>
          <a:noFill/>
          <a:ln/>
        </p:spPr>
        <p:txBody>
          <a:bodyPr wrap="square" lIns="0" tIns="0" rIns="0" bIns="0" rtlCol="0" anchor="t"/>
          <a:lstStyle/>
          <a:p>
            <a:pPr indent="0" marL="0">
              <a:buNone/>
            </a:pPr>
            <a:r>
              <a:rPr lang="en-US" sz="1400" b="1" dirty="0">
                <a:solidFill>
                  <a:schemeClr val="tx1"/>
                </a:solidFill>
              </a:rPr>
              <a:t>토큰</a:t>
            </a:r>
            <a:endParaRPr lang="en-US" sz="1400" dirty="0"/>
          </a:p>
        </p:txBody>
      </p:sp>
      <p:sp>
        <p:nvSpPr>
          <p:cNvPr id="8" name="Text 6"/>
          <p:cNvSpPr txBox="1"/>
          <p:nvPr/>
        </p:nvSpPr>
        <p:spPr>
          <a:xfrm>
            <a:off x="594360" y="2221992"/>
            <a:ext cx="1207008" cy="384048"/>
          </a:xfrm>
          <a:prstGeom prst="rect">
            <a:avLst/>
          </a:prstGeom>
          <a:noFill/>
          <a:ln/>
        </p:spPr>
        <p:txBody>
          <a:bodyPr wrap="square" lIns="0" tIns="0" rIns="0" bIns="0" rtlCol="0" anchor="t"/>
          <a:lstStyle/>
          <a:p>
            <a:pPr indent="0" marL="0">
              <a:buNone/>
            </a:pPr>
            <a:r>
              <a:rPr lang="en-US" sz="1050" dirty="0">
                <a:solidFill>
                  <a:schemeClr val="accent6"/>
                </a:solidFill>
              </a:rPr>
              <a:t>캐시해 재사용,</a:t>
            </a:r>
            <a:endParaRPr lang="en-US" sz="1050" dirty="0"/>
          </a:p>
          <a:p>
            <a:pPr indent="0" marL="0">
              <a:buNone/>
            </a:pPr>
            <a:r>
              <a:rPr lang="en-US" sz="1050" dirty="0">
                <a:solidFill>
                  <a:schemeClr val="accent6"/>
                </a:solidFill>
              </a:rPr>
              <a:t>만료 직전 재발급</a:t>
            </a:r>
            <a:endParaRPr lang="en-US" sz="1050" dirty="0"/>
          </a:p>
        </p:txBody>
      </p:sp>
      <p:sp>
        <p:nvSpPr>
          <p:cNvPr id="9" name="Shape 7"/>
          <p:cNvSpPr/>
          <p:nvPr/>
        </p:nvSpPr>
        <p:spPr>
          <a:xfrm>
            <a:off x="1956816" y="2029968"/>
            <a:ext cx="160020" cy="914"/>
          </a:xfrm>
          <a:prstGeom prst="line">
            <a:avLst/>
          </a:prstGeom>
          <a:noFill/>
          <a:ln w="19050">
            <a:solidFill>
              <a:schemeClr val="accent6"/>
            </a:solidFill>
            <a:prstDash val="solid"/>
            <a:tailEnd type="triangle"/>
          </a:ln>
        </p:spPr>
      </p:sp>
      <p:sp>
        <p:nvSpPr>
          <p:cNvPr id="10" name="collect-2"/>
          <p:cNvSpPr/>
          <p:nvPr/>
        </p:nvSpPr>
        <p:spPr>
          <a:xfrm>
            <a:off x="2135124" y="1417320"/>
            <a:ext cx="1481328" cy="1234440"/>
          </a:xfrm>
          <a:prstGeom prst="roundRect">
            <a:avLst>
              <a:gd name="adj" fmla="val 5926"/>
            </a:avLst>
          </a:prstGeom>
          <a:solidFill>
            <a:schemeClr val="bg2"/>
          </a:solidFill>
          <a:ln/>
        </p:spPr>
      </p:sp>
      <p:sp>
        <p:nvSpPr>
          <p:cNvPr id="11" name="Shape 9"/>
          <p:cNvSpPr/>
          <p:nvPr/>
        </p:nvSpPr>
        <p:spPr>
          <a:xfrm>
            <a:off x="2272284" y="1554480"/>
            <a:ext cx="329184" cy="329184"/>
          </a:xfrm>
          <a:prstGeom prst="ellipse">
            <a:avLst/>
          </a:prstGeom>
          <a:solidFill>
            <a:schemeClr val="accent1"/>
          </a:solidFill>
          <a:ln/>
        </p:spPr>
      </p:sp>
      <p:sp>
        <p:nvSpPr>
          <p:cNvPr id="12" name="Text 10"/>
          <p:cNvSpPr txBox="1"/>
          <p:nvPr/>
        </p:nvSpPr>
        <p:spPr>
          <a:xfrm>
            <a:off x="2272284" y="1554480"/>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1"/>
          <p:cNvSpPr txBox="1"/>
          <p:nvPr/>
        </p:nvSpPr>
        <p:spPr>
          <a:xfrm>
            <a:off x="2272284" y="1947672"/>
            <a:ext cx="1207008" cy="274320"/>
          </a:xfrm>
          <a:prstGeom prst="rect">
            <a:avLst/>
          </a:prstGeom>
          <a:noFill/>
          <a:ln/>
        </p:spPr>
        <p:txBody>
          <a:bodyPr wrap="square" lIns="0" tIns="0" rIns="0" bIns="0" rtlCol="0" anchor="t"/>
          <a:lstStyle/>
          <a:p>
            <a:pPr indent="0" marL="0">
              <a:buNone/>
            </a:pPr>
            <a:r>
              <a:rPr lang="en-US" sz="1400" b="1" dirty="0">
                <a:solidFill>
                  <a:schemeClr val="tx1"/>
                </a:solidFill>
              </a:rPr>
              <a:t>200봉씩</a:t>
            </a:r>
            <a:endParaRPr lang="en-US" sz="1400" dirty="0"/>
          </a:p>
        </p:txBody>
      </p:sp>
      <p:sp>
        <p:nvSpPr>
          <p:cNvPr id="14" name="Text 12"/>
          <p:cNvSpPr txBox="1"/>
          <p:nvPr/>
        </p:nvSpPr>
        <p:spPr>
          <a:xfrm>
            <a:off x="2272284" y="2221992"/>
            <a:ext cx="1207008" cy="384048"/>
          </a:xfrm>
          <a:prstGeom prst="rect">
            <a:avLst/>
          </a:prstGeom>
          <a:noFill/>
          <a:ln/>
        </p:spPr>
        <p:txBody>
          <a:bodyPr wrap="square" lIns="0" tIns="0" rIns="0" bIns="0" rtlCol="0" anchor="t"/>
          <a:lstStyle/>
          <a:p>
            <a:pPr indent="0" marL="0">
              <a:buNone/>
            </a:pPr>
            <a:r>
              <a:rPr lang="en-US" sz="1050" dirty="0">
                <a:solidFill>
                  <a:schemeClr val="accent6"/>
                </a:solidFill>
              </a:rPr>
              <a:t>nextBefore 로</a:t>
            </a:r>
            <a:endParaRPr lang="en-US" sz="1050" dirty="0"/>
          </a:p>
          <a:p>
            <a:pPr indent="0" marL="0">
              <a:buNone/>
            </a:pPr>
            <a:r>
              <a:rPr lang="en-US" sz="1050" dirty="0">
                <a:solidFill>
                  <a:schemeClr val="accent6"/>
                </a:solidFill>
              </a:rPr>
              <a:t>과거 방향으로</a:t>
            </a:r>
            <a:endParaRPr lang="en-US" sz="1050" dirty="0"/>
          </a:p>
        </p:txBody>
      </p:sp>
      <p:sp>
        <p:nvSpPr>
          <p:cNvPr id="15" name="Shape 13"/>
          <p:cNvSpPr/>
          <p:nvPr/>
        </p:nvSpPr>
        <p:spPr>
          <a:xfrm>
            <a:off x="3634740" y="2029968"/>
            <a:ext cx="160020" cy="914"/>
          </a:xfrm>
          <a:prstGeom prst="line">
            <a:avLst/>
          </a:prstGeom>
          <a:noFill/>
          <a:ln w="19050">
            <a:solidFill>
              <a:schemeClr val="accent6"/>
            </a:solidFill>
            <a:prstDash val="solid"/>
            <a:tailEnd type="triangle"/>
          </a:ln>
        </p:spPr>
      </p:sp>
      <p:sp>
        <p:nvSpPr>
          <p:cNvPr id="16" name="collect-3"/>
          <p:cNvSpPr/>
          <p:nvPr/>
        </p:nvSpPr>
        <p:spPr>
          <a:xfrm>
            <a:off x="3813048" y="1417320"/>
            <a:ext cx="1481328" cy="1234440"/>
          </a:xfrm>
          <a:prstGeom prst="roundRect">
            <a:avLst>
              <a:gd name="adj" fmla="val 5926"/>
            </a:avLst>
          </a:prstGeom>
          <a:solidFill>
            <a:schemeClr val="bg2"/>
          </a:solidFill>
          <a:ln/>
        </p:spPr>
      </p:sp>
      <p:sp>
        <p:nvSpPr>
          <p:cNvPr id="17" name="Shape 15"/>
          <p:cNvSpPr/>
          <p:nvPr/>
        </p:nvSpPr>
        <p:spPr>
          <a:xfrm>
            <a:off x="3950208" y="1554480"/>
            <a:ext cx="329184" cy="329184"/>
          </a:xfrm>
          <a:prstGeom prst="ellipse">
            <a:avLst/>
          </a:prstGeom>
          <a:solidFill>
            <a:schemeClr val="accent1"/>
          </a:solidFill>
          <a:ln/>
        </p:spPr>
      </p:sp>
      <p:sp>
        <p:nvSpPr>
          <p:cNvPr id="18" name="Text 16"/>
          <p:cNvSpPr txBox="1"/>
          <p:nvPr/>
        </p:nvSpPr>
        <p:spPr>
          <a:xfrm>
            <a:off x="3950208" y="1554480"/>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7"/>
          <p:cNvSpPr txBox="1"/>
          <p:nvPr/>
        </p:nvSpPr>
        <p:spPr>
          <a:xfrm>
            <a:off x="3950208" y="1947672"/>
            <a:ext cx="1207008" cy="274320"/>
          </a:xfrm>
          <a:prstGeom prst="rect">
            <a:avLst/>
          </a:prstGeom>
          <a:noFill/>
          <a:ln/>
        </p:spPr>
        <p:txBody>
          <a:bodyPr wrap="square" lIns="0" tIns="0" rIns="0" bIns="0" rtlCol="0" anchor="t"/>
          <a:lstStyle/>
          <a:p>
            <a:pPr indent="0" marL="0">
              <a:buNone/>
            </a:pPr>
            <a:r>
              <a:rPr lang="en-US" sz="1400" b="1" dirty="0">
                <a:solidFill>
                  <a:schemeClr val="tx1"/>
                </a:solidFill>
              </a:rPr>
              <a:t>속도 조절</a:t>
            </a:r>
            <a:endParaRPr lang="en-US" sz="1400" dirty="0"/>
          </a:p>
        </p:txBody>
      </p:sp>
      <p:sp>
        <p:nvSpPr>
          <p:cNvPr id="20" name="Text 18"/>
          <p:cNvSpPr txBox="1"/>
          <p:nvPr/>
        </p:nvSpPr>
        <p:spPr>
          <a:xfrm>
            <a:off x="3950208" y="2221992"/>
            <a:ext cx="1207008" cy="384048"/>
          </a:xfrm>
          <a:prstGeom prst="rect">
            <a:avLst/>
          </a:prstGeom>
          <a:noFill/>
          <a:ln/>
        </p:spPr>
        <p:txBody>
          <a:bodyPr wrap="square" lIns="0" tIns="0" rIns="0" bIns="0" rtlCol="0" anchor="t"/>
          <a:lstStyle/>
          <a:p>
            <a:pPr indent="0" marL="0">
              <a:buNone/>
            </a:pPr>
            <a:r>
              <a:rPr lang="en-US" sz="1050" dirty="0">
                <a:solidFill>
                  <a:schemeClr val="accent6"/>
                </a:solidFill>
              </a:rPr>
              <a:t>0.3초 간격,</a:t>
            </a:r>
            <a:endParaRPr lang="en-US" sz="1050" dirty="0"/>
          </a:p>
          <a:p>
            <a:pPr indent="0" marL="0">
              <a:buNone/>
            </a:pPr>
            <a:r>
              <a:rPr lang="en-US" sz="1050" dirty="0">
                <a:solidFill>
                  <a:schemeClr val="accent6"/>
                </a:solidFill>
              </a:rPr>
              <a:t>429 면 백오프</a:t>
            </a:r>
            <a:endParaRPr lang="en-US" sz="1050" dirty="0"/>
          </a:p>
        </p:txBody>
      </p:sp>
      <p:sp>
        <p:nvSpPr>
          <p:cNvPr id="21" name="Shape 19"/>
          <p:cNvSpPr/>
          <p:nvPr/>
        </p:nvSpPr>
        <p:spPr>
          <a:xfrm>
            <a:off x="5312664" y="2029968"/>
            <a:ext cx="160020" cy="914"/>
          </a:xfrm>
          <a:prstGeom prst="line">
            <a:avLst/>
          </a:prstGeom>
          <a:noFill/>
          <a:ln w="19050">
            <a:solidFill>
              <a:schemeClr val="accent6"/>
            </a:solidFill>
            <a:prstDash val="solid"/>
            <a:tailEnd type="triangle"/>
          </a:ln>
        </p:spPr>
      </p:sp>
      <p:sp>
        <p:nvSpPr>
          <p:cNvPr id="22" name="collect-4"/>
          <p:cNvSpPr/>
          <p:nvPr/>
        </p:nvSpPr>
        <p:spPr>
          <a:xfrm>
            <a:off x="5490972" y="1417320"/>
            <a:ext cx="1481328" cy="1234440"/>
          </a:xfrm>
          <a:prstGeom prst="roundRect">
            <a:avLst>
              <a:gd name="adj" fmla="val 5926"/>
            </a:avLst>
          </a:prstGeom>
          <a:solidFill>
            <a:schemeClr val="bg2"/>
          </a:solidFill>
          <a:ln/>
        </p:spPr>
      </p:sp>
      <p:sp>
        <p:nvSpPr>
          <p:cNvPr id="23" name="Shape 21"/>
          <p:cNvSpPr/>
          <p:nvPr/>
        </p:nvSpPr>
        <p:spPr>
          <a:xfrm>
            <a:off x="5628132" y="1554480"/>
            <a:ext cx="329184" cy="329184"/>
          </a:xfrm>
          <a:prstGeom prst="ellipse">
            <a:avLst/>
          </a:prstGeom>
          <a:solidFill>
            <a:schemeClr val="accent1"/>
          </a:solidFill>
          <a:ln/>
        </p:spPr>
      </p:sp>
      <p:sp>
        <p:nvSpPr>
          <p:cNvPr id="24" name="Text 22"/>
          <p:cNvSpPr txBox="1"/>
          <p:nvPr/>
        </p:nvSpPr>
        <p:spPr>
          <a:xfrm>
            <a:off x="5628132" y="1554480"/>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5" name="Text 23"/>
          <p:cNvSpPr txBox="1"/>
          <p:nvPr/>
        </p:nvSpPr>
        <p:spPr>
          <a:xfrm>
            <a:off x="5628132" y="1947672"/>
            <a:ext cx="1207008" cy="274320"/>
          </a:xfrm>
          <a:prstGeom prst="rect">
            <a:avLst/>
          </a:prstGeom>
          <a:noFill/>
          <a:ln/>
        </p:spPr>
        <p:txBody>
          <a:bodyPr wrap="square" lIns="0" tIns="0" rIns="0" bIns="0" rtlCol="0" anchor="t"/>
          <a:lstStyle/>
          <a:p>
            <a:pPr indent="0" marL="0">
              <a:buNone/>
            </a:pPr>
            <a:r>
              <a:rPr lang="en-US" sz="1400" b="1" dirty="0">
                <a:solidFill>
                  <a:schemeClr val="tx1"/>
                </a:solidFill>
              </a:rPr>
              <a:t>저장</a:t>
            </a:r>
            <a:endParaRPr lang="en-US" sz="1400" dirty="0"/>
          </a:p>
        </p:txBody>
      </p:sp>
      <p:sp>
        <p:nvSpPr>
          <p:cNvPr id="26" name="Text 24"/>
          <p:cNvSpPr txBox="1"/>
          <p:nvPr/>
        </p:nvSpPr>
        <p:spPr>
          <a:xfrm>
            <a:off x="5628132" y="2221992"/>
            <a:ext cx="1207008" cy="384048"/>
          </a:xfrm>
          <a:prstGeom prst="rect">
            <a:avLst/>
          </a:prstGeom>
          <a:noFill/>
          <a:ln/>
        </p:spPr>
        <p:txBody>
          <a:bodyPr wrap="square" lIns="0" tIns="0" rIns="0" bIns="0" rtlCol="0" anchor="t"/>
          <a:lstStyle/>
          <a:p>
            <a:pPr indent="0" marL="0">
              <a:buNone/>
            </a:pPr>
            <a:r>
              <a:rPr lang="en-US" sz="1050" dirty="0">
                <a:solidFill>
                  <a:schemeClr val="accent6"/>
                </a:solidFill>
              </a:rPr>
              <a:t>배치 upsert,</a:t>
            </a:r>
            <a:endParaRPr lang="en-US" sz="1050" dirty="0"/>
          </a:p>
          <a:p>
            <a:pPr indent="0" marL="0">
              <a:buNone/>
            </a:pPr>
            <a:r>
              <a:rPr lang="en-US" sz="1050" dirty="0">
                <a:solidFill>
                  <a:schemeClr val="accent6"/>
                </a:solidFill>
              </a:rPr>
              <a:t>겹쳐도 중복 없음</a:t>
            </a:r>
            <a:endParaRPr lang="en-US" sz="1050" dirty="0"/>
          </a:p>
        </p:txBody>
      </p:sp>
      <p:sp>
        <p:nvSpPr>
          <p:cNvPr id="27" name="Shape 25"/>
          <p:cNvSpPr/>
          <p:nvPr/>
        </p:nvSpPr>
        <p:spPr>
          <a:xfrm>
            <a:off x="6990588" y="2029968"/>
            <a:ext cx="160020" cy="914"/>
          </a:xfrm>
          <a:prstGeom prst="line">
            <a:avLst/>
          </a:prstGeom>
          <a:noFill/>
          <a:ln w="19050">
            <a:solidFill>
              <a:schemeClr val="accent6"/>
            </a:solidFill>
            <a:prstDash val="solid"/>
            <a:tailEnd type="triangle"/>
          </a:ln>
        </p:spPr>
      </p:sp>
      <p:sp>
        <p:nvSpPr>
          <p:cNvPr id="28" name="collect-5"/>
          <p:cNvSpPr/>
          <p:nvPr/>
        </p:nvSpPr>
        <p:spPr>
          <a:xfrm>
            <a:off x="7168896" y="1417320"/>
            <a:ext cx="1481328" cy="1234440"/>
          </a:xfrm>
          <a:prstGeom prst="roundRect">
            <a:avLst>
              <a:gd name="adj" fmla="val 5926"/>
            </a:avLst>
          </a:prstGeom>
          <a:solidFill>
            <a:schemeClr val="bg2"/>
          </a:solidFill>
          <a:ln/>
        </p:spPr>
      </p:sp>
      <p:sp>
        <p:nvSpPr>
          <p:cNvPr id="29" name="Shape 27"/>
          <p:cNvSpPr/>
          <p:nvPr/>
        </p:nvSpPr>
        <p:spPr>
          <a:xfrm>
            <a:off x="7306056" y="1554480"/>
            <a:ext cx="329184" cy="329184"/>
          </a:xfrm>
          <a:prstGeom prst="ellipse">
            <a:avLst/>
          </a:prstGeom>
          <a:solidFill>
            <a:schemeClr val="accent1"/>
          </a:solidFill>
          <a:ln/>
        </p:spPr>
      </p:sp>
      <p:sp>
        <p:nvSpPr>
          <p:cNvPr id="30" name="Text 28"/>
          <p:cNvSpPr txBox="1"/>
          <p:nvPr/>
        </p:nvSpPr>
        <p:spPr>
          <a:xfrm>
            <a:off x="7306056" y="1554480"/>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1" name="Text 29"/>
          <p:cNvSpPr txBox="1"/>
          <p:nvPr/>
        </p:nvSpPr>
        <p:spPr>
          <a:xfrm>
            <a:off x="7306056" y="1947672"/>
            <a:ext cx="1207008" cy="274320"/>
          </a:xfrm>
          <a:prstGeom prst="rect">
            <a:avLst/>
          </a:prstGeom>
          <a:noFill/>
          <a:ln/>
        </p:spPr>
        <p:txBody>
          <a:bodyPr wrap="square" lIns="0" tIns="0" rIns="0" bIns="0" rtlCol="0" anchor="t"/>
          <a:lstStyle/>
          <a:p>
            <a:pPr indent="0" marL="0">
              <a:buNone/>
            </a:pPr>
            <a:r>
              <a:rPr lang="en-US" sz="1400" b="1" dirty="0">
                <a:solidFill>
                  <a:schemeClr val="tx1"/>
                </a:solidFill>
              </a:rPr>
              <a:t>수집 이력</a:t>
            </a:r>
            <a:endParaRPr lang="en-US" sz="1400" dirty="0"/>
          </a:p>
        </p:txBody>
      </p:sp>
      <p:sp>
        <p:nvSpPr>
          <p:cNvPr id="32" name="Text 30"/>
          <p:cNvSpPr txBox="1"/>
          <p:nvPr/>
        </p:nvSpPr>
        <p:spPr>
          <a:xfrm>
            <a:off x="7306056" y="2221992"/>
            <a:ext cx="1207008" cy="384048"/>
          </a:xfrm>
          <a:prstGeom prst="rect">
            <a:avLst/>
          </a:prstGeom>
          <a:noFill/>
          <a:ln/>
        </p:spPr>
        <p:txBody>
          <a:bodyPr wrap="square" lIns="0" tIns="0" rIns="0" bIns="0" rtlCol="0" anchor="t"/>
          <a:lstStyle/>
          <a:p>
            <a:pPr indent="0" marL="0">
              <a:buNone/>
            </a:pPr>
            <a:r>
              <a:rPr lang="en-US" sz="1050" dirty="0">
                <a:solidFill>
                  <a:schemeClr val="accent6"/>
                </a:solidFill>
              </a:rPr>
              <a:t>받은 구간을</a:t>
            </a:r>
            <a:endParaRPr lang="en-US" sz="1050" dirty="0"/>
          </a:p>
          <a:p>
            <a:pPr indent="0" marL="0">
              <a:buNone/>
            </a:pPr>
            <a:r>
              <a:rPr lang="en-US" sz="1050" dirty="0">
                <a:solidFill>
                  <a:schemeClr val="accent6"/>
                </a:solidFill>
              </a:rPr>
              <a:t>기록한다</a:t>
            </a:r>
            <a:endParaRPr lang="en-US" sz="1050" dirty="0"/>
          </a:p>
        </p:txBody>
      </p:sp>
      <p:sp>
        <p:nvSpPr>
          <p:cNvPr id="33" name="Text 31"/>
          <p:cNvSpPr txBox="1"/>
          <p:nvPr/>
        </p:nvSpPr>
        <p:spPr>
          <a:xfrm>
            <a:off x="457200" y="2907792"/>
            <a:ext cx="8229600" cy="292608"/>
          </a:xfrm>
          <a:prstGeom prst="rect">
            <a:avLst/>
          </a:prstGeom>
          <a:noFill/>
          <a:ln/>
        </p:spPr>
        <p:txBody>
          <a:bodyPr wrap="square" lIns="0" tIns="0" rIns="0" bIns="0" rtlCol="0" anchor="t"/>
          <a:lstStyle/>
          <a:p>
            <a:pPr indent="0" marL="0">
              <a:buNone/>
            </a:pPr>
            <a:r>
              <a:rPr lang="en-US" sz="1400" b="1" dirty="0">
                <a:solidFill>
                  <a:schemeClr val="tx1"/>
                </a:solidFill>
              </a:rPr>
              <a:t>결손 구간만 받기 — 받은 구간을 합치고, 빠진 곳만 최신 구간부터 호출한다</a:t>
            </a:r>
            <a:endParaRPr lang="en-US" sz="1400" dirty="0"/>
          </a:p>
        </p:txBody>
      </p:sp>
      <p:sp>
        <p:nvSpPr>
          <p:cNvPr id="34" name="have-0"/>
          <p:cNvSpPr/>
          <p:nvPr/>
        </p:nvSpPr>
        <p:spPr>
          <a:xfrm>
            <a:off x="457200" y="3337560"/>
            <a:ext cx="3127248" cy="329184"/>
          </a:xfrm>
          <a:prstGeom prst="rect">
            <a:avLst/>
          </a:prstGeom>
          <a:solidFill>
            <a:schemeClr val="accent1"/>
          </a:solidFill>
          <a:ln/>
        </p:spPr>
      </p:sp>
      <p:sp>
        <p:nvSpPr>
          <p:cNvPr id="35" name="gap-1"/>
          <p:cNvSpPr/>
          <p:nvPr/>
        </p:nvSpPr>
        <p:spPr>
          <a:xfrm>
            <a:off x="3584448" y="3337560"/>
            <a:ext cx="740664" cy="329184"/>
          </a:xfrm>
          <a:prstGeom prst="rect">
            <a:avLst/>
          </a:prstGeom>
          <a:solidFill>
            <a:schemeClr val="accent4">
              <a:alpha val="25000"/>
            </a:schemeClr>
          </a:solidFill>
          <a:ln w="15875">
            <a:solidFill>
              <a:schemeClr val="accent4"/>
            </a:solidFill>
            <a:prstDash val="dash"/>
          </a:ln>
        </p:spPr>
      </p:sp>
      <p:sp>
        <p:nvSpPr>
          <p:cNvPr id="36" name="have-2"/>
          <p:cNvSpPr/>
          <p:nvPr/>
        </p:nvSpPr>
        <p:spPr>
          <a:xfrm>
            <a:off x="4325112" y="3337560"/>
            <a:ext cx="3209544" cy="329184"/>
          </a:xfrm>
          <a:prstGeom prst="rect">
            <a:avLst/>
          </a:prstGeom>
          <a:solidFill>
            <a:schemeClr val="accent1"/>
          </a:solidFill>
          <a:ln/>
        </p:spPr>
      </p:sp>
      <p:sp>
        <p:nvSpPr>
          <p:cNvPr id="37" name="gap-3"/>
          <p:cNvSpPr/>
          <p:nvPr/>
        </p:nvSpPr>
        <p:spPr>
          <a:xfrm>
            <a:off x="7534656" y="3337560"/>
            <a:ext cx="1152144" cy="329184"/>
          </a:xfrm>
          <a:prstGeom prst="rect">
            <a:avLst/>
          </a:prstGeom>
          <a:solidFill>
            <a:schemeClr val="accent4">
              <a:alpha val="25000"/>
            </a:schemeClr>
          </a:solidFill>
          <a:ln w="15875">
            <a:solidFill>
              <a:schemeClr val="accent4"/>
            </a:solidFill>
            <a:prstDash val="dash"/>
          </a:ln>
        </p:spPr>
      </p:sp>
      <p:sp>
        <p:nvSpPr>
          <p:cNvPr id="38" name="Text 36"/>
          <p:cNvSpPr txBox="1"/>
          <p:nvPr/>
        </p:nvSpPr>
        <p:spPr>
          <a:xfrm>
            <a:off x="566928" y="3337560"/>
            <a:ext cx="1371600" cy="329184"/>
          </a:xfrm>
          <a:prstGeom prst="rect">
            <a:avLst/>
          </a:prstGeom>
          <a:noFill/>
          <a:ln/>
        </p:spPr>
        <p:txBody>
          <a:bodyPr wrap="square" lIns="0" tIns="0" rIns="0" bIns="0" rtlCol="0" anchor="ctr"/>
          <a:lstStyle/>
          <a:p>
            <a:pPr indent="0" marL="0">
              <a:buNone/>
            </a:pPr>
            <a:r>
              <a:rPr lang="en-US" sz="1100" b="1" dirty="0">
                <a:solidFill>
                  <a:schemeClr val="bg1"/>
                </a:solidFill>
              </a:rPr>
              <a:t>받은 구간</a:t>
            </a:r>
            <a:endParaRPr lang="en-US" sz="1100" dirty="0"/>
          </a:p>
        </p:txBody>
      </p:sp>
      <p:sp>
        <p:nvSpPr>
          <p:cNvPr id="39" name="Text 37"/>
          <p:cNvSpPr txBox="1"/>
          <p:nvPr/>
        </p:nvSpPr>
        <p:spPr>
          <a:xfrm>
            <a:off x="3584448" y="3337560"/>
            <a:ext cx="740664" cy="329184"/>
          </a:xfrm>
          <a:prstGeom prst="rect">
            <a:avLst/>
          </a:prstGeom>
          <a:noFill/>
          <a:ln/>
        </p:spPr>
        <p:txBody>
          <a:bodyPr wrap="square" lIns="0" tIns="0" rIns="0" bIns="0" rtlCol="0" anchor="ctr"/>
          <a:lstStyle/>
          <a:p>
            <a:pPr algn="ctr" indent="0" marL="0">
              <a:buNone/>
            </a:pPr>
            <a:r>
              <a:rPr lang="en-US" sz="1000" b="1" dirty="0">
                <a:solidFill>
                  <a:schemeClr val="tx1"/>
                </a:solidFill>
              </a:rPr>
              <a:t>빠진 구간 ②</a:t>
            </a:r>
            <a:endParaRPr lang="en-US" sz="1000" dirty="0"/>
          </a:p>
        </p:txBody>
      </p:sp>
      <p:sp>
        <p:nvSpPr>
          <p:cNvPr id="40" name="Text 38"/>
          <p:cNvSpPr txBox="1"/>
          <p:nvPr/>
        </p:nvSpPr>
        <p:spPr>
          <a:xfrm>
            <a:off x="7534656" y="3337560"/>
            <a:ext cx="1152144" cy="329184"/>
          </a:xfrm>
          <a:prstGeom prst="rect">
            <a:avLst/>
          </a:prstGeom>
          <a:noFill/>
          <a:ln/>
        </p:spPr>
        <p:txBody>
          <a:bodyPr wrap="square" lIns="0" tIns="0" rIns="0" bIns="0" rtlCol="0" anchor="ctr"/>
          <a:lstStyle/>
          <a:p>
            <a:pPr algn="ctr" indent="0" marL="0">
              <a:buNone/>
            </a:pPr>
            <a:r>
              <a:rPr lang="en-US" sz="1000" b="1" dirty="0">
                <a:solidFill>
                  <a:schemeClr val="tx1"/>
                </a:solidFill>
              </a:rPr>
              <a:t>빠진 구간 ①</a:t>
            </a:r>
            <a:endParaRPr lang="en-US" sz="1000" dirty="0"/>
          </a:p>
        </p:txBody>
      </p:sp>
      <p:sp>
        <p:nvSpPr>
          <p:cNvPr id="41" name="Text 39"/>
          <p:cNvSpPr txBox="1"/>
          <p:nvPr/>
        </p:nvSpPr>
        <p:spPr>
          <a:xfrm>
            <a:off x="457200" y="3721608"/>
            <a:ext cx="914400" cy="201168"/>
          </a:xfrm>
          <a:prstGeom prst="rect">
            <a:avLst/>
          </a:prstGeom>
          <a:noFill/>
          <a:ln/>
        </p:spPr>
        <p:txBody>
          <a:bodyPr wrap="square" lIns="0" tIns="0" rIns="0" bIns="0" rtlCol="0" anchor="t"/>
          <a:lstStyle/>
          <a:p>
            <a:pPr indent="0" marL="0">
              <a:buNone/>
            </a:pPr>
            <a:r>
              <a:rPr lang="en-US" sz="1000" dirty="0">
                <a:solidFill>
                  <a:schemeClr val="accent6"/>
                </a:solidFill>
              </a:rPr>
              <a:t>과거</a:t>
            </a:r>
            <a:endParaRPr lang="en-US" sz="1000" dirty="0"/>
          </a:p>
        </p:txBody>
      </p:sp>
      <p:sp>
        <p:nvSpPr>
          <p:cNvPr id="42" name="Text 40"/>
          <p:cNvSpPr txBox="1"/>
          <p:nvPr/>
        </p:nvSpPr>
        <p:spPr>
          <a:xfrm>
            <a:off x="7772400" y="3721608"/>
            <a:ext cx="914400" cy="201168"/>
          </a:xfrm>
          <a:prstGeom prst="rect">
            <a:avLst/>
          </a:prstGeom>
          <a:noFill/>
          <a:ln/>
        </p:spPr>
        <p:txBody>
          <a:bodyPr wrap="square" lIns="0" tIns="0" rIns="0" bIns="0" rtlCol="0" anchor="t"/>
          <a:lstStyle/>
          <a:p>
            <a:pPr algn="r" indent="0" marL="0">
              <a:buNone/>
            </a:pPr>
            <a:r>
              <a:rPr lang="en-US" sz="1000" dirty="0">
                <a:solidFill>
                  <a:schemeClr val="accent6"/>
                </a:solidFill>
              </a:rPr>
              <a:t>최근</a:t>
            </a:r>
            <a:endParaRPr lang="en-US" sz="1000" dirty="0"/>
          </a:p>
        </p:txBody>
      </p:sp>
      <p:sp>
        <p:nvSpPr>
          <p:cNvPr id="43" name="Text 41"/>
          <p:cNvSpPr txBox="1"/>
          <p:nvPr/>
        </p:nvSpPr>
        <p:spPr>
          <a:xfrm>
            <a:off x="457200" y="4069080"/>
            <a:ext cx="8229600" cy="457200"/>
          </a:xfrm>
          <a:prstGeom prst="rect">
            <a:avLst/>
          </a:prstGeom>
          <a:noFill/>
          <a:ln/>
        </p:spPr>
        <p:txBody>
          <a:bodyPr wrap="square" lIns="0" tIns="0" rIns="0" bIns="0" rtlCol="0" anchor="t"/>
          <a:lstStyle/>
          <a:p>
            <a:pPr indent="0" marL="0">
              <a:buNone/>
            </a:pPr>
            <a:r>
              <a:rPr lang="en-US" sz="1200" b="1" dirty="0">
                <a:solidFill>
                  <a:schemeClr val="tx1"/>
                </a:solidFill>
              </a:rPr>
              <a:t>다음 실행은 그 뒤의 최근 봉만 받는다. </a:t>
            </a:r>
            <a:pPr indent="0" marL="0">
              <a:buNone/>
            </a:pPr>
            <a:r>
              <a:rPr lang="en-US" sz="1200" dirty="0">
                <a:solidFill>
                  <a:schemeClr val="accent6"/>
                </a:solidFill>
              </a:rPr>
              <a:t>봉 간격 이내로 맞닿은 구간은 하나로 합친다. 실제 API 로 다시 확인하는 일은 계정 문제로 대기 중</a:t>
            </a:r>
            <a:endParaRPr lang="en-US" sz="12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시세 저장소 — 시세를 읽는 단 하나의 통로</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구현체를 갈아 끼워도 위쪽 코드는 바뀌지 않습니다</a:t>
            </a:r>
            <a:endParaRPr lang="en-US" sz="1400" dirty="0"/>
          </a:p>
        </p:txBody>
      </p:sp>
      <p:sp>
        <p:nvSpPr>
          <p:cNvPr id="4" name="callers"/>
          <p:cNvSpPr/>
          <p:nvPr/>
        </p:nvSpPr>
        <p:spPr>
          <a:xfrm>
            <a:off x="457200" y="1371600"/>
            <a:ext cx="4846320" cy="548640"/>
          </a:xfrm>
          <a:prstGeom prst="roundRect">
            <a:avLst>
              <a:gd name="adj" fmla="val 13333"/>
            </a:avLst>
          </a:prstGeom>
          <a:solidFill>
            <a:schemeClr val="bg2"/>
          </a:solidFill>
          <a:ln/>
        </p:spPr>
      </p:sp>
      <p:sp>
        <p:nvSpPr>
          <p:cNvPr id="5" name="Text 3"/>
          <p:cNvSpPr txBox="1"/>
          <p:nvPr/>
        </p:nvSpPr>
        <p:spPr>
          <a:xfrm>
            <a:off x="457200" y="1371600"/>
            <a:ext cx="4846320" cy="548640"/>
          </a:xfrm>
          <a:prstGeom prst="rect">
            <a:avLst/>
          </a:prstGeom>
          <a:noFill/>
          <a:ln/>
        </p:spPr>
        <p:txBody>
          <a:bodyPr wrap="square" lIns="0" tIns="0" rIns="0" bIns="0" rtlCol="0" anchor="ctr"/>
          <a:lstStyle/>
          <a:p>
            <a:pPr algn="ctr" indent="0" marL="0">
              <a:buNone/>
            </a:pPr>
            <a:r>
              <a:rPr lang="en-US" sz="1400" b="1" dirty="0">
                <a:solidFill>
                  <a:schemeClr val="tx1"/>
                </a:solidFill>
              </a:rPr>
              <a:t>시나리오 · 게임 서버</a:t>
            </a:r>
            <a:endParaRPr lang="en-US" sz="1400" dirty="0"/>
          </a:p>
        </p:txBody>
      </p:sp>
      <p:sp>
        <p:nvSpPr>
          <p:cNvPr id="6" name="Shape 4"/>
          <p:cNvSpPr/>
          <p:nvPr/>
        </p:nvSpPr>
        <p:spPr>
          <a:xfrm>
            <a:off x="2880360" y="1947672"/>
            <a:ext cx="914" cy="265176"/>
          </a:xfrm>
          <a:prstGeom prst="line">
            <a:avLst/>
          </a:prstGeom>
          <a:noFill/>
          <a:ln w="19050">
            <a:solidFill>
              <a:schemeClr val="accent6"/>
            </a:solidFill>
            <a:prstDash val="solid"/>
            <a:tailEnd type="triangle"/>
          </a:ln>
        </p:spPr>
      </p:sp>
      <p:sp>
        <p:nvSpPr>
          <p:cNvPr id="7" name="interface"/>
          <p:cNvSpPr/>
          <p:nvPr/>
        </p:nvSpPr>
        <p:spPr>
          <a:xfrm>
            <a:off x="457200" y="2240280"/>
            <a:ext cx="4846320" cy="868680"/>
          </a:xfrm>
          <a:prstGeom prst="roundRect">
            <a:avLst>
              <a:gd name="adj" fmla="val 8421"/>
            </a:avLst>
          </a:prstGeom>
          <a:solidFill>
            <a:schemeClr val="accent1"/>
          </a:solidFill>
          <a:ln/>
        </p:spPr>
      </p:sp>
      <p:sp>
        <p:nvSpPr>
          <p:cNvPr id="8" name="Shape 6"/>
          <p:cNvSpPr/>
          <p:nvPr/>
        </p:nvSpPr>
        <p:spPr>
          <a:xfrm>
            <a:off x="640080" y="2395728"/>
            <a:ext cx="548640" cy="548640"/>
          </a:xfrm>
          <a:prstGeom prst="ellipse">
            <a:avLst/>
          </a:prstGeom>
          <a:solidFill>
            <a:schemeClr val="tx2"/>
          </a:solidFill>
          <a:ln/>
        </p:spPr>
      </p:sp>
      <p:pic>
        <p:nvPicPr>
          <p:cNvPr id="9" name="Image 0" descr="preencoded.png">    </p:cNvPr>
          <p:cNvPicPr>
            <a:picLocks noChangeAspect="1"/>
          </p:cNvPicPr>
          <p:nvPr/>
        </p:nvPicPr>
        <p:blipFill>
          <a:blip r:embed="rId1"/>
          <a:stretch>
            <a:fillRect/>
          </a:stretch>
        </p:blipFill>
        <p:spPr>
          <a:xfrm>
            <a:off x="777240" y="2532888"/>
            <a:ext cx="274320" cy="274320"/>
          </a:xfrm>
          <a:prstGeom prst="rect">
            <a:avLst/>
          </a:prstGeom>
        </p:spPr>
      </p:pic>
      <p:sp>
        <p:nvSpPr>
          <p:cNvPr id="10" name="Text 7"/>
          <p:cNvSpPr txBox="1"/>
          <p:nvPr/>
        </p:nvSpPr>
        <p:spPr>
          <a:xfrm>
            <a:off x="1325880" y="2331720"/>
            <a:ext cx="3840480" cy="685800"/>
          </a:xfrm>
          <a:prstGeom prst="rect">
            <a:avLst/>
          </a:prstGeom>
          <a:noFill/>
          <a:ln/>
        </p:spPr>
        <p:txBody>
          <a:bodyPr wrap="square" lIns="0" tIns="0" rIns="0" bIns="0" rtlCol="0" anchor="ctr"/>
          <a:lstStyle/>
          <a:p>
            <a:pPr indent="0" marL="0">
              <a:buNone/>
            </a:pPr>
            <a:r>
              <a:rPr lang="en-US" sz="1600" b="1" dirty="0">
                <a:solidFill>
                  <a:schemeClr val="bg1"/>
                </a:solidFill>
              </a:rPr>
              <a:t>PriceDataProvider</a:t>
            </a:r>
            <a:endParaRPr lang="en-US" sz="1400" dirty="0"/>
          </a:p>
          <a:p>
            <a:pPr indent="0" marL="0">
              <a:buNone/>
            </a:pPr>
            <a:r>
              <a:rPr lang="en-US" sz="1200" dirty="0">
                <a:solidFill>
                  <a:schemeClr val="bg1"/>
                </a:solidFill>
              </a:rPr>
              <a:t>getCandles(종목, 단위, from, to) — 고정된 인터페이스</a:t>
            </a:r>
            <a:endParaRPr lang="en-US" sz="1400" dirty="0"/>
          </a:p>
        </p:txBody>
      </p:sp>
      <p:sp>
        <p:nvSpPr>
          <p:cNvPr id="11" name="Shape 8"/>
          <p:cNvSpPr/>
          <p:nvPr/>
        </p:nvSpPr>
        <p:spPr>
          <a:xfrm>
            <a:off x="1645920" y="3136392"/>
            <a:ext cx="914" cy="265176"/>
          </a:xfrm>
          <a:prstGeom prst="line">
            <a:avLst/>
          </a:prstGeom>
          <a:noFill/>
          <a:ln w="19050">
            <a:solidFill>
              <a:schemeClr val="accent6"/>
            </a:solidFill>
            <a:prstDash val="solid"/>
            <a:tailEnd type="triangle"/>
          </a:ln>
        </p:spPr>
      </p:sp>
      <p:sp>
        <p:nvSpPr>
          <p:cNvPr id="12" name="Shape 9"/>
          <p:cNvSpPr/>
          <p:nvPr/>
        </p:nvSpPr>
        <p:spPr>
          <a:xfrm>
            <a:off x="4114800" y="3136392"/>
            <a:ext cx="914" cy="265176"/>
          </a:xfrm>
          <a:prstGeom prst="line">
            <a:avLst/>
          </a:prstGeom>
          <a:noFill/>
          <a:ln w="19050">
            <a:solidFill>
              <a:schemeClr val="accent6"/>
            </a:solidFill>
            <a:prstDash val="solid"/>
            <a:tailEnd type="triangle"/>
          </a:ln>
        </p:spPr>
      </p:sp>
      <p:sp>
        <p:nvSpPr>
          <p:cNvPr id="13" name="impl-1"/>
          <p:cNvSpPr/>
          <p:nvPr/>
        </p:nvSpPr>
        <p:spPr>
          <a:xfrm>
            <a:off x="457200" y="3429000"/>
            <a:ext cx="2331720" cy="777240"/>
          </a:xfrm>
          <a:prstGeom prst="roundRect">
            <a:avLst>
              <a:gd name="adj" fmla="val 9412"/>
            </a:avLst>
          </a:prstGeom>
          <a:solidFill>
            <a:schemeClr val="bg2"/>
          </a:solidFill>
          <a:ln/>
        </p:spPr>
      </p:sp>
      <p:sp>
        <p:nvSpPr>
          <p:cNvPr id="14" name="Text 11"/>
          <p:cNvSpPr txBox="1"/>
          <p:nvPr/>
        </p:nvSpPr>
        <p:spPr>
          <a:xfrm>
            <a:off x="457200" y="3520440"/>
            <a:ext cx="2331720" cy="274320"/>
          </a:xfrm>
          <a:prstGeom prst="rect">
            <a:avLst/>
          </a:prstGeom>
          <a:noFill/>
          <a:ln/>
        </p:spPr>
        <p:txBody>
          <a:bodyPr wrap="square" lIns="0" tIns="0" rIns="0" bIns="0" rtlCol="0" anchor="t"/>
          <a:lstStyle/>
          <a:p>
            <a:pPr algn="ctr" indent="0" marL="0">
              <a:buNone/>
            </a:pPr>
            <a:r>
              <a:rPr lang="en-US" sz="1400" b="1" dirty="0">
                <a:solidFill>
                  <a:schemeClr val="tx1"/>
                </a:solidFill>
              </a:rPr>
              <a:t>CSV 구현체</a:t>
            </a:r>
            <a:endParaRPr lang="en-US" sz="1400" dirty="0"/>
          </a:p>
        </p:txBody>
      </p:sp>
      <p:sp>
        <p:nvSpPr>
          <p:cNvPr id="15" name="Text 12"/>
          <p:cNvSpPr txBox="1"/>
          <p:nvPr/>
        </p:nvSpPr>
        <p:spPr>
          <a:xfrm>
            <a:off x="457200" y="3813048"/>
            <a:ext cx="2331720" cy="274320"/>
          </a:xfrm>
          <a:prstGeom prst="rect">
            <a:avLst/>
          </a:prstGeom>
          <a:noFill/>
          <a:ln/>
        </p:spPr>
        <p:txBody>
          <a:bodyPr wrap="square" lIns="0" tIns="0" rIns="0" bIns="0" rtlCol="0" anchor="t"/>
          <a:lstStyle/>
          <a:p>
            <a:pPr algn="ctr" indent="0" marL="0">
              <a:buNone/>
            </a:pPr>
            <a:r>
              <a:rPr lang="en-US" sz="1100" dirty="0">
                <a:solidFill>
                  <a:schemeClr val="accent6"/>
                </a:solidFill>
              </a:rPr>
              <a:t>초기 개발용 · 지금 사용</a:t>
            </a:r>
            <a:endParaRPr lang="en-US" sz="1100" dirty="0"/>
          </a:p>
        </p:txBody>
      </p:sp>
      <p:sp>
        <p:nvSpPr>
          <p:cNvPr id="16" name="impl-2"/>
          <p:cNvSpPr/>
          <p:nvPr/>
        </p:nvSpPr>
        <p:spPr>
          <a:xfrm>
            <a:off x="2971800" y="3429000"/>
            <a:ext cx="2331720" cy="777240"/>
          </a:xfrm>
          <a:prstGeom prst="roundRect">
            <a:avLst>
              <a:gd name="adj" fmla="val 9412"/>
            </a:avLst>
          </a:prstGeom>
          <a:solidFill>
            <a:schemeClr val="bg2"/>
          </a:solidFill>
          <a:ln/>
        </p:spPr>
      </p:sp>
      <p:sp>
        <p:nvSpPr>
          <p:cNvPr id="17" name="Text 14"/>
          <p:cNvSpPr txBox="1"/>
          <p:nvPr/>
        </p:nvSpPr>
        <p:spPr>
          <a:xfrm>
            <a:off x="2971800" y="3520440"/>
            <a:ext cx="2331720" cy="274320"/>
          </a:xfrm>
          <a:prstGeom prst="rect">
            <a:avLst/>
          </a:prstGeom>
          <a:noFill/>
          <a:ln/>
        </p:spPr>
        <p:txBody>
          <a:bodyPr wrap="square" lIns="0" tIns="0" rIns="0" bIns="0" rtlCol="0" anchor="t"/>
          <a:lstStyle/>
          <a:p>
            <a:pPr algn="ctr" indent="0" marL="0">
              <a:buNone/>
            </a:pPr>
            <a:r>
              <a:rPr lang="en-US" sz="1400" b="1" dirty="0">
                <a:solidFill>
                  <a:schemeClr val="tx1"/>
                </a:solidFill>
              </a:rPr>
              <a:t>DB 구현체</a:t>
            </a:r>
            <a:endParaRPr lang="en-US" sz="1400" dirty="0"/>
          </a:p>
        </p:txBody>
      </p:sp>
      <p:sp>
        <p:nvSpPr>
          <p:cNvPr id="18" name="Text 15"/>
          <p:cNvSpPr txBox="1"/>
          <p:nvPr/>
        </p:nvSpPr>
        <p:spPr>
          <a:xfrm>
            <a:off x="2971800" y="3813048"/>
            <a:ext cx="2331720" cy="274320"/>
          </a:xfrm>
          <a:prstGeom prst="rect">
            <a:avLst/>
          </a:prstGeom>
          <a:noFill/>
          <a:ln/>
        </p:spPr>
        <p:txBody>
          <a:bodyPr wrap="square" lIns="0" tIns="0" rIns="0" bIns="0" rtlCol="0" anchor="t"/>
          <a:lstStyle/>
          <a:p>
            <a:pPr algn="ctr" indent="0" marL="0">
              <a:buNone/>
            </a:pPr>
            <a:r>
              <a:rPr lang="en-US" sz="1100" dirty="0">
                <a:solidFill>
                  <a:schemeClr val="accent6"/>
                </a:solidFill>
              </a:rPr>
              <a:t>운영용 · MySQL</a:t>
            </a:r>
            <a:endParaRPr lang="en-US" sz="1100" dirty="0"/>
          </a:p>
        </p:txBody>
      </p:sp>
      <p:sp>
        <p:nvSpPr>
          <p:cNvPr id="19" name="Text 16"/>
          <p:cNvSpPr txBox="1"/>
          <p:nvPr/>
        </p:nvSpPr>
        <p:spPr>
          <a:xfrm>
            <a:off x="457200" y="4279392"/>
            <a:ext cx="4846320" cy="274320"/>
          </a:xfrm>
          <a:prstGeom prst="rect">
            <a:avLst/>
          </a:prstGeom>
          <a:noFill/>
          <a:ln/>
        </p:spPr>
        <p:txBody>
          <a:bodyPr wrap="square" lIns="0" tIns="0" rIns="0" bIns="0" rtlCol="0" anchor="t"/>
          <a:lstStyle/>
          <a:p>
            <a:pPr algn="ctr" indent="0" marL="0">
              <a:buNone/>
            </a:pPr>
            <a:r>
              <a:rPr lang="en-US" sz="1100" dirty="0">
                <a:solidFill>
                  <a:schemeClr val="accent6"/>
                </a:solidFill>
              </a:rPr>
              <a:t>설정 한 줄로 교체 — marketdata.provider = csv | db</a:t>
            </a:r>
            <a:endParaRPr lang="en-US" sz="1100" dirty="0"/>
          </a:p>
        </p:txBody>
      </p:sp>
      <p:sp>
        <p:nvSpPr>
          <p:cNvPr id="20" name="Text 17"/>
          <p:cNvSpPr txBox="1"/>
          <p:nvPr/>
        </p:nvSpPr>
        <p:spPr>
          <a:xfrm>
            <a:off x="5577840" y="1371600"/>
            <a:ext cx="3108960" cy="292608"/>
          </a:xfrm>
          <a:prstGeom prst="rect">
            <a:avLst/>
          </a:prstGeom>
          <a:noFill/>
          <a:ln/>
        </p:spPr>
        <p:txBody>
          <a:bodyPr wrap="square" lIns="0" tIns="0" rIns="0" bIns="0" rtlCol="0" anchor="t"/>
          <a:lstStyle/>
          <a:p>
            <a:pPr indent="0" marL="0">
              <a:buNone/>
            </a:pPr>
            <a:r>
              <a:rPr lang="en-US" sz="1500" b="1" dirty="0">
                <a:solidFill>
                  <a:schemeClr val="tx1"/>
                </a:solidFill>
              </a:rPr>
              <a:t>약속한 규칙</a:t>
            </a:r>
            <a:endParaRPr lang="en-US" sz="1500" dirty="0"/>
          </a:p>
        </p:txBody>
      </p:sp>
      <p:sp>
        <p:nvSpPr>
          <p:cNvPr id="21" name="Shape 18"/>
          <p:cNvSpPr/>
          <p:nvPr/>
        </p:nvSpPr>
        <p:spPr>
          <a:xfrm>
            <a:off x="5577840" y="1856232"/>
            <a:ext cx="91440" cy="91440"/>
          </a:xfrm>
          <a:prstGeom prst="rect">
            <a:avLst/>
          </a:prstGeom>
          <a:solidFill>
            <a:schemeClr val="accent1"/>
          </a:solidFill>
          <a:ln/>
        </p:spPr>
      </p:sp>
      <p:sp>
        <p:nvSpPr>
          <p:cNvPr id="22" name="Text 19"/>
          <p:cNvSpPr txBox="1"/>
          <p:nvPr/>
        </p:nvSpPr>
        <p:spPr>
          <a:xfrm>
            <a:off x="5779008" y="1783080"/>
            <a:ext cx="2907792" cy="256032"/>
          </a:xfrm>
          <a:prstGeom prst="rect">
            <a:avLst/>
          </a:prstGeom>
          <a:noFill/>
          <a:ln/>
        </p:spPr>
        <p:txBody>
          <a:bodyPr wrap="square" lIns="0" tIns="0" rIns="0" bIns="0" rtlCol="0" anchor="t"/>
          <a:lstStyle/>
          <a:p>
            <a:pPr indent="0" marL="0">
              <a:buNone/>
            </a:pPr>
            <a:r>
              <a:rPr lang="en-US" sz="1300" b="1" dirty="0">
                <a:solidFill>
                  <a:schemeClr val="tx1"/>
                </a:solidFill>
              </a:rPr>
              <a:t>from · to 는 KST, 양끝 포함</a:t>
            </a:r>
            <a:endParaRPr lang="en-US" sz="1300" dirty="0"/>
          </a:p>
        </p:txBody>
      </p:sp>
      <p:sp>
        <p:nvSpPr>
          <p:cNvPr id="23" name="Text 20"/>
          <p:cNvSpPr txBox="1"/>
          <p:nvPr/>
        </p:nvSpPr>
        <p:spPr>
          <a:xfrm>
            <a:off x="5779008" y="2039112"/>
            <a:ext cx="2907792" cy="256032"/>
          </a:xfrm>
          <a:prstGeom prst="rect">
            <a:avLst/>
          </a:prstGeom>
          <a:noFill/>
          <a:ln/>
        </p:spPr>
        <p:txBody>
          <a:bodyPr wrap="square" lIns="0" tIns="0" rIns="0" bIns="0" rtlCol="0" anchor="t"/>
          <a:lstStyle/>
          <a:p>
            <a:pPr indent="0" marL="0">
              <a:buNone/>
            </a:pPr>
            <a:r>
              <a:rPr lang="en-US" sz="1100" dirty="0">
                <a:solidFill>
                  <a:schemeClr val="accent6"/>
                </a:solidFill>
              </a:rPr>
              <a:t>DB 시각 규약과 같다</a:t>
            </a:r>
            <a:endParaRPr lang="en-US" sz="1100" dirty="0"/>
          </a:p>
        </p:txBody>
      </p:sp>
      <p:sp>
        <p:nvSpPr>
          <p:cNvPr id="24" name="Shape 21"/>
          <p:cNvSpPr/>
          <p:nvPr/>
        </p:nvSpPr>
        <p:spPr>
          <a:xfrm>
            <a:off x="5577840" y="2459736"/>
            <a:ext cx="91440" cy="91440"/>
          </a:xfrm>
          <a:prstGeom prst="rect">
            <a:avLst/>
          </a:prstGeom>
          <a:solidFill>
            <a:schemeClr val="accent1"/>
          </a:solidFill>
          <a:ln/>
        </p:spPr>
      </p:sp>
      <p:sp>
        <p:nvSpPr>
          <p:cNvPr id="25" name="Text 22"/>
          <p:cNvSpPr txBox="1"/>
          <p:nvPr/>
        </p:nvSpPr>
        <p:spPr>
          <a:xfrm>
            <a:off x="5779008" y="2386584"/>
            <a:ext cx="2907792" cy="256032"/>
          </a:xfrm>
          <a:prstGeom prst="rect">
            <a:avLst/>
          </a:prstGeom>
          <a:noFill/>
          <a:ln/>
        </p:spPr>
        <p:txBody>
          <a:bodyPr wrap="square" lIns="0" tIns="0" rIns="0" bIns="0" rtlCol="0" anchor="t"/>
          <a:lstStyle/>
          <a:p>
            <a:pPr indent="0" marL="0">
              <a:buNone/>
            </a:pPr>
            <a:r>
              <a:rPr lang="en-US" sz="1300" b="1" dirty="0">
                <a:solidFill>
                  <a:schemeClr val="tx1"/>
                </a:solidFill>
              </a:rPr>
              <a:t>항상 시간 오름차순</a:t>
            </a:r>
            <a:endParaRPr lang="en-US" sz="1300" dirty="0"/>
          </a:p>
        </p:txBody>
      </p:sp>
      <p:sp>
        <p:nvSpPr>
          <p:cNvPr id="26" name="Text 23"/>
          <p:cNvSpPr txBox="1"/>
          <p:nvPr/>
        </p:nvSpPr>
        <p:spPr>
          <a:xfrm>
            <a:off x="5779008" y="2642616"/>
            <a:ext cx="2907792" cy="256032"/>
          </a:xfrm>
          <a:prstGeom prst="rect">
            <a:avLst/>
          </a:prstGeom>
          <a:noFill/>
          <a:ln/>
        </p:spPr>
        <p:txBody>
          <a:bodyPr wrap="square" lIns="0" tIns="0" rIns="0" bIns="0" rtlCol="0" anchor="t"/>
          <a:lstStyle/>
          <a:p>
            <a:pPr indent="0" marL="0">
              <a:buNone/>
            </a:pPr>
            <a:r>
              <a:rPr lang="en-US" sz="1100" dirty="0">
                <a:solidFill>
                  <a:schemeClr val="accent6"/>
                </a:solidFill>
              </a:rPr>
              <a:t>API 의 최신순을 여기서 뒤집는다</a:t>
            </a:r>
            <a:endParaRPr lang="en-US" sz="1100" dirty="0"/>
          </a:p>
        </p:txBody>
      </p:sp>
      <p:sp>
        <p:nvSpPr>
          <p:cNvPr id="27" name="Shape 24"/>
          <p:cNvSpPr/>
          <p:nvPr/>
        </p:nvSpPr>
        <p:spPr>
          <a:xfrm>
            <a:off x="5577840" y="3063240"/>
            <a:ext cx="91440" cy="91440"/>
          </a:xfrm>
          <a:prstGeom prst="rect">
            <a:avLst/>
          </a:prstGeom>
          <a:solidFill>
            <a:schemeClr val="accent1"/>
          </a:solidFill>
          <a:ln/>
        </p:spPr>
      </p:sp>
      <p:sp>
        <p:nvSpPr>
          <p:cNvPr id="28" name="Text 25"/>
          <p:cNvSpPr txBox="1"/>
          <p:nvPr/>
        </p:nvSpPr>
        <p:spPr>
          <a:xfrm>
            <a:off x="5779008" y="2990088"/>
            <a:ext cx="2907792" cy="256032"/>
          </a:xfrm>
          <a:prstGeom prst="rect">
            <a:avLst/>
          </a:prstGeom>
          <a:noFill/>
          <a:ln/>
        </p:spPr>
        <p:txBody>
          <a:bodyPr wrap="square" lIns="0" tIns="0" rIns="0" bIns="0" rtlCol="0" anchor="t"/>
          <a:lstStyle/>
          <a:p>
            <a:pPr indent="0" marL="0">
              <a:buNone/>
            </a:pPr>
            <a:r>
              <a:rPr lang="en-US" sz="1300" b="1" dirty="0">
                <a:solidFill>
                  <a:schemeClr val="tx1"/>
                </a:solidFill>
              </a:rPr>
              <a:t>빈 구간은 빈 목록</a:t>
            </a:r>
            <a:endParaRPr lang="en-US" sz="1300" dirty="0"/>
          </a:p>
        </p:txBody>
      </p:sp>
      <p:sp>
        <p:nvSpPr>
          <p:cNvPr id="29" name="Text 26"/>
          <p:cNvSpPr txBox="1"/>
          <p:nvPr/>
        </p:nvSpPr>
        <p:spPr>
          <a:xfrm>
            <a:off x="5779008" y="3246120"/>
            <a:ext cx="2907792" cy="256032"/>
          </a:xfrm>
          <a:prstGeom prst="rect">
            <a:avLst/>
          </a:prstGeom>
          <a:noFill/>
          <a:ln/>
        </p:spPr>
        <p:txBody>
          <a:bodyPr wrap="square" lIns="0" tIns="0" rIns="0" bIns="0" rtlCol="0" anchor="t"/>
          <a:lstStyle/>
          <a:p>
            <a:pPr indent="0" marL="0">
              <a:buNone/>
            </a:pPr>
            <a:r>
              <a:rPr lang="en-US" sz="1100" dirty="0">
                <a:solidFill>
                  <a:schemeClr val="accent6"/>
                </a:solidFill>
              </a:rPr>
              <a:t>종목 자체가 없으면 예외</a:t>
            </a:r>
            <a:endParaRPr lang="en-US" sz="1100" dirty="0"/>
          </a:p>
        </p:txBody>
      </p:sp>
      <p:sp>
        <p:nvSpPr>
          <p:cNvPr id="30" name="Shape 27"/>
          <p:cNvSpPr/>
          <p:nvPr/>
        </p:nvSpPr>
        <p:spPr>
          <a:xfrm>
            <a:off x="5577840" y="3666744"/>
            <a:ext cx="91440" cy="91440"/>
          </a:xfrm>
          <a:prstGeom prst="rect">
            <a:avLst/>
          </a:prstGeom>
          <a:solidFill>
            <a:schemeClr val="accent1"/>
          </a:solidFill>
          <a:ln/>
        </p:spPr>
      </p:sp>
      <p:sp>
        <p:nvSpPr>
          <p:cNvPr id="31" name="Text 28"/>
          <p:cNvSpPr txBox="1"/>
          <p:nvPr/>
        </p:nvSpPr>
        <p:spPr>
          <a:xfrm>
            <a:off x="5779008" y="3593592"/>
            <a:ext cx="2907792" cy="256032"/>
          </a:xfrm>
          <a:prstGeom prst="rect">
            <a:avLst/>
          </a:prstGeom>
          <a:noFill/>
          <a:ln/>
        </p:spPr>
        <p:txBody>
          <a:bodyPr wrap="square" lIns="0" tIns="0" rIns="0" bIns="0" rtlCol="0" anchor="t"/>
          <a:lstStyle/>
          <a:p>
            <a:pPr indent="0" marL="0">
              <a:buNone/>
            </a:pPr>
            <a:r>
              <a:rPr lang="en-US" sz="1300" b="1" dirty="0">
                <a:solidFill>
                  <a:schemeClr val="tx1"/>
                </a:solidFill>
              </a:rPr>
              <a:t>정규장 자르기는 하지 않는다</a:t>
            </a:r>
            <a:endParaRPr lang="en-US" sz="1300" dirty="0"/>
          </a:p>
        </p:txBody>
      </p:sp>
      <p:sp>
        <p:nvSpPr>
          <p:cNvPr id="32" name="Text 29"/>
          <p:cNvSpPr txBox="1"/>
          <p:nvPr/>
        </p:nvSpPr>
        <p:spPr>
          <a:xfrm>
            <a:off x="5779008" y="3849624"/>
            <a:ext cx="2907792" cy="256032"/>
          </a:xfrm>
          <a:prstGeom prst="rect">
            <a:avLst/>
          </a:prstGeom>
          <a:noFill/>
          <a:ln/>
        </p:spPr>
        <p:txBody>
          <a:bodyPr wrap="square" lIns="0" tIns="0" rIns="0" bIns="0" rtlCol="0" anchor="t"/>
          <a:lstStyle/>
          <a:p>
            <a:pPr indent="0" marL="0">
              <a:buNone/>
            </a:pPr>
            <a:r>
              <a:rPr lang="en-US" sz="1100" dirty="0">
                <a:solidFill>
                  <a:schemeClr val="accent6"/>
                </a:solidFill>
              </a:rPr>
              <a:t>그건 시나리오의 일</a:t>
            </a:r>
            <a:endParaRPr lang="en-US" sz="1100" dirty="0"/>
          </a:p>
        </p:txBody>
      </p:sp>
      <p:sp>
        <p:nvSpPr>
          <p:cNvPr id="33" name="status"/>
          <p:cNvSpPr/>
          <p:nvPr/>
        </p:nvSpPr>
        <p:spPr>
          <a:xfrm>
            <a:off x="5577840" y="4224528"/>
            <a:ext cx="3108960" cy="384048"/>
          </a:xfrm>
          <a:prstGeom prst="roundRect">
            <a:avLst>
              <a:gd name="adj" fmla="val 19048"/>
            </a:avLst>
          </a:prstGeom>
          <a:solidFill>
            <a:schemeClr val="bg2"/>
          </a:solidFill>
          <a:ln w="15875">
            <a:solidFill>
              <a:schemeClr val="accent4"/>
            </a:solidFill>
            <a:prstDash val="solid"/>
          </a:ln>
        </p:spPr>
      </p:sp>
      <p:sp>
        <p:nvSpPr>
          <p:cNvPr id="34" name="Text 31"/>
          <p:cNvSpPr txBox="1"/>
          <p:nvPr/>
        </p:nvSpPr>
        <p:spPr>
          <a:xfrm>
            <a:off x="5687568" y="4224528"/>
            <a:ext cx="2889504" cy="384048"/>
          </a:xfrm>
          <a:prstGeom prst="rect">
            <a:avLst/>
          </a:prstGeom>
          <a:noFill/>
          <a:ln/>
        </p:spPr>
        <p:txBody>
          <a:bodyPr wrap="square" lIns="0" tIns="0" rIns="0" bIns="0" rtlCol="0" anchor="ctr"/>
          <a:lstStyle/>
          <a:p>
            <a:pPr indent="0" marL="0">
              <a:buNone/>
            </a:pPr>
            <a:r>
              <a:rPr lang="en-US" sz="1000" dirty="0">
                <a:solidFill>
                  <a:schemeClr val="tx1"/>
                </a:solidFill>
              </a:rPr>
              <a:t>DB 구현체는 임시 데이터로만 검증 — 실데이터 확인은 API 재개 후</a:t>
            </a:r>
            <a:endParaRPr lang="en-US" sz="10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시나리오 — 한 판에 쓰는 시세 묶음</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종목 1~4개 + 같은 시각의 241봉. 운영자가 미리 골라 둡니다</a:t>
            </a:r>
            <a:endParaRPr lang="en-US" sz="1400" dirty="0"/>
          </a:p>
        </p:txBody>
      </p:sp>
      <p:sp>
        <p:nvSpPr>
          <p:cNvPr id="4" name="Shape 2"/>
          <p:cNvSpPr/>
          <p:nvPr/>
        </p:nvSpPr>
        <p:spPr>
          <a:xfrm>
            <a:off x="457200" y="1463040"/>
            <a:ext cx="457200" cy="457200"/>
          </a:xfrm>
          <a:prstGeom prst="ellipse">
            <a:avLst/>
          </a:prstGeom>
          <a:solidFill>
            <a:schemeClr val="tx1"/>
          </a:solidFill>
          <a:ln/>
        </p:spPr>
      </p:sp>
      <p:sp>
        <p:nvSpPr>
          <p:cNvPr id="5" name="Text 3"/>
          <p:cNvSpPr txBox="1"/>
          <p:nvPr/>
        </p:nvSpPr>
        <p:spPr>
          <a:xfrm>
            <a:off x="457200" y="14630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6" name="Shape 4"/>
          <p:cNvSpPr/>
          <p:nvPr/>
        </p:nvSpPr>
        <p:spPr>
          <a:xfrm>
            <a:off x="1097280" y="1536192"/>
            <a:ext cx="411480" cy="310896"/>
          </a:xfrm>
          <a:prstGeom prst="rect">
            <a:avLst/>
          </a:prstGeom>
          <a:solidFill>
            <a:schemeClr val="accent4"/>
          </a:solidFill>
          <a:ln/>
        </p:spPr>
      </p:sp>
      <p:sp>
        <p:nvSpPr>
          <p:cNvPr id="7" name="Shape 5"/>
          <p:cNvSpPr/>
          <p:nvPr/>
        </p:nvSpPr>
        <p:spPr>
          <a:xfrm>
            <a:off x="1554480" y="1536192"/>
            <a:ext cx="3657600" cy="310896"/>
          </a:xfrm>
          <a:prstGeom prst="rect">
            <a:avLst/>
          </a:prstGeom>
          <a:solidFill>
            <a:schemeClr val="accent1"/>
          </a:solidFill>
          <a:ln/>
        </p:spPr>
      </p:sp>
      <p:sp>
        <p:nvSpPr>
          <p:cNvPr id="8" name="Text 6"/>
          <p:cNvSpPr txBox="1"/>
          <p:nvPr/>
        </p:nvSpPr>
        <p:spPr>
          <a:xfrm>
            <a:off x="1097280" y="1536192"/>
            <a:ext cx="411480" cy="310896"/>
          </a:xfrm>
          <a:prstGeom prst="rect">
            <a:avLst/>
          </a:prstGeom>
          <a:noFill/>
          <a:ln/>
        </p:spPr>
        <p:txBody>
          <a:bodyPr wrap="square" lIns="0" tIns="0" rIns="0" bIns="0" rtlCol="0" anchor="ctr"/>
          <a:lstStyle/>
          <a:p>
            <a:pPr algn="ctr" indent="0" marL="0">
              <a:buNone/>
            </a:pPr>
            <a:r>
              <a:rPr lang="en-US" sz="900" b="1" dirty="0">
                <a:solidFill>
                  <a:schemeClr val="tx1"/>
                </a:solidFill>
              </a:rPr>
              <a:t>시작가</a:t>
            </a:r>
            <a:endParaRPr lang="en-US" sz="900" dirty="0"/>
          </a:p>
        </p:txBody>
      </p:sp>
      <p:sp>
        <p:nvSpPr>
          <p:cNvPr id="9" name="Text 7"/>
          <p:cNvSpPr txBox="1"/>
          <p:nvPr/>
        </p:nvSpPr>
        <p:spPr>
          <a:xfrm>
            <a:off x="1554480" y="1536192"/>
            <a:ext cx="3657600" cy="310896"/>
          </a:xfrm>
          <a:prstGeom prst="rect">
            <a:avLst/>
          </a:prstGeom>
          <a:noFill/>
          <a:ln/>
        </p:spPr>
        <p:txBody>
          <a:bodyPr wrap="square" lIns="0" tIns="0" rIns="0" bIns="0" rtlCol="0" anchor="ctr"/>
          <a:lstStyle/>
          <a:p>
            <a:pPr algn="ctr" indent="0" marL="0">
              <a:buNone/>
            </a:pPr>
            <a:r>
              <a:rPr lang="en-US" sz="1100" b="1" dirty="0">
                <a:solidFill>
                  <a:schemeClr val="bg1"/>
                </a:solidFill>
              </a:rPr>
              <a:t>240틱 — 1초에 1봉</a:t>
            </a:r>
            <a:endParaRPr lang="en-US" sz="1100" dirty="0"/>
          </a:p>
        </p:txBody>
      </p:sp>
      <p:sp>
        <p:nvSpPr>
          <p:cNvPr id="10" name="Shape 8"/>
          <p:cNvSpPr/>
          <p:nvPr/>
        </p:nvSpPr>
        <p:spPr>
          <a:xfrm>
            <a:off x="457200" y="2121408"/>
            <a:ext cx="457200" cy="457200"/>
          </a:xfrm>
          <a:prstGeom prst="ellipse">
            <a:avLst/>
          </a:prstGeom>
          <a:solidFill>
            <a:schemeClr val="tx1"/>
          </a:solidFill>
          <a:ln/>
        </p:spPr>
      </p:sp>
      <p:sp>
        <p:nvSpPr>
          <p:cNvPr id="11" name="Text 9"/>
          <p:cNvSpPr txBox="1"/>
          <p:nvPr/>
        </p:nvSpPr>
        <p:spPr>
          <a:xfrm>
            <a:off x="457200" y="212140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2" name="Shape 10"/>
          <p:cNvSpPr/>
          <p:nvPr/>
        </p:nvSpPr>
        <p:spPr>
          <a:xfrm>
            <a:off x="1097280" y="2194560"/>
            <a:ext cx="411480" cy="310896"/>
          </a:xfrm>
          <a:prstGeom prst="rect">
            <a:avLst/>
          </a:prstGeom>
          <a:solidFill>
            <a:schemeClr val="accent4"/>
          </a:solidFill>
          <a:ln/>
        </p:spPr>
      </p:sp>
      <p:sp>
        <p:nvSpPr>
          <p:cNvPr id="13" name="Shape 11"/>
          <p:cNvSpPr/>
          <p:nvPr/>
        </p:nvSpPr>
        <p:spPr>
          <a:xfrm>
            <a:off x="1554480" y="2194560"/>
            <a:ext cx="3657600" cy="310896"/>
          </a:xfrm>
          <a:prstGeom prst="rect">
            <a:avLst/>
          </a:prstGeom>
          <a:solidFill>
            <a:schemeClr val="accent1"/>
          </a:solidFill>
          <a:ln/>
        </p:spPr>
      </p:sp>
      <p:sp>
        <p:nvSpPr>
          <p:cNvPr id="14" name="Shape 12"/>
          <p:cNvSpPr/>
          <p:nvPr/>
        </p:nvSpPr>
        <p:spPr>
          <a:xfrm>
            <a:off x="457200" y="2779776"/>
            <a:ext cx="457200" cy="457200"/>
          </a:xfrm>
          <a:prstGeom prst="ellipse">
            <a:avLst/>
          </a:prstGeom>
          <a:solidFill>
            <a:schemeClr val="tx1"/>
          </a:solidFill>
          <a:ln/>
        </p:spPr>
      </p:sp>
      <p:sp>
        <p:nvSpPr>
          <p:cNvPr id="15" name="Text 13"/>
          <p:cNvSpPr txBox="1"/>
          <p:nvPr/>
        </p:nvSpPr>
        <p:spPr>
          <a:xfrm>
            <a:off x="457200" y="277977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6" name="Shape 14"/>
          <p:cNvSpPr/>
          <p:nvPr/>
        </p:nvSpPr>
        <p:spPr>
          <a:xfrm>
            <a:off x="1097280" y="2852928"/>
            <a:ext cx="411480" cy="310896"/>
          </a:xfrm>
          <a:prstGeom prst="rect">
            <a:avLst/>
          </a:prstGeom>
          <a:solidFill>
            <a:schemeClr val="accent4"/>
          </a:solidFill>
          <a:ln/>
        </p:spPr>
      </p:sp>
      <p:sp>
        <p:nvSpPr>
          <p:cNvPr id="17" name="Shape 15"/>
          <p:cNvSpPr/>
          <p:nvPr/>
        </p:nvSpPr>
        <p:spPr>
          <a:xfrm>
            <a:off x="1554480" y="2852928"/>
            <a:ext cx="3657600" cy="310896"/>
          </a:xfrm>
          <a:prstGeom prst="rect">
            <a:avLst/>
          </a:prstGeom>
          <a:solidFill>
            <a:schemeClr val="accent1"/>
          </a:solidFill>
          <a:ln/>
        </p:spPr>
      </p:sp>
      <p:sp>
        <p:nvSpPr>
          <p:cNvPr id="18" name="Text 16"/>
          <p:cNvSpPr txBox="1"/>
          <p:nvPr/>
        </p:nvSpPr>
        <p:spPr>
          <a:xfrm>
            <a:off x="457200" y="3456432"/>
            <a:ext cx="4754880" cy="274320"/>
          </a:xfrm>
          <a:prstGeom prst="rect">
            <a:avLst/>
          </a:prstGeom>
          <a:noFill/>
          <a:ln/>
        </p:spPr>
        <p:txBody>
          <a:bodyPr wrap="square" lIns="0" tIns="0" rIns="0" bIns="0" rtlCol="0" anchor="t"/>
          <a:lstStyle/>
          <a:p>
            <a:pPr indent="0" marL="0">
              <a:buNone/>
            </a:pPr>
            <a:r>
              <a:rPr lang="en-US" sz="1200" dirty="0">
                <a:solidFill>
                  <a:schemeClr val="accent6"/>
                </a:solidFill>
              </a:rPr>
              <a:t>1봉 + 240봉 = 241봉. 모든 종목의 i 번째 봉은 같은 시각</a:t>
            </a:r>
            <a:endParaRPr lang="en-US" sz="1200" dirty="0"/>
          </a:p>
        </p:txBody>
      </p:sp>
      <p:sp>
        <p:nvSpPr>
          <p:cNvPr id="19" name="Shape 17"/>
          <p:cNvSpPr/>
          <p:nvPr/>
        </p:nvSpPr>
        <p:spPr>
          <a:xfrm>
            <a:off x="5440680" y="1371600"/>
            <a:ext cx="438912" cy="438912"/>
          </a:xfrm>
          <a:prstGeom prst="ellipse">
            <a:avLst/>
          </a:prstGeom>
          <a:solidFill>
            <a:schemeClr val="accent1"/>
          </a:solidFill>
          <a:ln/>
        </p:spPr>
      </p:sp>
      <p:pic>
        <p:nvPicPr>
          <p:cNvPr id="20" name="Image 0" descr="preencoded.png">    </p:cNvPr>
          <p:cNvPicPr>
            <a:picLocks noChangeAspect="1"/>
          </p:cNvPicPr>
          <p:nvPr/>
        </p:nvPicPr>
        <p:blipFill>
          <a:blip r:embed="rId1"/>
          <a:stretch>
            <a:fillRect/>
          </a:stretch>
        </p:blipFill>
        <p:spPr>
          <a:xfrm>
            <a:off x="5550408" y="1481328"/>
            <a:ext cx="219456" cy="219456"/>
          </a:xfrm>
          <a:prstGeom prst="rect">
            <a:avLst/>
          </a:prstGeom>
        </p:spPr>
      </p:pic>
      <p:sp>
        <p:nvSpPr>
          <p:cNvPr id="21" name="Text 18"/>
          <p:cNvSpPr txBox="1"/>
          <p:nvPr/>
        </p:nvSpPr>
        <p:spPr>
          <a:xfrm>
            <a:off x="6016752" y="1353312"/>
            <a:ext cx="2670048" cy="292608"/>
          </a:xfrm>
          <a:prstGeom prst="rect">
            <a:avLst/>
          </a:prstGeom>
          <a:noFill/>
          <a:ln/>
        </p:spPr>
        <p:txBody>
          <a:bodyPr wrap="square" lIns="0" tIns="0" rIns="0" bIns="0" rtlCol="0" anchor="t"/>
          <a:lstStyle/>
          <a:p>
            <a:pPr indent="0" marL="0">
              <a:buNone/>
            </a:pPr>
            <a:r>
              <a:rPr lang="en-US" sz="1400" b="1" dirty="0">
                <a:solidFill>
                  <a:schemeClr val="tx1"/>
                </a:solidFill>
              </a:rPr>
              <a:t>라벨로 종목을 가린다</a:t>
            </a:r>
            <a:endParaRPr lang="en-US" sz="1400" dirty="0"/>
          </a:p>
        </p:txBody>
      </p:sp>
      <p:sp>
        <p:nvSpPr>
          <p:cNvPr id="22" name="Text 19"/>
          <p:cNvSpPr txBox="1"/>
          <p:nvPr/>
        </p:nvSpPr>
        <p:spPr>
          <a:xfrm>
            <a:off x="6016752" y="1645920"/>
            <a:ext cx="2670048" cy="685800"/>
          </a:xfrm>
          <a:prstGeom prst="rect">
            <a:avLst/>
          </a:prstGeom>
          <a:noFill/>
          <a:ln/>
        </p:spPr>
        <p:txBody>
          <a:bodyPr wrap="square" lIns="0" tIns="0" rIns="0" bIns="0" rtlCol="0" anchor="t"/>
          <a:lstStyle/>
          <a:p>
            <a:pPr indent="0" marL="0">
              <a:buNone/>
            </a:pPr>
            <a:r>
              <a:rPr lang="en-US" sz="1100" dirty="0">
                <a:solidFill>
                  <a:schemeClr val="accent6"/>
                </a:solidFill>
              </a:rPr>
              <a:t>등록할 때 A~D 를 무작위로 붙인다. 매번 A 가 같은 종목이면 이름을 가리는 의미가 없다</a:t>
            </a:r>
            <a:endParaRPr lang="en-US" sz="1100" dirty="0"/>
          </a:p>
        </p:txBody>
      </p:sp>
      <p:sp>
        <p:nvSpPr>
          <p:cNvPr id="23" name="Shape 20"/>
          <p:cNvSpPr/>
          <p:nvPr/>
        </p:nvSpPr>
        <p:spPr>
          <a:xfrm>
            <a:off x="5440680" y="2450592"/>
            <a:ext cx="438912" cy="438912"/>
          </a:xfrm>
          <a:prstGeom prst="ellipse">
            <a:avLst/>
          </a:prstGeom>
          <a:solidFill>
            <a:schemeClr val="accent1"/>
          </a:solidFill>
          <a:ln/>
        </p:spPr>
      </p:sp>
      <p:pic>
        <p:nvPicPr>
          <p:cNvPr id="24" name="Image 1" descr="preencoded.png">    </p:cNvPr>
          <p:cNvPicPr>
            <a:picLocks noChangeAspect="1"/>
          </p:cNvPicPr>
          <p:nvPr/>
        </p:nvPicPr>
        <p:blipFill>
          <a:blip r:embed="rId2"/>
          <a:stretch>
            <a:fillRect/>
          </a:stretch>
        </p:blipFill>
        <p:spPr>
          <a:xfrm>
            <a:off x="5550408" y="2560320"/>
            <a:ext cx="219456" cy="219456"/>
          </a:xfrm>
          <a:prstGeom prst="rect">
            <a:avLst/>
          </a:prstGeom>
        </p:spPr>
      </p:pic>
      <p:sp>
        <p:nvSpPr>
          <p:cNvPr id="25" name="Text 21"/>
          <p:cNvSpPr txBox="1"/>
          <p:nvPr/>
        </p:nvSpPr>
        <p:spPr>
          <a:xfrm>
            <a:off x="6016752" y="2432304"/>
            <a:ext cx="2670048" cy="292608"/>
          </a:xfrm>
          <a:prstGeom prst="rect">
            <a:avLst/>
          </a:prstGeom>
          <a:noFill/>
          <a:ln/>
        </p:spPr>
        <p:txBody>
          <a:bodyPr wrap="square" lIns="0" tIns="0" rIns="0" bIns="0" rtlCol="0" anchor="t"/>
          <a:lstStyle/>
          <a:p>
            <a:pPr indent="0" marL="0">
              <a:buNone/>
            </a:pPr>
            <a:r>
              <a:rPr lang="en-US" sz="1400" b="1" dirty="0">
                <a:solidFill>
                  <a:schemeClr val="tx1"/>
                </a:solidFill>
              </a:rPr>
              <a:t>시각이 어긋나면 시작하지 않는다</a:t>
            </a:r>
            <a:endParaRPr lang="en-US" sz="1400" dirty="0"/>
          </a:p>
        </p:txBody>
      </p:sp>
      <p:sp>
        <p:nvSpPr>
          <p:cNvPr id="26" name="Text 22"/>
          <p:cNvSpPr txBox="1"/>
          <p:nvPr/>
        </p:nvSpPr>
        <p:spPr>
          <a:xfrm>
            <a:off x="6016752" y="2724912"/>
            <a:ext cx="2670048" cy="685800"/>
          </a:xfrm>
          <a:prstGeom prst="rect">
            <a:avLst/>
          </a:prstGeom>
          <a:noFill/>
          <a:ln/>
        </p:spPr>
        <p:txBody>
          <a:bodyPr wrap="square" lIns="0" tIns="0" rIns="0" bIns="0" rtlCol="0" anchor="t"/>
          <a:lstStyle/>
          <a:p>
            <a:pPr indent="0" marL="0">
              <a:buNone/>
            </a:pPr>
            <a:r>
              <a:rPr lang="en-US" sz="1100" dirty="0">
                <a:solidFill>
                  <a:schemeClr val="accent6"/>
                </a:solidFill>
              </a:rPr>
              <a:t>한 종목만 거래정지로 봉이 빠지면 틱마다 종목별 날짜가 달라진다</a:t>
            </a:r>
            <a:endParaRPr lang="en-US" sz="1100" dirty="0"/>
          </a:p>
        </p:txBody>
      </p:sp>
      <p:sp>
        <p:nvSpPr>
          <p:cNvPr id="27" name="Shape 23"/>
          <p:cNvSpPr/>
          <p:nvPr/>
        </p:nvSpPr>
        <p:spPr>
          <a:xfrm>
            <a:off x="5440680" y="3529584"/>
            <a:ext cx="438912" cy="438912"/>
          </a:xfrm>
          <a:prstGeom prst="ellipse">
            <a:avLst/>
          </a:prstGeom>
          <a:solidFill>
            <a:schemeClr val="accent1"/>
          </a:solidFill>
          <a:ln/>
        </p:spPr>
      </p:sp>
      <p:pic>
        <p:nvPicPr>
          <p:cNvPr id="28" name="Image 2" descr="preencoded.png">    </p:cNvPr>
          <p:cNvPicPr>
            <a:picLocks noChangeAspect="1"/>
          </p:cNvPicPr>
          <p:nvPr/>
        </p:nvPicPr>
        <p:blipFill>
          <a:blip r:embed="rId3"/>
          <a:stretch>
            <a:fillRect/>
          </a:stretch>
        </p:blipFill>
        <p:spPr>
          <a:xfrm>
            <a:off x="5550408" y="3639312"/>
            <a:ext cx="219456" cy="219456"/>
          </a:xfrm>
          <a:prstGeom prst="rect">
            <a:avLst/>
          </a:prstGeom>
        </p:spPr>
      </p:pic>
      <p:sp>
        <p:nvSpPr>
          <p:cNvPr id="29" name="Text 24"/>
          <p:cNvSpPr txBox="1"/>
          <p:nvPr/>
        </p:nvSpPr>
        <p:spPr>
          <a:xfrm>
            <a:off x="6016752" y="3511296"/>
            <a:ext cx="2670048" cy="292608"/>
          </a:xfrm>
          <a:prstGeom prst="rect">
            <a:avLst/>
          </a:prstGeom>
          <a:noFill/>
          <a:ln/>
        </p:spPr>
        <p:txBody>
          <a:bodyPr wrap="square" lIns="0" tIns="0" rIns="0" bIns="0" rtlCol="0" anchor="t"/>
          <a:lstStyle/>
          <a:p>
            <a:pPr indent="0" marL="0">
              <a:buNone/>
            </a:pPr>
            <a:r>
              <a:rPr lang="en-US" sz="1400" b="1" dirty="0">
                <a:solidFill>
                  <a:schemeClr val="tx1"/>
                </a:solidFill>
              </a:rPr>
              <a:t>등록은 사람이 고른다</a:t>
            </a:r>
            <a:endParaRPr lang="en-US" sz="1400" dirty="0"/>
          </a:p>
        </p:txBody>
      </p:sp>
      <p:sp>
        <p:nvSpPr>
          <p:cNvPr id="30" name="Text 25"/>
          <p:cNvSpPr txBox="1"/>
          <p:nvPr/>
        </p:nvSpPr>
        <p:spPr>
          <a:xfrm>
            <a:off x="6016752" y="3803904"/>
            <a:ext cx="2670048" cy="685800"/>
          </a:xfrm>
          <a:prstGeom prst="rect">
            <a:avLst/>
          </a:prstGeom>
          <a:noFill/>
          <a:ln/>
        </p:spPr>
        <p:txBody>
          <a:bodyPr wrap="square" lIns="0" tIns="0" rIns="0" bIns="0" rtlCol="0" anchor="t"/>
          <a:lstStyle/>
          <a:p>
            <a:pPr indent="0" marL="0">
              <a:buNone/>
            </a:pPr>
            <a:r>
              <a:rPr lang="en-US" sz="1100" dirty="0">
                <a:solidFill>
                  <a:schemeClr val="accent6"/>
                </a:solidFill>
              </a:rPr>
              <a:t>관리 커맨드는 적격 후보를 이동폭 순으로 보여줄 뿐, 자동 등록하지 않는다</a:t>
            </a:r>
            <a:endParaRPr lang="en-US" sz="1100" dirty="0"/>
          </a:p>
        </p:txBody>
      </p:sp>
      <p:sp>
        <p:nvSpPr>
          <p:cNvPr id="31" name="command"/>
          <p:cNvSpPr/>
          <p:nvPr/>
        </p:nvSpPr>
        <p:spPr>
          <a:xfrm>
            <a:off x="457200" y="3886200"/>
            <a:ext cx="4754880" cy="685800"/>
          </a:xfrm>
          <a:prstGeom prst="roundRect">
            <a:avLst>
              <a:gd name="adj" fmla="val 10667"/>
            </a:avLst>
          </a:prstGeom>
          <a:solidFill>
            <a:schemeClr val="bg2"/>
          </a:solidFill>
          <a:ln/>
        </p:spPr>
      </p:sp>
      <p:sp>
        <p:nvSpPr>
          <p:cNvPr id="32" name="Text 27"/>
          <p:cNvSpPr txBox="1"/>
          <p:nvPr/>
        </p:nvSpPr>
        <p:spPr>
          <a:xfrm>
            <a:off x="640080" y="3931920"/>
            <a:ext cx="4480560" cy="594360"/>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--action=candidates  → 후보 보기</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--action=register --start=2024-05-09  → 등록</a:t>
            </a:r>
            <a:endParaRPr lang="en-US" sz="11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분봉은 09:01 ~ 15:20 만 쓴다</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시간외와 경계 봉에는 「거래량 0」 봉이 몰려 있습니다 — 화면이 멈춘 것처럼 보입니다</a:t>
            </a:r>
            <a:endParaRPr lang="en-US" sz="1400" dirty="0"/>
          </a:p>
        </p:txBody>
      </p:sp>
      <p:sp>
        <p:nvSpPr>
          <p:cNvPr id="4" name="seg-0"/>
          <p:cNvSpPr/>
          <p:nvPr/>
        </p:nvSpPr>
        <p:spPr>
          <a:xfrm>
            <a:off x="464185" y="1600200"/>
            <a:ext cx="405130" cy="457200"/>
          </a:xfrm>
          <a:prstGeom prst="rect">
            <a:avLst/>
          </a:prstGeom>
          <a:solidFill>
            <a:schemeClr val="accent6">
              <a:alpha val="40000"/>
            </a:schemeClr>
          </a:solidFill>
          <a:ln/>
        </p:spPr>
      </p:sp>
      <p:sp>
        <p:nvSpPr>
          <p:cNvPr id="5" name="seg-1"/>
          <p:cNvSpPr/>
          <p:nvPr/>
        </p:nvSpPr>
        <p:spPr>
          <a:xfrm>
            <a:off x="869315" y="1600200"/>
            <a:ext cx="45720" cy="457200"/>
          </a:xfrm>
          <a:prstGeom prst="rect">
            <a:avLst/>
          </a:prstGeom>
          <a:solidFill>
            <a:schemeClr val="accent2"/>
          </a:solidFill>
          <a:ln/>
        </p:spPr>
      </p:sp>
      <p:sp>
        <p:nvSpPr>
          <p:cNvPr id="6" name="seg-2"/>
          <p:cNvSpPr/>
          <p:nvPr/>
        </p:nvSpPr>
        <p:spPr>
          <a:xfrm>
            <a:off x="883285" y="1600200"/>
            <a:ext cx="2647315" cy="457200"/>
          </a:xfrm>
          <a:prstGeom prst="rect">
            <a:avLst/>
          </a:prstGeom>
          <a:solidFill>
            <a:schemeClr val="accent1"/>
          </a:solidFill>
          <a:ln/>
        </p:spPr>
      </p:sp>
      <p:sp>
        <p:nvSpPr>
          <p:cNvPr id="7" name="Text 5"/>
          <p:cNvSpPr txBox="1"/>
          <p:nvPr/>
        </p:nvSpPr>
        <p:spPr>
          <a:xfrm>
            <a:off x="883285" y="1600200"/>
            <a:ext cx="2647315" cy="457200"/>
          </a:xfrm>
          <a:prstGeom prst="rect">
            <a:avLst/>
          </a:prstGeom>
          <a:noFill/>
          <a:ln/>
        </p:spPr>
        <p:txBody>
          <a:bodyPr wrap="square" lIns="0" tIns="0" rIns="0" bIns="0" rtlCol="0" anchor="ctr"/>
          <a:lstStyle/>
          <a:p>
            <a:pPr algn="ctr" indent="0" marL="0">
              <a:buNone/>
            </a:pPr>
            <a:r>
              <a:rPr lang="en-US" sz="1100" b="1" dirty="0">
                <a:solidFill>
                  <a:schemeClr val="bg1"/>
                </a:solidFill>
              </a:rPr>
              <a:t>정규장 09:01 ~ 15:20</a:t>
            </a:r>
            <a:endParaRPr lang="en-US" sz="1100" dirty="0"/>
          </a:p>
        </p:txBody>
      </p:sp>
      <p:sp>
        <p:nvSpPr>
          <p:cNvPr id="8" name="seg-3"/>
          <p:cNvSpPr/>
          <p:nvPr/>
        </p:nvSpPr>
        <p:spPr>
          <a:xfrm>
            <a:off x="3530600" y="1600200"/>
            <a:ext cx="69850" cy="457200"/>
          </a:xfrm>
          <a:prstGeom prst="rect">
            <a:avLst/>
          </a:prstGeom>
          <a:solidFill>
            <a:schemeClr val="accent2"/>
          </a:solidFill>
          <a:ln/>
        </p:spPr>
      </p:sp>
      <p:sp>
        <p:nvSpPr>
          <p:cNvPr id="9" name="seg-4"/>
          <p:cNvSpPr/>
          <p:nvPr/>
        </p:nvSpPr>
        <p:spPr>
          <a:xfrm>
            <a:off x="3600450" y="1600200"/>
            <a:ext cx="1885950" cy="457200"/>
          </a:xfrm>
          <a:prstGeom prst="rect">
            <a:avLst/>
          </a:prstGeom>
          <a:solidFill>
            <a:schemeClr val="accent6">
              <a:alpha val="40000"/>
            </a:schemeClr>
          </a:solidFill>
          <a:ln/>
        </p:spPr>
      </p:sp>
      <p:sp>
        <p:nvSpPr>
          <p:cNvPr id="10" name="Text 8"/>
          <p:cNvSpPr txBox="1"/>
          <p:nvPr/>
        </p:nvSpPr>
        <p:spPr>
          <a:xfrm>
            <a:off x="3600450" y="1600200"/>
            <a:ext cx="1885950" cy="457200"/>
          </a:xfrm>
          <a:prstGeom prst="rect">
            <a:avLst/>
          </a:prstGeom>
          <a:noFill/>
          <a:ln/>
        </p:spPr>
        <p:txBody>
          <a:bodyPr wrap="square" lIns="0" tIns="0" rIns="0" bIns="0" rtlCol="0" anchor="ctr"/>
          <a:lstStyle/>
          <a:p>
            <a:pPr algn="ctr" indent="0" marL="0">
              <a:buNone/>
            </a:pPr>
            <a:r>
              <a:rPr lang="en-US" sz="1100" b="1" dirty="0">
                <a:solidFill>
                  <a:schemeClr val="tx1"/>
                </a:solidFill>
              </a:rPr>
              <a:t>애프터</a:t>
            </a:r>
            <a:endParaRPr lang="en-US" sz="1100" dirty="0"/>
          </a:p>
        </p:txBody>
      </p:sp>
      <p:sp>
        <p:nvSpPr>
          <p:cNvPr id="11" name="Text 9"/>
          <p:cNvSpPr txBox="1"/>
          <p:nvPr/>
        </p:nvSpPr>
        <p:spPr>
          <a:xfrm>
            <a:off x="464820" y="1353312"/>
            <a:ext cx="822960" cy="201168"/>
          </a:xfrm>
          <a:prstGeom prst="rect">
            <a:avLst/>
          </a:prstGeom>
          <a:noFill/>
          <a:ln/>
        </p:spPr>
        <p:txBody>
          <a:bodyPr wrap="square" lIns="0" tIns="0" rIns="0" bIns="0" rtlCol="0" anchor="t"/>
          <a:lstStyle/>
          <a:p>
            <a:pPr algn="ctr" indent="0" marL="0">
              <a:buNone/>
            </a:pPr>
            <a:r>
              <a:rPr lang="en-US" sz="900" b="1" dirty="0">
                <a:solidFill>
                  <a:schemeClr val="accent2"/>
                </a:solidFill>
              </a:rPr>
              <a:t>09:00 봉</a:t>
            </a:r>
            <a:endParaRPr lang="en-US" sz="900" dirty="0"/>
          </a:p>
        </p:txBody>
      </p:sp>
      <p:sp>
        <p:nvSpPr>
          <p:cNvPr id="12" name="Text 10"/>
          <p:cNvSpPr txBox="1"/>
          <p:nvPr/>
        </p:nvSpPr>
        <p:spPr>
          <a:xfrm>
            <a:off x="3062605" y="1353312"/>
            <a:ext cx="1005840" cy="201168"/>
          </a:xfrm>
          <a:prstGeom prst="rect">
            <a:avLst/>
          </a:prstGeom>
          <a:noFill/>
          <a:ln/>
        </p:spPr>
        <p:txBody>
          <a:bodyPr wrap="square" lIns="0" tIns="0" rIns="0" bIns="0" rtlCol="0" anchor="t"/>
          <a:lstStyle/>
          <a:p>
            <a:pPr algn="ctr" indent="0" marL="0">
              <a:buNone/>
            </a:pPr>
            <a:r>
              <a:rPr lang="en-US" sz="900" b="1" dirty="0">
                <a:solidFill>
                  <a:schemeClr val="accent2"/>
                </a:solidFill>
              </a:rPr>
              <a:t>15:21 ~ 15:30</a:t>
            </a:r>
            <a:endParaRPr lang="en-US" sz="900" dirty="0"/>
          </a:p>
        </p:txBody>
      </p:sp>
      <p:sp>
        <p:nvSpPr>
          <p:cNvPr id="13" name="Text 11"/>
          <p:cNvSpPr txBox="1"/>
          <p:nvPr/>
        </p:nvSpPr>
        <p:spPr>
          <a:xfrm>
            <a:off x="182880" y="2103120"/>
            <a:ext cx="548640" cy="201168"/>
          </a:xfrm>
          <a:prstGeom prst="rect">
            <a:avLst/>
          </a:prstGeom>
          <a:noFill/>
          <a:ln/>
        </p:spPr>
        <p:txBody>
          <a:bodyPr wrap="square" lIns="0" tIns="0" rIns="0" bIns="0" rtlCol="0" anchor="t"/>
          <a:lstStyle/>
          <a:p>
            <a:pPr algn="ctr" indent="0" marL="0">
              <a:buNone/>
            </a:pPr>
            <a:r>
              <a:rPr lang="en-US" sz="900" dirty="0">
                <a:solidFill>
                  <a:schemeClr val="accent6"/>
                </a:solidFill>
              </a:rPr>
              <a:t>8시</a:t>
            </a:r>
            <a:endParaRPr lang="en-US" sz="900" dirty="0"/>
          </a:p>
        </p:txBody>
      </p:sp>
      <p:sp>
        <p:nvSpPr>
          <p:cNvPr id="14" name="Text 12"/>
          <p:cNvSpPr txBox="1"/>
          <p:nvPr/>
        </p:nvSpPr>
        <p:spPr>
          <a:xfrm>
            <a:off x="1021080" y="2103120"/>
            <a:ext cx="548640" cy="201168"/>
          </a:xfrm>
          <a:prstGeom prst="rect">
            <a:avLst/>
          </a:prstGeom>
          <a:noFill/>
          <a:ln/>
        </p:spPr>
        <p:txBody>
          <a:bodyPr wrap="square" lIns="0" tIns="0" rIns="0" bIns="0" rtlCol="0" anchor="t"/>
          <a:lstStyle/>
          <a:p>
            <a:pPr algn="ctr" indent="0" marL="0">
              <a:buNone/>
            </a:pPr>
            <a:r>
              <a:rPr lang="en-US" sz="900" dirty="0">
                <a:solidFill>
                  <a:schemeClr val="accent6"/>
                </a:solidFill>
              </a:rPr>
              <a:t>10시</a:t>
            </a:r>
            <a:endParaRPr lang="en-US" sz="900" dirty="0"/>
          </a:p>
        </p:txBody>
      </p:sp>
      <p:sp>
        <p:nvSpPr>
          <p:cNvPr id="15" name="Text 13"/>
          <p:cNvSpPr txBox="1"/>
          <p:nvPr/>
        </p:nvSpPr>
        <p:spPr>
          <a:xfrm>
            <a:off x="1859280" y="2103120"/>
            <a:ext cx="548640" cy="201168"/>
          </a:xfrm>
          <a:prstGeom prst="rect">
            <a:avLst/>
          </a:prstGeom>
          <a:noFill/>
          <a:ln/>
        </p:spPr>
        <p:txBody>
          <a:bodyPr wrap="square" lIns="0" tIns="0" rIns="0" bIns="0" rtlCol="0" anchor="t"/>
          <a:lstStyle/>
          <a:p>
            <a:pPr algn="ctr" indent="0" marL="0">
              <a:buNone/>
            </a:pPr>
            <a:r>
              <a:rPr lang="en-US" sz="900" dirty="0">
                <a:solidFill>
                  <a:schemeClr val="accent6"/>
                </a:solidFill>
              </a:rPr>
              <a:t>12시</a:t>
            </a:r>
            <a:endParaRPr lang="en-US" sz="900" dirty="0"/>
          </a:p>
        </p:txBody>
      </p:sp>
      <p:sp>
        <p:nvSpPr>
          <p:cNvPr id="16" name="Text 14"/>
          <p:cNvSpPr txBox="1"/>
          <p:nvPr/>
        </p:nvSpPr>
        <p:spPr>
          <a:xfrm>
            <a:off x="2697480" y="2103120"/>
            <a:ext cx="548640" cy="201168"/>
          </a:xfrm>
          <a:prstGeom prst="rect">
            <a:avLst/>
          </a:prstGeom>
          <a:noFill/>
          <a:ln/>
        </p:spPr>
        <p:txBody>
          <a:bodyPr wrap="square" lIns="0" tIns="0" rIns="0" bIns="0" rtlCol="0" anchor="t"/>
          <a:lstStyle/>
          <a:p>
            <a:pPr algn="ctr" indent="0" marL="0">
              <a:buNone/>
            </a:pPr>
            <a:r>
              <a:rPr lang="en-US" sz="900" dirty="0">
                <a:solidFill>
                  <a:schemeClr val="accent6"/>
                </a:solidFill>
              </a:rPr>
              <a:t>14시</a:t>
            </a:r>
            <a:endParaRPr lang="en-US" sz="900" dirty="0"/>
          </a:p>
        </p:txBody>
      </p:sp>
      <p:sp>
        <p:nvSpPr>
          <p:cNvPr id="17" name="Text 15"/>
          <p:cNvSpPr txBox="1"/>
          <p:nvPr/>
        </p:nvSpPr>
        <p:spPr>
          <a:xfrm>
            <a:off x="3535680" y="2103120"/>
            <a:ext cx="548640" cy="201168"/>
          </a:xfrm>
          <a:prstGeom prst="rect">
            <a:avLst/>
          </a:prstGeom>
          <a:noFill/>
          <a:ln/>
        </p:spPr>
        <p:txBody>
          <a:bodyPr wrap="square" lIns="0" tIns="0" rIns="0" bIns="0" rtlCol="0" anchor="t"/>
          <a:lstStyle/>
          <a:p>
            <a:pPr algn="ctr" indent="0" marL="0">
              <a:buNone/>
            </a:pPr>
            <a:r>
              <a:rPr lang="en-US" sz="900" dirty="0">
                <a:solidFill>
                  <a:schemeClr val="accent6"/>
                </a:solidFill>
              </a:rPr>
              <a:t>16시</a:t>
            </a:r>
            <a:endParaRPr lang="en-US" sz="900" dirty="0"/>
          </a:p>
        </p:txBody>
      </p:sp>
      <p:sp>
        <p:nvSpPr>
          <p:cNvPr id="18" name="Text 16"/>
          <p:cNvSpPr txBox="1"/>
          <p:nvPr/>
        </p:nvSpPr>
        <p:spPr>
          <a:xfrm>
            <a:off x="4373880" y="2103120"/>
            <a:ext cx="548640" cy="201168"/>
          </a:xfrm>
          <a:prstGeom prst="rect">
            <a:avLst/>
          </a:prstGeom>
          <a:noFill/>
          <a:ln/>
        </p:spPr>
        <p:txBody>
          <a:bodyPr wrap="square" lIns="0" tIns="0" rIns="0" bIns="0" rtlCol="0" anchor="t"/>
          <a:lstStyle/>
          <a:p>
            <a:pPr algn="ctr" indent="0" marL="0">
              <a:buNone/>
            </a:pPr>
            <a:r>
              <a:rPr lang="en-US" sz="900" dirty="0">
                <a:solidFill>
                  <a:schemeClr val="accent6"/>
                </a:solidFill>
              </a:rPr>
              <a:t>18시</a:t>
            </a:r>
            <a:endParaRPr lang="en-US" sz="900" dirty="0"/>
          </a:p>
        </p:txBody>
      </p:sp>
      <p:sp>
        <p:nvSpPr>
          <p:cNvPr id="19" name="Text 17"/>
          <p:cNvSpPr txBox="1"/>
          <p:nvPr/>
        </p:nvSpPr>
        <p:spPr>
          <a:xfrm>
            <a:off x="5212080" y="2103120"/>
            <a:ext cx="548640" cy="201168"/>
          </a:xfrm>
          <a:prstGeom prst="rect">
            <a:avLst/>
          </a:prstGeom>
          <a:noFill/>
          <a:ln/>
        </p:spPr>
        <p:txBody>
          <a:bodyPr wrap="square" lIns="0" tIns="0" rIns="0" bIns="0" rtlCol="0" anchor="t"/>
          <a:lstStyle/>
          <a:p>
            <a:pPr algn="ctr" indent="0" marL="0">
              <a:buNone/>
            </a:pPr>
            <a:r>
              <a:rPr lang="en-US" sz="900" dirty="0">
                <a:solidFill>
                  <a:schemeClr val="accent6"/>
                </a:solidFill>
              </a:rPr>
              <a:t>20시</a:t>
            </a:r>
            <a:endParaRPr lang="en-US" sz="900" dirty="0"/>
          </a:p>
        </p:txBody>
      </p:sp>
      <p:sp>
        <p:nvSpPr>
          <p:cNvPr id="20" name="Text 18"/>
          <p:cNvSpPr txBox="1"/>
          <p:nvPr/>
        </p:nvSpPr>
        <p:spPr>
          <a:xfrm>
            <a:off x="457200" y="2514600"/>
            <a:ext cx="2926080" cy="292608"/>
          </a:xfrm>
          <a:prstGeom prst="rect">
            <a:avLst/>
          </a:prstGeom>
          <a:noFill/>
          <a:ln/>
        </p:spPr>
        <p:txBody>
          <a:bodyPr wrap="square" lIns="0" tIns="0" rIns="0" bIns="0" rtlCol="0" anchor="t"/>
          <a:lstStyle/>
          <a:p>
            <a:pPr indent="0" marL="0">
              <a:buNone/>
            </a:pPr>
            <a:r>
              <a:rPr lang="en-US" sz="1200" dirty="0">
                <a:solidFill>
                  <a:schemeClr val="tx1"/>
                </a:solidFill>
              </a:rPr>
              <a:t>프리마켓 08시</a:t>
            </a:r>
            <a:endParaRPr lang="en-US" sz="1200" dirty="0"/>
          </a:p>
        </p:txBody>
      </p:sp>
      <p:sp>
        <p:nvSpPr>
          <p:cNvPr id="21" name="Text 19"/>
          <p:cNvSpPr txBox="1"/>
          <p:nvPr/>
        </p:nvSpPr>
        <p:spPr>
          <a:xfrm>
            <a:off x="3383280" y="2514600"/>
            <a:ext cx="2103120" cy="292608"/>
          </a:xfrm>
          <a:prstGeom prst="rect">
            <a:avLst/>
          </a:prstGeom>
          <a:noFill/>
          <a:ln/>
        </p:spPr>
        <p:txBody>
          <a:bodyPr wrap="square" lIns="0" tIns="0" rIns="0" bIns="0" rtlCol="0" anchor="t"/>
          <a:lstStyle/>
          <a:p>
            <a:pPr algn="r" indent="0" marL="0">
              <a:buNone/>
            </a:pPr>
            <a:r>
              <a:rPr lang="en-US" sz="1200" b="1" dirty="0">
                <a:solidFill>
                  <a:schemeClr val="tx1"/>
                </a:solidFill>
              </a:rPr>
              <a:t>거래량 0 봉 15.3%</a:t>
            </a:r>
            <a:endParaRPr lang="en-US" sz="1200" dirty="0"/>
          </a:p>
        </p:txBody>
      </p:sp>
      <p:sp>
        <p:nvSpPr>
          <p:cNvPr id="22" name="Shape 20"/>
          <p:cNvSpPr/>
          <p:nvPr/>
        </p:nvSpPr>
        <p:spPr>
          <a:xfrm>
            <a:off x="457200" y="2852928"/>
            <a:ext cx="5029200" cy="0"/>
          </a:xfrm>
          <a:prstGeom prst="line">
            <a:avLst/>
          </a:prstGeom>
          <a:noFill/>
          <a:ln w="9525">
            <a:solidFill>
              <a:schemeClr val="bg2"/>
            </a:solidFill>
            <a:prstDash val="solid"/>
          </a:ln>
        </p:spPr>
      </p:sp>
      <p:sp>
        <p:nvSpPr>
          <p:cNvPr id="23" name="Text 21"/>
          <p:cNvSpPr txBox="1"/>
          <p:nvPr/>
        </p:nvSpPr>
        <p:spPr>
          <a:xfrm>
            <a:off x="457200" y="2898648"/>
            <a:ext cx="2926080" cy="292608"/>
          </a:xfrm>
          <a:prstGeom prst="rect">
            <a:avLst/>
          </a:prstGeom>
          <a:noFill/>
          <a:ln/>
        </p:spPr>
        <p:txBody>
          <a:bodyPr wrap="square" lIns="0" tIns="0" rIns="0" bIns="0" rtlCol="0" anchor="t"/>
          <a:lstStyle/>
          <a:p>
            <a:pPr indent="0" marL="0">
              <a:buNone/>
            </a:pPr>
            <a:r>
              <a:rPr lang="en-US" sz="1200" dirty="0">
                <a:solidFill>
                  <a:schemeClr val="tx1"/>
                </a:solidFill>
              </a:rPr>
              <a:t>09:00 봉 = [08:59, 09:00) 개장 전</a:t>
            </a:r>
            <a:endParaRPr lang="en-US" sz="1200" dirty="0"/>
          </a:p>
        </p:txBody>
      </p:sp>
      <p:sp>
        <p:nvSpPr>
          <p:cNvPr id="24" name="Text 22"/>
          <p:cNvSpPr txBox="1"/>
          <p:nvPr/>
        </p:nvSpPr>
        <p:spPr>
          <a:xfrm>
            <a:off x="3383280" y="2898648"/>
            <a:ext cx="2103120" cy="292608"/>
          </a:xfrm>
          <a:prstGeom prst="rect">
            <a:avLst/>
          </a:prstGeom>
          <a:noFill/>
          <a:ln/>
        </p:spPr>
        <p:txBody>
          <a:bodyPr wrap="square" lIns="0" tIns="0" rIns="0" bIns="0" rtlCol="0" anchor="t"/>
          <a:lstStyle/>
          <a:p>
            <a:pPr algn="r" indent="0" marL="0">
              <a:buNone/>
            </a:pPr>
            <a:r>
              <a:rPr lang="en-US" sz="1200" b="1" dirty="0">
                <a:solidFill>
                  <a:schemeClr val="accent2"/>
                </a:solidFill>
              </a:rPr>
              <a:t>14일 모두 거래량 0</a:t>
            </a:r>
            <a:endParaRPr lang="en-US" sz="1200" dirty="0"/>
          </a:p>
        </p:txBody>
      </p:sp>
      <p:sp>
        <p:nvSpPr>
          <p:cNvPr id="25" name="Shape 23"/>
          <p:cNvSpPr/>
          <p:nvPr/>
        </p:nvSpPr>
        <p:spPr>
          <a:xfrm>
            <a:off x="457200" y="3236976"/>
            <a:ext cx="5029200" cy="0"/>
          </a:xfrm>
          <a:prstGeom prst="line">
            <a:avLst/>
          </a:prstGeom>
          <a:noFill/>
          <a:ln w="9525">
            <a:solidFill>
              <a:schemeClr val="bg2"/>
            </a:solidFill>
            <a:prstDash val="solid"/>
          </a:ln>
        </p:spPr>
      </p:sp>
      <p:sp>
        <p:nvSpPr>
          <p:cNvPr id="26" name="Text 24"/>
          <p:cNvSpPr txBox="1"/>
          <p:nvPr/>
        </p:nvSpPr>
        <p:spPr>
          <a:xfrm>
            <a:off x="457200" y="3282696"/>
            <a:ext cx="2926080" cy="292608"/>
          </a:xfrm>
          <a:prstGeom prst="rect">
            <a:avLst/>
          </a:prstGeom>
          <a:noFill/>
          <a:ln/>
        </p:spPr>
        <p:txBody>
          <a:bodyPr wrap="square" lIns="0" tIns="0" rIns="0" bIns="0" rtlCol="0" anchor="t"/>
          <a:lstStyle/>
          <a:p>
            <a:pPr indent="0" marL="0">
              <a:buNone/>
            </a:pPr>
            <a:r>
              <a:rPr lang="en-US" sz="1200" dirty="0">
                <a:solidFill>
                  <a:schemeClr val="tx1"/>
                </a:solidFill>
              </a:rPr>
              <a:t>15:21 ~ 15:30 종가 단일가</a:t>
            </a:r>
            <a:endParaRPr lang="en-US" sz="1200" dirty="0"/>
          </a:p>
        </p:txBody>
      </p:sp>
      <p:sp>
        <p:nvSpPr>
          <p:cNvPr id="27" name="Text 25"/>
          <p:cNvSpPr txBox="1"/>
          <p:nvPr/>
        </p:nvSpPr>
        <p:spPr>
          <a:xfrm>
            <a:off x="3383280" y="3282696"/>
            <a:ext cx="2103120" cy="292608"/>
          </a:xfrm>
          <a:prstGeom prst="rect">
            <a:avLst/>
          </a:prstGeom>
          <a:noFill/>
          <a:ln/>
        </p:spPr>
        <p:txBody>
          <a:bodyPr wrap="square" lIns="0" tIns="0" rIns="0" bIns="0" rtlCol="0" anchor="t"/>
          <a:lstStyle/>
          <a:p>
            <a:pPr algn="r" indent="0" marL="0">
              <a:buNone/>
            </a:pPr>
            <a:r>
              <a:rPr lang="en-US" sz="1200" b="1" dirty="0">
                <a:solidFill>
                  <a:schemeClr val="accent2"/>
                </a:solidFill>
              </a:rPr>
              <a:t>14일 모두 거래량 0</a:t>
            </a:r>
            <a:endParaRPr lang="en-US" sz="1200" dirty="0"/>
          </a:p>
        </p:txBody>
      </p:sp>
      <p:sp>
        <p:nvSpPr>
          <p:cNvPr id="28" name="Shape 26"/>
          <p:cNvSpPr/>
          <p:nvPr/>
        </p:nvSpPr>
        <p:spPr>
          <a:xfrm>
            <a:off x="457200" y="3621024"/>
            <a:ext cx="5029200" cy="0"/>
          </a:xfrm>
          <a:prstGeom prst="line">
            <a:avLst/>
          </a:prstGeom>
          <a:noFill/>
          <a:ln w="9525">
            <a:solidFill>
              <a:schemeClr val="bg2"/>
            </a:solidFill>
            <a:prstDash val="solid"/>
          </a:ln>
        </p:spPr>
      </p:sp>
      <p:sp>
        <p:nvSpPr>
          <p:cNvPr id="29" name="Text 27"/>
          <p:cNvSpPr txBox="1"/>
          <p:nvPr/>
        </p:nvSpPr>
        <p:spPr>
          <a:xfrm>
            <a:off x="457200" y="3666744"/>
            <a:ext cx="2926080" cy="292608"/>
          </a:xfrm>
          <a:prstGeom prst="rect">
            <a:avLst/>
          </a:prstGeom>
          <a:noFill/>
          <a:ln/>
        </p:spPr>
        <p:txBody>
          <a:bodyPr wrap="square" lIns="0" tIns="0" rIns="0" bIns="0" rtlCol="0" anchor="t"/>
          <a:lstStyle/>
          <a:p>
            <a:pPr indent="0" marL="0">
              <a:buNone/>
            </a:pPr>
            <a:r>
              <a:rPr lang="en-US" sz="1200" dirty="0">
                <a:solidFill>
                  <a:schemeClr val="tx1"/>
                </a:solidFill>
              </a:rPr>
              <a:t>애프터 16 ~ 19시</a:t>
            </a:r>
            <a:endParaRPr lang="en-US" sz="1200" dirty="0"/>
          </a:p>
        </p:txBody>
      </p:sp>
      <p:sp>
        <p:nvSpPr>
          <p:cNvPr id="30" name="Text 28"/>
          <p:cNvSpPr txBox="1"/>
          <p:nvPr/>
        </p:nvSpPr>
        <p:spPr>
          <a:xfrm>
            <a:off x="3383280" y="3666744"/>
            <a:ext cx="2103120" cy="292608"/>
          </a:xfrm>
          <a:prstGeom prst="rect">
            <a:avLst/>
          </a:prstGeom>
          <a:noFill/>
          <a:ln/>
        </p:spPr>
        <p:txBody>
          <a:bodyPr wrap="square" lIns="0" tIns="0" rIns="0" bIns="0" rtlCol="0" anchor="t"/>
          <a:lstStyle/>
          <a:p>
            <a:pPr algn="r" indent="0" marL="0">
              <a:buNone/>
            </a:pPr>
            <a:r>
              <a:rPr lang="en-US" sz="1200" b="1" dirty="0">
                <a:solidFill>
                  <a:schemeClr val="tx1"/>
                </a:solidFill>
              </a:rPr>
              <a:t>거래량이 정규장의 약 1/8</a:t>
            </a:r>
            <a:endParaRPr lang="en-US" sz="1200" dirty="0"/>
          </a:p>
        </p:txBody>
      </p:sp>
      <p:sp>
        <p:nvSpPr>
          <p:cNvPr id="31" name="Shape 29"/>
          <p:cNvSpPr/>
          <p:nvPr/>
        </p:nvSpPr>
        <p:spPr>
          <a:xfrm>
            <a:off x="457200" y="4005072"/>
            <a:ext cx="5029200" cy="0"/>
          </a:xfrm>
          <a:prstGeom prst="line">
            <a:avLst/>
          </a:prstGeom>
          <a:noFill/>
          <a:ln w="9525">
            <a:solidFill>
              <a:schemeClr val="bg2"/>
            </a:solidFill>
            <a:prstDash val="solid"/>
          </a:ln>
        </p:spPr>
      </p:sp>
      <p:sp>
        <p:nvSpPr>
          <p:cNvPr id="32" name="Text 30"/>
          <p:cNvSpPr txBox="1"/>
          <p:nvPr/>
        </p:nvSpPr>
        <p:spPr>
          <a:xfrm>
            <a:off x="457200" y="4050792"/>
            <a:ext cx="2926080" cy="292608"/>
          </a:xfrm>
          <a:prstGeom prst="rect">
            <a:avLst/>
          </a:prstGeom>
          <a:noFill/>
          <a:ln/>
        </p:spPr>
        <p:txBody>
          <a:bodyPr wrap="square" lIns="0" tIns="0" rIns="0" bIns="0" rtlCol="0" anchor="t"/>
          <a:lstStyle/>
          <a:p>
            <a:pPr indent="0" marL="0">
              <a:buNone/>
            </a:pPr>
            <a:r>
              <a:rPr lang="en-US" sz="1200" dirty="0">
                <a:solidFill>
                  <a:schemeClr val="tx1"/>
                </a:solidFill>
              </a:rPr>
              <a:t>정규장</a:t>
            </a:r>
            <a:endParaRPr lang="en-US" sz="1200" dirty="0"/>
          </a:p>
        </p:txBody>
      </p:sp>
      <p:sp>
        <p:nvSpPr>
          <p:cNvPr id="33" name="Text 31"/>
          <p:cNvSpPr txBox="1"/>
          <p:nvPr/>
        </p:nvSpPr>
        <p:spPr>
          <a:xfrm>
            <a:off x="3383280" y="4050792"/>
            <a:ext cx="2103120" cy="292608"/>
          </a:xfrm>
          <a:prstGeom prst="rect">
            <a:avLst/>
          </a:prstGeom>
          <a:noFill/>
          <a:ln/>
        </p:spPr>
        <p:txBody>
          <a:bodyPr wrap="square" lIns="0" tIns="0" rIns="0" bIns="0" rtlCol="0" anchor="t"/>
          <a:lstStyle/>
          <a:p>
            <a:pPr algn="r" indent="0" marL="0">
              <a:buNone/>
            </a:pPr>
            <a:r>
              <a:rPr lang="en-US" sz="1200" b="1" dirty="0">
                <a:solidFill>
                  <a:schemeClr val="accent1"/>
                </a:solidFill>
              </a:rPr>
              <a:t>거래량 0 봉 0 ~ 1.7%</a:t>
            </a:r>
            <a:endParaRPr lang="en-US" sz="1200" dirty="0"/>
          </a:p>
        </p:txBody>
      </p:sp>
      <p:sp>
        <p:nvSpPr>
          <p:cNvPr id="34" name="Shape 32"/>
          <p:cNvSpPr/>
          <p:nvPr/>
        </p:nvSpPr>
        <p:spPr>
          <a:xfrm>
            <a:off x="457200" y="4389120"/>
            <a:ext cx="5029200" cy="0"/>
          </a:xfrm>
          <a:prstGeom prst="line">
            <a:avLst/>
          </a:prstGeom>
          <a:noFill/>
          <a:ln w="9525">
            <a:solidFill>
              <a:schemeClr val="bg2"/>
            </a:solidFill>
            <a:prstDash val="solid"/>
          </a:ln>
        </p:spPr>
      </p:sp>
      <p:sp>
        <p:nvSpPr>
          <p:cNvPr id="35" name="result"/>
          <p:cNvSpPr/>
          <p:nvPr/>
        </p:nvSpPr>
        <p:spPr>
          <a:xfrm>
            <a:off x="5943600" y="1371600"/>
            <a:ext cx="2743200" cy="3200400"/>
          </a:xfrm>
          <a:prstGeom prst="roundRect">
            <a:avLst>
              <a:gd name="adj" fmla="val 2667"/>
            </a:avLst>
          </a:prstGeom>
          <a:solidFill>
            <a:schemeClr val="bg2"/>
          </a:solidFill>
          <a:ln/>
        </p:spPr>
      </p:sp>
      <p:sp>
        <p:nvSpPr>
          <p:cNvPr id="36" name="Text 34"/>
          <p:cNvSpPr txBox="1"/>
          <p:nvPr/>
        </p:nvSpPr>
        <p:spPr>
          <a:xfrm>
            <a:off x="6172200" y="1536192"/>
            <a:ext cx="2286000" cy="274320"/>
          </a:xfrm>
          <a:prstGeom prst="rect">
            <a:avLst/>
          </a:prstGeom>
          <a:noFill/>
          <a:ln/>
        </p:spPr>
        <p:txBody>
          <a:bodyPr wrap="square" lIns="0" tIns="0" rIns="0" bIns="0" rtlCol="0" anchor="t"/>
          <a:lstStyle/>
          <a:p>
            <a:pPr indent="0" marL="0">
              <a:buNone/>
            </a:pPr>
            <a:r>
              <a:rPr lang="en-US" sz="1300" b="1" dirty="0">
                <a:solidFill>
                  <a:schemeClr val="tx1"/>
                </a:solidFill>
              </a:rPr>
              <a:t>두 경계 봉을 빼면</a:t>
            </a:r>
            <a:endParaRPr lang="en-US" sz="1300" dirty="0"/>
          </a:p>
        </p:txBody>
      </p:sp>
      <p:sp>
        <p:nvSpPr>
          <p:cNvPr id="37" name="Text 35"/>
          <p:cNvSpPr txBox="1"/>
          <p:nvPr/>
        </p:nvSpPr>
        <p:spPr>
          <a:xfrm>
            <a:off x="6172200" y="1901952"/>
            <a:ext cx="2286000" cy="548640"/>
          </a:xfrm>
          <a:prstGeom prst="rect">
            <a:avLst/>
          </a:prstGeom>
          <a:noFill/>
          <a:ln/>
        </p:spPr>
        <p:txBody>
          <a:bodyPr wrap="square" lIns="0" tIns="0" rIns="0" bIns="0" rtlCol="0" anchor="ctr"/>
          <a:lstStyle/>
          <a:p>
            <a:pPr indent="0" marL="0">
              <a:buNone/>
            </a:pPr>
            <a:r>
              <a:rPr lang="en-US" sz="2400" b="1" dirty="0">
                <a:solidFill>
                  <a:schemeClr val="accent6"/>
                </a:solidFill>
              </a:rPr>
              <a:t>2.8%</a:t>
            </a:r>
            <a:pPr indent="0" marL="0">
              <a:buNone/>
            </a:pPr>
            <a:r>
              <a:rPr lang="en-US" sz="2400" b="1" dirty="0">
                <a:solidFill>
                  <a:schemeClr val="accent6"/>
                </a:solidFill>
              </a:rPr>
              <a:t> → </a:t>
            </a:r>
            <a:pPr indent="0" marL="0">
              <a:buNone/>
            </a:pPr>
            <a:r>
              <a:rPr lang="en-US" sz="2400" b="1" dirty="0">
                <a:solidFill>
                  <a:schemeClr val="accent1"/>
                </a:solidFill>
              </a:rPr>
              <a:t>0.3%</a:t>
            </a:r>
            <a:endParaRPr lang="en-US" sz="2400" dirty="0"/>
          </a:p>
        </p:txBody>
      </p:sp>
      <p:sp>
        <p:nvSpPr>
          <p:cNvPr id="38" name="Text 36"/>
          <p:cNvSpPr txBox="1"/>
          <p:nvPr/>
        </p:nvSpPr>
        <p:spPr>
          <a:xfrm>
            <a:off x="6172200" y="2450592"/>
            <a:ext cx="2286000" cy="256032"/>
          </a:xfrm>
          <a:prstGeom prst="rect">
            <a:avLst/>
          </a:prstGeom>
          <a:noFill/>
          <a:ln/>
        </p:spPr>
        <p:txBody>
          <a:bodyPr wrap="square" lIns="0" tIns="0" rIns="0" bIns="0" rtlCol="0" anchor="t"/>
          <a:lstStyle/>
          <a:p>
            <a:pPr indent="0" marL="0">
              <a:buNone/>
            </a:pPr>
            <a:r>
              <a:rPr lang="en-US" sz="1100" dirty="0">
                <a:solidFill>
                  <a:schemeClr val="accent6"/>
                </a:solidFill>
              </a:rPr>
              <a:t>거래량 0 봉 비율</a:t>
            </a:r>
            <a:endParaRPr lang="en-US" sz="1100" dirty="0"/>
          </a:p>
        </p:txBody>
      </p:sp>
      <p:sp>
        <p:nvSpPr>
          <p:cNvPr id="39" name="Text 37"/>
          <p:cNvSpPr txBox="1"/>
          <p:nvPr/>
        </p:nvSpPr>
        <p:spPr>
          <a:xfrm>
            <a:off x="6172200" y="2788920"/>
            <a:ext cx="2286000" cy="548640"/>
          </a:xfrm>
          <a:prstGeom prst="rect">
            <a:avLst/>
          </a:prstGeom>
          <a:noFill/>
          <a:ln/>
        </p:spPr>
        <p:txBody>
          <a:bodyPr wrap="square" lIns="0" tIns="0" rIns="0" bIns="0" rtlCol="0" anchor="ctr"/>
          <a:lstStyle/>
          <a:p>
            <a:pPr indent="0" marL="0">
              <a:buNone/>
            </a:pPr>
            <a:r>
              <a:rPr lang="en-US" sz="2400" b="1" dirty="0">
                <a:solidFill>
                  <a:schemeClr val="accent6"/>
                </a:solidFill>
              </a:rPr>
              <a:t>11봉</a:t>
            </a:r>
            <a:pPr indent="0" marL="0">
              <a:buNone/>
            </a:pPr>
            <a:r>
              <a:rPr lang="en-US" sz="2400" b="1" dirty="0">
                <a:solidFill>
                  <a:schemeClr val="accent6"/>
                </a:solidFill>
              </a:rPr>
              <a:t> → </a:t>
            </a:r>
            <a:pPr indent="0" marL="0">
              <a:buNone/>
            </a:pPr>
            <a:r>
              <a:rPr lang="en-US" sz="2400" b="1" dirty="0">
                <a:solidFill>
                  <a:schemeClr val="accent1"/>
                </a:solidFill>
              </a:rPr>
              <a:t>1봉</a:t>
            </a:r>
            <a:endParaRPr lang="en-US" sz="2400" dirty="0"/>
          </a:p>
        </p:txBody>
      </p:sp>
      <p:sp>
        <p:nvSpPr>
          <p:cNvPr id="40" name="Text 38"/>
          <p:cNvSpPr txBox="1"/>
          <p:nvPr/>
        </p:nvSpPr>
        <p:spPr>
          <a:xfrm>
            <a:off x="6172200" y="3337560"/>
            <a:ext cx="2286000" cy="256032"/>
          </a:xfrm>
          <a:prstGeom prst="rect">
            <a:avLst/>
          </a:prstGeom>
          <a:noFill/>
          <a:ln/>
        </p:spPr>
        <p:txBody>
          <a:bodyPr wrap="square" lIns="0" tIns="0" rIns="0" bIns="0" rtlCol="0" anchor="t"/>
          <a:lstStyle/>
          <a:p>
            <a:pPr indent="0" marL="0">
              <a:buNone/>
            </a:pPr>
            <a:r>
              <a:rPr lang="en-US" sz="1100" dirty="0">
                <a:solidFill>
                  <a:schemeClr val="accent6"/>
                </a:solidFill>
              </a:rPr>
              <a:t>최대 연속 정지 (1틱 = 1초라 11초 정지)</a:t>
            </a:r>
            <a:endParaRPr lang="en-US" sz="1100" dirty="0"/>
          </a:p>
        </p:txBody>
      </p:sp>
      <p:sp>
        <p:nvSpPr>
          <p:cNvPr id="41" name="Text 39"/>
          <p:cNvSpPr txBox="1"/>
          <p:nvPr/>
        </p:nvSpPr>
        <p:spPr>
          <a:xfrm>
            <a:off x="6172200" y="3767328"/>
            <a:ext cx="2286000" cy="685800"/>
          </a:xfrm>
          <a:prstGeom prst="rect">
            <a:avLst/>
          </a:prstGeom>
          <a:noFill/>
          <a:ln/>
        </p:spPr>
        <p:txBody>
          <a:bodyPr wrap="square" lIns="0" tIns="0" rIns="0" bIns="0" rtlCol="0" anchor="t"/>
          <a:lstStyle/>
          <a:p>
            <a:pPr indent="0" marL="0">
              <a:buNone/>
            </a:pPr>
            <a:r>
              <a:rPr lang="en-US" sz="1100" dirty="0">
                <a:solidFill>
                  <a:schemeClr val="tx1"/>
                </a:solidFill>
              </a:rPr>
              <a:t>하루 380봉 → 판 시작점 140개</a:t>
            </a:r>
            <a:endParaRPr lang="en-US" sz="1100" dirty="0"/>
          </a:p>
          <a:p>
            <a:pPr indent="0" marL="0">
              <a:buNone/>
            </a:pPr>
            <a:r>
              <a:rPr lang="en-US" sz="1100" dirty="0">
                <a:solidFill>
                  <a:schemeClr val="tx1"/>
                </a:solidFill>
              </a:rPr>
              <a:t>날짜는 넘기지 않는다 (밤사이 갭)</a:t>
            </a:r>
            <a:endParaRPr lang="en-US" sz="11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적격성 검사 — 멈추거나 밋밋한 구간은 버린다</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하나라도 넘으면 시나리오로 쓰지 않습니다. 값은 상수로 빼 두고 플레이하며 조정합니다</a:t>
            </a:r>
            <a:endParaRPr lang="en-US" sz="1400" dirty="0"/>
          </a:p>
        </p:txBody>
      </p:sp>
      <p:sp>
        <p:nvSpPr>
          <p:cNvPr id="4" name="check-1"/>
          <p:cNvSpPr/>
          <p:nvPr/>
        </p:nvSpPr>
        <p:spPr>
          <a:xfrm>
            <a:off x="457200" y="1371600"/>
            <a:ext cx="4114800" cy="932688"/>
          </a:xfrm>
          <a:prstGeom prst="roundRect">
            <a:avLst>
              <a:gd name="adj" fmla="val 7843"/>
            </a:avLst>
          </a:prstGeom>
          <a:solidFill>
            <a:schemeClr val="bg2"/>
          </a:solidFill>
          <a:ln/>
        </p:spPr>
      </p:sp>
      <p:sp>
        <p:nvSpPr>
          <p:cNvPr id="5" name="Text 3"/>
          <p:cNvSpPr txBox="1"/>
          <p:nvPr/>
        </p:nvSpPr>
        <p:spPr>
          <a:xfrm>
            <a:off x="658368" y="1499616"/>
            <a:ext cx="1828800" cy="274320"/>
          </a:xfrm>
          <a:prstGeom prst="rect">
            <a:avLst/>
          </a:prstGeom>
          <a:noFill/>
          <a:ln/>
        </p:spPr>
        <p:txBody>
          <a:bodyPr wrap="square" lIns="0" tIns="0" rIns="0" bIns="0" rtlCol="0" anchor="t"/>
          <a:lstStyle/>
          <a:p>
            <a:pPr indent="0" marL="0">
              <a:buNone/>
            </a:pPr>
            <a:r>
              <a:rPr lang="en-US" sz="1400" b="1" dirty="0">
                <a:solidFill>
                  <a:schemeClr val="tx1"/>
                </a:solidFill>
              </a:rPr>
              <a:t>거래량 0 봉 비율</a:t>
            </a:r>
            <a:endParaRPr lang="en-US" sz="1400" dirty="0"/>
          </a:p>
        </p:txBody>
      </p:sp>
      <p:sp>
        <p:nvSpPr>
          <p:cNvPr id="6" name="Text 4"/>
          <p:cNvSpPr txBox="1"/>
          <p:nvPr/>
        </p:nvSpPr>
        <p:spPr>
          <a:xfrm>
            <a:off x="2377440" y="1463040"/>
            <a:ext cx="2011680" cy="347472"/>
          </a:xfrm>
          <a:prstGeom prst="rect">
            <a:avLst/>
          </a:prstGeom>
          <a:noFill/>
          <a:ln/>
        </p:spPr>
        <p:txBody>
          <a:bodyPr wrap="square" lIns="0" tIns="0" rIns="0" bIns="0" rtlCol="0" anchor="t"/>
          <a:lstStyle/>
          <a:p>
            <a:pPr algn="r" indent="0" marL="0">
              <a:buNone/>
            </a:pPr>
            <a:r>
              <a:rPr lang="en-US" sz="1700" b="1" dirty="0">
                <a:solidFill>
                  <a:schemeClr val="accent1"/>
                </a:solidFill>
              </a:rPr>
              <a:t>≤ 5%</a:t>
            </a:r>
            <a:endParaRPr lang="en-US" sz="1700" dirty="0"/>
          </a:p>
        </p:txBody>
      </p:sp>
      <p:sp>
        <p:nvSpPr>
          <p:cNvPr id="7" name="Text 5"/>
          <p:cNvSpPr txBox="1"/>
          <p:nvPr/>
        </p:nvSpPr>
        <p:spPr>
          <a:xfrm>
            <a:off x="658368" y="1847088"/>
            <a:ext cx="3712464" cy="411480"/>
          </a:xfrm>
          <a:prstGeom prst="rect">
            <a:avLst/>
          </a:prstGeom>
          <a:noFill/>
          <a:ln/>
        </p:spPr>
        <p:txBody>
          <a:bodyPr wrap="square" lIns="0" tIns="0" rIns="0" bIns="0" rtlCol="0" anchor="t"/>
          <a:lstStyle/>
          <a:p>
            <a:pPr indent="0" marL="0">
              <a:buNone/>
            </a:pPr>
            <a:r>
              <a:rPr lang="en-US" sz="1100" dirty="0">
                <a:solidFill>
                  <a:schemeClr val="accent6"/>
                </a:solidFill>
              </a:rPr>
              <a:t>정상 구간 실측은 0.3%. 여유 있게 통과한다</a:t>
            </a:r>
            <a:endParaRPr lang="en-US" sz="1100" dirty="0"/>
          </a:p>
        </p:txBody>
      </p:sp>
      <p:sp>
        <p:nvSpPr>
          <p:cNvPr id="8" name="check-2"/>
          <p:cNvSpPr/>
          <p:nvPr/>
        </p:nvSpPr>
        <p:spPr>
          <a:xfrm>
            <a:off x="457200" y="2441448"/>
            <a:ext cx="4114800" cy="932688"/>
          </a:xfrm>
          <a:prstGeom prst="roundRect">
            <a:avLst>
              <a:gd name="adj" fmla="val 7843"/>
            </a:avLst>
          </a:prstGeom>
          <a:solidFill>
            <a:schemeClr val="bg2"/>
          </a:solidFill>
          <a:ln/>
        </p:spPr>
      </p:sp>
      <p:sp>
        <p:nvSpPr>
          <p:cNvPr id="9" name="Text 7"/>
          <p:cNvSpPr txBox="1"/>
          <p:nvPr/>
        </p:nvSpPr>
        <p:spPr>
          <a:xfrm>
            <a:off x="658368" y="2569464"/>
            <a:ext cx="1828800" cy="274320"/>
          </a:xfrm>
          <a:prstGeom prst="rect">
            <a:avLst/>
          </a:prstGeom>
          <a:noFill/>
          <a:ln/>
        </p:spPr>
        <p:txBody>
          <a:bodyPr wrap="square" lIns="0" tIns="0" rIns="0" bIns="0" rtlCol="0" anchor="t"/>
          <a:lstStyle/>
          <a:p>
            <a:pPr indent="0" marL="0">
              <a:buNone/>
            </a:pPr>
            <a:r>
              <a:rPr lang="en-US" sz="1400" b="1" dirty="0">
                <a:solidFill>
                  <a:schemeClr val="tx1"/>
                </a:solidFill>
              </a:rPr>
              <a:t>연속 정지</a:t>
            </a:r>
            <a:endParaRPr lang="en-US" sz="1400" dirty="0"/>
          </a:p>
        </p:txBody>
      </p:sp>
      <p:sp>
        <p:nvSpPr>
          <p:cNvPr id="10" name="Text 8"/>
          <p:cNvSpPr txBox="1"/>
          <p:nvPr/>
        </p:nvSpPr>
        <p:spPr>
          <a:xfrm>
            <a:off x="2377440" y="2532888"/>
            <a:ext cx="2011680" cy="347472"/>
          </a:xfrm>
          <a:prstGeom prst="rect">
            <a:avLst/>
          </a:prstGeom>
          <a:noFill/>
          <a:ln/>
        </p:spPr>
        <p:txBody>
          <a:bodyPr wrap="square" lIns="0" tIns="0" rIns="0" bIns="0" rtlCol="0" anchor="t"/>
          <a:lstStyle/>
          <a:p>
            <a:pPr algn="r" indent="0" marL="0">
              <a:buNone/>
            </a:pPr>
            <a:r>
              <a:rPr lang="en-US" sz="1700" b="1" dirty="0">
                <a:solidFill>
                  <a:schemeClr val="accent1"/>
                </a:solidFill>
              </a:rPr>
              <a:t>≤ 5봉</a:t>
            </a:r>
            <a:endParaRPr lang="en-US" sz="1700" dirty="0"/>
          </a:p>
        </p:txBody>
      </p:sp>
      <p:sp>
        <p:nvSpPr>
          <p:cNvPr id="11" name="Text 9"/>
          <p:cNvSpPr txBox="1"/>
          <p:nvPr/>
        </p:nvSpPr>
        <p:spPr>
          <a:xfrm>
            <a:off x="658368" y="2916936"/>
            <a:ext cx="3712464" cy="411480"/>
          </a:xfrm>
          <a:prstGeom prst="rect">
            <a:avLst/>
          </a:prstGeom>
          <a:noFill/>
          <a:ln/>
        </p:spPr>
        <p:txBody>
          <a:bodyPr wrap="square" lIns="0" tIns="0" rIns="0" bIns="0" rtlCol="0" anchor="t"/>
          <a:lstStyle/>
          <a:p>
            <a:pPr indent="0" marL="0">
              <a:buNone/>
            </a:pPr>
            <a:r>
              <a:rPr lang="en-US" sz="1100" dirty="0">
                <a:solidFill>
                  <a:schemeClr val="accent6"/>
                </a:solidFill>
              </a:rPr>
              <a:t>시간외가 섞인 구간은 비율 4.6% 로 통과하지만 연속 11봉에서 걸린다. 비율만으론 못 거른다</a:t>
            </a:r>
            <a:endParaRPr lang="en-US" sz="1100" dirty="0"/>
          </a:p>
        </p:txBody>
      </p:sp>
      <p:sp>
        <p:nvSpPr>
          <p:cNvPr id="12" name="check-3"/>
          <p:cNvSpPr/>
          <p:nvPr/>
        </p:nvSpPr>
        <p:spPr>
          <a:xfrm>
            <a:off x="457200" y="3511296"/>
            <a:ext cx="4114800" cy="932688"/>
          </a:xfrm>
          <a:prstGeom prst="roundRect">
            <a:avLst>
              <a:gd name="adj" fmla="val 7843"/>
            </a:avLst>
          </a:prstGeom>
          <a:solidFill>
            <a:schemeClr val="bg2"/>
          </a:solidFill>
          <a:ln/>
        </p:spPr>
      </p:sp>
      <p:sp>
        <p:nvSpPr>
          <p:cNvPr id="13" name="Text 11"/>
          <p:cNvSpPr txBox="1"/>
          <p:nvPr/>
        </p:nvSpPr>
        <p:spPr>
          <a:xfrm>
            <a:off x="658368" y="3639312"/>
            <a:ext cx="1828800" cy="274320"/>
          </a:xfrm>
          <a:prstGeom prst="rect">
            <a:avLst/>
          </a:prstGeom>
          <a:noFill/>
          <a:ln/>
        </p:spPr>
        <p:txBody>
          <a:bodyPr wrap="square" lIns="0" tIns="0" rIns="0" bIns="0" rtlCol="0" anchor="t"/>
          <a:lstStyle/>
          <a:p>
            <a:pPr indent="0" marL="0">
              <a:buNone/>
            </a:pPr>
            <a:r>
              <a:rPr lang="en-US" sz="1400" b="1" dirty="0">
                <a:solidFill>
                  <a:schemeClr val="tx1"/>
                </a:solidFill>
              </a:rPr>
              <a:t>최소 이동폭</a:t>
            </a:r>
            <a:endParaRPr lang="en-US" sz="1400" dirty="0"/>
          </a:p>
        </p:txBody>
      </p:sp>
      <p:sp>
        <p:nvSpPr>
          <p:cNvPr id="14" name="Text 12"/>
          <p:cNvSpPr txBox="1"/>
          <p:nvPr/>
        </p:nvSpPr>
        <p:spPr>
          <a:xfrm>
            <a:off x="2377440" y="3602736"/>
            <a:ext cx="2011680" cy="347472"/>
          </a:xfrm>
          <a:prstGeom prst="rect">
            <a:avLst/>
          </a:prstGeom>
          <a:noFill/>
          <a:ln/>
        </p:spPr>
        <p:txBody>
          <a:bodyPr wrap="square" lIns="0" tIns="0" rIns="0" bIns="0" rtlCol="0" anchor="t"/>
          <a:lstStyle/>
          <a:p>
            <a:pPr algn="r" indent="0" marL="0">
              <a:buNone/>
            </a:pPr>
            <a:r>
              <a:rPr lang="en-US" sz="1700" b="1" dirty="0">
                <a:solidFill>
                  <a:schemeClr val="accent1"/>
                </a:solidFill>
              </a:rPr>
              <a:t>분봉 2.5% · 일봉 30%</a:t>
            </a:r>
            <a:endParaRPr lang="en-US" sz="1700" dirty="0"/>
          </a:p>
        </p:txBody>
      </p:sp>
      <p:sp>
        <p:nvSpPr>
          <p:cNvPr id="15" name="Text 13"/>
          <p:cNvSpPr txBox="1"/>
          <p:nvPr/>
        </p:nvSpPr>
        <p:spPr>
          <a:xfrm>
            <a:off x="658368" y="3986784"/>
            <a:ext cx="3712464" cy="411480"/>
          </a:xfrm>
          <a:prstGeom prst="rect">
            <a:avLst/>
          </a:prstGeom>
          <a:noFill/>
          <a:ln/>
        </p:spPr>
        <p:txBody>
          <a:bodyPr wrap="square" lIns="0" tIns="0" rIns="0" bIns="0" rtlCol="0" anchor="t"/>
          <a:lstStyle/>
          <a:p>
            <a:pPr indent="0" marL="0">
              <a:buNone/>
            </a:pPr>
            <a:r>
              <a:rPr lang="en-US" sz="1100" dirty="0">
                <a:solidFill>
                  <a:schemeClr val="accent6"/>
                </a:solidFill>
              </a:rPr>
              <a:t>시작가 대비 가장 크게 움직인 폭. 너무 잔잔한 판은 버린다</a:t>
            </a:r>
            <a:endParaRPr lang="en-US" sz="1100" dirty="0"/>
          </a:p>
        </p:txBody>
      </p:sp>
      <p:sp>
        <p:nvSpPr>
          <p:cNvPr id="16" name="Text 14"/>
          <p:cNvSpPr txBox="1"/>
          <p:nvPr/>
        </p:nvSpPr>
        <p:spPr>
          <a:xfrm>
            <a:off x="4846320" y="1371600"/>
            <a:ext cx="3840480" cy="274320"/>
          </a:xfrm>
          <a:prstGeom prst="rect">
            <a:avLst/>
          </a:prstGeom>
          <a:noFill/>
          <a:ln/>
        </p:spPr>
        <p:txBody>
          <a:bodyPr wrap="square" lIns="0" tIns="0" rIns="0" bIns="0" rtlCol="0" anchor="t"/>
          <a:lstStyle/>
          <a:p>
            <a:pPr indent="0" marL="0">
              <a:buNone/>
            </a:pPr>
            <a:r>
              <a:rPr lang="en-US" sz="1300" b="1" dirty="0">
                <a:solidFill>
                  <a:schemeClr val="tx1"/>
                </a:solidFill>
              </a:rPr>
              <a:t>시작가 대비 최대 이동폭 — 240봉 구간 분포</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846320" y="1737360"/>
          <a:ext cx="3840480" cy="914400"/>
        </p:xfrm>
        <a:graphic>
          <a:graphicData uri="http://schemas.openxmlformats.org/drawingml/2006/table">
            <a:tbl>
              <a:tblPr/>
              <a:tblGrid>
                <a:gridCol w="1382573"/>
                <a:gridCol w="1228954"/>
                <a:gridCol w="1228954"/>
              </a:tblGrid>
              <a:tr h="329184">
                <a:tc>
                  <a:txBody>
                    <a:bodyPr/>
                    <a:lstStyle/>
                    <a:p>
                      <a:pPr algn="ctr" indent="0" marL="0">
                        <a:buNone/>
                      </a:pPr>
                      <a:r>
                        <a:rPr lang="en-US" sz="1200" b="1" dirty="0">
                          <a:solidFill>
                            <a:srgbClr val="FFFFFF"/>
                          </a:solidFill>
                        </a:rPr>
                        <a:t>백분위</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7C5CFF"/>
                    </a:solidFill>
                  </a:tcPr>
                </a:tc>
                <a:tc>
                  <a:txBody>
                    <a:bodyPr/>
                    <a:lstStyle/>
                    <a:p>
                      <a:pPr algn="ctr" indent="0" marL="0">
                        <a:buNone/>
                      </a:pPr>
                      <a:r>
                        <a:rPr lang="en-US" sz="1200" b="1" dirty="0">
                          <a:solidFill>
                            <a:srgbClr val="FFFFFF"/>
                          </a:solidFill>
                        </a:rPr>
                        <a:t>분봉</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7C5CFF"/>
                    </a:solidFill>
                  </a:tcPr>
                </a:tc>
                <a:tc>
                  <a:txBody>
                    <a:bodyPr/>
                    <a:lstStyle/>
                    <a:p>
                      <a:pPr algn="ctr" indent="0" marL="0">
                        <a:buNone/>
                      </a:pPr>
                      <a:r>
                        <a:rPr lang="en-US" sz="1200" b="1" dirty="0">
                          <a:solidFill>
                            <a:srgbClr val="FFFFFF"/>
                          </a:solidFill>
                        </a:rPr>
                        <a:t>일봉</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7C5CFF"/>
                    </a:solidFill>
                  </a:tcPr>
                </a:tc>
              </a:tr>
              <a:tr h="329184">
                <a:tc>
                  <a:txBody>
                    <a:bodyPr/>
                    <a:lstStyle/>
                    <a:p>
                      <a:pPr algn="ctr" indent="0" marL="0">
                        <a:buNone/>
                      </a:pPr>
                      <a:r>
                        <a:rPr lang="en-US" sz="1200" dirty="0">
                          <a:solidFill>
                            <a:srgbClr val="0B0E14"/>
                          </a:solidFill>
                        </a:rPr>
                        <a:t>10%</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0.99%</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22.59%</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329184">
                <a:tc>
                  <a:txBody>
                    <a:bodyPr/>
                    <a:lstStyle/>
                    <a:p>
                      <a:pPr algn="ctr" indent="0" marL="0">
                        <a:buNone/>
                      </a:pPr>
                      <a:r>
                        <a:rPr lang="en-US" sz="1200" dirty="0">
                          <a:solidFill>
                            <a:srgbClr val="0B0E14"/>
                          </a:solidFill>
                        </a:rPr>
                        <a:t>25%</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1.38%</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29.63%</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329184">
                <a:tc>
                  <a:txBody>
                    <a:bodyPr/>
                    <a:lstStyle/>
                    <a:p>
                      <a:pPr algn="ctr" indent="0" marL="0">
                        <a:buNone/>
                      </a:pPr>
                      <a:r>
                        <a:rPr lang="en-US" sz="1200" b="1" dirty="0">
                          <a:solidFill>
                            <a:srgbClr val="0B0E14"/>
                          </a:solidFill>
                        </a:rPr>
                        <a:t>50% (중앙)</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b="1" dirty="0">
                          <a:solidFill>
                            <a:srgbClr val="0B0E14"/>
                          </a:solidFill>
                        </a:rPr>
                        <a:t>1.95%</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b="1" dirty="0">
                          <a:solidFill>
                            <a:srgbClr val="0B0E14"/>
                          </a:solidFill>
                        </a:rPr>
                        <a:t>46.27%</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329184">
                <a:tc>
                  <a:txBody>
                    <a:bodyPr/>
                    <a:lstStyle/>
                    <a:p>
                      <a:pPr algn="ctr" indent="0" marL="0">
                        <a:buNone/>
                      </a:pPr>
                      <a:r>
                        <a:rPr lang="en-US" sz="1200" dirty="0">
                          <a:solidFill>
                            <a:srgbClr val="0B0E14"/>
                          </a:solidFill>
                        </a:rPr>
                        <a:t>75%</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2.81%</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algn="ctr" indent="0" marL="0">
                        <a:buNone/>
                      </a:pPr>
                      <a:r>
                        <a:rPr lang="en-US" sz="1200" dirty="0">
                          <a:solidFill>
                            <a:srgbClr val="0B0E14"/>
                          </a:solidFill>
                        </a:rPr>
                        <a:t>89.66%</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bl>
          </a:graphicData>
        </a:graphic>
      </p:graphicFrame>
      <p:sp>
        <p:nvSpPr>
          <p:cNvPr id="18" name="Text 15"/>
          <p:cNvSpPr txBox="1"/>
          <p:nvPr/>
        </p:nvSpPr>
        <p:spPr>
          <a:xfrm>
            <a:off x="4846320" y="3520440"/>
            <a:ext cx="3840480" cy="1051560"/>
          </a:xfrm>
          <a:prstGeom prst="rect">
            <a:avLst/>
          </a:prstGeom>
          <a:noFill/>
          <a:ln/>
        </p:spPr>
        <p:txBody>
          <a:bodyPr wrap="square" lIns="0" tIns="0" rIns="0" bIns="0" rtlCol="0" anchor="t"/>
          <a:lstStyle/>
          <a:p>
            <a:pPr indent="0" marL="0">
              <a:buNone/>
            </a:pPr>
            <a:r>
              <a:rPr lang="en-US" sz="1100" b="1" dirty="0">
                <a:solidFill>
                  <a:schemeClr val="tx1"/>
                </a:solidFill>
              </a:rPr>
              <a:t>스케일이 20배 넘게 달라 기준을 단위별로 따로 둔다.</a:t>
            </a:r>
            <a:endParaRPr lang="en-US" sz="1100" dirty="0"/>
          </a:p>
          <a:p>
            <a:pPr indent="0" marL="0">
              <a:buNone/>
            </a:pPr>
            <a:r>
              <a:rPr lang="en-US" sz="1100" dirty="0">
                <a:solidFill>
                  <a:schemeClr val="accent6"/>
                </a:solidFill>
              </a:rPr>
              <a:t>분봉 하한을 25%ile(1.38%)이 아니라 2.5% 로 올렸다 — 1.5% 면 배율 10 을 걸어도 자산 변동이 15% 뿐이라 4분짜리 판이 밋밋하다</a:t>
            </a:r>
            <a:endParaRPr lang="en-US" sz="11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실측이 바꾼 결정 — 밸런스는 시나리오로 맞춘다</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240봉 구간을 한 봉씩 밀어 가며 전수 계산 — 청산이 한 번이라도 나는 구간의 비율</a:t>
            </a:r>
            <a:endParaRPr lang="en-US" sz="1400" dirty="0"/>
          </a:p>
        </p:txBody>
      </p:sp>
      <p:sp>
        <p:nvSpPr>
          <p:cNvPr id="4" name="Text 2"/>
          <p:cNvSpPr txBox="1"/>
          <p:nvPr/>
        </p:nvSpPr>
        <p:spPr>
          <a:xfrm>
            <a:off x="457200" y="1325880"/>
            <a:ext cx="2926080" cy="274320"/>
          </a:xfrm>
          <a:prstGeom prst="rect">
            <a:avLst/>
          </a:prstGeom>
          <a:noFill/>
          <a:ln/>
        </p:spPr>
        <p:txBody>
          <a:bodyPr wrap="square" lIns="0" tIns="0" rIns="0" bIns="0" rtlCol="0" anchor="t"/>
          <a:lstStyle/>
          <a:p>
            <a:pPr indent="0" marL="0">
              <a:buNone/>
            </a:pPr>
            <a:r>
              <a:rPr lang="en-US" sz="1300" b="1" dirty="0">
                <a:solidFill>
                  <a:schemeClr val="tx1"/>
                </a:solidFill>
              </a:rPr>
              <a:t>배율별 청산 발생 구간 비율</a:t>
            </a:r>
            <a:endParaRPr lang="en-US" sz="1300" dirty="0"/>
          </a:p>
        </p:txBody>
      </p:sp>
      <p:sp>
        <p:nvSpPr>
          <p:cNvPr id="5" name="Shape 3"/>
          <p:cNvSpPr/>
          <p:nvPr/>
        </p:nvSpPr>
        <p:spPr>
          <a:xfrm>
            <a:off x="3429000" y="1417320"/>
            <a:ext cx="128016" cy="128016"/>
          </a:xfrm>
          <a:prstGeom prst="rect">
            <a:avLst/>
          </a:prstGeom>
          <a:solidFill>
            <a:schemeClr val="accent1"/>
          </a:solidFill>
          <a:ln/>
        </p:spPr>
      </p:sp>
      <p:sp>
        <p:nvSpPr>
          <p:cNvPr id="6" name="Text 4"/>
          <p:cNvSpPr txBox="1"/>
          <p:nvPr/>
        </p:nvSpPr>
        <p:spPr>
          <a:xfrm>
            <a:off x="3611880" y="1353312"/>
            <a:ext cx="868680" cy="256032"/>
          </a:xfrm>
          <a:prstGeom prst="rect">
            <a:avLst/>
          </a:prstGeom>
          <a:noFill/>
          <a:ln/>
        </p:spPr>
        <p:txBody>
          <a:bodyPr wrap="square" lIns="0" tIns="0" rIns="0" bIns="0" rtlCol="0" anchor="ctr"/>
          <a:lstStyle/>
          <a:p>
            <a:pPr indent="0" marL="0">
              <a:buNone/>
            </a:pPr>
            <a:r>
              <a:rPr lang="en-US" sz="900" dirty="0">
                <a:solidFill>
                  <a:schemeClr val="accent6"/>
                </a:solidFill>
              </a:rPr>
              <a:t>일봉 6,878구간</a:t>
            </a:r>
            <a:endParaRPr lang="en-US" sz="900" dirty="0"/>
          </a:p>
        </p:txBody>
      </p:sp>
      <p:sp>
        <p:nvSpPr>
          <p:cNvPr id="7" name="Shape 5"/>
          <p:cNvSpPr/>
          <p:nvPr/>
        </p:nvSpPr>
        <p:spPr>
          <a:xfrm>
            <a:off x="4480560" y="1417320"/>
            <a:ext cx="128016" cy="128016"/>
          </a:xfrm>
          <a:prstGeom prst="rect">
            <a:avLst/>
          </a:prstGeom>
          <a:solidFill>
            <a:schemeClr val="accent4"/>
          </a:solidFill>
          <a:ln/>
        </p:spPr>
      </p:sp>
      <p:sp>
        <p:nvSpPr>
          <p:cNvPr id="8" name="Text 6"/>
          <p:cNvSpPr txBox="1"/>
          <p:nvPr/>
        </p:nvSpPr>
        <p:spPr>
          <a:xfrm>
            <a:off x="4663440" y="1353312"/>
            <a:ext cx="868680" cy="256032"/>
          </a:xfrm>
          <a:prstGeom prst="rect">
            <a:avLst/>
          </a:prstGeom>
          <a:noFill/>
          <a:ln/>
        </p:spPr>
        <p:txBody>
          <a:bodyPr wrap="square" lIns="0" tIns="0" rIns="0" bIns="0" rtlCol="0" anchor="ctr"/>
          <a:lstStyle/>
          <a:p>
            <a:pPr indent="0" marL="0">
              <a:buNone/>
            </a:pPr>
            <a:r>
              <a:rPr lang="en-US" sz="900" dirty="0">
                <a:solidFill>
                  <a:schemeClr val="accent6"/>
                </a:solidFill>
              </a:rPr>
              <a:t>분봉 5,922구간</a:t>
            </a:r>
            <a:endParaRPr lang="en-US" sz="900" dirty="0"/>
          </a:p>
        </p:txBody>
      </p:sp>
      <p:sp>
        <p:nvSpPr>
          <p:cNvPr id="9" name="Shape 7"/>
          <p:cNvSpPr/>
          <p:nvPr/>
        </p:nvSpPr>
        <p:spPr>
          <a:xfrm>
            <a:off x="548640" y="4069080"/>
            <a:ext cx="4846320" cy="0"/>
          </a:xfrm>
          <a:prstGeom prst="line">
            <a:avLst/>
          </a:prstGeom>
          <a:noFill/>
          <a:ln w="12700">
            <a:solidFill>
              <a:schemeClr val="accent6"/>
            </a:solidFill>
            <a:prstDash val="solid"/>
          </a:ln>
        </p:spPr>
      </p:sp>
      <p:sp>
        <p:nvSpPr>
          <p:cNvPr id="10" name="bar-×3-accent1"/>
          <p:cNvSpPr/>
          <p:nvPr/>
        </p:nvSpPr>
        <p:spPr>
          <a:xfrm>
            <a:off x="704088" y="3776947"/>
            <a:ext cx="310896" cy="292133"/>
          </a:xfrm>
          <a:prstGeom prst="rect">
            <a:avLst/>
          </a:prstGeom>
          <a:solidFill>
            <a:schemeClr val="accent1"/>
          </a:solidFill>
          <a:ln/>
        </p:spPr>
      </p:sp>
      <p:sp>
        <p:nvSpPr>
          <p:cNvPr id="11" name="Text 9"/>
          <p:cNvSpPr txBox="1"/>
          <p:nvPr/>
        </p:nvSpPr>
        <p:spPr>
          <a:xfrm>
            <a:off x="566928" y="3539203"/>
            <a:ext cx="585216" cy="219456"/>
          </a:xfrm>
          <a:prstGeom prst="rect">
            <a:avLst/>
          </a:prstGeom>
          <a:noFill/>
          <a:ln/>
        </p:spPr>
        <p:txBody>
          <a:bodyPr wrap="square" lIns="0" tIns="0" rIns="0" bIns="0" rtlCol="0" anchor="t"/>
          <a:lstStyle/>
          <a:p>
            <a:pPr algn="ctr" indent="0" marL="0">
              <a:buNone/>
            </a:pPr>
            <a:r>
              <a:rPr lang="en-US" sz="1000" b="1" dirty="0">
                <a:solidFill>
                  <a:schemeClr val="tx1"/>
                </a:solidFill>
              </a:rPr>
              <a:t>13.0%</a:t>
            </a:r>
            <a:endParaRPr lang="en-US" sz="1000" dirty="0"/>
          </a:p>
        </p:txBody>
      </p:sp>
      <p:sp>
        <p:nvSpPr>
          <p:cNvPr id="12" name="bar-×3-accent4"/>
          <p:cNvSpPr/>
          <p:nvPr/>
        </p:nvSpPr>
        <p:spPr>
          <a:xfrm>
            <a:off x="1051560" y="4050792"/>
            <a:ext cx="310896" cy="18288"/>
          </a:xfrm>
          <a:prstGeom prst="rect">
            <a:avLst/>
          </a:prstGeom>
          <a:solidFill>
            <a:schemeClr val="accent4"/>
          </a:solidFill>
          <a:ln/>
        </p:spPr>
      </p:sp>
      <p:sp>
        <p:nvSpPr>
          <p:cNvPr id="13" name="Text 11"/>
          <p:cNvSpPr txBox="1"/>
          <p:nvPr/>
        </p:nvSpPr>
        <p:spPr>
          <a:xfrm>
            <a:off x="914400" y="3813048"/>
            <a:ext cx="585216" cy="219456"/>
          </a:xfrm>
          <a:prstGeom prst="rect">
            <a:avLst/>
          </a:prstGeom>
          <a:noFill/>
          <a:ln/>
        </p:spPr>
        <p:txBody>
          <a:bodyPr wrap="square" lIns="0" tIns="0" rIns="0" bIns="0" rtlCol="0" anchor="t"/>
          <a:lstStyle/>
          <a:p>
            <a:pPr algn="ctr" indent="0" marL="0">
              <a:buNone/>
            </a:pPr>
            <a:r>
              <a:rPr lang="en-US" sz="1000" b="1" dirty="0">
                <a:solidFill>
                  <a:schemeClr val="tx1"/>
                </a:solidFill>
              </a:rPr>
              <a:t>0%</a:t>
            </a:r>
            <a:endParaRPr lang="en-US" sz="1000" dirty="0"/>
          </a:p>
        </p:txBody>
      </p:sp>
      <p:sp>
        <p:nvSpPr>
          <p:cNvPr id="14" name="Text 12"/>
          <p:cNvSpPr txBox="1"/>
          <p:nvPr/>
        </p:nvSpPr>
        <p:spPr>
          <a:xfrm>
            <a:off x="667512" y="4142232"/>
            <a:ext cx="731520" cy="237744"/>
          </a:xfrm>
          <a:prstGeom prst="rect">
            <a:avLst/>
          </a:prstGeom>
          <a:noFill/>
          <a:ln/>
        </p:spPr>
        <p:txBody>
          <a:bodyPr wrap="square" lIns="0" tIns="0" rIns="0" bIns="0" rtlCol="0" anchor="t"/>
          <a:lstStyle/>
          <a:p>
            <a:pPr algn="ctr" indent="0" marL="0">
              <a:buNone/>
            </a:pPr>
            <a:r>
              <a:rPr lang="en-US" sz="1200" b="1" dirty="0">
                <a:solidFill>
                  <a:schemeClr val="accent6"/>
                </a:solidFill>
              </a:rPr>
              <a:t>×3</a:t>
            </a:r>
            <a:endParaRPr lang="en-US" sz="1200" dirty="0"/>
          </a:p>
        </p:txBody>
      </p:sp>
      <p:sp>
        <p:nvSpPr>
          <p:cNvPr id="15" name="bar-×5-accent1"/>
          <p:cNvSpPr/>
          <p:nvPr/>
        </p:nvSpPr>
        <p:spPr>
          <a:xfrm>
            <a:off x="1673352" y="3221806"/>
            <a:ext cx="310896" cy="847274"/>
          </a:xfrm>
          <a:prstGeom prst="rect">
            <a:avLst/>
          </a:prstGeom>
          <a:solidFill>
            <a:schemeClr val="accent1"/>
          </a:solidFill>
          <a:ln/>
        </p:spPr>
      </p:sp>
      <p:sp>
        <p:nvSpPr>
          <p:cNvPr id="16" name="Text 14"/>
          <p:cNvSpPr txBox="1"/>
          <p:nvPr/>
        </p:nvSpPr>
        <p:spPr>
          <a:xfrm>
            <a:off x="1536192" y="2984062"/>
            <a:ext cx="585216" cy="219456"/>
          </a:xfrm>
          <a:prstGeom prst="rect">
            <a:avLst/>
          </a:prstGeom>
          <a:noFill/>
          <a:ln/>
        </p:spPr>
        <p:txBody>
          <a:bodyPr wrap="square" lIns="0" tIns="0" rIns="0" bIns="0" rtlCol="0" anchor="t"/>
          <a:lstStyle/>
          <a:p>
            <a:pPr algn="ctr" indent="0" marL="0">
              <a:buNone/>
            </a:pPr>
            <a:r>
              <a:rPr lang="en-US" sz="1000" b="1" dirty="0">
                <a:solidFill>
                  <a:schemeClr val="tx1"/>
                </a:solidFill>
              </a:rPr>
              <a:t>37.8%</a:t>
            </a:r>
            <a:endParaRPr lang="en-US" sz="1000" dirty="0"/>
          </a:p>
        </p:txBody>
      </p:sp>
      <p:sp>
        <p:nvSpPr>
          <p:cNvPr id="17" name="bar-×5-accent4"/>
          <p:cNvSpPr/>
          <p:nvPr/>
        </p:nvSpPr>
        <p:spPr>
          <a:xfrm>
            <a:off x="2020824" y="4050792"/>
            <a:ext cx="310896" cy="18288"/>
          </a:xfrm>
          <a:prstGeom prst="rect">
            <a:avLst/>
          </a:prstGeom>
          <a:solidFill>
            <a:schemeClr val="accent4"/>
          </a:solidFill>
          <a:ln/>
        </p:spPr>
      </p:sp>
      <p:sp>
        <p:nvSpPr>
          <p:cNvPr id="18" name="Text 16"/>
          <p:cNvSpPr txBox="1"/>
          <p:nvPr/>
        </p:nvSpPr>
        <p:spPr>
          <a:xfrm>
            <a:off x="1883664" y="3813048"/>
            <a:ext cx="585216" cy="219456"/>
          </a:xfrm>
          <a:prstGeom prst="rect">
            <a:avLst/>
          </a:prstGeom>
          <a:noFill/>
          <a:ln/>
        </p:spPr>
        <p:txBody>
          <a:bodyPr wrap="square" lIns="0" tIns="0" rIns="0" bIns="0" rtlCol="0" anchor="t"/>
          <a:lstStyle/>
          <a:p>
            <a:pPr algn="ctr" indent="0" marL="0">
              <a:buNone/>
            </a:pPr>
            <a:r>
              <a:rPr lang="en-US" sz="1000" b="1" dirty="0">
                <a:solidFill>
                  <a:schemeClr val="tx1"/>
                </a:solidFill>
              </a:rPr>
              <a:t>0%</a:t>
            </a:r>
            <a:endParaRPr lang="en-US" sz="1000" dirty="0"/>
          </a:p>
        </p:txBody>
      </p:sp>
      <p:sp>
        <p:nvSpPr>
          <p:cNvPr id="19" name="Text 17"/>
          <p:cNvSpPr txBox="1"/>
          <p:nvPr/>
        </p:nvSpPr>
        <p:spPr>
          <a:xfrm>
            <a:off x="1636776" y="4142232"/>
            <a:ext cx="731520" cy="237744"/>
          </a:xfrm>
          <a:prstGeom prst="rect">
            <a:avLst/>
          </a:prstGeom>
          <a:noFill/>
          <a:ln/>
        </p:spPr>
        <p:txBody>
          <a:bodyPr wrap="square" lIns="0" tIns="0" rIns="0" bIns="0" rtlCol="0" anchor="t"/>
          <a:lstStyle/>
          <a:p>
            <a:pPr algn="ctr" indent="0" marL="0">
              <a:buNone/>
            </a:pPr>
            <a:r>
              <a:rPr lang="en-US" sz="1200" b="1" dirty="0">
                <a:solidFill>
                  <a:schemeClr val="accent6"/>
                </a:solidFill>
              </a:rPr>
              <a:t>×5</a:t>
            </a:r>
            <a:endParaRPr lang="en-US" sz="1200" dirty="0"/>
          </a:p>
        </p:txBody>
      </p:sp>
      <p:sp>
        <p:nvSpPr>
          <p:cNvPr id="20" name="bar-×10-accent1"/>
          <p:cNvSpPr/>
          <p:nvPr/>
        </p:nvSpPr>
        <p:spPr>
          <a:xfrm>
            <a:off x="2642616" y="2720879"/>
            <a:ext cx="310896" cy="1348201"/>
          </a:xfrm>
          <a:prstGeom prst="rect">
            <a:avLst/>
          </a:prstGeom>
          <a:solidFill>
            <a:schemeClr val="accent1"/>
          </a:solidFill>
          <a:ln/>
        </p:spPr>
      </p:sp>
      <p:sp>
        <p:nvSpPr>
          <p:cNvPr id="21" name="Text 19"/>
          <p:cNvSpPr txBox="1"/>
          <p:nvPr/>
        </p:nvSpPr>
        <p:spPr>
          <a:xfrm>
            <a:off x="2505456" y="2483135"/>
            <a:ext cx="585216" cy="219456"/>
          </a:xfrm>
          <a:prstGeom prst="rect">
            <a:avLst/>
          </a:prstGeom>
          <a:noFill/>
          <a:ln/>
        </p:spPr>
        <p:txBody>
          <a:bodyPr wrap="square" lIns="0" tIns="0" rIns="0" bIns="0" rtlCol="0" anchor="t"/>
          <a:lstStyle/>
          <a:p>
            <a:pPr algn="ctr" indent="0" marL="0">
              <a:buNone/>
            </a:pPr>
            <a:r>
              <a:rPr lang="en-US" sz="1000" b="1" dirty="0">
                <a:solidFill>
                  <a:schemeClr val="tx1"/>
                </a:solidFill>
              </a:rPr>
              <a:t>60.2%</a:t>
            </a:r>
            <a:endParaRPr lang="en-US" sz="1000" dirty="0"/>
          </a:p>
        </p:txBody>
      </p:sp>
      <p:sp>
        <p:nvSpPr>
          <p:cNvPr id="22" name="bar-×10-accent4"/>
          <p:cNvSpPr/>
          <p:nvPr/>
        </p:nvSpPr>
        <p:spPr>
          <a:xfrm>
            <a:off x="2990088" y="4050792"/>
            <a:ext cx="310896" cy="18288"/>
          </a:xfrm>
          <a:prstGeom prst="rect">
            <a:avLst/>
          </a:prstGeom>
          <a:solidFill>
            <a:schemeClr val="accent4"/>
          </a:solidFill>
          <a:ln/>
        </p:spPr>
      </p:sp>
      <p:sp>
        <p:nvSpPr>
          <p:cNvPr id="23" name="Text 21"/>
          <p:cNvSpPr txBox="1"/>
          <p:nvPr/>
        </p:nvSpPr>
        <p:spPr>
          <a:xfrm>
            <a:off x="2852928" y="3813048"/>
            <a:ext cx="585216" cy="219456"/>
          </a:xfrm>
          <a:prstGeom prst="rect">
            <a:avLst/>
          </a:prstGeom>
          <a:noFill/>
          <a:ln/>
        </p:spPr>
        <p:txBody>
          <a:bodyPr wrap="square" lIns="0" tIns="0" rIns="0" bIns="0" rtlCol="0" anchor="t"/>
          <a:lstStyle/>
          <a:p>
            <a:pPr algn="ctr" indent="0" marL="0">
              <a:buNone/>
            </a:pPr>
            <a:r>
              <a:rPr lang="en-US" sz="1000" b="1" dirty="0">
                <a:solidFill>
                  <a:schemeClr val="tx1"/>
                </a:solidFill>
              </a:rPr>
              <a:t>0%</a:t>
            </a:r>
            <a:endParaRPr lang="en-US" sz="1000" dirty="0"/>
          </a:p>
        </p:txBody>
      </p:sp>
      <p:sp>
        <p:nvSpPr>
          <p:cNvPr id="24" name="Text 22"/>
          <p:cNvSpPr txBox="1"/>
          <p:nvPr/>
        </p:nvSpPr>
        <p:spPr>
          <a:xfrm>
            <a:off x="2606040" y="4142232"/>
            <a:ext cx="731520" cy="237744"/>
          </a:xfrm>
          <a:prstGeom prst="rect">
            <a:avLst/>
          </a:prstGeom>
          <a:noFill/>
          <a:ln/>
        </p:spPr>
        <p:txBody>
          <a:bodyPr wrap="square" lIns="0" tIns="0" rIns="0" bIns="0" rtlCol="0" anchor="t"/>
          <a:lstStyle/>
          <a:p>
            <a:pPr algn="ctr" indent="0" marL="0">
              <a:buNone/>
            </a:pPr>
            <a:r>
              <a:rPr lang="en-US" sz="1200" b="1" dirty="0">
                <a:solidFill>
                  <a:schemeClr val="accent6"/>
                </a:solidFill>
              </a:rPr>
              <a:t>×10</a:t>
            </a:r>
            <a:endParaRPr lang="en-US" sz="1200" dirty="0"/>
          </a:p>
        </p:txBody>
      </p:sp>
      <p:sp>
        <p:nvSpPr>
          <p:cNvPr id="25" name="bar-×20-accent1"/>
          <p:cNvSpPr/>
          <p:nvPr/>
        </p:nvSpPr>
        <p:spPr>
          <a:xfrm>
            <a:off x="3611880" y="2426731"/>
            <a:ext cx="310896" cy="1642349"/>
          </a:xfrm>
          <a:prstGeom prst="rect">
            <a:avLst/>
          </a:prstGeom>
          <a:solidFill>
            <a:schemeClr val="accent1"/>
          </a:solidFill>
          <a:ln/>
        </p:spPr>
      </p:sp>
      <p:sp>
        <p:nvSpPr>
          <p:cNvPr id="26" name="Text 24"/>
          <p:cNvSpPr txBox="1"/>
          <p:nvPr/>
        </p:nvSpPr>
        <p:spPr>
          <a:xfrm>
            <a:off x="3474720" y="2188987"/>
            <a:ext cx="585216" cy="219456"/>
          </a:xfrm>
          <a:prstGeom prst="rect">
            <a:avLst/>
          </a:prstGeom>
          <a:noFill/>
          <a:ln/>
        </p:spPr>
        <p:txBody>
          <a:bodyPr wrap="square" lIns="0" tIns="0" rIns="0" bIns="0" rtlCol="0" anchor="t"/>
          <a:lstStyle/>
          <a:p>
            <a:pPr algn="ctr" indent="0" marL="0">
              <a:buNone/>
            </a:pPr>
            <a:r>
              <a:rPr lang="en-US" sz="1000" b="1" dirty="0">
                <a:solidFill>
                  <a:schemeClr val="tx1"/>
                </a:solidFill>
              </a:rPr>
              <a:t>73.3%</a:t>
            </a:r>
            <a:endParaRPr lang="en-US" sz="1000" dirty="0"/>
          </a:p>
        </p:txBody>
      </p:sp>
      <p:sp>
        <p:nvSpPr>
          <p:cNvPr id="27" name="bar-×20-accent4"/>
          <p:cNvSpPr/>
          <p:nvPr/>
        </p:nvSpPr>
        <p:spPr>
          <a:xfrm>
            <a:off x="3959352" y="4050792"/>
            <a:ext cx="310896" cy="18288"/>
          </a:xfrm>
          <a:prstGeom prst="rect">
            <a:avLst/>
          </a:prstGeom>
          <a:solidFill>
            <a:schemeClr val="accent4"/>
          </a:solidFill>
          <a:ln/>
        </p:spPr>
      </p:sp>
      <p:sp>
        <p:nvSpPr>
          <p:cNvPr id="28" name="Text 26"/>
          <p:cNvSpPr txBox="1"/>
          <p:nvPr/>
        </p:nvSpPr>
        <p:spPr>
          <a:xfrm>
            <a:off x="3822192" y="3813048"/>
            <a:ext cx="585216" cy="219456"/>
          </a:xfrm>
          <a:prstGeom prst="rect">
            <a:avLst/>
          </a:prstGeom>
          <a:noFill/>
          <a:ln/>
        </p:spPr>
        <p:txBody>
          <a:bodyPr wrap="square" lIns="0" tIns="0" rIns="0" bIns="0" rtlCol="0" anchor="t"/>
          <a:lstStyle/>
          <a:p>
            <a:pPr algn="ctr" indent="0" marL="0">
              <a:buNone/>
            </a:pPr>
            <a:r>
              <a:rPr lang="en-US" sz="1000" b="1" dirty="0">
                <a:solidFill>
                  <a:schemeClr val="tx1"/>
                </a:solidFill>
              </a:rPr>
              <a:t>0%</a:t>
            </a:r>
            <a:endParaRPr lang="en-US" sz="1000" dirty="0"/>
          </a:p>
        </p:txBody>
      </p:sp>
      <p:sp>
        <p:nvSpPr>
          <p:cNvPr id="29" name="Text 27"/>
          <p:cNvSpPr txBox="1"/>
          <p:nvPr/>
        </p:nvSpPr>
        <p:spPr>
          <a:xfrm>
            <a:off x="3575304" y="4142232"/>
            <a:ext cx="731520" cy="237744"/>
          </a:xfrm>
          <a:prstGeom prst="rect">
            <a:avLst/>
          </a:prstGeom>
          <a:noFill/>
          <a:ln/>
        </p:spPr>
        <p:txBody>
          <a:bodyPr wrap="square" lIns="0" tIns="0" rIns="0" bIns="0" rtlCol="0" anchor="t"/>
          <a:lstStyle/>
          <a:p>
            <a:pPr algn="ctr" indent="0" marL="0">
              <a:buNone/>
            </a:pPr>
            <a:r>
              <a:rPr lang="en-US" sz="1200" b="1" dirty="0">
                <a:solidFill>
                  <a:schemeClr val="accent6"/>
                </a:solidFill>
              </a:rPr>
              <a:t>×20</a:t>
            </a:r>
            <a:endParaRPr lang="en-US" sz="1200" dirty="0"/>
          </a:p>
        </p:txBody>
      </p:sp>
      <p:sp>
        <p:nvSpPr>
          <p:cNvPr id="30" name="bar-×30-accent1"/>
          <p:cNvSpPr/>
          <p:nvPr/>
        </p:nvSpPr>
        <p:spPr>
          <a:xfrm>
            <a:off x="4581144" y="2283801"/>
            <a:ext cx="310896" cy="1785279"/>
          </a:xfrm>
          <a:prstGeom prst="rect">
            <a:avLst/>
          </a:prstGeom>
          <a:solidFill>
            <a:schemeClr val="accent1"/>
          </a:solidFill>
          <a:ln/>
        </p:spPr>
      </p:sp>
      <p:sp>
        <p:nvSpPr>
          <p:cNvPr id="31" name="Text 29"/>
          <p:cNvSpPr txBox="1"/>
          <p:nvPr/>
        </p:nvSpPr>
        <p:spPr>
          <a:xfrm>
            <a:off x="4443984" y="2046057"/>
            <a:ext cx="585216" cy="219456"/>
          </a:xfrm>
          <a:prstGeom prst="rect">
            <a:avLst/>
          </a:prstGeom>
          <a:noFill/>
          <a:ln/>
        </p:spPr>
        <p:txBody>
          <a:bodyPr wrap="square" lIns="0" tIns="0" rIns="0" bIns="0" rtlCol="0" anchor="t"/>
          <a:lstStyle/>
          <a:p>
            <a:pPr algn="ctr" indent="0" marL="0">
              <a:buNone/>
            </a:pPr>
            <a:r>
              <a:rPr lang="en-US" sz="1000" b="1" dirty="0">
                <a:solidFill>
                  <a:schemeClr val="tx1"/>
                </a:solidFill>
              </a:rPr>
              <a:t>79.7%</a:t>
            </a:r>
            <a:endParaRPr lang="en-US" sz="1000" dirty="0"/>
          </a:p>
        </p:txBody>
      </p:sp>
      <p:sp>
        <p:nvSpPr>
          <p:cNvPr id="32" name="bar-×30-accent4"/>
          <p:cNvSpPr/>
          <p:nvPr/>
        </p:nvSpPr>
        <p:spPr>
          <a:xfrm>
            <a:off x="4928616" y="3947209"/>
            <a:ext cx="310896" cy="121871"/>
          </a:xfrm>
          <a:prstGeom prst="rect">
            <a:avLst/>
          </a:prstGeom>
          <a:solidFill>
            <a:schemeClr val="accent4"/>
          </a:solidFill>
          <a:ln/>
        </p:spPr>
      </p:sp>
      <p:sp>
        <p:nvSpPr>
          <p:cNvPr id="33" name="Text 31"/>
          <p:cNvSpPr txBox="1"/>
          <p:nvPr/>
        </p:nvSpPr>
        <p:spPr>
          <a:xfrm>
            <a:off x="4791456" y="3709465"/>
            <a:ext cx="585216" cy="219456"/>
          </a:xfrm>
          <a:prstGeom prst="rect">
            <a:avLst/>
          </a:prstGeom>
          <a:noFill/>
          <a:ln/>
        </p:spPr>
        <p:txBody>
          <a:bodyPr wrap="square" lIns="0" tIns="0" rIns="0" bIns="0" rtlCol="0" anchor="t"/>
          <a:lstStyle/>
          <a:p>
            <a:pPr algn="ctr" indent="0" marL="0">
              <a:buNone/>
            </a:pPr>
            <a:r>
              <a:rPr lang="en-US" sz="1000" b="1" dirty="0">
                <a:solidFill>
                  <a:schemeClr val="tx1"/>
                </a:solidFill>
              </a:rPr>
              <a:t>5.4%</a:t>
            </a:r>
            <a:endParaRPr lang="en-US" sz="1000" dirty="0"/>
          </a:p>
        </p:txBody>
      </p:sp>
      <p:sp>
        <p:nvSpPr>
          <p:cNvPr id="34" name="Text 32"/>
          <p:cNvSpPr txBox="1"/>
          <p:nvPr/>
        </p:nvSpPr>
        <p:spPr>
          <a:xfrm>
            <a:off x="4544568" y="4142232"/>
            <a:ext cx="731520" cy="237744"/>
          </a:xfrm>
          <a:prstGeom prst="rect">
            <a:avLst/>
          </a:prstGeom>
          <a:noFill/>
          <a:ln/>
        </p:spPr>
        <p:txBody>
          <a:bodyPr wrap="square" lIns="0" tIns="0" rIns="0" bIns="0" rtlCol="0" anchor="t"/>
          <a:lstStyle/>
          <a:p>
            <a:pPr algn="ctr" indent="0" marL="0">
              <a:buNone/>
            </a:pPr>
            <a:r>
              <a:rPr lang="en-US" sz="1200" b="1" dirty="0">
                <a:solidFill>
                  <a:schemeClr val="accent6"/>
                </a:solidFill>
              </a:rPr>
              <a:t>×30</a:t>
            </a:r>
            <a:endParaRPr lang="en-US" sz="1200" dirty="0"/>
          </a:p>
        </p:txBody>
      </p:sp>
      <p:sp>
        <p:nvSpPr>
          <p:cNvPr id="35" name="Text 33"/>
          <p:cNvSpPr txBox="1"/>
          <p:nvPr/>
        </p:nvSpPr>
        <p:spPr>
          <a:xfrm>
            <a:off x="457200" y="4389120"/>
            <a:ext cx="4937760" cy="219456"/>
          </a:xfrm>
          <a:prstGeom prst="rect">
            <a:avLst/>
          </a:prstGeom>
          <a:noFill/>
          <a:ln/>
        </p:spPr>
        <p:txBody>
          <a:bodyPr wrap="square" lIns="0" tIns="0" rIns="0" bIns="0" rtlCol="0" anchor="t"/>
          <a:lstStyle/>
          <a:p>
            <a:pPr indent="0" marL="0">
              <a:buNone/>
            </a:pPr>
            <a:r>
              <a:rPr lang="en-US" sz="900" dirty="0">
                <a:solidFill>
                  <a:schemeClr val="accent6"/>
                </a:solidFill>
              </a:rPr>
              <a:t>청산이 한 번이라도 나는 240봉 구간의 비율 (2026-09-14 실측)</a:t>
            </a:r>
            <a:endParaRPr lang="en-US" sz="900" dirty="0"/>
          </a:p>
        </p:txBody>
      </p:sp>
      <p:sp>
        <p:nvSpPr>
          <p:cNvPr id="36" name="Shape 34"/>
          <p:cNvSpPr/>
          <p:nvPr/>
        </p:nvSpPr>
        <p:spPr>
          <a:xfrm>
            <a:off x="5669280" y="1371600"/>
            <a:ext cx="329184" cy="329184"/>
          </a:xfrm>
          <a:prstGeom prst="ellipse">
            <a:avLst/>
          </a:prstGeom>
          <a:solidFill>
            <a:schemeClr val="accent1"/>
          </a:solidFill>
          <a:ln/>
        </p:spPr>
      </p:sp>
      <p:sp>
        <p:nvSpPr>
          <p:cNvPr id="37" name="Text 35"/>
          <p:cNvSpPr txBox="1"/>
          <p:nvPr/>
        </p:nvSpPr>
        <p:spPr>
          <a:xfrm>
            <a:off x="5669280" y="1371600"/>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38" name="Text 36"/>
          <p:cNvSpPr txBox="1"/>
          <p:nvPr/>
        </p:nvSpPr>
        <p:spPr>
          <a:xfrm>
            <a:off x="6126480" y="1362456"/>
            <a:ext cx="2560320" cy="292608"/>
          </a:xfrm>
          <a:prstGeom prst="rect">
            <a:avLst/>
          </a:prstGeom>
          <a:noFill/>
          <a:ln/>
        </p:spPr>
        <p:txBody>
          <a:bodyPr wrap="square" lIns="0" tIns="0" rIns="0" bIns="0" rtlCol="0" anchor="t"/>
          <a:lstStyle/>
          <a:p>
            <a:pPr indent="0" marL="0">
              <a:buNone/>
            </a:pPr>
            <a:r>
              <a:rPr lang="en-US" sz="1400" b="1" dirty="0">
                <a:solidFill>
                  <a:schemeClr val="tx1"/>
                </a:solidFill>
              </a:rPr>
              <a:t>분봉은 ×20 까지 청산 0%</a:t>
            </a:r>
            <a:endParaRPr lang="en-US" sz="1400" dirty="0"/>
          </a:p>
        </p:txBody>
      </p:sp>
      <p:sp>
        <p:nvSpPr>
          <p:cNvPr id="39" name="Text 37"/>
          <p:cNvSpPr txBox="1"/>
          <p:nvPr/>
        </p:nvSpPr>
        <p:spPr>
          <a:xfrm>
            <a:off x="6126480" y="1673352"/>
            <a:ext cx="2560320" cy="685800"/>
          </a:xfrm>
          <a:prstGeom prst="rect">
            <a:avLst/>
          </a:prstGeom>
          <a:noFill/>
          <a:ln/>
        </p:spPr>
        <p:txBody>
          <a:bodyPr wrap="square" lIns="0" tIns="0" rIns="0" bIns="0" rtlCol="0" anchor="t"/>
          <a:lstStyle/>
          <a:p>
            <a:pPr indent="0" marL="0">
              <a:buNone/>
            </a:pPr>
            <a:r>
              <a:rPr lang="en-US" sz="1100" dirty="0">
                <a:solidFill>
                  <a:schemeClr val="accent6"/>
                </a:solidFill>
              </a:rPr>
              <a:t>하루 시가 → 저가 −10% 이하는 169일에 한 번. 배율을 올려도 「망할 위험」이 생기지 않는다</a:t>
            </a:r>
            <a:endParaRPr lang="en-US" sz="1100" dirty="0"/>
          </a:p>
        </p:txBody>
      </p:sp>
      <p:sp>
        <p:nvSpPr>
          <p:cNvPr id="40" name="Shape 38"/>
          <p:cNvSpPr/>
          <p:nvPr/>
        </p:nvSpPr>
        <p:spPr>
          <a:xfrm>
            <a:off x="5669280" y="2450592"/>
            <a:ext cx="329184" cy="329184"/>
          </a:xfrm>
          <a:prstGeom prst="ellipse">
            <a:avLst/>
          </a:prstGeom>
          <a:solidFill>
            <a:schemeClr val="accent1"/>
          </a:solidFill>
          <a:ln/>
        </p:spPr>
      </p:sp>
      <p:sp>
        <p:nvSpPr>
          <p:cNvPr id="41" name="Text 39"/>
          <p:cNvSpPr txBox="1"/>
          <p:nvPr/>
        </p:nvSpPr>
        <p:spPr>
          <a:xfrm>
            <a:off x="5669280" y="245059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42" name="Text 40"/>
          <p:cNvSpPr txBox="1"/>
          <p:nvPr/>
        </p:nvSpPr>
        <p:spPr>
          <a:xfrm>
            <a:off x="6126480" y="2441448"/>
            <a:ext cx="2560320" cy="292608"/>
          </a:xfrm>
          <a:prstGeom prst="rect">
            <a:avLst/>
          </a:prstGeom>
          <a:noFill/>
          <a:ln/>
        </p:spPr>
        <p:txBody>
          <a:bodyPr wrap="square" lIns="0" tIns="0" rIns="0" bIns="0" rtlCol="0" anchor="t"/>
          <a:lstStyle/>
          <a:p>
            <a:pPr indent="0" marL="0">
              <a:buNone/>
            </a:pPr>
            <a:r>
              <a:rPr lang="en-US" sz="1400" b="1" dirty="0">
                <a:solidFill>
                  <a:schemeClr val="tx1"/>
                </a:solidFill>
              </a:rPr>
              <a:t>종목 차이가 배율 차이보다 크다</a:t>
            </a:r>
            <a:endParaRPr lang="en-US" sz="1400" dirty="0"/>
          </a:p>
        </p:txBody>
      </p:sp>
      <p:sp>
        <p:nvSpPr>
          <p:cNvPr id="43" name="Text 41"/>
          <p:cNvSpPr txBox="1"/>
          <p:nvPr/>
        </p:nvSpPr>
        <p:spPr>
          <a:xfrm>
            <a:off x="6126480" y="2752344"/>
            <a:ext cx="2560320" cy="685800"/>
          </a:xfrm>
          <a:prstGeom prst="rect">
            <a:avLst/>
          </a:prstGeom>
          <a:noFill/>
          <a:ln/>
        </p:spPr>
        <p:txBody>
          <a:bodyPr wrap="square" lIns="0" tIns="0" rIns="0" bIns="0" rtlCol="0" anchor="t"/>
          <a:lstStyle/>
          <a:p>
            <a:pPr indent="0" marL="0">
              <a:buNone/>
            </a:pPr>
            <a:r>
              <a:rPr lang="en-US" sz="1100" dirty="0">
                <a:solidFill>
                  <a:schemeClr val="accent6"/>
                </a:solidFill>
              </a:rPr>
              <a:t>−5% 기준 에코프로비엠 11.89% vs 삼성전자 1.60% — 7배</a:t>
            </a:r>
            <a:endParaRPr lang="en-US" sz="1100" dirty="0"/>
          </a:p>
        </p:txBody>
      </p:sp>
      <p:sp>
        <p:nvSpPr>
          <p:cNvPr id="44" name="Shape 42"/>
          <p:cNvSpPr/>
          <p:nvPr/>
        </p:nvSpPr>
        <p:spPr>
          <a:xfrm>
            <a:off x="5669280" y="3529584"/>
            <a:ext cx="329184" cy="329184"/>
          </a:xfrm>
          <a:prstGeom prst="ellipse">
            <a:avLst/>
          </a:prstGeom>
          <a:solidFill>
            <a:schemeClr val="accent1"/>
          </a:solidFill>
          <a:ln/>
        </p:spPr>
      </p:sp>
      <p:sp>
        <p:nvSpPr>
          <p:cNvPr id="45" name="Text 43"/>
          <p:cNvSpPr txBox="1"/>
          <p:nvPr/>
        </p:nvSpPr>
        <p:spPr>
          <a:xfrm>
            <a:off x="5669280" y="3529584"/>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46" name="Text 44"/>
          <p:cNvSpPr txBox="1"/>
          <p:nvPr/>
        </p:nvSpPr>
        <p:spPr>
          <a:xfrm>
            <a:off x="6126480" y="3520440"/>
            <a:ext cx="2560320" cy="292608"/>
          </a:xfrm>
          <a:prstGeom prst="rect">
            <a:avLst/>
          </a:prstGeom>
          <a:noFill/>
          <a:ln/>
        </p:spPr>
        <p:txBody>
          <a:bodyPr wrap="square" lIns="0" tIns="0" rIns="0" bIns="0" rtlCol="0" anchor="t"/>
          <a:lstStyle/>
          <a:p>
            <a:pPr indent="0" marL="0">
              <a:buNone/>
            </a:pPr>
            <a:r>
              <a:rPr lang="en-US" sz="1400" b="1" dirty="0">
                <a:solidFill>
                  <a:schemeClr val="tx1"/>
                </a:solidFill>
              </a:rPr>
              <a:t>그래서 시나리오를 고른다</a:t>
            </a:r>
            <a:endParaRPr lang="en-US" sz="1400" dirty="0"/>
          </a:p>
        </p:txBody>
      </p:sp>
      <p:sp>
        <p:nvSpPr>
          <p:cNvPr id="47" name="Text 45"/>
          <p:cNvSpPr txBox="1"/>
          <p:nvPr/>
        </p:nvSpPr>
        <p:spPr>
          <a:xfrm>
            <a:off x="6126480" y="3831336"/>
            <a:ext cx="2560320" cy="685800"/>
          </a:xfrm>
          <a:prstGeom prst="rect">
            <a:avLst/>
          </a:prstGeom>
          <a:noFill/>
          <a:ln/>
        </p:spPr>
        <p:txBody>
          <a:bodyPr wrap="square" lIns="0" tIns="0" rIns="0" bIns="0" rtlCol="0" anchor="t"/>
          <a:lstStyle/>
          <a:p>
            <a:pPr indent="0" marL="0">
              <a:buNone/>
            </a:pPr>
            <a:r>
              <a:rPr lang="en-US" sz="1100" dirty="0">
                <a:solidFill>
                  <a:schemeClr val="accent6"/>
                </a:solidFill>
              </a:rPr>
              <a:t>평범한 날 대신 변동이 큰 구간을 고른다 → 적격성 검사의 이동폭 하한</a:t>
            </a:r>
            <a:endParaRPr lang="en-US" sz="1100" dirty="0"/>
          </a:p>
        </p:txBody>
      </p:sp>
      <p:sp>
        <p:nvSpPr>
          <p:cNvPr id="48" name="Text 46"/>
          <p:cNvSpPr txBox="1"/>
          <p:nvPr/>
        </p:nvSpPr>
        <p:spPr>
          <a:xfrm>
            <a:off x="5669280" y="4315968"/>
            <a:ext cx="3017520" cy="274320"/>
          </a:xfrm>
          <a:prstGeom prst="rect">
            <a:avLst/>
          </a:prstGeom>
          <a:noFill/>
          <a:ln/>
        </p:spPr>
        <p:txBody>
          <a:bodyPr wrap="square" lIns="0" tIns="0" rIns="0" bIns="0" rtlCol="0" anchor="t"/>
          <a:lstStyle/>
          <a:p>
            <a:pPr indent="0" marL="0">
              <a:buNone/>
            </a:pPr>
            <a:r>
              <a:rPr lang="en-US" sz="1000" i="1" dirty="0">
                <a:solidFill>
                  <a:schemeClr val="accent1"/>
                </a:solidFill>
              </a:rPr>
              <a:t>발표 3 예고 — 분봉 모드는 결국 동결됩니다. 이 그래프가 이유입니다</a:t>
            </a:r>
            <a:endParaRPr lang="en-US" sz="10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5486400" cy="320040"/>
          </a:xfrm>
          <a:prstGeom prst="rect">
            <a:avLst/>
          </a:prstGeom>
          <a:noFill/>
          <a:ln/>
        </p:spPr>
        <p:txBody>
          <a:bodyPr wrap="square" lIns="0" tIns="0" rIns="0" bIns="0" rtlCol="0"/>
          <a:lstStyle/>
          <a:p>
            <a:pPr algn="l" indent="0" marL="0">
              <a:buNone/>
            </a:pPr>
            <a:r>
              <a:rPr lang="en-US" sz="1400" b="1" dirty="0">
                <a:solidFill>
                  <a:schemeClr val="accent1"/>
                </a:solidFill>
              </a:rPr>
              <a:t>정리</a:t>
            </a:r>
            <a:endParaRPr lang="en-US" sz="1400" dirty="0"/>
          </a:p>
        </p:txBody>
      </p:sp>
      <p:sp>
        <p:nvSpPr>
          <p:cNvPr id="3" name="Text 0"/>
          <p:cNvSpPr/>
          <p:nvPr>
            <p:ph idx="101" type="title" hasCustomPrompt="1"/>
          </p:nvPr>
        </p:nvSpPr>
        <p:spPr>
          <a:xfrm>
            <a:off x="457200" y="749808"/>
            <a:ext cx="5486400" cy="685800"/>
          </a:xfrm>
          <a:prstGeom prst="rect">
            <a:avLst/>
          </a:prstGeom>
          <a:noFill/>
          <a:ln/>
        </p:spPr>
        <p:txBody>
          <a:bodyPr wrap="square" lIns="0" tIns="0" rIns="0" bIns="0" rtlCol="0" anchor="t"/>
          <a:lstStyle/>
          <a:p>
            <a:pPr algn="l" indent="0" marL="0">
              <a:buNone/>
            </a:pPr>
            <a:r>
              <a:rPr lang="en-US" sz="3200" b="1" dirty="0">
                <a:solidFill>
                  <a:schemeClr val="bg1"/>
                </a:solidFill>
              </a:rPr>
              <a:t>데이터가 게임이 되기까지</a:t>
            </a:r>
            <a:endParaRPr lang="en-US" sz="3200" dirty="0"/>
          </a:p>
        </p:txBody>
      </p:sp>
      <p:sp>
        <p:nvSpPr>
          <p:cNvPr id="4" name="Shape 2"/>
          <p:cNvSpPr/>
          <p:nvPr/>
        </p:nvSpPr>
        <p:spPr>
          <a:xfrm>
            <a:off x="457200" y="1783080"/>
            <a:ext cx="411480" cy="411480"/>
          </a:xfrm>
          <a:prstGeom prst="ellipse">
            <a:avLst/>
          </a:prstGeom>
          <a:solidFill>
            <a:schemeClr val="accent1"/>
          </a:solidFill>
          <a:ln/>
        </p:spPr>
      </p:sp>
      <p:sp>
        <p:nvSpPr>
          <p:cNvPr id="5" name="Text 3"/>
          <p:cNvSpPr txBox="1"/>
          <p:nvPr/>
        </p:nvSpPr>
        <p:spPr>
          <a:xfrm>
            <a:off x="457200" y="17830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051560" y="1746504"/>
            <a:ext cx="4846320" cy="310896"/>
          </a:xfrm>
          <a:prstGeom prst="rect">
            <a:avLst/>
          </a:prstGeom>
          <a:noFill/>
          <a:ln/>
        </p:spPr>
        <p:txBody>
          <a:bodyPr wrap="square" lIns="0" tIns="0" rIns="0" bIns="0" rtlCol="0" anchor="t"/>
          <a:lstStyle/>
          <a:p>
            <a:pPr indent="0" marL="0">
              <a:buNone/>
            </a:pPr>
            <a:r>
              <a:rPr lang="en-US" sz="1800" b="1" dirty="0">
                <a:solidFill>
                  <a:schemeClr val="bg1"/>
                </a:solidFill>
              </a:rPr>
              <a:t>규칙을 먼저 정했다</a:t>
            </a:r>
            <a:endParaRPr lang="en-US" sz="1800" dirty="0"/>
          </a:p>
        </p:txBody>
      </p:sp>
      <p:sp>
        <p:nvSpPr>
          <p:cNvPr id="7" name="Text 5"/>
          <p:cNvSpPr txBox="1"/>
          <p:nvPr/>
        </p:nvSpPr>
        <p:spPr>
          <a:xfrm>
            <a:off x="1051560" y="2084832"/>
            <a:ext cx="4846320" cy="274320"/>
          </a:xfrm>
          <a:prstGeom prst="rect">
            <a:avLst/>
          </a:prstGeom>
          <a:noFill/>
          <a:ln/>
        </p:spPr>
        <p:txBody>
          <a:bodyPr wrap="square" lIns="0" tIns="0" rIns="0" bIns="0" rtlCol="0" anchor="t"/>
          <a:lstStyle/>
          <a:p>
            <a:pPr indent="0" marL="0">
              <a:buNone/>
            </a:pPr>
            <a:r>
              <a:rPr lang="en-US" sz="1200" dirty="0">
                <a:solidFill>
                  <a:schemeClr val="bg2"/>
                </a:solidFill>
              </a:rPr>
              <a:t>실계좌 보호 · 게임 중 I/O 금지 · 상태는 메모리에</a:t>
            </a:r>
            <a:endParaRPr lang="en-US" sz="1200" dirty="0"/>
          </a:p>
        </p:txBody>
      </p:sp>
      <p:sp>
        <p:nvSpPr>
          <p:cNvPr id="8" name="Shape 6"/>
          <p:cNvSpPr/>
          <p:nvPr/>
        </p:nvSpPr>
        <p:spPr>
          <a:xfrm>
            <a:off x="457200" y="2651760"/>
            <a:ext cx="411480" cy="411480"/>
          </a:xfrm>
          <a:prstGeom prst="ellipse">
            <a:avLst/>
          </a:prstGeom>
          <a:solidFill>
            <a:schemeClr val="accent1"/>
          </a:solidFill>
          <a:ln/>
        </p:spPr>
      </p:sp>
      <p:sp>
        <p:nvSpPr>
          <p:cNvPr id="9" name="Text 7"/>
          <p:cNvSpPr txBox="1"/>
          <p:nvPr/>
        </p:nvSpPr>
        <p:spPr>
          <a:xfrm>
            <a:off x="457200" y="2651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1051560" y="2615184"/>
            <a:ext cx="4846320" cy="310896"/>
          </a:xfrm>
          <a:prstGeom prst="rect">
            <a:avLst/>
          </a:prstGeom>
          <a:noFill/>
          <a:ln/>
        </p:spPr>
        <p:txBody>
          <a:bodyPr wrap="square" lIns="0" tIns="0" rIns="0" bIns="0" rtlCol="0" anchor="t"/>
          <a:lstStyle/>
          <a:p>
            <a:pPr indent="0" marL="0">
              <a:buNone/>
            </a:pPr>
            <a:r>
              <a:rPr lang="en-US" sz="1800" b="1" dirty="0">
                <a:solidFill>
                  <a:schemeClr val="bg1"/>
                </a:solidFill>
              </a:rPr>
              <a:t>문서 대신 실측으로 정했다</a:t>
            </a:r>
            <a:endParaRPr lang="en-US" sz="1800" dirty="0"/>
          </a:p>
        </p:txBody>
      </p:sp>
      <p:sp>
        <p:nvSpPr>
          <p:cNvPr id="11" name="Text 9"/>
          <p:cNvSpPr txBox="1"/>
          <p:nvPr/>
        </p:nvSpPr>
        <p:spPr>
          <a:xfrm>
            <a:off x="1051560" y="2953512"/>
            <a:ext cx="4846320" cy="274320"/>
          </a:xfrm>
          <a:prstGeom prst="rect">
            <a:avLst/>
          </a:prstGeom>
          <a:noFill/>
          <a:ln/>
        </p:spPr>
        <p:txBody>
          <a:bodyPr wrap="square" lIns="0" tIns="0" rIns="0" bIns="0" rtlCol="0" anchor="t"/>
          <a:lstStyle/>
          <a:p>
            <a:pPr indent="0" marL="0">
              <a:buNone/>
            </a:pPr>
            <a:r>
              <a:rPr lang="en-US" sz="1200" dirty="0">
                <a:solidFill>
                  <a:schemeClr val="bg2"/>
                </a:solidFill>
              </a:rPr>
              <a:t>조회 범위, 페이지, 속도 제한, 거래량 0 봉, 배율별 청산</a:t>
            </a:r>
            <a:endParaRPr lang="en-US" sz="1200" dirty="0"/>
          </a:p>
        </p:txBody>
      </p:sp>
      <p:sp>
        <p:nvSpPr>
          <p:cNvPr id="12" name="Shape 10"/>
          <p:cNvSpPr/>
          <p:nvPr/>
        </p:nvSpPr>
        <p:spPr>
          <a:xfrm>
            <a:off x="457200" y="3520440"/>
            <a:ext cx="411480" cy="411480"/>
          </a:xfrm>
          <a:prstGeom prst="ellipse">
            <a:avLst/>
          </a:prstGeom>
          <a:solidFill>
            <a:schemeClr val="accent1"/>
          </a:solidFill>
          <a:ln/>
        </p:spPr>
      </p:sp>
      <p:sp>
        <p:nvSpPr>
          <p:cNvPr id="13" name="Text 11"/>
          <p:cNvSpPr txBox="1"/>
          <p:nvPr/>
        </p:nvSpPr>
        <p:spPr>
          <a:xfrm>
            <a:off x="457200" y="35204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2"/>
          <p:cNvSpPr txBox="1"/>
          <p:nvPr/>
        </p:nvSpPr>
        <p:spPr>
          <a:xfrm>
            <a:off x="1051560" y="3483864"/>
            <a:ext cx="4846320" cy="310896"/>
          </a:xfrm>
          <a:prstGeom prst="rect">
            <a:avLst/>
          </a:prstGeom>
          <a:noFill/>
          <a:ln/>
        </p:spPr>
        <p:txBody>
          <a:bodyPr wrap="square" lIns="0" tIns="0" rIns="0" bIns="0" rtlCol="0" anchor="t"/>
          <a:lstStyle/>
          <a:p>
            <a:pPr indent="0" marL="0">
              <a:buNone/>
            </a:pPr>
            <a:r>
              <a:rPr lang="en-US" sz="1800" b="1" dirty="0">
                <a:solidFill>
                  <a:schemeClr val="bg1"/>
                </a:solidFill>
              </a:rPr>
              <a:t>데이터 → 시나리오 길을 만들었다</a:t>
            </a:r>
            <a:endParaRPr lang="en-US" sz="1800" dirty="0"/>
          </a:p>
        </p:txBody>
      </p:sp>
      <p:sp>
        <p:nvSpPr>
          <p:cNvPr id="15" name="Text 13"/>
          <p:cNvSpPr txBox="1"/>
          <p:nvPr/>
        </p:nvSpPr>
        <p:spPr>
          <a:xfrm>
            <a:off x="1051560" y="3822192"/>
            <a:ext cx="4846320" cy="274320"/>
          </a:xfrm>
          <a:prstGeom prst="rect">
            <a:avLst/>
          </a:prstGeom>
          <a:noFill/>
          <a:ln/>
        </p:spPr>
        <p:txBody>
          <a:bodyPr wrap="square" lIns="0" tIns="0" rIns="0" bIns="0" rtlCol="0" anchor="t"/>
          <a:lstStyle/>
          <a:p>
            <a:pPr indent="0" marL="0">
              <a:buNone/>
            </a:pPr>
            <a:r>
              <a:rPr lang="en-US" sz="1200" dirty="0">
                <a:solidFill>
                  <a:schemeClr val="bg2"/>
                </a:solidFill>
              </a:rPr>
              <a:t>수집기 · 시세 저장소 · 적격성 검사 · 후보 추출</a:t>
            </a:r>
            <a:endParaRPr lang="en-US" sz="1200" dirty="0"/>
          </a:p>
        </p:txBody>
      </p:sp>
      <p:sp>
        <p:nvSpPr>
          <p:cNvPr id="16" name="remaining"/>
          <p:cNvSpPr/>
          <p:nvPr/>
        </p:nvSpPr>
        <p:spPr>
          <a:xfrm>
            <a:off x="6035040" y="1691640"/>
            <a:ext cx="2651760" cy="1417320"/>
          </a:xfrm>
          <a:prstGeom prst="roundRect">
            <a:avLst>
              <a:gd name="adj" fmla="val 5161"/>
            </a:avLst>
          </a:prstGeom>
          <a:solidFill>
            <a:srgbClr val="1B2233"/>
          </a:solidFill>
          <a:ln/>
        </p:spPr>
      </p:sp>
      <p:sp>
        <p:nvSpPr>
          <p:cNvPr id="17" name="Text 15"/>
          <p:cNvSpPr txBox="1"/>
          <p:nvPr/>
        </p:nvSpPr>
        <p:spPr>
          <a:xfrm>
            <a:off x="6217920" y="1828800"/>
            <a:ext cx="2286000" cy="1188720"/>
          </a:xfrm>
          <a:prstGeom prst="rect">
            <a:avLst/>
          </a:prstGeom>
          <a:noFill/>
          <a:ln/>
        </p:spPr>
        <p:txBody>
          <a:bodyPr wrap="square" lIns="0" tIns="0" rIns="0" bIns="0" rtlCol="0" anchor="t"/>
          <a:lstStyle/>
          <a:p>
            <a:pPr indent="0" marL="0">
              <a:buNone/>
            </a:pPr>
            <a:r>
              <a:rPr lang="en-US" sz="1300" b="1" dirty="0">
                <a:solidFill>
                  <a:srgbClr val="F5B83D"/>
                </a:solidFill>
              </a:rPr>
              <a:t>남은 과제</a:t>
            </a:r>
            <a:endParaRPr lang="en-US" sz="1400" dirty="0"/>
          </a:p>
          <a:p>
            <a:pPr indent="0" marL="0">
              <a:buNone/>
            </a:pPr>
            <a:r>
              <a:rPr lang="en-US" sz="1100" dirty="0">
                <a:solidFill>
                  <a:srgbClr val="F2F3F7"/>
                </a:solidFill>
              </a:rPr>
              <a:t>실데이터 검증과 데이터 확장</a:t>
            </a:r>
            <a:endParaRPr lang="en-US" sz="1400" dirty="0"/>
          </a:p>
          <a:p>
            <a:pPr indent="0" marL="0">
              <a:buNone/>
            </a:pPr>
            <a:r>
              <a:rPr lang="en-US" sz="1100" dirty="0">
                <a:solidFill>
                  <a:srgbClr val="F2F3F7"/>
                </a:solidFill>
              </a:rPr>
              <a:t>지금 CSV 는 2년 8개월치라</a:t>
            </a:r>
            <a:endParaRPr lang="en-US" sz="1400" dirty="0"/>
          </a:p>
          <a:p>
            <a:pPr indent="0" marL="0">
              <a:buNone/>
            </a:pPr>
            <a:r>
              <a:rPr lang="en-US" sz="1100" dirty="0">
                <a:solidFill>
                  <a:srgbClr val="F2F3F7"/>
                </a:solidFill>
              </a:rPr>
              <a:t>겹치지 않는 일봉 판이 2개뿐</a:t>
            </a:r>
            <a:endParaRPr lang="en-US" sz="1400" dirty="0"/>
          </a:p>
          <a:p>
            <a:pPr indent="0" marL="0">
              <a:buNone/>
            </a:pPr>
            <a:r>
              <a:rPr lang="en-US" sz="1100" dirty="0">
                <a:solidFill>
                  <a:srgbClr val="F2F3F7"/>
                </a:solidFill>
              </a:rPr>
              <a:t>API 재개 후 넓힌다</a:t>
            </a:r>
            <a:endParaRPr lang="en-US" sz="1400" dirty="0"/>
          </a:p>
        </p:txBody>
      </p:sp>
      <p:sp>
        <p:nvSpPr>
          <p:cNvPr id="18" name="next"/>
          <p:cNvSpPr/>
          <p:nvPr/>
        </p:nvSpPr>
        <p:spPr>
          <a:xfrm>
            <a:off x="6035040" y="3291840"/>
            <a:ext cx="2651760" cy="1188720"/>
          </a:xfrm>
          <a:prstGeom prst="roundRect">
            <a:avLst>
              <a:gd name="adj" fmla="val 6154"/>
            </a:avLst>
          </a:prstGeom>
          <a:solidFill>
            <a:schemeClr val="accent1"/>
          </a:solidFill>
          <a:ln/>
        </p:spPr>
      </p:sp>
      <p:sp>
        <p:nvSpPr>
          <p:cNvPr id="19" name="Text 17"/>
          <p:cNvSpPr txBox="1"/>
          <p:nvPr/>
        </p:nvSpPr>
        <p:spPr>
          <a:xfrm>
            <a:off x="6217920" y="3429000"/>
            <a:ext cx="2286000" cy="914400"/>
          </a:xfrm>
          <a:prstGeom prst="rect">
            <a:avLst/>
          </a:prstGeom>
          <a:noFill/>
          <a:ln/>
        </p:spPr>
        <p:txBody>
          <a:bodyPr wrap="square" lIns="0" tIns="0" rIns="0" bIns="0" rtlCol="0" anchor="t"/>
          <a:lstStyle/>
          <a:p>
            <a:pPr indent="0" marL="0">
              <a:buNone/>
            </a:pPr>
            <a:r>
              <a:rPr lang="en-US" sz="1200" b="1" dirty="0">
                <a:solidFill>
                  <a:schemeClr val="bg1"/>
                </a:solidFill>
              </a:rPr>
              <a:t>다음 발표</a:t>
            </a:r>
            <a:endParaRPr lang="en-US" sz="1400" dirty="0"/>
          </a:p>
          <a:p>
            <a:pPr indent="0" marL="0">
              <a:buNone/>
            </a:pPr>
            <a:r>
              <a:rPr lang="en-US" sz="1500" b="1" dirty="0">
                <a:solidFill>
                  <a:schemeClr val="bg1"/>
                </a:solidFill>
              </a:rPr>
              <a:t>정확하고 공정하게 돌아가는 게임 서버</a:t>
            </a:r>
            <a:endParaRPr lang="en-US" sz="1400" dirty="0"/>
          </a:p>
        </p:txBody>
      </p:sp>
    </p:spTree>
  </p:cSld>
  <p:clrMapOvr>
    <a:masterClrMapping/>
  </p:clrMapOvr>
</p:sld>
</file>

<file path=ppt/theme/theme1.xml><?xml version="1.0" encoding="utf-8"?>
<a:theme xmlns:a="http://schemas.openxmlformats.org/drawingml/2006/main" name="MoneyGame">
  <a:themeElements>
    <a:clrScheme name="MoneyGame">
      <a:dk1>
        <a:srgbClr val="0B0E14"/>
      </a:dk1>
      <a:lt1>
        <a:srgbClr val="FFFFFF"/>
      </a:lt1>
      <a:dk2>
        <a:srgbClr val="121722"/>
      </a:dk2>
      <a:lt2>
        <a:srgbClr val="F2F3F7"/>
      </a:lt2>
      <a:accent1>
        <a:srgbClr val="7C5CFF"/>
      </a:accent1>
      <a:accent2>
        <a:srgbClr val="F04452"/>
      </a:accent2>
      <a:accent3>
        <a:srgbClr val="3B82F6"/>
      </a:accent3>
      <a:accent4>
        <a:srgbClr val="F5B83D"/>
      </a:accent4>
      <a:accent5>
        <a:srgbClr val="2FBF71"/>
      </a:accent5>
      <a:accent6>
        <a:srgbClr val="6B7385"/>
      </a:accent6>
      <a:hlink>
        <a:srgbClr val="7C5CFF"/>
      </a:hlink>
      <a:folHlink>
        <a:srgbClr val="5B3FD6"/>
      </a:folHlink>
    </a:clrScheme>
    <a:fontScheme name="MoneyGame">
      <a:majorFont>
        <a:latin typeface="Malgun Gothic"/>
        <a:ea typeface="Malgun 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Malgun 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머니게임 발표 1 — 실제 시세를 게임 재료로 만들기</dc:title>
  <dc:subject>데이터 수집부터 시나리오까지</dc:subject>
  <dc:creator>머니게임</dc:creator>
  <cp:lastModifiedBy>머니게임</cp:lastModifiedBy>
  <cp:revision>1</cp:revision>
  <dcterms:created xsi:type="dcterms:W3CDTF">2026-10-09T15:33:36Z</dcterms:created>
  <dcterms:modified xsi:type="dcterms:W3CDTF">2026-10-09T15:33:36Z</dcterms:modified>
</cp:coreProperties>
</file>